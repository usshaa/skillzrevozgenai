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12192000"/>
  <p:notesSz cx="6858000" cy="9144000"/>
  <p:embeddedFontLst>
    <p:embeddedFont>
      <p:font typeface="Inter SemiBold"/>
      <p:regular r:id="rId36"/>
      <p:bold r:id="rId37"/>
      <p:italic r:id="rId38"/>
      <p:boldItalic r:id="rId39"/>
    </p:embeddedFont>
    <p:embeddedFont>
      <p:font typeface="Inter"/>
      <p:bold r:id="rId40"/>
      <p:boldItalic r:id="rId41"/>
    </p:embeddedFont>
    <p:embeddedFont>
      <p:font typeface="Inter ExtraBold"/>
      <p:bold r:id="rId42"/>
      <p:boldItalic r:id="rId43"/>
    </p:embeddedFont>
    <p:embeddedFont>
      <p:font typeface="Inter Medium"/>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1976D4-2394-4808-ADAC-E73B55D06255}">
  <a:tblStyle styleId="{E61976D4-2394-4808-ADAC-E73B55D0625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fntdata"/><Relationship Id="rId20" Type="http://schemas.openxmlformats.org/officeDocument/2006/relationships/slide" Target="slides/slide14.xml"/><Relationship Id="rId42" Type="http://schemas.openxmlformats.org/officeDocument/2006/relationships/font" Target="fonts/InterExtraBold-bold.fntdata"/><Relationship Id="rId41" Type="http://schemas.openxmlformats.org/officeDocument/2006/relationships/font" Target="fonts/Inter-boldItalic.fntdata"/><Relationship Id="rId22" Type="http://schemas.openxmlformats.org/officeDocument/2006/relationships/slide" Target="slides/slide16.xml"/><Relationship Id="rId44" Type="http://schemas.openxmlformats.org/officeDocument/2006/relationships/font" Target="fonts/InterMedium-regular.fntdata"/><Relationship Id="rId21" Type="http://schemas.openxmlformats.org/officeDocument/2006/relationships/slide" Target="slides/slide15.xml"/><Relationship Id="rId43" Type="http://schemas.openxmlformats.org/officeDocument/2006/relationships/font" Target="fonts/InterExtraBold-boldItalic.fntdata"/><Relationship Id="rId24" Type="http://schemas.openxmlformats.org/officeDocument/2006/relationships/slide" Target="slides/slide18.xml"/><Relationship Id="rId46" Type="http://schemas.openxmlformats.org/officeDocument/2006/relationships/font" Target="fonts/InterMedium-italic.fntdata"/><Relationship Id="rId23" Type="http://schemas.openxmlformats.org/officeDocument/2006/relationships/slide" Target="slides/slide17.xml"/><Relationship Id="rId45" Type="http://schemas.openxmlformats.org/officeDocument/2006/relationships/font" Target="fonts/Inter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InterMedium-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InterSemiBold-bold.fntdata"/><Relationship Id="rId14" Type="http://schemas.openxmlformats.org/officeDocument/2006/relationships/slide" Target="slides/slide8.xml"/><Relationship Id="rId36" Type="http://schemas.openxmlformats.org/officeDocument/2006/relationships/font" Target="fonts/InterSemiBold-regular.fntdata"/><Relationship Id="rId17" Type="http://schemas.openxmlformats.org/officeDocument/2006/relationships/slide" Target="slides/slide11.xml"/><Relationship Id="rId39" Type="http://schemas.openxmlformats.org/officeDocument/2006/relationships/font" Target="fonts/InterSemiBold-boldItalic.fntdata"/><Relationship Id="rId16" Type="http://schemas.openxmlformats.org/officeDocument/2006/relationships/slide" Target="slides/slide10.xml"/><Relationship Id="rId38" Type="http://schemas.openxmlformats.org/officeDocument/2006/relationships/font" Target="fonts/InterSemi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3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5.png"/><Relationship Id="rId5" Type="http://schemas.openxmlformats.org/officeDocument/2006/relationships/image" Target="../media/image17.png"/><Relationship Id="rId6" Type="http://schemas.openxmlformats.org/officeDocument/2006/relationships/image" Target="../media/image7.png"/><Relationship Id="rId7" Type="http://schemas.openxmlformats.org/officeDocument/2006/relationships/image" Target="../media/image24.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9.png"/><Relationship Id="rId13" Type="http://schemas.openxmlformats.org/officeDocument/2006/relationships/image" Target="../media/image32.png"/><Relationship Id="rId12"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5.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0.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28.png"/><Relationship Id="rId5" Type="http://schemas.openxmlformats.org/officeDocument/2006/relationships/image" Target="../media/image36.png"/><Relationship Id="rId6" Type="http://schemas.openxmlformats.org/officeDocument/2006/relationships/image" Target="../media/image22.png"/><Relationship Id="rId7" Type="http://schemas.openxmlformats.org/officeDocument/2006/relationships/image" Target="../media/image19.png"/><Relationship Id="rId8"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9.png"/><Relationship Id="rId6"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9.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30.png"/><Relationship Id="rId13" Type="http://schemas.openxmlformats.org/officeDocument/2006/relationships/image" Target="../media/image33.png"/><Relationship Id="rId12"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9.png"/><Relationship Id="rId4"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image" Target="../media/image13.png"/><Relationship Id="rId7" Type="http://schemas.openxmlformats.org/officeDocument/2006/relationships/image" Target="../media/image15.png"/><Relationship Id="rId8"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9.png"/><Relationship Id="rId4" Type="http://schemas.openxmlformats.org/officeDocument/2006/relationships/image" Target="../media/image3.png"/><Relationship Id="rId5" Type="http://schemas.openxmlformats.org/officeDocument/2006/relationships/image" Target="../media/image34.png"/><Relationship Id="rId6"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9.png"/><Relationship Id="rId4" Type="http://schemas.openxmlformats.org/officeDocument/2006/relationships/image" Target="../media/image3.png"/><Relationship Id="rId9" Type="http://schemas.openxmlformats.org/officeDocument/2006/relationships/image" Target="../media/image5.png"/><Relationship Id="rId5" Type="http://schemas.openxmlformats.org/officeDocument/2006/relationships/image" Target="../media/image17.png"/><Relationship Id="rId6" Type="http://schemas.openxmlformats.org/officeDocument/2006/relationships/image" Target="../media/image7.png"/><Relationship Id="rId7" Type="http://schemas.openxmlformats.org/officeDocument/2006/relationships/image" Target="../media/image24.png"/><Relationship Id="rId8"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9.png"/><Relationship Id="rId4" Type="http://schemas.openxmlformats.org/officeDocument/2006/relationships/image" Target="../media/image3.png"/><Relationship Id="rId9" Type="http://schemas.openxmlformats.org/officeDocument/2006/relationships/image" Target="../media/image40.png"/><Relationship Id="rId5" Type="http://schemas.openxmlformats.org/officeDocument/2006/relationships/image" Target="../media/image36.png"/><Relationship Id="rId6" Type="http://schemas.openxmlformats.org/officeDocument/2006/relationships/image" Target="../media/image22.png"/><Relationship Id="rId7" Type="http://schemas.openxmlformats.org/officeDocument/2006/relationships/image" Target="../media/image39.png"/><Relationship Id="rId8"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9.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9.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3.png"/><Relationship Id="rId9" Type="http://schemas.openxmlformats.org/officeDocument/2006/relationships/image" Target="../media/image5.png"/><Relationship Id="rId5" Type="http://schemas.openxmlformats.org/officeDocument/2006/relationships/image" Target="../media/image17.png"/><Relationship Id="rId6" Type="http://schemas.openxmlformats.org/officeDocument/2006/relationships/image" Target="../media/image7.png"/><Relationship Id="rId7" Type="http://schemas.openxmlformats.org/officeDocument/2006/relationships/image" Target="../media/image24.png"/><Relationship Id="rId8" Type="http://schemas.openxmlformats.org/officeDocument/2006/relationships/image" Target="../media/image4.png"/></Relationships>
</file>

<file path=ppt/slides/_rels/slide19.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50.png"/><Relationship Id="rId13" Type="http://schemas.openxmlformats.org/officeDocument/2006/relationships/image" Target="../media/image51.png"/><Relationship Id="rId12" Type="http://schemas.openxmlformats.org/officeDocument/2006/relationships/image" Target="../media/image48.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43.png"/><Relationship Id="rId6" Type="http://schemas.openxmlformats.org/officeDocument/2006/relationships/image" Target="../media/image13.png"/><Relationship Id="rId7" Type="http://schemas.openxmlformats.org/officeDocument/2006/relationships/image" Target="../media/image15.png"/><Relationship Id="rId8"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5.png"/><Relationship Id="rId4" Type="http://schemas.openxmlformats.org/officeDocument/2006/relationships/image" Target="../media/image3.png"/><Relationship Id="rId9" Type="http://schemas.openxmlformats.org/officeDocument/2006/relationships/image" Target="../media/image45.png"/><Relationship Id="rId5" Type="http://schemas.openxmlformats.org/officeDocument/2006/relationships/image" Target="../media/image36.png"/><Relationship Id="rId6" Type="http://schemas.openxmlformats.org/officeDocument/2006/relationships/image" Target="../media/image22.png"/><Relationship Id="rId7" Type="http://schemas.openxmlformats.org/officeDocument/2006/relationships/image" Target="../media/image42.png"/><Relationship Id="rId8"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5.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6.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1" Type="http://schemas.openxmlformats.org/officeDocument/2006/relationships/image" Target="../media/image52.png"/><Relationship Id="rId10" Type="http://schemas.openxmlformats.org/officeDocument/2006/relationships/image" Target="../media/image62.png"/><Relationship Id="rId13" Type="http://schemas.openxmlformats.org/officeDocument/2006/relationships/image" Target="../media/image54.png"/><Relationship Id="rId12" Type="http://schemas.openxmlformats.org/officeDocument/2006/relationships/image" Target="../media/image55.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6.png"/><Relationship Id="rId4" Type="http://schemas.openxmlformats.org/officeDocument/2006/relationships/image" Target="../media/image3.png"/><Relationship Id="rId9" Type="http://schemas.openxmlformats.org/officeDocument/2006/relationships/image" Target="../media/image12.png"/><Relationship Id="rId5" Type="http://schemas.openxmlformats.org/officeDocument/2006/relationships/image" Target="../media/image47.png"/><Relationship Id="rId6" Type="http://schemas.openxmlformats.org/officeDocument/2006/relationships/image" Target="../media/image13.png"/><Relationship Id="rId7" Type="http://schemas.openxmlformats.org/officeDocument/2006/relationships/image" Target="../media/image15.png"/><Relationship Id="rId8"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6.png"/><Relationship Id="rId4" Type="http://schemas.openxmlformats.org/officeDocument/2006/relationships/image" Target="../media/image3.png"/><Relationship Id="rId9" Type="http://schemas.openxmlformats.org/officeDocument/2006/relationships/image" Target="../media/image5.png"/><Relationship Id="rId5" Type="http://schemas.openxmlformats.org/officeDocument/2006/relationships/image" Target="../media/image17.png"/><Relationship Id="rId6" Type="http://schemas.openxmlformats.org/officeDocument/2006/relationships/image" Target="../media/image7.png"/><Relationship Id="rId7" Type="http://schemas.openxmlformats.org/officeDocument/2006/relationships/image" Target="../media/image24.png"/><Relationship Id="rId8"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6.png"/><Relationship Id="rId4" Type="http://schemas.openxmlformats.org/officeDocument/2006/relationships/image" Target="../media/image3.png"/><Relationship Id="rId5" Type="http://schemas.openxmlformats.org/officeDocument/2006/relationships/image" Target="../media/image5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6.png"/><Relationship Id="rId4" Type="http://schemas.openxmlformats.org/officeDocument/2006/relationships/image" Target="../media/image3.png"/><Relationship Id="rId5" Type="http://schemas.openxmlformats.org/officeDocument/2006/relationships/image" Target="../media/image56.png"/><Relationship Id="rId6" Type="http://schemas.openxmlformats.org/officeDocument/2006/relationships/image" Target="../media/image5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6.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3"/>
          <p:cNvSpPr txBox="1"/>
          <p:nvPr/>
        </p:nvSpPr>
        <p:spPr>
          <a:xfrm>
            <a:off x="762000" y="523875"/>
            <a:ext cx="7620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3200">
                <a:solidFill>
                  <a:srgbClr val="0F172A"/>
                </a:solidFill>
                <a:latin typeface="Arial"/>
                <a:ea typeface="Arial"/>
                <a:cs typeface="Arial"/>
                <a:sym typeface="Arial"/>
              </a:rPr>
              <a:t>What is Agent Memory?</a:t>
            </a:r>
            <a:endParaRPr b="0" sz="3200">
              <a:solidFill>
                <a:srgbClr val="0F172A"/>
              </a:solidFill>
              <a:latin typeface="Arial"/>
              <a:ea typeface="Arial"/>
              <a:cs typeface="Arial"/>
              <a:sym typeface="Arial"/>
            </a:endParaRPr>
          </a:p>
          <a:p>
            <a:pPr indent="0" lvl="0" marL="0" rtl="0" algn="l">
              <a:spcBef>
                <a:spcPts val="450"/>
              </a:spcBef>
              <a:spcAft>
                <a:spcPts val="0"/>
              </a:spcAft>
              <a:buNone/>
            </a:pPr>
            <a:r>
              <a:rPr b="0" lang="en-US" sz="1500">
                <a:solidFill>
                  <a:srgbClr val="475569"/>
                </a:solidFill>
                <a:latin typeface="Arial"/>
                <a:ea typeface="Arial"/>
                <a:cs typeface="Arial"/>
                <a:sym typeface="Arial"/>
              </a:rPr>
              <a:t>Storing Context to Power Autonomous Workflows</a:t>
            </a:r>
            <a:endParaRPr b="0" sz="1500">
              <a:solidFill>
                <a:srgbClr val="475569"/>
              </a:solidFill>
              <a:latin typeface="Arial"/>
              <a:ea typeface="Arial"/>
              <a:cs typeface="Arial"/>
              <a:sym typeface="Arial"/>
            </a:endParaRPr>
          </a:p>
        </p:txBody>
      </p:sp>
      <p:grpSp>
        <p:nvGrpSpPr>
          <p:cNvPr id="85" name="Google Shape;85;p13"/>
          <p:cNvGrpSpPr/>
          <p:nvPr/>
        </p:nvGrpSpPr>
        <p:grpSpPr>
          <a:xfrm>
            <a:off x="762000" y="1666875"/>
            <a:ext cx="5143500" cy="2000100"/>
            <a:chOff x="0" y="0"/>
            <a:chExt cx="5143500" cy="2000100"/>
          </a:xfrm>
        </p:grpSpPr>
        <p:sp>
          <p:nvSpPr>
            <p:cNvPr id="86" name="Google Shape;86;p13"/>
            <p:cNvSpPr/>
            <p:nvPr/>
          </p:nvSpPr>
          <p:spPr>
            <a:xfrm>
              <a:off x="0" y="0"/>
              <a:ext cx="5143500" cy="2000100"/>
            </a:xfrm>
            <a:prstGeom prst="roundRect">
              <a:avLst>
                <a:gd fmla="val 761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3"/>
            <p:cNvSpPr/>
            <p:nvPr/>
          </p:nvSpPr>
          <p:spPr>
            <a:xfrm>
              <a:off x="228600" y="190500"/>
              <a:ext cx="857400" cy="2286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3"/>
            <p:cNvSpPr txBox="1"/>
            <p:nvPr/>
          </p:nvSpPr>
          <p:spPr>
            <a:xfrm>
              <a:off x="228600" y="190500"/>
              <a:ext cx="857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FFFFF"/>
                  </a:solidFill>
                  <a:latin typeface="Inter"/>
                  <a:ea typeface="Inter"/>
                  <a:cs typeface="Inter"/>
                  <a:sym typeface="Inter"/>
                </a:rPr>
                <a:t>DEFINITION</a:t>
              </a:r>
              <a:endParaRPr b="1" sz="800">
                <a:solidFill>
                  <a:srgbClr val="FFFFFF"/>
                </a:solidFill>
                <a:latin typeface="Inter"/>
                <a:ea typeface="Inter"/>
                <a:cs typeface="Inter"/>
                <a:sym typeface="Inter"/>
              </a:endParaRPr>
            </a:p>
          </p:txBody>
        </p:sp>
        <p:sp>
          <p:nvSpPr>
            <p:cNvPr id="89" name="Google Shape;89;p13"/>
            <p:cNvSpPr txBox="1"/>
            <p:nvPr/>
          </p:nvSpPr>
          <p:spPr>
            <a:xfrm>
              <a:off x="228600" y="552450"/>
              <a:ext cx="46863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250">
                  <a:solidFill>
                    <a:srgbClr val="0F172A"/>
                  </a:solidFill>
                  <a:latin typeface="Inter ExtraBold"/>
                  <a:ea typeface="Inter ExtraBold"/>
                  <a:cs typeface="Inter ExtraBold"/>
                  <a:sym typeface="Inter ExtraBold"/>
                </a:rPr>
                <a:t>Agent Memory</a:t>
              </a:r>
              <a:r>
                <a:rPr b="0" lang="en-US" sz="1250">
                  <a:solidFill>
                    <a:srgbClr val="1E293B"/>
                  </a:solidFill>
                  <a:latin typeface="Inter Medium"/>
                  <a:ea typeface="Inter Medium"/>
                  <a:cs typeface="Inter Medium"/>
                  <a:sym typeface="Inter Medium"/>
                </a:rPr>
                <a:t> is the core mechanism enabling LLMs to retain conversational history (</a:t>
              </a:r>
              <a:r>
                <a:rPr b="1" lang="en-US" sz="1250">
                  <a:solidFill>
                    <a:srgbClr val="10B981"/>
                  </a:solidFill>
                  <a:latin typeface="Inter"/>
                  <a:ea typeface="Inter"/>
                  <a:cs typeface="Inter"/>
                  <a:sym typeface="Inter"/>
                </a:rPr>
                <a:t>Short-term</a:t>
              </a:r>
              <a:r>
                <a:rPr b="0" lang="en-US" sz="1250">
                  <a:solidFill>
                    <a:srgbClr val="1E293B"/>
                  </a:solidFill>
                  <a:latin typeface="Inter Medium"/>
                  <a:ea typeface="Inter Medium"/>
                  <a:cs typeface="Inter Medium"/>
                  <a:sym typeface="Inter Medium"/>
                </a:rPr>
                <a:t>) and retrieve external knowledge (</a:t>
              </a:r>
              <a:r>
                <a:rPr b="1" lang="en-US" sz="1250">
                  <a:solidFill>
                    <a:srgbClr val="3B82F6"/>
                  </a:solidFill>
                  <a:latin typeface="Inter"/>
                  <a:ea typeface="Inter"/>
                  <a:cs typeface="Inter"/>
                  <a:sym typeface="Inter"/>
                </a:rPr>
                <a:t>Long-term</a:t>
              </a:r>
              <a:r>
                <a:rPr b="0" lang="en-US" sz="1250">
                  <a:solidFill>
                    <a:srgbClr val="1E293B"/>
                  </a:solidFill>
                  <a:latin typeface="Inter Medium"/>
                  <a:ea typeface="Inter Medium"/>
                  <a:cs typeface="Inter Medium"/>
                  <a:sym typeface="Inter Medium"/>
                </a:rPr>
                <a:t>) to inform strategic Planning and execute Tools with precision.</a:t>
              </a:r>
              <a:endParaRPr b="0" sz="1250">
                <a:solidFill>
                  <a:srgbClr val="1E293B"/>
                </a:solidFill>
                <a:latin typeface="Inter Medium"/>
                <a:ea typeface="Inter Medium"/>
                <a:cs typeface="Inter Medium"/>
                <a:sym typeface="Inter Medium"/>
              </a:endParaRPr>
            </a:p>
          </p:txBody>
        </p:sp>
        <p:grpSp>
          <p:nvGrpSpPr>
            <p:cNvPr id="90" name="Google Shape;90;p13"/>
            <p:cNvGrpSpPr/>
            <p:nvPr/>
          </p:nvGrpSpPr>
          <p:grpSpPr>
            <a:xfrm>
              <a:off x="228600" y="1504950"/>
              <a:ext cx="762000" cy="247800"/>
              <a:chOff x="0" y="0"/>
              <a:chExt cx="762000" cy="247800"/>
            </a:xfrm>
          </p:grpSpPr>
          <p:sp>
            <p:nvSpPr>
              <p:cNvPr id="91" name="Google Shape;91;p13"/>
              <p:cNvSpPr/>
              <p:nvPr/>
            </p:nvSpPr>
            <p:spPr>
              <a:xfrm>
                <a:off x="0" y="0"/>
                <a:ext cx="762000" cy="247800"/>
              </a:xfrm>
              <a:prstGeom prst="roundRect">
                <a:avLst>
                  <a:gd fmla="val 2307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3"/>
              <p:cNvSpPr txBox="1"/>
              <p:nvPr/>
            </p:nvSpPr>
            <p:spPr>
              <a:xfrm>
                <a:off x="0" y="0"/>
                <a:ext cx="762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50">
                    <a:solidFill>
                      <a:srgbClr val="475569"/>
                    </a:solidFill>
                    <a:latin typeface="Inter SemiBold"/>
                    <a:ea typeface="Inter SemiBold"/>
                    <a:cs typeface="Inter SemiBold"/>
                    <a:sym typeface="Inter SemiBold"/>
                  </a:rPr>
                  <a:t>Retention</a:t>
                </a:r>
                <a:endParaRPr b="0" sz="850">
                  <a:solidFill>
                    <a:srgbClr val="475569"/>
                  </a:solidFill>
                  <a:latin typeface="Inter SemiBold"/>
                  <a:ea typeface="Inter SemiBold"/>
                  <a:cs typeface="Inter SemiBold"/>
                  <a:sym typeface="Inter SemiBold"/>
                </a:endParaRPr>
              </a:p>
            </p:txBody>
          </p:sp>
        </p:grpSp>
        <p:grpSp>
          <p:nvGrpSpPr>
            <p:cNvPr id="93" name="Google Shape;93;p13"/>
            <p:cNvGrpSpPr/>
            <p:nvPr/>
          </p:nvGrpSpPr>
          <p:grpSpPr>
            <a:xfrm>
              <a:off x="1066800" y="1504950"/>
              <a:ext cx="762000" cy="247800"/>
              <a:chOff x="0" y="0"/>
              <a:chExt cx="762000" cy="247800"/>
            </a:xfrm>
          </p:grpSpPr>
          <p:sp>
            <p:nvSpPr>
              <p:cNvPr id="94" name="Google Shape;94;p13"/>
              <p:cNvSpPr/>
              <p:nvPr/>
            </p:nvSpPr>
            <p:spPr>
              <a:xfrm>
                <a:off x="0" y="0"/>
                <a:ext cx="762000" cy="247800"/>
              </a:xfrm>
              <a:prstGeom prst="roundRect">
                <a:avLst>
                  <a:gd fmla="val 2307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3"/>
              <p:cNvSpPr txBox="1"/>
              <p:nvPr/>
            </p:nvSpPr>
            <p:spPr>
              <a:xfrm>
                <a:off x="0" y="0"/>
                <a:ext cx="762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50">
                    <a:solidFill>
                      <a:srgbClr val="475569"/>
                    </a:solidFill>
                    <a:latin typeface="Inter SemiBold"/>
                    <a:ea typeface="Inter SemiBold"/>
                    <a:cs typeface="Inter SemiBold"/>
                    <a:sym typeface="Inter SemiBold"/>
                  </a:rPr>
                  <a:t>Retrieval</a:t>
                </a:r>
                <a:endParaRPr b="0" sz="850">
                  <a:solidFill>
                    <a:srgbClr val="475569"/>
                  </a:solidFill>
                  <a:latin typeface="Inter SemiBold"/>
                  <a:ea typeface="Inter SemiBold"/>
                  <a:cs typeface="Inter SemiBold"/>
                  <a:sym typeface="Inter SemiBold"/>
                </a:endParaRPr>
              </a:p>
            </p:txBody>
          </p:sp>
        </p:grpSp>
        <p:grpSp>
          <p:nvGrpSpPr>
            <p:cNvPr id="96" name="Google Shape;96;p13"/>
            <p:cNvGrpSpPr/>
            <p:nvPr/>
          </p:nvGrpSpPr>
          <p:grpSpPr>
            <a:xfrm>
              <a:off x="1905000" y="1504950"/>
              <a:ext cx="762000" cy="247800"/>
              <a:chOff x="0" y="0"/>
              <a:chExt cx="762000" cy="247800"/>
            </a:xfrm>
          </p:grpSpPr>
          <p:sp>
            <p:nvSpPr>
              <p:cNvPr id="97" name="Google Shape;97;p13"/>
              <p:cNvSpPr/>
              <p:nvPr/>
            </p:nvSpPr>
            <p:spPr>
              <a:xfrm>
                <a:off x="0" y="0"/>
                <a:ext cx="762000" cy="247800"/>
              </a:xfrm>
              <a:prstGeom prst="roundRect">
                <a:avLst>
                  <a:gd fmla="val 23076"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3"/>
              <p:cNvSpPr txBox="1"/>
              <p:nvPr/>
            </p:nvSpPr>
            <p:spPr>
              <a:xfrm>
                <a:off x="0" y="0"/>
                <a:ext cx="762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850">
                    <a:solidFill>
                      <a:srgbClr val="475569"/>
                    </a:solidFill>
                    <a:latin typeface="Inter SemiBold"/>
                    <a:ea typeface="Inter SemiBold"/>
                    <a:cs typeface="Inter SemiBold"/>
                    <a:sym typeface="Inter SemiBold"/>
                  </a:rPr>
                  <a:t>Context</a:t>
                </a:r>
                <a:endParaRPr b="0" sz="850">
                  <a:solidFill>
                    <a:srgbClr val="475569"/>
                  </a:solidFill>
                  <a:latin typeface="Inter SemiBold"/>
                  <a:ea typeface="Inter SemiBold"/>
                  <a:cs typeface="Inter SemiBold"/>
                  <a:sym typeface="Inter SemiBold"/>
                </a:endParaRPr>
              </a:p>
            </p:txBody>
          </p:sp>
        </p:grpSp>
      </p:grpSp>
      <p:pic>
        <p:nvPicPr>
          <p:cNvPr descr="image.png" id="99" name="Google Shape;99;p13"/>
          <p:cNvPicPr preferRelativeResize="0"/>
          <p:nvPr/>
        </p:nvPicPr>
        <p:blipFill rotWithShape="1">
          <a:blip r:embed="rId4">
            <a:alphaModFix/>
          </a:blip>
          <a:srcRect b="0" l="0" r="0" t="0"/>
          <a:stretch/>
        </p:blipFill>
        <p:spPr>
          <a:xfrm>
            <a:off x="5240089" y="214312"/>
            <a:ext cx="1711821" cy="333375"/>
          </a:xfrm>
          <a:prstGeom prst="rect">
            <a:avLst/>
          </a:prstGeom>
          <a:noFill/>
          <a:ln>
            <a:noFill/>
          </a:ln>
        </p:spPr>
      </p:pic>
      <p:grpSp>
        <p:nvGrpSpPr>
          <p:cNvPr id="100" name="Google Shape;100;p13"/>
          <p:cNvGrpSpPr/>
          <p:nvPr/>
        </p:nvGrpSpPr>
        <p:grpSpPr>
          <a:xfrm>
            <a:off x="6286500" y="1666875"/>
            <a:ext cx="5143500" cy="2000100"/>
            <a:chOff x="0" y="0"/>
            <a:chExt cx="5143500" cy="2000100"/>
          </a:xfrm>
        </p:grpSpPr>
        <p:sp>
          <p:nvSpPr>
            <p:cNvPr id="101" name="Google Shape;101;p13"/>
            <p:cNvSpPr/>
            <p:nvPr/>
          </p:nvSpPr>
          <p:spPr>
            <a:xfrm>
              <a:off x="0" y="0"/>
              <a:ext cx="5143500" cy="2000100"/>
            </a:xfrm>
            <a:prstGeom prst="roundRect">
              <a:avLst>
                <a:gd fmla="val 761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3"/>
            <p:cNvSpPr/>
            <p:nvPr/>
          </p:nvSpPr>
          <p:spPr>
            <a:xfrm>
              <a:off x="228600" y="190500"/>
              <a:ext cx="1238400" cy="2286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3"/>
            <p:cNvSpPr txBox="1"/>
            <p:nvPr/>
          </p:nvSpPr>
          <p:spPr>
            <a:xfrm>
              <a:off x="228600" y="190500"/>
              <a:ext cx="1238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FFFFF"/>
                  </a:solidFill>
                  <a:latin typeface="Inter"/>
                  <a:ea typeface="Inter"/>
                  <a:cs typeface="Inter"/>
                  <a:sym typeface="Inter"/>
                </a:rPr>
                <a:t>REAL-LIFE ANALOGY</a:t>
              </a:r>
              <a:endParaRPr b="1" sz="800">
                <a:solidFill>
                  <a:srgbClr val="FFFFFF"/>
                </a:solidFill>
                <a:latin typeface="Inter"/>
                <a:ea typeface="Inter"/>
                <a:cs typeface="Inter"/>
                <a:sym typeface="Inter"/>
              </a:endParaRPr>
            </a:p>
          </p:txBody>
        </p:sp>
        <p:sp>
          <p:nvSpPr>
            <p:cNvPr id="104" name="Google Shape;104;p13"/>
            <p:cNvSpPr txBox="1"/>
            <p:nvPr/>
          </p:nvSpPr>
          <p:spPr>
            <a:xfrm>
              <a:off x="228600" y="552450"/>
              <a:ext cx="46863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166534"/>
                  </a:solidFill>
                  <a:latin typeface="Inter"/>
                  <a:ea typeface="Inter"/>
                  <a:cs typeface="Inter"/>
                  <a:sym typeface="Inter"/>
                </a:rPr>
                <a:t>Whiteboard: </a:t>
              </a:r>
              <a:r>
                <a:rPr b="0" lang="en-US" sz="1200">
                  <a:solidFill>
                    <a:srgbClr val="475569"/>
                  </a:solidFill>
                  <a:latin typeface="Inter"/>
                  <a:ea typeface="Inter"/>
                  <a:cs typeface="Inter"/>
                  <a:sym typeface="Inter"/>
                </a:rPr>
                <a:t>Short-term memory (current active task state).</a:t>
              </a:r>
              <a:endParaRPr b="1" sz="1200">
                <a:solidFill>
                  <a:srgbClr val="166534"/>
                </a:solidFill>
                <a:latin typeface="Inter"/>
                <a:ea typeface="Inter"/>
                <a:cs typeface="Inter"/>
                <a:sym typeface="Inter"/>
              </a:endParaRPr>
            </a:p>
            <a:p>
              <a:pPr indent="0" lvl="0" marL="0" rtl="0" algn="l">
                <a:spcBef>
                  <a:spcPts val="450"/>
                </a:spcBef>
                <a:spcAft>
                  <a:spcPts val="0"/>
                </a:spcAft>
                <a:buNone/>
              </a:pPr>
              <a:r>
                <a:rPr b="1" lang="en-US" sz="1200">
                  <a:solidFill>
                    <a:srgbClr val="166534"/>
                  </a:solidFill>
                  <a:latin typeface="Inter"/>
                  <a:ea typeface="Inter"/>
                  <a:cs typeface="Inter"/>
                  <a:sym typeface="Inter"/>
                </a:rPr>
                <a:t>Filing Cabinet: </a:t>
              </a:r>
              <a:r>
                <a:rPr b="0" lang="en-US" sz="1200">
                  <a:solidFill>
                    <a:srgbClr val="475569"/>
                  </a:solidFill>
                  <a:latin typeface="Inter"/>
                  <a:ea typeface="Inter"/>
                  <a:cs typeface="Inter"/>
                  <a:sym typeface="Inter"/>
                </a:rPr>
                <a:t>Long-term memory (historical project archives).</a:t>
              </a:r>
              <a:endParaRPr b="1" sz="1200">
                <a:solidFill>
                  <a:srgbClr val="166534"/>
                </a:solidFill>
                <a:latin typeface="Inter"/>
                <a:ea typeface="Inter"/>
                <a:cs typeface="Inter"/>
                <a:sym typeface="Inter"/>
              </a:endParaRPr>
            </a:p>
          </p:txBody>
        </p:sp>
        <p:sp>
          <p:nvSpPr>
            <p:cNvPr id="105" name="Google Shape;105;p13"/>
            <p:cNvSpPr/>
            <p:nvPr/>
          </p:nvSpPr>
          <p:spPr>
            <a:xfrm>
              <a:off x="228600" y="1333500"/>
              <a:ext cx="4686300" cy="438300"/>
            </a:xfrm>
            <a:prstGeom prst="roundRect">
              <a:avLst>
                <a:gd fmla="val 17391" name="adj"/>
              </a:avLst>
            </a:prstGeom>
            <a:solidFill>
              <a:srgbClr val="F0FD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3"/>
            <p:cNvSpPr txBox="1"/>
            <p:nvPr/>
          </p:nvSpPr>
          <p:spPr>
            <a:xfrm>
              <a:off x="342900" y="1333500"/>
              <a:ext cx="4457700" cy="43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166534"/>
                  </a:solidFill>
                  <a:latin typeface="Inter"/>
                  <a:ea typeface="Inter"/>
                  <a:cs typeface="Inter"/>
                  <a:sym typeface="Inter"/>
                </a:rPr>
                <a:t>Mapping: </a:t>
              </a:r>
              <a:r>
                <a:rPr b="0" lang="en-US" sz="950">
                  <a:solidFill>
                    <a:srgbClr val="14532D"/>
                  </a:solidFill>
                  <a:latin typeface="Inter"/>
                  <a:ea typeface="Inter"/>
                  <a:cs typeface="Inter"/>
                  <a:sym typeface="Inter"/>
                </a:rPr>
                <a:t>By structuring storage, agents reference previous actions to continuously optimize execution.</a:t>
              </a:r>
              <a:endParaRPr b="1" sz="950">
                <a:solidFill>
                  <a:srgbClr val="166534"/>
                </a:solidFill>
                <a:latin typeface="Inter"/>
                <a:ea typeface="Inter"/>
                <a:cs typeface="Inter"/>
                <a:sym typeface="Inter"/>
              </a:endParaRPr>
            </a:p>
          </p:txBody>
        </p:sp>
      </p:grpSp>
      <p:grpSp>
        <p:nvGrpSpPr>
          <p:cNvPr id="107" name="Google Shape;107;p13"/>
          <p:cNvGrpSpPr/>
          <p:nvPr/>
        </p:nvGrpSpPr>
        <p:grpSpPr>
          <a:xfrm>
            <a:off x="762000" y="3857625"/>
            <a:ext cx="5143500" cy="2190900"/>
            <a:chOff x="0" y="0"/>
            <a:chExt cx="5143500" cy="2190900"/>
          </a:xfrm>
        </p:grpSpPr>
        <p:sp>
          <p:nvSpPr>
            <p:cNvPr id="108" name="Google Shape;108;p13"/>
            <p:cNvSpPr/>
            <p:nvPr/>
          </p:nvSpPr>
          <p:spPr>
            <a:xfrm>
              <a:off x="0" y="0"/>
              <a:ext cx="5143500" cy="2190900"/>
            </a:xfrm>
            <a:prstGeom prst="roundRect">
              <a:avLst>
                <a:gd fmla="val 695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3"/>
            <p:cNvSpPr/>
            <p:nvPr/>
          </p:nvSpPr>
          <p:spPr>
            <a:xfrm>
              <a:off x="228600" y="190500"/>
              <a:ext cx="1047900" cy="2286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3"/>
            <p:cNvSpPr txBox="1"/>
            <p:nvPr/>
          </p:nvSpPr>
          <p:spPr>
            <a:xfrm>
              <a:off x="228600" y="190500"/>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FFFFF"/>
                  </a:solidFill>
                  <a:latin typeface="Inter"/>
                  <a:ea typeface="Inter"/>
                  <a:cs typeface="Inter"/>
                  <a:sym typeface="Inter"/>
                </a:rPr>
                <a:t>FLOW EXAMPLE</a:t>
              </a:r>
              <a:endParaRPr b="1" sz="800">
                <a:solidFill>
                  <a:srgbClr val="FFFFFF"/>
                </a:solidFill>
                <a:latin typeface="Inter"/>
                <a:ea typeface="Inter"/>
                <a:cs typeface="Inter"/>
                <a:sym typeface="Inter"/>
              </a:endParaRPr>
            </a:p>
          </p:txBody>
        </p:sp>
        <p:grpSp>
          <p:nvGrpSpPr>
            <p:cNvPr id="111" name="Google Shape;111;p13"/>
            <p:cNvGrpSpPr/>
            <p:nvPr/>
          </p:nvGrpSpPr>
          <p:grpSpPr>
            <a:xfrm>
              <a:off x="228600" y="571500"/>
              <a:ext cx="4686450" cy="381000"/>
              <a:chOff x="0" y="0"/>
              <a:chExt cx="4686450" cy="381000"/>
            </a:xfrm>
          </p:grpSpPr>
          <p:grpSp>
            <p:nvGrpSpPr>
              <p:cNvPr id="112" name="Google Shape;112;p13"/>
              <p:cNvGrpSpPr/>
              <p:nvPr/>
            </p:nvGrpSpPr>
            <p:grpSpPr>
              <a:xfrm>
                <a:off x="0" y="0"/>
                <a:ext cx="666900" cy="381000"/>
                <a:chOff x="0" y="0"/>
                <a:chExt cx="666900" cy="381000"/>
              </a:xfrm>
            </p:grpSpPr>
            <p:sp>
              <p:nvSpPr>
                <p:cNvPr id="113" name="Google Shape;113;p13"/>
                <p:cNvSpPr/>
                <p:nvPr/>
              </p:nvSpPr>
              <p:spPr>
                <a:xfrm>
                  <a:off x="0" y="0"/>
                  <a:ext cx="666900" cy="381000"/>
                </a:xfrm>
                <a:prstGeom prst="roundRect">
                  <a:avLst>
                    <a:gd fmla="val 20000" name="adj"/>
                  </a:avLst>
                </a:prstGeom>
                <a:solidFill>
                  <a:srgbClr val="FEF08A"/>
                </a:solidFill>
                <a:ln cap="flat" cmpd="sng" w="14300">
                  <a:solidFill>
                    <a:srgbClr val="EAB30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3"/>
                <p:cNvSpPr txBox="1"/>
                <p:nvPr/>
              </p:nvSpPr>
              <p:spPr>
                <a:xfrm>
                  <a:off x="0" y="0"/>
                  <a:ext cx="6669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854D0E"/>
                      </a:solidFill>
                      <a:latin typeface="Inter"/>
                      <a:ea typeface="Inter"/>
                      <a:cs typeface="Inter"/>
                      <a:sym typeface="Inter"/>
                    </a:rPr>
                    <a:t>Input</a:t>
                  </a:r>
                  <a:endParaRPr b="1" sz="1000">
                    <a:solidFill>
                      <a:srgbClr val="854D0E"/>
                    </a:solidFill>
                    <a:latin typeface="Inter"/>
                    <a:ea typeface="Inter"/>
                    <a:cs typeface="Inter"/>
                    <a:sym typeface="Inter"/>
                  </a:endParaRPr>
                </a:p>
              </p:txBody>
            </p:sp>
          </p:grpSp>
          <p:sp>
            <p:nvSpPr>
              <p:cNvPr id="115" name="Google Shape;115;p13"/>
              <p:cNvSpPr txBox="1"/>
              <p:nvPr/>
            </p:nvSpPr>
            <p:spPr>
              <a:xfrm>
                <a:off x="666750" y="0"/>
                <a:ext cx="2286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94A3B8"/>
                    </a:solidFill>
                    <a:latin typeface="Inter"/>
                    <a:ea typeface="Inter"/>
                    <a:cs typeface="Inter"/>
                    <a:sym typeface="Inter"/>
                  </a:rPr>
                  <a:t>→</a:t>
                </a:r>
                <a:endParaRPr b="1" sz="1200">
                  <a:solidFill>
                    <a:srgbClr val="94A3B8"/>
                  </a:solidFill>
                  <a:latin typeface="Inter"/>
                  <a:ea typeface="Inter"/>
                  <a:cs typeface="Inter"/>
                  <a:sym typeface="Inter"/>
                </a:endParaRPr>
              </a:p>
            </p:txBody>
          </p:sp>
          <p:grpSp>
            <p:nvGrpSpPr>
              <p:cNvPr id="116" name="Google Shape;116;p13"/>
              <p:cNvGrpSpPr/>
              <p:nvPr/>
            </p:nvGrpSpPr>
            <p:grpSpPr>
              <a:xfrm>
                <a:off x="895350" y="0"/>
                <a:ext cx="800100" cy="381000"/>
                <a:chOff x="0" y="0"/>
                <a:chExt cx="800100" cy="381000"/>
              </a:xfrm>
            </p:grpSpPr>
            <p:sp>
              <p:nvSpPr>
                <p:cNvPr id="117" name="Google Shape;117;p13"/>
                <p:cNvSpPr/>
                <p:nvPr/>
              </p:nvSpPr>
              <p:spPr>
                <a:xfrm>
                  <a:off x="0" y="0"/>
                  <a:ext cx="800100" cy="381000"/>
                </a:xfrm>
                <a:prstGeom prst="roundRect">
                  <a:avLst>
                    <a:gd fmla="val 20000" name="adj"/>
                  </a:avLst>
                </a:prstGeom>
                <a:solidFill>
                  <a:srgbClr val="EFF6F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3"/>
                <p:cNvSpPr txBox="1"/>
                <p:nvPr/>
              </p:nvSpPr>
              <p:spPr>
                <a:xfrm>
                  <a:off x="0" y="0"/>
                  <a:ext cx="8001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1D4ED8"/>
                      </a:solidFill>
                      <a:latin typeface="Inter"/>
                      <a:ea typeface="Inter"/>
                      <a:cs typeface="Inter"/>
                      <a:sym typeface="Inter"/>
                    </a:rPr>
                    <a:t>Query DB</a:t>
                  </a:r>
                  <a:endParaRPr b="1" sz="950">
                    <a:solidFill>
                      <a:srgbClr val="1D4ED8"/>
                    </a:solidFill>
                    <a:latin typeface="Inter"/>
                    <a:ea typeface="Inter"/>
                    <a:cs typeface="Inter"/>
                    <a:sym typeface="Inter"/>
                  </a:endParaRPr>
                </a:p>
              </p:txBody>
            </p:sp>
          </p:grpSp>
          <p:sp>
            <p:nvSpPr>
              <p:cNvPr id="119" name="Google Shape;119;p13"/>
              <p:cNvSpPr txBox="1"/>
              <p:nvPr/>
            </p:nvSpPr>
            <p:spPr>
              <a:xfrm>
                <a:off x="1695450" y="0"/>
                <a:ext cx="2286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94A3B8"/>
                    </a:solidFill>
                    <a:latin typeface="Inter"/>
                    <a:ea typeface="Inter"/>
                    <a:cs typeface="Inter"/>
                    <a:sym typeface="Inter"/>
                  </a:rPr>
                  <a:t>→</a:t>
                </a:r>
                <a:endParaRPr b="1" sz="1200">
                  <a:solidFill>
                    <a:srgbClr val="94A3B8"/>
                  </a:solidFill>
                  <a:latin typeface="Inter"/>
                  <a:ea typeface="Inter"/>
                  <a:cs typeface="Inter"/>
                  <a:sym typeface="Inter"/>
                </a:endParaRPr>
              </a:p>
            </p:txBody>
          </p:sp>
          <p:grpSp>
            <p:nvGrpSpPr>
              <p:cNvPr id="120" name="Google Shape;120;p13"/>
              <p:cNvGrpSpPr/>
              <p:nvPr/>
            </p:nvGrpSpPr>
            <p:grpSpPr>
              <a:xfrm>
                <a:off x="1924050" y="0"/>
                <a:ext cx="914400" cy="381000"/>
                <a:chOff x="0" y="0"/>
                <a:chExt cx="914400" cy="381000"/>
              </a:xfrm>
            </p:grpSpPr>
            <p:sp>
              <p:nvSpPr>
                <p:cNvPr id="121" name="Google Shape;121;p13"/>
                <p:cNvSpPr/>
                <p:nvPr/>
              </p:nvSpPr>
              <p:spPr>
                <a:xfrm>
                  <a:off x="0" y="0"/>
                  <a:ext cx="914400" cy="381000"/>
                </a:xfrm>
                <a:prstGeom prst="roundRect">
                  <a:avLst>
                    <a:gd fmla="val 20000" name="adj"/>
                  </a:avLst>
                </a:prstGeom>
                <a:solidFill>
                  <a:srgbClr val="EFF6F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3"/>
                <p:cNvSpPr txBox="1"/>
                <p:nvPr/>
              </p:nvSpPr>
              <p:spPr>
                <a:xfrm>
                  <a:off x="0" y="0"/>
                  <a:ext cx="914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1D4ED8"/>
                      </a:solidFill>
                      <a:latin typeface="Inter"/>
                      <a:ea typeface="Inter"/>
                      <a:cs typeface="Inter"/>
                      <a:sym typeface="Inter"/>
                    </a:rPr>
                    <a:t>Retrieve Fact</a:t>
                  </a:r>
                  <a:endParaRPr b="1" sz="950">
                    <a:solidFill>
                      <a:srgbClr val="1D4ED8"/>
                    </a:solidFill>
                    <a:latin typeface="Inter"/>
                    <a:ea typeface="Inter"/>
                    <a:cs typeface="Inter"/>
                    <a:sym typeface="Inter"/>
                  </a:endParaRPr>
                </a:p>
              </p:txBody>
            </p:sp>
          </p:grpSp>
          <p:sp>
            <p:nvSpPr>
              <p:cNvPr id="123" name="Google Shape;123;p13"/>
              <p:cNvSpPr txBox="1"/>
              <p:nvPr/>
            </p:nvSpPr>
            <p:spPr>
              <a:xfrm>
                <a:off x="2838450" y="0"/>
                <a:ext cx="2286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94A3B8"/>
                    </a:solidFill>
                    <a:latin typeface="Inter"/>
                    <a:ea typeface="Inter"/>
                    <a:cs typeface="Inter"/>
                    <a:sym typeface="Inter"/>
                  </a:rPr>
                  <a:t>→</a:t>
                </a:r>
                <a:endParaRPr b="1" sz="1200">
                  <a:solidFill>
                    <a:srgbClr val="94A3B8"/>
                  </a:solidFill>
                  <a:latin typeface="Inter"/>
                  <a:ea typeface="Inter"/>
                  <a:cs typeface="Inter"/>
                  <a:sym typeface="Inter"/>
                </a:endParaRPr>
              </a:p>
            </p:txBody>
          </p:sp>
          <p:grpSp>
            <p:nvGrpSpPr>
              <p:cNvPr id="124" name="Google Shape;124;p13"/>
              <p:cNvGrpSpPr/>
              <p:nvPr/>
            </p:nvGrpSpPr>
            <p:grpSpPr>
              <a:xfrm>
                <a:off x="3067050" y="0"/>
                <a:ext cx="914400" cy="381000"/>
                <a:chOff x="0" y="0"/>
                <a:chExt cx="914400" cy="381000"/>
              </a:xfrm>
            </p:grpSpPr>
            <p:sp>
              <p:nvSpPr>
                <p:cNvPr id="125" name="Google Shape;125;p13"/>
                <p:cNvSpPr/>
                <p:nvPr/>
              </p:nvSpPr>
              <p:spPr>
                <a:xfrm>
                  <a:off x="0" y="0"/>
                  <a:ext cx="914400" cy="381000"/>
                </a:xfrm>
                <a:prstGeom prst="roundRect">
                  <a:avLst>
                    <a:gd fmla="val 20000" name="adj"/>
                  </a:avLst>
                </a:prstGeom>
                <a:solidFill>
                  <a:srgbClr val="EFF6FF"/>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3"/>
                <p:cNvSpPr txBox="1"/>
                <p:nvPr/>
              </p:nvSpPr>
              <p:spPr>
                <a:xfrm>
                  <a:off x="0" y="0"/>
                  <a:ext cx="914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50">
                      <a:solidFill>
                        <a:srgbClr val="1D4ED8"/>
                      </a:solidFill>
                      <a:latin typeface="Inter"/>
                      <a:ea typeface="Inter"/>
                      <a:cs typeface="Inter"/>
                      <a:sym typeface="Inter"/>
                    </a:rPr>
                    <a:t>Execute Tool</a:t>
                  </a:r>
                  <a:endParaRPr b="1" sz="950">
                    <a:solidFill>
                      <a:srgbClr val="1D4ED8"/>
                    </a:solidFill>
                    <a:latin typeface="Inter"/>
                    <a:ea typeface="Inter"/>
                    <a:cs typeface="Inter"/>
                    <a:sym typeface="Inter"/>
                  </a:endParaRPr>
                </a:p>
              </p:txBody>
            </p:sp>
          </p:grpSp>
          <p:sp>
            <p:nvSpPr>
              <p:cNvPr id="127" name="Google Shape;127;p13"/>
              <p:cNvSpPr txBox="1"/>
              <p:nvPr/>
            </p:nvSpPr>
            <p:spPr>
              <a:xfrm>
                <a:off x="3981450" y="0"/>
                <a:ext cx="2286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
                    <a:solidFill>
                      <a:srgbClr val="94A3B8"/>
                    </a:solidFill>
                    <a:latin typeface="Inter"/>
                    <a:ea typeface="Inter"/>
                    <a:cs typeface="Inter"/>
                    <a:sym typeface="Inter"/>
                  </a:rPr>
                  <a:t>→</a:t>
                </a:r>
                <a:endParaRPr b="1" sz="1200">
                  <a:solidFill>
                    <a:srgbClr val="94A3B8"/>
                  </a:solidFill>
                  <a:latin typeface="Inter"/>
                  <a:ea typeface="Inter"/>
                  <a:cs typeface="Inter"/>
                  <a:sym typeface="Inter"/>
                </a:endParaRPr>
              </a:p>
            </p:txBody>
          </p:sp>
          <p:grpSp>
            <p:nvGrpSpPr>
              <p:cNvPr id="128" name="Google Shape;128;p13"/>
              <p:cNvGrpSpPr/>
              <p:nvPr/>
            </p:nvGrpSpPr>
            <p:grpSpPr>
              <a:xfrm>
                <a:off x="4210050" y="0"/>
                <a:ext cx="476400" cy="381000"/>
                <a:chOff x="0" y="0"/>
                <a:chExt cx="476400" cy="381000"/>
              </a:xfrm>
            </p:grpSpPr>
            <p:sp>
              <p:nvSpPr>
                <p:cNvPr id="129" name="Google Shape;129;p13"/>
                <p:cNvSpPr/>
                <p:nvPr/>
              </p:nvSpPr>
              <p:spPr>
                <a:xfrm>
                  <a:off x="0" y="0"/>
                  <a:ext cx="476400" cy="381000"/>
                </a:xfrm>
                <a:prstGeom prst="roundRect">
                  <a:avLst>
                    <a:gd fmla="val 20000" name="adj"/>
                  </a:avLst>
                </a:prstGeom>
                <a:solidFill>
                  <a:srgbClr val="DCFCE7"/>
                </a:solidFill>
                <a:ln cap="flat" cmpd="sng" w="14300">
                  <a:solidFill>
                    <a:srgbClr val="16A34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3"/>
                <p:cNvSpPr txBox="1"/>
                <p:nvPr/>
              </p:nvSpPr>
              <p:spPr>
                <a:xfrm>
                  <a:off x="0" y="0"/>
                  <a:ext cx="4764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166534"/>
                      </a:solidFill>
                      <a:latin typeface="Inter"/>
                      <a:ea typeface="Inter"/>
                      <a:cs typeface="Inter"/>
                      <a:sym typeface="Inter"/>
                    </a:rPr>
                    <a:t>Out</a:t>
                  </a:r>
                  <a:endParaRPr b="1" sz="1000">
                    <a:solidFill>
                      <a:srgbClr val="166534"/>
                    </a:solidFill>
                    <a:latin typeface="Inter"/>
                    <a:ea typeface="Inter"/>
                    <a:cs typeface="Inter"/>
                    <a:sym typeface="Inter"/>
                  </a:endParaRPr>
                </a:p>
              </p:txBody>
            </p:sp>
          </p:grpSp>
        </p:grpSp>
        <p:sp>
          <p:nvSpPr>
            <p:cNvPr id="131" name="Google Shape;131;p13"/>
            <p:cNvSpPr txBox="1"/>
            <p:nvPr/>
          </p:nvSpPr>
          <p:spPr>
            <a:xfrm>
              <a:off x="228600" y="1190625"/>
              <a:ext cx="46863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475569"/>
                  </a:solidFill>
                  <a:latin typeface="Inter"/>
                  <a:ea typeface="Inter"/>
                  <a:cs typeface="Inter"/>
                  <a:sym typeface="Inter"/>
                </a:rPr>
                <a:t>This architecture allows the system to gather relevant context dynamically before executing critical agent logic.</a:t>
              </a:r>
              <a:endParaRPr b="0" sz="1100">
                <a:solidFill>
                  <a:srgbClr val="475569"/>
                </a:solidFill>
                <a:latin typeface="Inter"/>
                <a:ea typeface="Inter"/>
                <a:cs typeface="Inter"/>
                <a:sym typeface="Inter"/>
              </a:endParaRPr>
            </a:p>
          </p:txBody>
        </p:sp>
      </p:grpSp>
      <p:grpSp>
        <p:nvGrpSpPr>
          <p:cNvPr id="132" name="Google Shape;132;p13"/>
          <p:cNvGrpSpPr/>
          <p:nvPr/>
        </p:nvGrpSpPr>
        <p:grpSpPr>
          <a:xfrm>
            <a:off x="6286500" y="3857625"/>
            <a:ext cx="5143500" cy="2190900"/>
            <a:chOff x="0" y="0"/>
            <a:chExt cx="5143500" cy="2190900"/>
          </a:xfrm>
        </p:grpSpPr>
        <p:sp>
          <p:nvSpPr>
            <p:cNvPr id="133" name="Google Shape;133;p13"/>
            <p:cNvSpPr/>
            <p:nvPr/>
          </p:nvSpPr>
          <p:spPr>
            <a:xfrm>
              <a:off x="0" y="0"/>
              <a:ext cx="5143500" cy="2190900"/>
            </a:xfrm>
            <a:prstGeom prst="roundRect">
              <a:avLst>
                <a:gd fmla="val 695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3"/>
            <p:cNvSpPr/>
            <p:nvPr/>
          </p:nvSpPr>
          <p:spPr>
            <a:xfrm>
              <a:off x="228600" y="190500"/>
              <a:ext cx="1047900" cy="228600"/>
            </a:xfrm>
            <a:prstGeom prst="roundRect">
              <a:avLst>
                <a:gd fmla="val 50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3"/>
            <p:cNvSpPr txBox="1"/>
            <p:nvPr/>
          </p:nvSpPr>
          <p:spPr>
            <a:xfrm>
              <a:off x="228600" y="190500"/>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FFFFFF"/>
                  </a:solidFill>
                  <a:latin typeface="Inter"/>
                  <a:ea typeface="Inter"/>
                  <a:cs typeface="Inter"/>
                  <a:sym typeface="Inter"/>
                </a:rPr>
                <a:t>CODE EXAMPLE</a:t>
              </a:r>
              <a:endParaRPr b="1" sz="800">
                <a:solidFill>
                  <a:srgbClr val="FFFFFF"/>
                </a:solidFill>
                <a:latin typeface="Inter"/>
                <a:ea typeface="Inter"/>
                <a:cs typeface="Inter"/>
                <a:sym typeface="Inter"/>
              </a:endParaRPr>
            </a:p>
          </p:txBody>
        </p:sp>
        <p:grpSp>
          <p:nvGrpSpPr>
            <p:cNvPr id="136" name="Google Shape;136;p13"/>
            <p:cNvGrpSpPr/>
            <p:nvPr/>
          </p:nvGrpSpPr>
          <p:grpSpPr>
            <a:xfrm>
              <a:off x="228600" y="571500"/>
              <a:ext cx="2238300" cy="1381200"/>
              <a:chOff x="0" y="0"/>
              <a:chExt cx="2238300" cy="1381200"/>
            </a:xfrm>
          </p:grpSpPr>
          <p:sp>
            <p:nvSpPr>
              <p:cNvPr id="137" name="Google Shape;137;p13"/>
              <p:cNvSpPr/>
              <p:nvPr/>
            </p:nvSpPr>
            <p:spPr>
              <a:xfrm>
                <a:off x="0" y="0"/>
                <a:ext cx="2238300" cy="1381200"/>
              </a:xfrm>
              <a:prstGeom prst="roundRect">
                <a:avLst>
                  <a:gd fmla="val 6896"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3"/>
              <p:cNvSpPr/>
              <p:nvPr/>
            </p:nvSpPr>
            <p:spPr>
              <a:xfrm>
                <a:off x="0" y="0"/>
                <a:ext cx="2238300" cy="266700"/>
              </a:xfrm>
              <a:prstGeom prst="roundRect">
                <a:avLst>
                  <a:gd fmla="val 35714"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3"/>
              <p:cNvSpPr/>
              <p:nvPr/>
            </p:nvSpPr>
            <p:spPr>
              <a:xfrm>
                <a:off x="133350" y="9525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13"/>
              <p:cNvSpPr/>
              <p:nvPr/>
            </p:nvSpPr>
            <p:spPr>
              <a:xfrm>
                <a:off x="247650" y="9525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3"/>
              <p:cNvSpPr/>
              <p:nvPr/>
            </p:nvSpPr>
            <p:spPr>
              <a:xfrm>
                <a:off x="361950" y="952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3"/>
              <p:cNvSpPr txBox="1"/>
              <p:nvPr/>
            </p:nvSpPr>
            <p:spPr>
              <a:xfrm>
                <a:off x="571500" y="0"/>
                <a:ext cx="1571700" cy="266700"/>
              </a:xfrm>
              <a:prstGeom prst="rect">
                <a:avLst/>
              </a:prstGeom>
              <a:noFill/>
              <a:ln>
                <a:noFill/>
              </a:ln>
            </p:spPr>
            <p:txBody>
              <a:bodyPr anchorCtr="0" anchor="ctr" bIns="0" lIns="0" spcFirstLastPara="1" rIns="114300" wrap="square" tIns="0">
                <a:noAutofit/>
              </a:bodyPr>
              <a:lstStyle/>
              <a:p>
                <a:pPr indent="0" lvl="0" marL="0" rtl="0" algn="r">
                  <a:spcBef>
                    <a:spcPts val="0"/>
                  </a:spcBef>
                  <a:spcAft>
                    <a:spcPts val="0"/>
                  </a:spcAft>
                  <a:buNone/>
                </a:pPr>
                <a:r>
                  <a:rPr b="1" lang="en-US" sz="750">
                    <a:solidFill>
                      <a:srgbClr val="94A3B8"/>
                    </a:solidFill>
                    <a:latin typeface="Courier New"/>
                    <a:ea typeface="Courier New"/>
                    <a:cs typeface="Courier New"/>
                    <a:sym typeface="Courier New"/>
                  </a:rPr>
                  <a:t>MEMORY INIT</a:t>
                </a:r>
                <a:endParaRPr b="1" sz="750">
                  <a:solidFill>
                    <a:srgbClr val="94A3B8"/>
                  </a:solidFill>
                  <a:latin typeface="Courier New"/>
                  <a:ea typeface="Courier New"/>
                  <a:cs typeface="Courier New"/>
                  <a:sym typeface="Courier New"/>
                </a:endParaRPr>
              </a:p>
            </p:txBody>
          </p:sp>
          <p:sp>
            <p:nvSpPr>
              <p:cNvPr id="143" name="Google Shape;143;p13"/>
              <p:cNvSpPr txBox="1"/>
              <p:nvPr/>
            </p:nvSpPr>
            <p:spPr>
              <a:xfrm>
                <a:off x="114300" y="381000"/>
                <a:ext cx="20097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850">
                    <a:solidFill>
                      <a:srgbClr val="F472B6"/>
                    </a:solidFill>
                    <a:latin typeface="Courier New"/>
                    <a:ea typeface="Courier New"/>
                    <a:cs typeface="Courier New"/>
                    <a:sym typeface="Courier New"/>
                  </a:rPr>
                  <a:t>import</a:t>
                </a:r>
                <a:r>
                  <a:rPr lang="en-US" sz="850">
                    <a:solidFill>
                      <a:srgbClr val="38BDF8"/>
                    </a:solidFill>
                    <a:latin typeface="Courier New"/>
                    <a:ea typeface="Courier New"/>
                    <a:cs typeface="Courier New"/>
                    <a:sym typeface="Courier New"/>
                  </a:rPr>
                  <a:t> memory</a:t>
                </a:r>
                <a:br>
                  <a:rPr lang="en-US" sz="850">
                    <a:solidFill>
                      <a:srgbClr val="38BDF8"/>
                    </a:solidFill>
                    <a:latin typeface="Courier New"/>
                    <a:ea typeface="Courier New"/>
                    <a:cs typeface="Courier New"/>
                    <a:sym typeface="Courier New"/>
                  </a:rPr>
                </a:br>
                <a:r>
                  <a:rPr lang="en-US" sz="850">
                    <a:solidFill>
                      <a:srgbClr val="38BDF8"/>
                    </a:solidFill>
                    <a:latin typeface="Courier New"/>
                    <a:ea typeface="Courier New"/>
                    <a:cs typeface="Courier New"/>
                    <a:sym typeface="Courier New"/>
                  </a:rPr>
                  <a:t>agent_mem = memory.init()</a:t>
                </a:r>
                <a:br>
                  <a:rPr lang="en-US" sz="850">
                    <a:solidFill>
                      <a:srgbClr val="38BDF8"/>
                    </a:solidFill>
                    <a:latin typeface="Courier New"/>
                    <a:ea typeface="Courier New"/>
                    <a:cs typeface="Courier New"/>
                    <a:sym typeface="Courier New"/>
                  </a:rPr>
                </a:br>
                <a:r>
                  <a:rPr lang="en-US" sz="850">
                    <a:solidFill>
                      <a:srgbClr val="38BDF8"/>
                    </a:solidFill>
                    <a:latin typeface="Courier New"/>
                    <a:ea typeface="Courier New"/>
                    <a:cs typeface="Courier New"/>
                    <a:sym typeface="Courier New"/>
                  </a:rPr>
                  <a:t>agent_mem.add(</a:t>
                </a:r>
                <a:r>
                  <a:rPr lang="en-US" sz="850">
                    <a:solidFill>
                      <a:srgbClr val="A78BFA"/>
                    </a:solidFill>
                    <a:latin typeface="Courier New"/>
                    <a:ea typeface="Courier New"/>
                    <a:cs typeface="Courier New"/>
                    <a:sym typeface="Courier New"/>
                  </a:rPr>
                  <a:t>"user_pref"</a:t>
                </a:r>
                <a:r>
                  <a:rPr lang="en-US" sz="850">
                    <a:solidFill>
                      <a:srgbClr val="38BDF8"/>
                    </a:solidFill>
                    <a:latin typeface="Courier New"/>
                    <a:ea typeface="Courier New"/>
                    <a:cs typeface="Courier New"/>
                    <a:sym typeface="Courier New"/>
                  </a:rPr>
                  <a:t>)</a:t>
                </a:r>
                <a:endParaRPr sz="850">
                  <a:solidFill>
                    <a:srgbClr val="38BDF8"/>
                  </a:solidFill>
                  <a:latin typeface="Courier New"/>
                  <a:ea typeface="Courier New"/>
                  <a:cs typeface="Courier New"/>
                  <a:sym typeface="Courier New"/>
                </a:endParaRPr>
              </a:p>
            </p:txBody>
          </p:sp>
        </p:grpSp>
        <p:grpSp>
          <p:nvGrpSpPr>
            <p:cNvPr id="144" name="Google Shape;144;p13"/>
            <p:cNvGrpSpPr/>
            <p:nvPr/>
          </p:nvGrpSpPr>
          <p:grpSpPr>
            <a:xfrm>
              <a:off x="2676525" y="571500"/>
              <a:ext cx="2238300" cy="1381200"/>
              <a:chOff x="0" y="0"/>
              <a:chExt cx="2238300" cy="1381200"/>
            </a:xfrm>
          </p:grpSpPr>
          <p:sp>
            <p:nvSpPr>
              <p:cNvPr id="145" name="Google Shape;145;p13"/>
              <p:cNvSpPr/>
              <p:nvPr/>
            </p:nvSpPr>
            <p:spPr>
              <a:xfrm>
                <a:off x="0" y="0"/>
                <a:ext cx="2238300" cy="1381200"/>
              </a:xfrm>
              <a:prstGeom prst="roundRect">
                <a:avLst>
                  <a:gd fmla="val 6896"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3"/>
              <p:cNvSpPr/>
              <p:nvPr/>
            </p:nvSpPr>
            <p:spPr>
              <a:xfrm>
                <a:off x="0" y="0"/>
                <a:ext cx="2238300" cy="266700"/>
              </a:xfrm>
              <a:prstGeom prst="roundRect">
                <a:avLst>
                  <a:gd fmla="val 35714"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3"/>
              <p:cNvSpPr/>
              <p:nvPr/>
            </p:nvSpPr>
            <p:spPr>
              <a:xfrm>
                <a:off x="133350" y="95250"/>
                <a:ext cx="76200" cy="762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3"/>
              <p:cNvSpPr/>
              <p:nvPr/>
            </p:nvSpPr>
            <p:spPr>
              <a:xfrm>
                <a:off x="247650" y="95250"/>
                <a:ext cx="76200" cy="762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3"/>
              <p:cNvSpPr/>
              <p:nvPr/>
            </p:nvSpPr>
            <p:spPr>
              <a:xfrm>
                <a:off x="361950" y="95250"/>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3"/>
              <p:cNvSpPr txBox="1"/>
              <p:nvPr/>
            </p:nvSpPr>
            <p:spPr>
              <a:xfrm>
                <a:off x="571500" y="0"/>
                <a:ext cx="1571700" cy="266700"/>
              </a:xfrm>
              <a:prstGeom prst="rect">
                <a:avLst/>
              </a:prstGeom>
              <a:noFill/>
              <a:ln>
                <a:noFill/>
              </a:ln>
            </p:spPr>
            <p:txBody>
              <a:bodyPr anchorCtr="0" anchor="ctr" bIns="0" lIns="0" spcFirstLastPara="1" rIns="114300" wrap="square" tIns="0">
                <a:noAutofit/>
              </a:bodyPr>
              <a:lstStyle/>
              <a:p>
                <a:pPr indent="0" lvl="0" marL="0" rtl="0" algn="r">
                  <a:spcBef>
                    <a:spcPts val="0"/>
                  </a:spcBef>
                  <a:spcAft>
                    <a:spcPts val="0"/>
                  </a:spcAft>
                  <a:buNone/>
                </a:pPr>
                <a:r>
                  <a:rPr b="1" lang="en-US" sz="750">
                    <a:solidFill>
                      <a:srgbClr val="94A3B8"/>
                    </a:solidFill>
                    <a:latin typeface="Courier New"/>
                    <a:ea typeface="Courier New"/>
                    <a:cs typeface="Courier New"/>
                    <a:sym typeface="Courier New"/>
                  </a:rPr>
                  <a:t>TOOL USAGE</a:t>
                </a:r>
                <a:endParaRPr b="1" sz="750">
                  <a:solidFill>
                    <a:srgbClr val="94A3B8"/>
                  </a:solidFill>
                  <a:latin typeface="Courier New"/>
                  <a:ea typeface="Courier New"/>
                  <a:cs typeface="Courier New"/>
                  <a:sym typeface="Courier New"/>
                </a:endParaRPr>
              </a:p>
            </p:txBody>
          </p:sp>
          <p:sp>
            <p:nvSpPr>
              <p:cNvPr id="151" name="Google Shape;151;p13"/>
              <p:cNvSpPr txBox="1"/>
              <p:nvPr/>
            </p:nvSpPr>
            <p:spPr>
              <a:xfrm>
                <a:off x="114300" y="381000"/>
                <a:ext cx="20097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850">
                    <a:solidFill>
                      <a:srgbClr val="38BDF8"/>
                    </a:solidFill>
                    <a:latin typeface="Courier New"/>
                    <a:ea typeface="Courier New"/>
                    <a:cs typeface="Courier New"/>
                    <a:sym typeface="Courier New"/>
                  </a:rPr>
                  <a:t>context = agent_mem.get()</a:t>
                </a:r>
                <a:br>
                  <a:rPr lang="en-US" sz="850">
                    <a:solidFill>
                      <a:srgbClr val="38BDF8"/>
                    </a:solidFill>
                    <a:latin typeface="Courier New"/>
                    <a:ea typeface="Courier New"/>
                    <a:cs typeface="Courier New"/>
                    <a:sym typeface="Courier New"/>
                  </a:rPr>
                </a:br>
                <a:r>
                  <a:rPr lang="en-US" sz="850">
                    <a:solidFill>
                      <a:srgbClr val="38BDF8"/>
                    </a:solidFill>
                    <a:latin typeface="Courier New"/>
                    <a:ea typeface="Courier New"/>
                    <a:cs typeface="Courier New"/>
                    <a:sym typeface="Courier New"/>
                  </a:rPr>
                  <a:t>tool.execute(query, context)</a:t>
                </a:r>
                <a:endParaRPr sz="850">
                  <a:solidFill>
                    <a:srgbClr val="38BDF8"/>
                  </a:solidFill>
                  <a:latin typeface="Courier New"/>
                  <a:ea typeface="Courier New"/>
                  <a:cs typeface="Courier New"/>
                  <a:sym typeface="Courier New"/>
                </a:endParaRPr>
              </a:p>
            </p:txBody>
          </p:sp>
        </p:grpSp>
      </p:grpSp>
      <p:pic>
        <p:nvPicPr>
          <p:cNvPr descr="image.png" id="152" name="Google Shape;152;p13"/>
          <p:cNvPicPr preferRelativeResize="0"/>
          <p:nvPr/>
        </p:nvPicPr>
        <p:blipFill rotWithShape="1">
          <a:blip r:embed="rId5">
            <a:alphaModFix/>
          </a:blip>
          <a:srcRect b="0" l="0" r="0" t="0"/>
          <a:stretch/>
        </p:blipFill>
        <p:spPr>
          <a:xfrm>
            <a:off x="381000" y="6438900"/>
            <a:ext cx="1373981" cy="266700"/>
          </a:xfrm>
          <a:prstGeom prst="rect">
            <a:avLst/>
          </a:prstGeom>
          <a:noFill/>
          <a:ln>
            <a:noFill/>
          </a:ln>
        </p:spPr>
      </p:pic>
      <p:pic>
        <p:nvPicPr>
          <p:cNvPr descr="image.png" id="153" name="Google Shape;153;p13"/>
          <p:cNvPicPr preferRelativeResize="0"/>
          <p:nvPr/>
        </p:nvPicPr>
        <p:blipFill rotWithShape="1">
          <a:blip r:embed="rId6">
            <a:alphaModFix/>
          </a:blip>
          <a:srcRect b="0" l="0" r="0" t="0"/>
          <a:stretch/>
        </p:blipFill>
        <p:spPr>
          <a:xfrm>
            <a:off x="6238875" y="6896100"/>
            <a:ext cx="4762500" cy="333375"/>
          </a:xfrm>
          <a:prstGeom prst="rect">
            <a:avLst/>
          </a:prstGeom>
          <a:noFill/>
          <a:ln>
            <a:noFill/>
          </a:ln>
        </p:spPr>
      </p:pic>
      <p:sp>
        <p:nvSpPr>
          <p:cNvPr id="154" name="Google Shape;154;p13"/>
          <p:cNvSpPr txBox="1"/>
          <p:nvPr/>
        </p:nvSpPr>
        <p:spPr>
          <a:xfrm>
            <a:off x="6951910" y="295275"/>
            <a:ext cx="4859100" cy="1848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01</a:t>
            </a:r>
            <a:endParaRPr/>
          </a:p>
        </p:txBody>
      </p:sp>
      <p:sp>
        <p:nvSpPr>
          <p:cNvPr id="155" name="Google Shape;155;p13"/>
          <p:cNvSpPr txBox="1"/>
          <p:nvPr/>
        </p:nvSpPr>
        <p:spPr>
          <a:xfrm>
            <a:off x="809625" y="7086600"/>
            <a:ext cx="4762500" cy="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975" u="none" cap="none" strike="noStrike">
                <a:solidFill>
                  <a:srgbClr val="64748B"/>
                </a:solidFill>
                <a:latin typeface="Arial"/>
                <a:ea typeface="Arial"/>
                <a:cs typeface="Arial"/>
                <a:sym typeface="Arial"/>
              </a:rPr>
              <a:t>Combining recalled knowledge with actionable tool use.</a:t>
            </a:r>
            <a:endParaRPr/>
          </a:p>
        </p:txBody>
      </p:sp>
      <p:sp>
        <p:nvSpPr>
          <p:cNvPr id="156" name="Google Shape;156;p13"/>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3"/>
          <p:cNvSpPr txBox="1"/>
          <p:nvPr/>
        </p:nvSpPr>
        <p:spPr>
          <a:xfrm>
            <a:off x="381000" y="6286500"/>
            <a:ext cx="114300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Memory transforms an AI from a stateless responder into a continuous collaborator.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pic>
        <p:nvPicPr>
          <p:cNvPr descr="image.png" id="162" name="Google Shape;162;p14"/>
          <p:cNvPicPr preferRelativeResize="0"/>
          <p:nvPr/>
        </p:nvPicPr>
        <p:blipFill rotWithShape="1">
          <a:blip r:embed="rId3">
            <a:alphaModFix/>
          </a:blip>
          <a:srcRect b="0" l="0" r="0" t="0"/>
          <a:stretch/>
        </p:blipFill>
        <p:spPr>
          <a:xfrm>
            <a:off x="5240089" y="214312"/>
            <a:ext cx="1711821" cy="333375"/>
          </a:xfrm>
          <a:prstGeom prst="rect">
            <a:avLst/>
          </a:prstGeom>
          <a:noFill/>
          <a:ln>
            <a:noFill/>
          </a:ln>
        </p:spPr>
      </p:pic>
      <p:pic>
        <p:nvPicPr>
          <p:cNvPr descr="image.png" id="163" name="Google Shape;163;p14"/>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sp>
        <p:nvSpPr>
          <p:cNvPr id="164" name="Google Shape;164;p14"/>
          <p:cNvSpPr txBox="1"/>
          <p:nvPr/>
        </p:nvSpPr>
        <p:spPr>
          <a:xfrm>
            <a:off x="6951910" y="295275"/>
            <a:ext cx="4859089"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02</a:t>
            </a:r>
            <a:endParaRPr/>
          </a:p>
        </p:txBody>
      </p:sp>
      <p:sp>
        <p:nvSpPr>
          <p:cNvPr id="165" name="Google Shape;165;p14"/>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4"/>
          <p:cNvSpPr txBox="1"/>
          <p:nvPr/>
        </p:nvSpPr>
        <p:spPr>
          <a:xfrm>
            <a:off x="2682917" y="2819400"/>
            <a:ext cx="6826165" cy="704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0F172A"/>
                </a:solidFill>
                <a:latin typeface="Arial"/>
                <a:ea typeface="Arial"/>
                <a:cs typeface="Arial"/>
                <a:sym typeface="Arial"/>
              </a:rPr>
              <a:t>Foundation of Context</a:t>
            </a:r>
            <a:endParaRPr/>
          </a:p>
        </p:txBody>
      </p:sp>
      <p:sp>
        <p:nvSpPr>
          <p:cNvPr id="167" name="Google Shape;167;p14"/>
          <p:cNvSpPr/>
          <p:nvPr/>
        </p:nvSpPr>
        <p:spPr>
          <a:xfrm>
            <a:off x="5524500" y="3714750"/>
            <a:ext cx="1143000" cy="57150"/>
          </a:xfrm>
          <a:prstGeom prst="roundRect">
            <a:avLst>
              <a:gd fmla="val 50000" name="adj"/>
            </a:avLst>
          </a:prstGeom>
          <a:solidFill>
            <a:srgbClr val="1665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4"/>
          <p:cNvSpPr txBox="1"/>
          <p:nvPr/>
        </p:nvSpPr>
        <p:spPr>
          <a:xfrm>
            <a:off x="3662808" y="3962400"/>
            <a:ext cx="4866233"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64748B"/>
                </a:solidFill>
                <a:latin typeface="Arial"/>
                <a:ea typeface="Arial"/>
                <a:cs typeface="Arial"/>
                <a:sym typeface="Arial"/>
              </a:rPr>
              <a:t>Understanding how AI systems remember state.</a:t>
            </a:r>
            <a:endParaRPr/>
          </a:p>
        </p:txBody>
      </p:sp>
      <p:sp>
        <p:nvSpPr>
          <p:cNvPr id="169" name="Google Shape;169;p14"/>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4"/>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Without a memory architecture, every interaction is a blank slate.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pic>
        <p:nvPicPr>
          <p:cNvPr descr="image.png" id="175" name="Google Shape;175;p15"/>
          <p:cNvPicPr preferRelativeResize="0"/>
          <p:nvPr/>
        </p:nvPicPr>
        <p:blipFill rotWithShape="1">
          <a:blip r:embed="rId3">
            <a:alphaModFix/>
          </a:blip>
          <a:srcRect b="0" l="0" r="0" t="0"/>
          <a:stretch/>
        </p:blipFill>
        <p:spPr>
          <a:xfrm>
            <a:off x="5240089" y="214312"/>
            <a:ext cx="1711821" cy="333375"/>
          </a:xfrm>
          <a:prstGeom prst="rect">
            <a:avLst/>
          </a:prstGeom>
          <a:noFill/>
          <a:ln>
            <a:noFill/>
          </a:ln>
        </p:spPr>
      </p:pic>
      <p:pic>
        <p:nvPicPr>
          <p:cNvPr descr="image.png" id="176" name="Google Shape;176;p15"/>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177" name="Google Shape;177;p15"/>
          <p:cNvPicPr preferRelativeResize="0"/>
          <p:nvPr/>
        </p:nvPicPr>
        <p:blipFill rotWithShape="1">
          <a:blip r:embed="rId5">
            <a:alphaModFix/>
          </a:blip>
          <a:srcRect b="0" l="0" r="0" t="0"/>
          <a:stretch/>
        </p:blipFill>
        <p:spPr>
          <a:xfrm>
            <a:off x="571500" y="2621458"/>
            <a:ext cx="5381625" cy="1102816"/>
          </a:xfrm>
          <a:prstGeom prst="rect">
            <a:avLst/>
          </a:prstGeom>
          <a:noFill/>
          <a:ln>
            <a:noFill/>
          </a:ln>
        </p:spPr>
      </p:pic>
      <p:pic>
        <p:nvPicPr>
          <p:cNvPr descr="image.png" id="178" name="Google Shape;178;p15"/>
          <p:cNvPicPr preferRelativeResize="0"/>
          <p:nvPr/>
        </p:nvPicPr>
        <p:blipFill rotWithShape="1">
          <a:blip r:embed="rId5">
            <a:alphaModFix/>
          </a:blip>
          <a:srcRect b="0" l="0" r="0" t="0"/>
          <a:stretch/>
        </p:blipFill>
        <p:spPr>
          <a:xfrm>
            <a:off x="6238875" y="2621458"/>
            <a:ext cx="5381625" cy="1102816"/>
          </a:xfrm>
          <a:prstGeom prst="rect">
            <a:avLst/>
          </a:prstGeom>
          <a:noFill/>
          <a:ln>
            <a:noFill/>
          </a:ln>
        </p:spPr>
      </p:pic>
      <p:pic>
        <p:nvPicPr>
          <p:cNvPr descr="image.png" id="179" name="Google Shape;179;p15"/>
          <p:cNvPicPr preferRelativeResize="0"/>
          <p:nvPr/>
        </p:nvPicPr>
        <p:blipFill rotWithShape="1">
          <a:blip r:embed="rId5">
            <a:alphaModFix/>
          </a:blip>
          <a:srcRect b="0" l="0" r="0" t="0"/>
          <a:stretch/>
        </p:blipFill>
        <p:spPr>
          <a:xfrm>
            <a:off x="571500" y="4010025"/>
            <a:ext cx="5381625" cy="1102816"/>
          </a:xfrm>
          <a:prstGeom prst="rect">
            <a:avLst/>
          </a:prstGeom>
          <a:noFill/>
          <a:ln>
            <a:noFill/>
          </a:ln>
        </p:spPr>
      </p:pic>
      <p:pic>
        <p:nvPicPr>
          <p:cNvPr descr="image.png" id="180" name="Google Shape;180;p15"/>
          <p:cNvPicPr preferRelativeResize="0"/>
          <p:nvPr/>
        </p:nvPicPr>
        <p:blipFill rotWithShape="1">
          <a:blip r:embed="rId5">
            <a:alphaModFix/>
          </a:blip>
          <a:srcRect b="0" l="0" r="0" t="0"/>
          <a:stretch/>
        </p:blipFill>
        <p:spPr>
          <a:xfrm>
            <a:off x="6238875" y="4010025"/>
            <a:ext cx="5381625" cy="1102816"/>
          </a:xfrm>
          <a:prstGeom prst="rect">
            <a:avLst/>
          </a:prstGeom>
          <a:noFill/>
          <a:ln>
            <a:noFill/>
          </a:ln>
        </p:spPr>
      </p:pic>
      <p:pic>
        <p:nvPicPr>
          <p:cNvPr descr="image.png" id="181" name="Google Shape;181;p15"/>
          <p:cNvPicPr preferRelativeResize="0"/>
          <p:nvPr/>
        </p:nvPicPr>
        <p:blipFill rotWithShape="1">
          <a:blip r:embed="rId6">
            <a:alphaModFix/>
          </a:blip>
          <a:srcRect b="0" l="0" r="0" t="0"/>
          <a:stretch/>
        </p:blipFill>
        <p:spPr>
          <a:xfrm>
            <a:off x="762000" y="2811958"/>
            <a:ext cx="381000" cy="381000"/>
          </a:xfrm>
          <a:prstGeom prst="rect">
            <a:avLst/>
          </a:prstGeom>
          <a:noFill/>
          <a:ln>
            <a:noFill/>
          </a:ln>
        </p:spPr>
      </p:pic>
      <p:pic>
        <p:nvPicPr>
          <p:cNvPr descr="image.png" id="182" name="Google Shape;182;p15"/>
          <p:cNvPicPr preferRelativeResize="0"/>
          <p:nvPr/>
        </p:nvPicPr>
        <p:blipFill rotWithShape="1">
          <a:blip r:embed="rId7">
            <a:alphaModFix/>
          </a:blip>
          <a:srcRect b="0" l="0" r="0" t="0"/>
          <a:stretch/>
        </p:blipFill>
        <p:spPr>
          <a:xfrm>
            <a:off x="6429375" y="2811958"/>
            <a:ext cx="381000" cy="381000"/>
          </a:xfrm>
          <a:prstGeom prst="rect">
            <a:avLst/>
          </a:prstGeom>
          <a:noFill/>
          <a:ln>
            <a:noFill/>
          </a:ln>
        </p:spPr>
      </p:pic>
      <p:pic>
        <p:nvPicPr>
          <p:cNvPr descr="image.png" id="183" name="Google Shape;183;p15"/>
          <p:cNvPicPr preferRelativeResize="0"/>
          <p:nvPr/>
        </p:nvPicPr>
        <p:blipFill rotWithShape="1">
          <a:blip r:embed="rId8">
            <a:alphaModFix/>
          </a:blip>
          <a:srcRect b="0" l="0" r="0" t="0"/>
          <a:stretch/>
        </p:blipFill>
        <p:spPr>
          <a:xfrm>
            <a:off x="762000" y="4200525"/>
            <a:ext cx="381000" cy="381000"/>
          </a:xfrm>
          <a:prstGeom prst="rect">
            <a:avLst/>
          </a:prstGeom>
          <a:noFill/>
          <a:ln>
            <a:noFill/>
          </a:ln>
        </p:spPr>
      </p:pic>
      <p:pic>
        <p:nvPicPr>
          <p:cNvPr descr="image.png" id="184" name="Google Shape;184;p15"/>
          <p:cNvPicPr preferRelativeResize="0"/>
          <p:nvPr/>
        </p:nvPicPr>
        <p:blipFill rotWithShape="1">
          <a:blip r:embed="rId9">
            <a:alphaModFix/>
          </a:blip>
          <a:srcRect b="0" l="0" r="0" t="0"/>
          <a:stretch/>
        </p:blipFill>
        <p:spPr>
          <a:xfrm>
            <a:off x="6429375" y="4200525"/>
            <a:ext cx="381000" cy="381000"/>
          </a:xfrm>
          <a:prstGeom prst="rect">
            <a:avLst/>
          </a:prstGeom>
          <a:noFill/>
          <a:ln>
            <a:noFill/>
          </a:ln>
        </p:spPr>
      </p:pic>
      <p:sp>
        <p:nvSpPr>
          <p:cNvPr id="185" name="Google Shape;185;p15"/>
          <p:cNvSpPr txBox="1"/>
          <p:nvPr/>
        </p:nvSpPr>
        <p:spPr>
          <a:xfrm>
            <a:off x="6951910" y="295275"/>
            <a:ext cx="4859089"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03</a:t>
            </a:r>
            <a:endParaRPr/>
          </a:p>
        </p:txBody>
      </p:sp>
      <p:sp>
        <p:nvSpPr>
          <p:cNvPr id="186" name="Google Shape;186;p15"/>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The Memory Hierarchy</a:t>
            </a:r>
            <a:endParaRPr/>
          </a:p>
        </p:txBody>
      </p:sp>
      <p:sp>
        <p:nvSpPr>
          <p:cNvPr id="187" name="Google Shape;187;p15"/>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5"/>
          <p:cNvSpPr txBox="1"/>
          <p:nvPr/>
        </p:nvSpPr>
        <p:spPr>
          <a:xfrm>
            <a:off x="1333500" y="2811958"/>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Short-Term Memory</a:t>
            </a:r>
            <a:endParaRPr/>
          </a:p>
        </p:txBody>
      </p:sp>
      <p:sp>
        <p:nvSpPr>
          <p:cNvPr id="189" name="Google Shape;189;p15"/>
          <p:cNvSpPr txBox="1"/>
          <p:nvPr/>
        </p:nvSpPr>
        <p:spPr>
          <a:xfrm>
            <a:off x="1333500" y="3107233"/>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Stores the immediate conversational history. Typically held in RAM and passed into the prompt context.</a:t>
            </a:r>
            <a:endParaRPr/>
          </a:p>
        </p:txBody>
      </p:sp>
      <p:sp>
        <p:nvSpPr>
          <p:cNvPr id="190" name="Google Shape;190;p15"/>
          <p:cNvSpPr txBox="1"/>
          <p:nvPr/>
        </p:nvSpPr>
        <p:spPr>
          <a:xfrm>
            <a:off x="7000875" y="2811958"/>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Long-Term Memory</a:t>
            </a:r>
            <a:endParaRPr/>
          </a:p>
        </p:txBody>
      </p:sp>
      <p:sp>
        <p:nvSpPr>
          <p:cNvPr id="191" name="Google Shape;191;p15"/>
          <p:cNvSpPr txBox="1"/>
          <p:nvPr/>
        </p:nvSpPr>
        <p:spPr>
          <a:xfrm>
            <a:off x="7000875" y="3107233"/>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Vast historical data stored persistently. Uses Vector Databases to recall relevant facts across sessions.</a:t>
            </a:r>
            <a:endParaRPr/>
          </a:p>
        </p:txBody>
      </p:sp>
      <p:sp>
        <p:nvSpPr>
          <p:cNvPr id="192" name="Google Shape;192;p15"/>
          <p:cNvSpPr txBox="1"/>
          <p:nvPr/>
        </p:nvSpPr>
        <p:spPr>
          <a:xfrm>
            <a:off x="1333500" y="4200525"/>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Working Memory</a:t>
            </a:r>
            <a:endParaRPr/>
          </a:p>
        </p:txBody>
      </p:sp>
      <p:sp>
        <p:nvSpPr>
          <p:cNvPr id="193" name="Google Shape;193;p15"/>
          <p:cNvSpPr txBox="1"/>
          <p:nvPr/>
        </p:nvSpPr>
        <p:spPr>
          <a:xfrm>
            <a:off x="1333500" y="4495800"/>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Temporary scratchpad used during active reasoning (e.g., holding a variable during tool execution).</a:t>
            </a:r>
            <a:endParaRPr/>
          </a:p>
        </p:txBody>
      </p:sp>
      <p:sp>
        <p:nvSpPr>
          <p:cNvPr id="194" name="Google Shape;194;p15"/>
          <p:cNvSpPr txBox="1"/>
          <p:nvPr/>
        </p:nvSpPr>
        <p:spPr>
          <a:xfrm>
            <a:off x="7000875" y="4200525"/>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Episodic Memory</a:t>
            </a:r>
            <a:endParaRPr/>
          </a:p>
        </p:txBody>
      </p:sp>
      <p:sp>
        <p:nvSpPr>
          <p:cNvPr id="195" name="Google Shape;195;p15"/>
          <p:cNvSpPr txBox="1"/>
          <p:nvPr/>
        </p:nvSpPr>
        <p:spPr>
          <a:xfrm>
            <a:off x="7000875" y="4495800"/>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Storing specific past experiences ("episodes") of successful or failed tasks to improve future planning.</a:t>
            </a:r>
            <a:endParaRPr/>
          </a:p>
        </p:txBody>
      </p:sp>
      <p:sp>
        <p:nvSpPr>
          <p:cNvPr id="196" name="Google Shape;196;p15"/>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15"/>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Like human cognition, agents require multiple tiers of memory for optimal performance.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16"/>
          <p:cNvPicPr preferRelativeResize="0"/>
          <p:nvPr/>
        </p:nvPicPr>
        <p:blipFill rotWithShape="1">
          <a:blip r:embed="rId3">
            <a:alphaModFix/>
          </a:blip>
          <a:srcRect b="0" l="0" r="0" t="0"/>
          <a:stretch/>
        </p:blipFill>
        <p:spPr>
          <a:xfrm>
            <a:off x="5240089" y="214312"/>
            <a:ext cx="1711821" cy="333375"/>
          </a:xfrm>
          <a:prstGeom prst="rect">
            <a:avLst/>
          </a:prstGeom>
          <a:noFill/>
          <a:ln>
            <a:noFill/>
          </a:ln>
        </p:spPr>
      </p:pic>
      <p:pic>
        <p:nvPicPr>
          <p:cNvPr descr="image.png" id="203" name="Google Shape;203;p16"/>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204" name="Google Shape;204;p16"/>
          <p:cNvPicPr preferRelativeResize="0"/>
          <p:nvPr/>
        </p:nvPicPr>
        <p:blipFill rotWithShape="1">
          <a:blip r:embed="rId5">
            <a:alphaModFix/>
          </a:blip>
          <a:srcRect b="0" l="0" r="0" t="0"/>
          <a:stretch/>
        </p:blipFill>
        <p:spPr>
          <a:xfrm>
            <a:off x="571500" y="1638300"/>
            <a:ext cx="5286375" cy="4457700"/>
          </a:xfrm>
          <a:prstGeom prst="rect">
            <a:avLst/>
          </a:prstGeom>
          <a:noFill/>
          <a:ln>
            <a:noFill/>
          </a:ln>
        </p:spPr>
      </p:pic>
      <p:pic>
        <p:nvPicPr>
          <p:cNvPr descr="image.png" id="205" name="Google Shape;205;p16"/>
          <p:cNvPicPr preferRelativeResize="0"/>
          <p:nvPr/>
        </p:nvPicPr>
        <p:blipFill rotWithShape="1">
          <a:blip r:embed="rId6">
            <a:alphaModFix/>
          </a:blip>
          <a:srcRect b="0" l="0" r="0" t="0"/>
          <a:stretch/>
        </p:blipFill>
        <p:spPr>
          <a:xfrm>
            <a:off x="6334125" y="1638300"/>
            <a:ext cx="5286375" cy="4457700"/>
          </a:xfrm>
          <a:prstGeom prst="rect">
            <a:avLst/>
          </a:prstGeom>
          <a:noFill/>
          <a:ln>
            <a:noFill/>
          </a:ln>
        </p:spPr>
      </p:pic>
      <p:sp>
        <p:nvSpPr>
          <p:cNvPr id="206" name="Google Shape;206;p16"/>
          <p:cNvSpPr txBox="1"/>
          <p:nvPr/>
        </p:nvSpPr>
        <p:spPr>
          <a:xfrm>
            <a:off x="6951910" y="295275"/>
            <a:ext cx="4859089"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04</a:t>
            </a:r>
            <a:endParaRPr/>
          </a:p>
        </p:txBody>
      </p:sp>
      <p:sp>
        <p:nvSpPr>
          <p:cNvPr id="207" name="Google Shape;207;p16"/>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Short-term vs. Long-term</a:t>
            </a:r>
            <a:endParaRPr/>
          </a:p>
        </p:txBody>
      </p:sp>
      <p:sp>
        <p:nvSpPr>
          <p:cNvPr id="208" name="Google Shape;208;p16"/>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16"/>
          <p:cNvSpPr txBox="1"/>
          <p:nvPr/>
        </p:nvSpPr>
        <p:spPr>
          <a:xfrm>
            <a:off x="857250" y="1924050"/>
            <a:ext cx="2640173"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Arial"/>
                <a:ea typeface="Arial"/>
                <a:cs typeface="Arial"/>
                <a:sym typeface="Arial"/>
              </a:rPr>
              <a:t>Short-term (In-Context)</a:t>
            </a:r>
            <a:endParaRPr/>
          </a:p>
        </p:txBody>
      </p:sp>
      <p:sp>
        <p:nvSpPr>
          <p:cNvPr id="210" name="Google Shape;210;p16"/>
          <p:cNvSpPr/>
          <p:nvPr/>
        </p:nvSpPr>
        <p:spPr>
          <a:xfrm>
            <a:off x="857250" y="2238375"/>
            <a:ext cx="2514451" cy="19050"/>
          </a:xfrm>
          <a:prstGeom prst="rect">
            <a:avLst/>
          </a:prstGeom>
          <a:solidFill>
            <a:srgbClr val="1665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16"/>
          <p:cNvSpPr txBox="1"/>
          <p:nvPr/>
        </p:nvSpPr>
        <p:spPr>
          <a:xfrm>
            <a:off x="857250" y="2400300"/>
            <a:ext cx="47148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Relies on maintaining a list of recent messages. Limited strictly by the LLM's </a:t>
            </a:r>
            <a:r>
              <a:rPr b="1" i="0" lang="en-US" sz="1350" u="none" cap="none" strike="noStrike">
                <a:solidFill>
                  <a:srgbClr val="0F172A"/>
                </a:solidFill>
                <a:latin typeface="Arial"/>
                <a:ea typeface="Arial"/>
                <a:cs typeface="Arial"/>
                <a:sym typeface="Arial"/>
              </a:rPr>
              <a:t>context window</a:t>
            </a:r>
            <a:r>
              <a:rPr b="0" i="0" lang="en-US" sz="1350" u="none" cap="none" strike="noStrike">
                <a:solidFill>
                  <a:srgbClr val="334155"/>
                </a:solidFill>
                <a:latin typeface="Arial"/>
                <a:ea typeface="Arial"/>
                <a:cs typeface="Arial"/>
                <a:sym typeface="Arial"/>
              </a:rPr>
              <a:t> (e.g., 128k tokens).</a:t>
            </a:r>
            <a:endParaRPr/>
          </a:p>
        </p:txBody>
      </p:sp>
      <p:sp>
        <p:nvSpPr>
          <p:cNvPr id="212" name="Google Shape;212;p16"/>
          <p:cNvSpPr txBox="1"/>
          <p:nvPr/>
        </p:nvSpPr>
        <p:spPr>
          <a:xfrm>
            <a:off x="857250" y="3057525"/>
            <a:ext cx="47148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Perfect for maintaining the flow of a single, active conversation. Erased when the session ends.</a:t>
            </a:r>
            <a:endParaRPr/>
          </a:p>
        </p:txBody>
      </p:sp>
      <p:sp>
        <p:nvSpPr>
          <p:cNvPr id="213" name="Google Shape;213;p16"/>
          <p:cNvSpPr txBox="1"/>
          <p:nvPr/>
        </p:nvSpPr>
        <p:spPr>
          <a:xfrm>
            <a:off x="6619875" y="1924050"/>
            <a:ext cx="2827384"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Arial"/>
                <a:ea typeface="Arial"/>
                <a:cs typeface="Arial"/>
                <a:sym typeface="Arial"/>
              </a:rPr>
              <a:t>Long-term (Vector Store)</a:t>
            </a:r>
            <a:endParaRPr/>
          </a:p>
        </p:txBody>
      </p:sp>
      <p:sp>
        <p:nvSpPr>
          <p:cNvPr id="214" name="Google Shape;214;p16"/>
          <p:cNvSpPr/>
          <p:nvPr/>
        </p:nvSpPr>
        <p:spPr>
          <a:xfrm>
            <a:off x="6619875" y="2238375"/>
            <a:ext cx="2692747" cy="19050"/>
          </a:xfrm>
          <a:prstGeom prst="rect">
            <a:avLst/>
          </a:prstGeom>
          <a:solidFill>
            <a:srgbClr val="1665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6"/>
          <p:cNvSpPr txBox="1"/>
          <p:nvPr/>
        </p:nvSpPr>
        <p:spPr>
          <a:xfrm>
            <a:off x="6619875" y="2400300"/>
            <a:ext cx="47148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Relies on embedding text into high-dimensional vectors and storing them on disk. </a:t>
            </a:r>
            <a:r>
              <a:rPr b="1" i="0" lang="en-US" sz="1350" u="none" cap="none" strike="noStrike">
                <a:solidFill>
                  <a:srgbClr val="0F172A"/>
                </a:solidFill>
                <a:latin typeface="Arial"/>
                <a:ea typeface="Arial"/>
                <a:cs typeface="Arial"/>
                <a:sym typeface="Arial"/>
              </a:rPr>
              <a:t>Unlimited capacity</a:t>
            </a:r>
            <a:r>
              <a:rPr b="0" i="0" lang="en-US" sz="1350" u="none" cap="none" strike="noStrike">
                <a:solidFill>
                  <a:srgbClr val="334155"/>
                </a:solidFill>
                <a:latin typeface="Arial"/>
                <a:ea typeface="Arial"/>
                <a:cs typeface="Arial"/>
                <a:sym typeface="Arial"/>
              </a:rPr>
              <a:t>.</a:t>
            </a:r>
            <a:endParaRPr/>
          </a:p>
        </p:txBody>
      </p:sp>
      <p:sp>
        <p:nvSpPr>
          <p:cNvPr id="216" name="Google Shape;216;p16"/>
          <p:cNvSpPr txBox="1"/>
          <p:nvPr/>
        </p:nvSpPr>
        <p:spPr>
          <a:xfrm>
            <a:off x="6619875" y="3057525"/>
            <a:ext cx="47148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Perfect for storing company knowledge bases or user preferences permanently across months of usage.</a:t>
            </a:r>
            <a:endParaRPr/>
          </a:p>
        </p:txBody>
      </p:sp>
      <p:sp>
        <p:nvSpPr>
          <p:cNvPr id="217" name="Google Shape;217;p16"/>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16"/>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Use short-term for chat fluidity, and long-term for permanent knowledge retention.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pic>
        <p:nvPicPr>
          <p:cNvPr descr="image.png" id="223" name="Google Shape;223;p17"/>
          <p:cNvPicPr preferRelativeResize="0"/>
          <p:nvPr/>
        </p:nvPicPr>
        <p:blipFill rotWithShape="1">
          <a:blip r:embed="rId3">
            <a:alphaModFix/>
          </a:blip>
          <a:srcRect b="0" l="0" r="0" t="0"/>
          <a:stretch/>
        </p:blipFill>
        <p:spPr>
          <a:xfrm>
            <a:off x="5240089" y="214312"/>
            <a:ext cx="1711821" cy="333375"/>
          </a:xfrm>
          <a:prstGeom prst="rect">
            <a:avLst/>
          </a:prstGeom>
          <a:noFill/>
          <a:ln>
            <a:noFill/>
          </a:ln>
        </p:spPr>
      </p:pic>
      <p:pic>
        <p:nvPicPr>
          <p:cNvPr descr="image.png" id="224" name="Google Shape;224;p17"/>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225" name="Google Shape;225;p17"/>
          <p:cNvPicPr preferRelativeResize="0"/>
          <p:nvPr/>
        </p:nvPicPr>
        <p:blipFill rotWithShape="1">
          <a:blip r:embed="rId5">
            <a:alphaModFix/>
          </a:blip>
          <a:srcRect b="0" l="0" r="0" t="0"/>
          <a:stretch/>
        </p:blipFill>
        <p:spPr>
          <a:xfrm>
            <a:off x="3744217" y="2405062"/>
            <a:ext cx="4703415" cy="685800"/>
          </a:xfrm>
          <a:prstGeom prst="rect">
            <a:avLst/>
          </a:prstGeom>
          <a:noFill/>
          <a:ln>
            <a:noFill/>
          </a:ln>
        </p:spPr>
      </p:pic>
      <p:pic>
        <p:nvPicPr>
          <p:cNvPr descr="image.png" id="226" name="Google Shape;226;p17"/>
          <p:cNvPicPr preferRelativeResize="0"/>
          <p:nvPr/>
        </p:nvPicPr>
        <p:blipFill rotWithShape="1">
          <a:blip r:embed="rId6">
            <a:alphaModFix/>
          </a:blip>
          <a:srcRect b="0" l="0" r="0" t="0"/>
          <a:stretch/>
        </p:blipFill>
        <p:spPr>
          <a:xfrm>
            <a:off x="571500" y="3471862"/>
            <a:ext cx="2547937" cy="1857375"/>
          </a:xfrm>
          <a:prstGeom prst="rect">
            <a:avLst/>
          </a:prstGeom>
          <a:noFill/>
          <a:ln>
            <a:noFill/>
          </a:ln>
        </p:spPr>
      </p:pic>
      <p:pic>
        <p:nvPicPr>
          <p:cNvPr descr="image.png" id="227" name="Google Shape;227;p17"/>
          <p:cNvPicPr preferRelativeResize="0"/>
          <p:nvPr/>
        </p:nvPicPr>
        <p:blipFill rotWithShape="1">
          <a:blip r:embed="rId7">
            <a:alphaModFix/>
          </a:blip>
          <a:srcRect b="0" l="0" r="0" t="0"/>
          <a:stretch/>
        </p:blipFill>
        <p:spPr>
          <a:xfrm>
            <a:off x="3405187" y="3471862"/>
            <a:ext cx="2547937" cy="1857375"/>
          </a:xfrm>
          <a:prstGeom prst="rect">
            <a:avLst/>
          </a:prstGeom>
          <a:noFill/>
          <a:ln>
            <a:noFill/>
          </a:ln>
        </p:spPr>
      </p:pic>
      <p:pic>
        <p:nvPicPr>
          <p:cNvPr descr="image.png" id="228" name="Google Shape;228;p17"/>
          <p:cNvPicPr preferRelativeResize="0"/>
          <p:nvPr/>
        </p:nvPicPr>
        <p:blipFill rotWithShape="1">
          <a:blip r:embed="rId8">
            <a:alphaModFix/>
          </a:blip>
          <a:srcRect b="0" l="0" r="0" t="0"/>
          <a:stretch/>
        </p:blipFill>
        <p:spPr>
          <a:xfrm>
            <a:off x="6238875" y="3471862"/>
            <a:ext cx="2547937" cy="1857375"/>
          </a:xfrm>
          <a:prstGeom prst="rect">
            <a:avLst/>
          </a:prstGeom>
          <a:noFill/>
          <a:ln>
            <a:noFill/>
          </a:ln>
        </p:spPr>
      </p:pic>
      <p:pic>
        <p:nvPicPr>
          <p:cNvPr descr="image.png" id="229" name="Google Shape;229;p17"/>
          <p:cNvPicPr preferRelativeResize="0"/>
          <p:nvPr/>
        </p:nvPicPr>
        <p:blipFill rotWithShape="1">
          <a:blip r:embed="rId9">
            <a:alphaModFix/>
          </a:blip>
          <a:srcRect b="0" l="0" r="0" t="0"/>
          <a:stretch/>
        </p:blipFill>
        <p:spPr>
          <a:xfrm>
            <a:off x="9072562" y="3471862"/>
            <a:ext cx="2547937" cy="1857375"/>
          </a:xfrm>
          <a:prstGeom prst="rect">
            <a:avLst/>
          </a:prstGeom>
          <a:noFill/>
          <a:ln>
            <a:noFill/>
          </a:ln>
        </p:spPr>
      </p:pic>
      <p:sp>
        <p:nvSpPr>
          <p:cNvPr id="230" name="Google Shape;230;p17"/>
          <p:cNvSpPr txBox="1"/>
          <p:nvPr/>
        </p:nvSpPr>
        <p:spPr>
          <a:xfrm>
            <a:off x="6951910" y="295275"/>
            <a:ext cx="4859089"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05</a:t>
            </a:r>
            <a:endParaRPr/>
          </a:p>
        </p:txBody>
      </p:sp>
      <p:sp>
        <p:nvSpPr>
          <p:cNvPr id="231" name="Google Shape;231;p17"/>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Vector Database Flow</a:t>
            </a:r>
            <a:endParaRPr/>
          </a:p>
        </p:txBody>
      </p:sp>
      <p:sp>
        <p:nvSpPr>
          <p:cNvPr id="232" name="Google Shape;232;p17"/>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33" name="Google Shape;233;p17"/>
          <p:cNvPicPr preferRelativeResize="0"/>
          <p:nvPr/>
        </p:nvPicPr>
        <p:blipFill rotWithShape="1">
          <a:blip r:embed="rId10">
            <a:alphaModFix/>
          </a:blip>
          <a:srcRect b="0" l="0" r="0" t="0"/>
          <a:stretch/>
        </p:blipFill>
        <p:spPr>
          <a:xfrm>
            <a:off x="1616868" y="3719512"/>
            <a:ext cx="457200" cy="457200"/>
          </a:xfrm>
          <a:prstGeom prst="rect">
            <a:avLst/>
          </a:prstGeom>
          <a:noFill/>
          <a:ln>
            <a:noFill/>
          </a:ln>
        </p:spPr>
      </p:pic>
      <p:sp>
        <p:nvSpPr>
          <p:cNvPr id="234" name="Google Shape;234;p17"/>
          <p:cNvSpPr txBox="1"/>
          <p:nvPr/>
        </p:nvSpPr>
        <p:spPr>
          <a:xfrm>
            <a:off x="767834"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1. Chunk</a:t>
            </a:r>
            <a:endParaRPr/>
          </a:p>
        </p:txBody>
      </p:sp>
      <p:sp>
        <p:nvSpPr>
          <p:cNvPr id="235" name="Google Shape;235;p17"/>
          <p:cNvSpPr txBox="1"/>
          <p:nvPr/>
        </p:nvSpPr>
        <p:spPr>
          <a:xfrm>
            <a:off x="819150"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Split massive documents into small text chunks.</a:t>
            </a:r>
            <a:endParaRPr/>
          </a:p>
        </p:txBody>
      </p:sp>
      <p:pic>
        <p:nvPicPr>
          <p:cNvPr descr="image.png" id="236" name="Google Shape;236;p17"/>
          <p:cNvPicPr preferRelativeResize="0"/>
          <p:nvPr/>
        </p:nvPicPr>
        <p:blipFill rotWithShape="1">
          <a:blip r:embed="rId11">
            <a:alphaModFix/>
          </a:blip>
          <a:srcRect b="0" l="0" r="0" t="0"/>
          <a:stretch/>
        </p:blipFill>
        <p:spPr>
          <a:xfrm>
            <a:off x="4450556" y="3719512"/>
            <a:ext cx="457200" cy="457200"/>
          </a:xfrm>
          <a:prstGeom prst="rect">
            <a:avLst/>
          </a:prstGeom>
          <a:noFill/>
          <a:ln>
            <a:noFill/>
          </a:ln>
        </p:spPr>
      </p:pic>
      <p:sp>
        <p:nvSpPr>
          <p:cNvPr id="237" name="Google Shape;237;p17"/>
          <p:cNvSpPr txBox="1"/>
          <p:nvPr/>
        </p:nvSpPr>
        <p:spPr>
          <a:xfrm>
            <a:off x="3601521"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2. Embed</a:t>
            </a:r>
            <a:endParaRPr/>
          </a:p>
        </p:txBody>
      </p:sp>
      <p:sp>
        <p:nvSpPr>
          <p:cNvPr id="238" name="Google Shape;238;p17"/>
          <p:cNvSpPr txBox="1"/>
          <p:nvPr/>
        </p:nvSpPr>
        <p:spPr>
          <a:xfrm>
            <a:off x="3652837"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Convert text chunks into numerical vectors.</a:t>
            </a:r>
            <a:endParaRPr/>
          </a:p>
        </p:txBody>
      </p:sp>
      <p:pic>
        <p:nvPicPr>
          <p:cNvPr descr="image.png" id="239" name="Google Shape;239;p17"/>
          <p:cNvPicPr preferRelativeResize="0"/>
          <p:nvPr/>
        </p:nvPicPr>
        <p:blipFill rotWithShape="1">
          <a:blip r:embed="rId12">
            <a:alphaModFix/>
          </a:blip>
          <a:srcRect b="0" l="0" r="0" t="0"/>
          <a:stretch/>
        </p:blipFill>
        <p:spPr>
          <a:xfrm>
            <a:off x="7312818" y="3719512"/>
            <a:ext cx="400050" cy="457200"/>
          </a:xfrm>
          <a:prstGeom prst="rect">
            <a:avLst/>
          </a:prstGeom>
          <a:noFill/>
          <a:ln>
            <a:noFill/>
          </a:ln>
        </p:spPr>
      </p:pic>
      <p:sp>
        <p:nvSpPr>
          <p:cNvPr id="240" name="Google Shape;240;p17"/>
          <p:cNvSpPr txBox="1"/>
          <p:nvPr/>
        </p:nvSpPr>
        <p:spPr>
          <a:xfrm>
            <a:off x="6435209"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3. Store</a:t>
            </a:r>
            <a:endParaRPr/>
          </a:p>
        </p:txBody>
      </p:sp>
      <p:sp>
        <p:nvSpPr>
          <p:cNvPr id="241" name="Google Shape;241;p17"/>
          <p:cNvSpPr txBox="1"/>
          <p:nvPr/>
        </p:nvSpPr>
        <p:spPr>
          <a:xfrm>
            <a:off x="6486525"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Save vectors in a database (e.g., Pinecone).</a:t>
            </a:r>
            <a:endParaRPr/>
          </a:p>
        </p:txBody>
      </p:sp>
      <p:pic>
        <p:nvPicPr>
          <p:cNvPr descr="image.png" id="242" name="Google Shape;242;p17"/>
          <p:cNvPicPr preferRelativeResize="0"/>
          <p:nvPr/>
        </p:nvPicPr>
        <p:blipFill rotWithShape="1">
          <a:blip r:embed="rId13">
            <a:alphaModFix/>
          </a:blip>
          <a:srcRect b="0" l="0" r="0" t="0"/>
          <a:stretch/>
        </p:blipFill>
        <p:spPr>
          <a:xfrm>
            <a:off x="10117931" y="3719512"/>
            <a:ext cx="457200" cy="457200"/>
          </a:xfrm>
          <a:prstGeom prst="rect">
            <a:avLst/>
          </a:prstGeom>
          <a:noFill/>
          <a:ln>
            <a:noFill/>
          </a:ln>
        </p:spPr>
      </p:pic>
      <p:sp>
        <p:nvSpPr>
          <p:cNvPr id="243" name="Google Shape;243;p17"/>
          <p:cNvSpPr txBox="1"/>
          <p:nvPr/>
        </p:nvSpPr>
        <p:spPr>
          <a:xfrm>
            <a:off x="9268896"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4. Retrieve</a:t>
            </a:r>
            <a:endParaRPr/>
          </a:p>
        </p:txBody>
      </p:sp>
      <p:sp>
        <p:nvSpPr>
          <p:cNvPr id="244" name="Google Shape;244;p17"/>
          <p:cNvSpPr txBox="1"/>
          <p:nvPr/>
        </p:nvSpPr>
        <p:spPr>
          <a:xfrm>
            <a:off x="9320212"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Search via mathematical similarity.</a:t>
            </a:r>
            <a:endParaRPr/>
          </a:p>
        </p:txBody>
      </p:sp>
      <p:sp>
        <p:nvSpPr>
          <p:cNvPr id="245" name="Google Shape;245;p17"/>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17"/>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Vector databases allow agents to search meaning and concepts, not just exact keywords.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pic>
        <p:nvPicPr>
          <p:cNvPr descr="image.png" id="251" name="Google Shape;251;p18"/>
          <p:cNvPicPr preferRelativeResize="0"/>
          <p:nvPr/>
        </p:nvPicPr>
        <p:blipFill rotWithShape="1">
          <a:blip r:embed="rId3">
            <a:alphaModFix/>
          </a:blip>
          <a:srcRect b="0" l="0" r="0" t="0"/>
          <a:stretch/>
        </p:blipFill>
        <p:spPr>
          <a:xfrm>
            <a:off x="5240089" y="214312"/>
            <a:ext cx="1711821" cy="333375"/>
          </a:xfrm>
          <a:prstGeom prst="rect">
            <a:avLst/>
          </a:prstGeom>
          <a:noFill/>
          <a:ln>
            <a:noFill/>
          </a:ln>
        </p:spPr>
      </p:pic>
      <p:pic>
        <p:nvPicPr>
          <p:cNvPr descr="image.png" id="252" name="Google Shape;252;p18"/>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sp>
        <p:nvSpPr>
          <p:cNvPr id="253" name="Google Shape;253;p18"/>
          <p:cNvSpPr txBox="1"/>
          <p:nvPr/>
        </p:nvSpPr>
        <p:spPr>
          <a:xfrm>
            <a:off x="6951910" y="295275"/>
            <a:ext cx="4859100" cy="1848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06</a:t>
            </a:r>
            <a:endParaRPr/>
          </a:p>
        </p:txBody>
      </p:sp>
      <p:sp>
        <p:nvSpPr>
          <p:cNvPr id="254" name="Google Shape;254;p18"/>
          <p:cNvSpPr txBox="1"/>
          <p:nvPr/>
        </p:nvSpPr>
        <p:spPr>
          <a:xfrm>
            <a:off x="571500" y="95250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Message History Code</a:t>
            </a:r>
            <a:endParaRPr/>
          </a:p>
        </p:txBody>
      </p:sp>
      <p:sp>
        <p:nvSpPr>
          <p:cNvPr id="255" name="Google Shape;255;p18"/>
          <p:cNvSpPr txBox="1"/>
          <p:nvPr/>
        </p:nvSpPr>
        <p:spPr>
          <a:xfrm>
            <a:off x="571500" y="1638300"/>
            <a:ext cx="110490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334155"/>
                </a:solidFill>
                <a:latin typeface="Arial"/>
                <a:ea typeface="Arial"/>
                <a:cs typeface="Arial"/>
                <a:sym typeface="Arial"/>
              </a:rPr>
              <a:t>Implementing a basic Short-Term memory buffer.</a:t>
            </a:r>
            <a:endParaRPr/>
          </a:p>
        </p:txBody>
      </p:sp>
      <p:sp>
        <p:nvSpPr>
          <p:cNvPr id="256" name="Google Shape;256;p18"/>
          <p:cNvSpPr/>
          <p:nvPr/>
        </p:nvSpPr>
        <p:spPr>
          <a:xfrm>
            <a:off x="381000" y="304800"/>
            <a:ext cx="28590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18"/>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18"/>
          <p:cNvSpPr txBox="1"/>
          <p:nvPr/>
        </p:nvSpPr>
        <p:spPr>
          <a:xfrm>
            <a:off x="381000" y="6286500"/>
            <a:ext cx="114300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Memory libraries abstract away the complexity of string manipulation for chat histories.</a:t>
            </a:r>
            <a:endParaRPr/>
          </a:p>
        </p:txBody>
      </p:sp>
      <p:sp>
        <p:nvSpPr>
          <p:cNvPr id="259" name="Google Shape;259;p18"/>
          <p:cNvSpPr/>
          <p:nvPr/>
        </p:nvSpPr>
        <p:spPr>
          <a:xfrm>
            <a:off x="571500" y="2286000"/>
            <a:ext cx="5143500" cy="3333900"/>
          </a:xfrm>
          <a:prstGeom prst="roundRect">
            <a:avLst>
              <a:gd fmla="val 3428"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60" name="Google Shape;260;p18"/>
          <p:cNvPicPr preferRelativeResize="0"/>
          <p:nvPr/>
        </p:nvPicPr>
        <p:blipFill rotWithShape="1">
          <a:blip r:embed="rId5">
            <a:alphaModFix/>
          </a:blip>
          <a:srcRect b="80" l="0" r="0" t="80"/>
          <a:stretch/>
        </p:blipFill>
        <p:spPr>
          <a:xfrm>
            <a:off x="762000" y="2762250"/>
            <a:ext cx="4762500" cy="2457600"/>
          </a:xfrm>
          <a:prstGeom prst="rect">
            <a:avLst/>
          </a:prstGeom>
          <a:noFill/>
          <a:ln>
            <a:noFill/>
          </a:ln>
        </p:spPr>
      </p:pic>
      <p:grpSp>
        <p:nvGrpSpPr>
          <p:cNvPr id="261" name="Google Shape;261;p18"/>
          <p:cNvGrpSpPr/>
          <p:nvPr/>
        </p:nvGrpSpPr>
        <p:grpSpPr>
          <a:xfrm>
            <a:off x="762000" y="2476500"/>
            <a:ext cx="1238400" cy="228600"/>
            <a:chOff x="0" y="0"/>
            <a:chExt cx="1238400" cy="228600"/>
          </a:xfrm>
        </p:grpSpPr>
        <p:sp>
          <p:nvSpPr>
            <p:cNvPr id="262" name="Google Shape;262;p18"/>
            <p:cNvSpPr/>
            <p:nvPr/>
          </p:nvSpPr>
          <p:spPr>
            <a:xfrm>
              <a:off x="0" y="0"/>
              <a:ext cx="1238400" cy="228600"/>
            </a:xfrm>
            <a:prstGeom prst="roundRect">
              <a:avLst>
                <a:gd fmla="val 16666" name="adj"/>
              </a:avLst>
            </a:prstGeom>
            <a:solidFill>
              <a:srgbClr val="166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8"/>
            <p:cNvSpPr txBox="1"/>
            <p:nvPr/>
          </p:nvSpPr>
          <p:spPr>
            <a:xfrm>
              <a:off x="0" y="0"/>
              <a:ext cx="12384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Arial"/>
                  <a:ea typeface="Arial"/>
                  <a:cs typeface="Arial"/>
                  <a:sym typeface="Arial"/>
                </a:rPr>
                <a:t>Python (LangChain)</a:t>
              </a:r>
              <a:endParaRPr b="1" sz="1000">
                <a:solidFill>
                  <a:srgbClr val="FFFFFF"/>
                </a:solidFill>
                <a:latin typeface="Arial"/>
                <a:ea typeface="Arial"/>
                <a:cs typeface="Arial"/>
                <a:sym typeface="Arial"/>
              </a:endParaRPr>
            </a:p>
          </p:txBody>
        </p:sp>
      </p:grpSp>
      <p:grpSp>
        <p:nvGrpSpPr>
          <p:cNvPr id="264" name="Google Shape;264;p18"/>
          <p:cNvGrpSpPr/>
          <p:nvPr/>
        </p:nvGrpSpPr>
        <p:grpSpPr>
          <a:xfrm>
            <a:off x="6286500" y="2286000"/>
            <a:ext cx="5334000" cy="3333900"/>
            <a:chOff x="0" y="0"/>
            <a:chExt cx="5334000" cy="3333900"/>
          </a:xfrm>
        </p:grpSpPr>
        <p:sp>
          <p:nvSpPr>
            <p:cNvPr id="265" name="Google Shape;265;p18"/>
            <p:cNvSpPr/>
            <p:nvPr/>
          </p:nvSpPr>
          <p:spPr>
            <a:xfrm>
              <a:off x="0" y="0"/>
              <a:ext cx="5334000" cy="3333900"/>
            </a:xfrm>
            <a:prstGeom prst="roundRect">
              <a:avLst>
                <a:gd fmla="val 342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18"/>
            <p:cNvSpPr txBox="1"/>
            <p:nvPr/>
          </p:nvSpPr>
          <p:spPr>
            <a:xfrm>
              <a:off x="285750" y="285750"/>
              <a:ext cx="4762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al"/>
                  <a:ea typeface="Arial"/>
                  <a:cs typeface="Arial"/>
                  <a:sym typeface="Arial"/>
                </a:rPr>
                <a:t>How it Works</a:t>
              </a:r>
              <a:endParaRPr b="1" sz="1500">
                <a:solidFill>
                  <a:srgbClr val="0F172A"/>
                </a:solidFill>
                <a:latin typeface="Arial"/>
                <a:ea typeface="Arial"/>
                <a:cs typeface="Arial"/>
                <a:sym typeface="Arial"/>
              </a:endParaRPr>
            </a:p>
            <a:p>
              <a:pPr indent="0" lvl="0" marL="0" rtl="0" algn="l">
                <a:spcBef>
                  <a:spcPts val="750"/>
                </a:spcBef>
                <a:spcAft>
                  <a:spcPts val="0"/>
                </a:spcAft>
                <a:buNone/>
              </a:pPr>
              <a:r>
                <a:rPr lang="en-US" sz="1300">
                  <a:solidFill>
                    <a:srgbClr val="334155"/>
                  </a:solidFill>
                  <a:latin typeface="Arial"/>
                  <a:ea typeface="Arial"/>
                  <a:cs typeface="Arial"/>
                  <a:sym typeface="Arial"/>
                </a:rPr>
                <a:t>The </a:t>
              </a:r>
              <a:r>
                <a:rPr b="1" lang="en-US" sz="1300">
                  <a:solidFill>
                    <a:srgbClr val="166534"/>
                  </a:solidFill>
                  <a:latin typeface="Arial"/>
                  <a:ea typeface="Arial"/>
                  <a:cs typeface="Arial"/>
                  <a:sym typeface="Arial"/>
                </a:rPr>
                <a:t>ConversationBufferMemory</a:t>
              </a:r>
              <a:r>
                <a:rPr lang="en-US" sz="1300">
                  <a:solidFill>
                    <a:srgbClr val="334155"/>
                  </a:solidFill>
                  <a:latin typeface="Arial"/>
                  <a:ea typeface="Arial"/>
                  <a:cs typeface="Arial"/>
                  <a:sym typeface="Arial"/>
                </a:rPr>
                <a:t> simply stores inputs and outputs in a list. When the LLM is called again, this entire list is injected into the prompt.</a:t>
              </a:r>
              <a:endParaRPr sz="1300">
                <a:solidFill>
                  <a:srgbClr val="334155"/>
                </a:solidFill>
                <a:latin typeface="Arial"/>
                <a:ea typeface="Arial"/>
                <a:cs typeface="Arial"/>
                <a:sym typeface="Arial"/>
              </a:endParaRPr>
            </a:p>
          </p:txBody>
        </p:sp>
        <p:pic>
          <p:nvPicPr>
            <p:cNvPr id="267" name="Google Shape;267;p18"/>
            <p:cNvPicPr preferRelativeResize="0"/>
            <p:nvPr/>
          </p:nvPicPr>
          <p:blipFill rotWithShape="1">
            <a:blip r:embed="rId6">
              <a:alphaModFix/>
            </a:blip>
            <a:srcRect b="0" l="40" r="50" t="0"/>
            <a:stretch/>
          </p:blipFill>
          <p:spPr>
            <a:xfrm>
              <a:off x="285750" y="1714500"/>
              <a:ext cx="4762500" cy="295200"/>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pic>
        <p:nvPicPr>
          <p:cNvPr descr="image.png" id="272" name="Google Shape;272;p19"/>
          <p:cNvPicPr preferRelativeResize="0"/>
          <p:nvPr/>
        </p:nvPicPr>
        <p:blipFill rotWithShape="1">
          <a:blip r:embed="rId3">
            <a:alphaModFix/>
          </a:blip>
          <a:srcRect b="0" l="0" r="0" t="0"/>
          <a:stretch/>
        </p:blipFill>
        <p:spPr>
          <a:xfrm>
            <a:off x="5240089" y="214312"/>
            <a:ext cx="1711821" cy="333375"/>
          </a:xfrm>
          <a:prstGeom prst="rect">
            <a:avLst/>
          </a:prstGeom>
          <a:noFill/>
          <a:ln>
            <a:noFill/>
          </a:ln>
        </p:spPr>
      </p:pic>
      <p:pic>
        <p:nvPicPr>
          <p:cNvPr descr="image.png" id="273" name="Google Shape;273;p19"/>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274" name="Google Shape;274;p19"/>
          <p:cNvPicPr preferRelativeResize="0"/>
          <p:nvPr/>
        </p:nvPicPr>
        <p:blipFill rotWithShape="1">
          <a:blip r:embed="rId5">
            <a:alphaModFix/>
          </a:blip>
          <a:srcRect b="0" l="0" r="0" t="0"/>
          <a:stretch/>
        </p:blipFill>
        <p:spPr>
          <a:xfrm>
            <a:off x="571500" y="2938462"/>
            <a:ext cx="3524250" cy="1857375"/>
          </a:xfrm>
          <a:prstGeom prst="rect">
            <a:avLst/>
          </a:prstGeom>
          <a:noFill/>
          <a:ln>
            <a:noFill/>
          </a:ln>
        </p:spPr>
      </p:pic>
      <p:pic>
        <p:nvPicPr>
          <p:cNvPr descr="image.png" id="275" name="Google Shape;275;p19"/>
          <p:cNvPicPr preferRelativeResize="0"/>
          <p:nvPr/>
        </p:nvPicPr>
        <p:blipFill rotWithShape="1">
          <a:blip r:embed="rId5">
            <a:alphaModFix/>
          </a:blip>
          <a:srcRect b="0" l="0" r="0" t="0"/>
          <a:stretch/>
        </p:blipFill>
        <p:spPr>
          <a:xfrm>
            <a:off x="4333875" y="2938462"/>
            <a:ext cx="3524250" cy="1857375"/>
          </a:xfrm>
          <a:prstGeom prst="rect">
            <a:avLst/>
          </a:prstGeom>
          <a:noFill/>
          <a:ln>
            <a:noFill/>
          </a:ln>
        </p:spPr>
      </p:pic>
      <p:pic>
        <p:nvPicPr>
          <p:cNvPr descr="image.png" id="276" name="Google Shape;276;p19"/>
          <p:cNvPicPr preferRelativeResize="0"/>
          <p:nvPr/>
        </p:nvPicPr>
        <p:blipFill rotWithShape="1">
          <a:blip r:embed="rId6">
            <a:alphaModFix/>
          </a:blip>
          <a:srcRect b="0" l="0" r="0" t="0"/>
          <a:stretch/>
        </p:blipFill>
        <p:spPr>
          <a:xfrm>
            <a:off x="8096250" y="2938462"/>
            <a:ext cx="3524250" cy="1857375"/>
          </a:xfrm>
          <a:prstGeom prst="rect">
            <a:avLst/>
          </a:prstGeom>
          <a:noFill/>
          <a:ln>
            <a:noFill/>
          </a:ln>
        </p:spPr>
      </p:pic>
      <p:sp>
        <p:nvSpPr>
          <p:cNvPr id="277" name="Google Shape;277;p19"/>
          <p:cNvSpPr txBox="1"/>
          <p:nvPr/>
        </p:nvSpPr>
        <p:spPr>
          <a:xfrm>
            <a:off x="6951910" y="295275"/>
            <a:ext cx="4859089"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07</a:t>
            </a:r>
            <a:endParaRPr/>
          </a:p>
        </p:txBody>
      </p:sp>
      <p:sp>
        <p:nvSpPr>
          <p:cNvPr id="278" name="Google Shape;278;p19"/>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Types of Retrieval</a:t>
            </a:r>
            <a:endParaRPr/>
          </a:p>
        </p:txBody>
      </p:sp>
      <p:sp>
        <p:nvSpPr>
          <p:cNvPr id="279" name="Google Shape;279;p19"/>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80" name="Google Shape;280;p19"/>
          <p:cNvPicPr preferRelativeResize="0"/>
          <p:nvPr/>
        </p:nvPicPr>
        <p:blipFill rotWithShape="1">
          <a:blip r:embed="rId7">
            <a:alphaModFix/>
          </a:blip>
          <a:srcRect b="0" l="0" r="0" t="0"/>
          <a:stretch/>
        </p:blipFill>
        <p:spPr>
          <a:xfrm>
            <a:off x="2105025" y="3186112"/>
            <a:ext cx="457200" cy="457200"/>
          </a:xfrm>
          <a:prstGeom prst="rect">
            <a:avLst/>
          </a:prstGeom>
          <a:noFill/>
          <a:ln>
            <a:noFill/>
          </a:ln>
        </p:spPr>
      </p:pic>
      <p:sp>
        <p:nvSpPr>
          <p:cNvPr id="281" name="Google Shape;281;p19"/>
          <p:cNvSpPr txBox="1"/>
          <p:nvPr/>
        </p:nvSpPr>
        <p:spPr>
          <a:xfrm>
            <a:off x="743426" y="3833812"/>
            <a:ext cx="3180397"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Semantic Search</a:t>
            </a:r>
            <a:endParaRPr/>
          </a:p>
        </p:txBody>
      </p:sp>
      <p:sp>
        <p:nvSpPr>
          <p:cNvPr id="282" name="Google Shape;282;p19"/>
          <p:cNvSpPr txBox="1"/>
          <p:nvPr/>
        </p:nvSpPr>
        <p:spPr>
          <a:xfrm>
            <a:off x="819150" y="4148137"/>
            <a:ext cx="3028950"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Retrieving documents based on mathematical closeness in vector space.</a:t>
            </a:r>
            <a:endParaRPr/>
          </a:p>
        </p:txBody>
      </p:sp>
      <p:pic>
        <p:nvPicPr>
          <p:cNvPr descr="image.png" id="283" name="Google Shape;283;p19"/>
          <p:cNvPicPr preferRelativeResize="0"/>
          <p:nvPr/>
        </p:nvPicPr>
        <p:blipFill rotWithShape="1">
          <a:blip r:embed="rId8">
            <a:alphaModFix/>
          </a:blip>
          <a:srcRect b="0" l="0" r="0" t="0"/>
          <a:stretch/>
        </p:blipFill>
        <p:spPr>
          <a:xfrm>
            <a:off x="5867400" y="3186112"/>
            <a:ext cx="457200" cy="457200"/>
          </a:xfrm>
          <a:prstGeom prst="rect">
            <a:avLst/>
          </a:prstGeom>
          <a:noFill/>
          <a:ln>
            <a:noFill/>
          </a:ln>
        </p:spPr>
      </p:pic>
      <p:sp>
        <p:nvSpPr>
          <p:cNvPr id="284" name="Google Shape;284;p19"/>
          <p:cNvSpPr txBox="1"/>
          <p:nvPr/>
        </p:nvSpPr>
        <p:spPr>
          <a:xfrm>
            <a:off x="4505801" y="3833812"/>
            <a:ext cx="3180397"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Recency Bias</a:t>
            </a:r>
            <a:endParaRPr/>
          </a:p>
        </p:txBody>
      </p:sp>
      <p:sp>
        <p:nvSpPr>
          <p:cNvPr id="285" name="Google Shape;285;p19"/>
          <p:cNvSpPr txBox="1"/>
          <p:nvPr/>
        </p:nvSpPr>
        <p:spPr>
          <a:xfrm>
            <a:off x="4581525" y="4148137"/>
            <a:ext cx="3028950"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Prioritizing memories or data that were added most recently.</a:t>
            </a:r>
            <a:endParaRPr/>
          </a:p>
        </p:txBody>
      </p:sp>
      <p:pic>
        <p:nvPicPr>
          <p:cNvPr descr="image.png" id="286" name="Google Shape;286;p19"/>
          <p:cNvPicPr preferRelativeResize="0"/>
          <p:nvPr/>
        </p:nvPicPr>
        <p:blipFill rotWithShape="1">
          <a:blip r:embed="rId9">
            <a:alphaModFix/>
          </a:blip>
          <a:srcRect b="0" l="0" r="0" t="0"/>
          <a:stretch/>
        </p:blipFill>
        <p:spPr>
          <a:xfrm>
            <a:off x="9658350" y="3186112"/>
            <a:ext cx="400050" cy="457200"/>
          </a:xfrm>
          <a:prstGeom prst="rect">
            <a:avLst/>
          </a:prstGeom>
          <a:noFill/>
          <a:ln>
            <a:noFill/>
          </a:ln>
        </p:spPr>
      </p:pic>
      <p:sp>
        <p:nvSpPr>
          <p:cNvPr id="287" name="Google Shape;287;p19"/>
          <p:cNvSpPr txBox="1"/>
          <p:nvPr/>
        </p:nvSpPr>
        <p:spPr>
          <a:xfrm>
            <a:off x="8268176" y="3833812"/>
            <a:ext cx="3180397"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Hybrid Search</a:t>
            </a:r>
            <a:endParaRPr/>
          </a:p>
        </p:txBody>
      </p:sp>
      <p:sp>
        <p:nvSpPr>
          <p:cNvPr id="288" name="Google Shape;288;p19"/>
          <p:cNvSpPr txBox="1"/>
          <p:nvPr/>
        </p:nvSpPr>
        <p:spPr>
          <a:xfrm>
            <a:off x="8343900" y="4148137"/>
            <a:ext cx="3028950"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Combining vector similarity with traditional keyword exact-matching.</a:t>
            </a:r>
            <a:endParaRPr/>
          </a:p>
        </p:txBody>
      </p:sp>
      <p:sp>
        <p:nvSpPr>
          <p:cNvPr id="289" name="Google Shape;289;p19"/>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19"/>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Hybrid search provides the most robust retrieval architecture for production agents.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pic>
        <p:nvPicPr>
          <p:cNvPr descr="image.png" id="295" name="Google Shape;295;p20"/>
          <p:cNvPicPr preferRelativeResize="0"/>
          <p:nvPr/>
        </p:nvPicPr>
        <p:blipFill rotWithShape="1">
          <a:blip r:embed="rId3">
            <a:alphaModFix/>
          </a:blip>
          <a:srcRect b="0" l="0" r="0" t="0"/>
          <a:stretch/>
        </p:blipFill>
        <p:spPr>
          <a:xfrm>
            <a:off x="5240089" y="214312"/>
            <a:ext cx="1711821" cy="333375"/>
          </a:xfrm>
          <a:prstGeom prst="rect">
            <a:avLst/>
          </a:prstGeom>
          <a:noFill/>
          <a:ln>
            <a:noFill/>
          </a:ln>
        </p:spPr>
      </p:pic>
      <p:pic>
        <p:nvPicPr>
          <p:cNvPr descr="image.png" id="296" name="Google Shape;296;p20"/>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297" name="Google Shape;297;p20"/>
          <p:cNvPicPr preferRelativeResize="0"/>
          <p:nvPr/>
        </p:nvPicPr>
        <p:blipFill rotWithShape="1">
          <a:blip r:embed="rId5">
            <a:alphaModFix/>
          </a:blip>
          <a:srcRect b="0" l="0" r="0" t="0"/>
          <a:stretch/>
        </p:blipFill>
        <p:spPr>
          <a:xfrm>
            <a:off x="6286500" y="1638300"/>
            <a:ext cx="5334000" cy="4457700"/>
          </a:xfrm>
          <a:prstGeom prst="rect">
            <a:avLst/>
          </a:prstGeom>
          <a:noFill/>
          <a:ln>
            <a:noFill/>
          </a:ln>
        </p:spPr>
      </p:pic>
      <p:sp>
        <p:nvSpPr>
          <p:cNvPr id="298" name="Google Shape;298;p20"/>
          <p:cNvSpPr txBox="1"/>
          <p:nvPr/>
        </p:nvSpPr>
        <p:spPr>
          <a:xfrm>
            <a:off x="6951910" y="295275"/>
            <a:ext cx="4859100" cy="1848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08</a:t>
            </a:r>
            <a:endParaRPr/>
          </a:p>
        </p:txBody>
      </p:sp>
      <p:sp>
        <p:nvSpPr>
          <p:cNvPr id="299" name="Google Shape;299;p20"/>
          <p:cNvSpPr txBox="1"/>
          <p:nvPr/>
        </p:nvSpPr>
        <p:spPr>
          <a:xfrm>
            <a:off x="571500" y="95250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Vector Embeddings</a:t>
            </a:r>
            <a:endParaRPr/>
          </a:p>
        </p:txBody>
      </p:sp>
      <p:sp>
        <p:nvSpPr>
          <p:cNvPr id="300" name="Google Shape;300;p20"/>
          <p:cNvSpPr/>
          <p:nvPr/>
        </p:nvSpPr>
        <p:spPr>
          <a:xfrm>
            <a:off x="381000" y="304800"/>
            <a:ext cx="28590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20"/>
          <p:cNvSpPr txBox="1"/>
          <p:nvPr/>
        </p:nvSpPr>
        <p:spPr>
          <a:xfrm>
            <a:off x="571500" y="1571625"/>
            <a:ext cx="5143500" cy="431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400">
                <a:solidFill>
                  <a:srgbClr val="475569"/>
                </a:solidFill>
                <a:latin typeface="Arial"/>
                <a:ea typeface="Arial"/>
                <a:cs typeface="Arial"/>
                <a:sym typeface="Arial"/>
              </a:rPr>
              <a:t>Embeddings are the secret behind long-term memory. They turn words into coordinates in a multidimensional space.</a:t>
            </a:r>
            <a:endParaRPr b="0" sz="1400">
              <a:solidFill>
                <a:srgbClr val="475569"/>
              </a:solidFill>
              <a:latin typeface="Arial"/>
              <a:ea typeface="Arial"/>
              <a:cs typeface="Arial"/>
              <a:sym typeface="Arial"/>
            </a:endParaRPr>
          </a:p>
        </p:txBody>
      </p:sp>
      <p:pic>
        <p:nvPicPr>
          <p:cNvPr descr="image.png" id="302" name="Google Shape;302;p20"/>
          <p:cNvPicPr preferRelativeResize="0"/>
          <p:nvPr/>
        </p:nvPicPr>
        <p:blipFill rotWithShape="1">
          <a:blip r:embed="rId6">
            <a:alphaModFix/>
          </a:blip>
          <a:srcRect b="0" l="0" r="0" t="0"/>
          <a:stretch/>
        </p:blipFill>
        <p:spPr>
          <a:xfrm>
            <a:off x="6286500" y="1638300"/>
            <a:ext cx="5334000" cy="4457700"/>
          </a:xfrm>
          <a:prstGeom prst="rect">
            <a:avLst/>
          </a:prstGeom>
          <a:noFill/>
          <a:ln>
            <a:noFill/>
          </a:ln>
        </p:spPr>
      </p:pic>
      <p:grpSp>
        <p:nvGrpSpPr>
          <p:cNvPr id="303" name="Google Shape;303;p20"/>
          <p:cNvGrpSpPr/>
          <p:nvPr/>
        </p:nvGrpSpPr>
        <p:grpSpPr>
          <a:xfrm>
            <a:off x="571500" y="2428875"/>
            <a:ext cx="5105400" cy="809700"/>
            <a:chOff x="0" y="0"/>
            <a:chExt cx="5105400" cy="809700"/>
          </a:xfrm>
        </p:grpSpPr>
        <p:sp>
          <p:nvSpPr>
            <p:cNvPr id="304" name="Google Shape;304;p20"/>
            <p:cNvSpPr/>
            <p:nvPr/>
          </p:nvSpPr>
          <p:spPr>
            <a:xfrm>
              <a:off x="0" y="0"/>
              <a:ext cx="38100" cy="809700"/>
            </a:xfrm>
            <a:prstGeom prst="roundRect">
              <a:avLst>
                <a:gd fmla="val 50000" name="adj"/>
              </a:avLst>
            </a:prstGeom>
            <a:solidFill>
              <a:srgbClr val="166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20"/>
            <p:cNvSpPr txBox="1"/>
            <p:nvPr/>
          </p:nvSpPr>
          <p:spPr>
            <a:xfrm>
              <a:off x="190500" y="0"/>
              <a:ext cx="4914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al"/>
                  <a:ea typeface="Arial"/>
                  <a:cs typeface="Arial"/>
                  <a:sym typeface="Arial"/>
                </a:rPr>
                <a:t>Proximity</a:t>
              </a:r>
              <a:endParaRPr b="1" sz="1500">
                <a:solidFill>
                  <a:srgbClr val="0F172A"/>
                </a:solidFill>
                <a:latin typeface="Arial"/>
                <a:ea typeface="Arial"/>
                <a:cs typeface="Arial"/>
                <a:sym typeface="Arial"/>
              </a:endParaRPr>
            </a:p>
            <a:p>
              <a:pPr indent="0" lvl="0" marL="0" rtl="0" algn="l">
                <a:spcBef>
                  <a:spcPts val="450"/>
                </a:spcBef>
                <a:spcAft>
                  <a:spcPts val="0"/>
                </a:spcAft>
                <a:buNone/>
              </a:pPr>
              <a:r>
                <a:rPr b="0" lang="en-US" sz="1250">
                  <a:solidFill>
                    <a:srgbClr val="475569"/>
                  </a:solidFill>
                  <a:latin typeface="Arial"/>
                  <a:ea typeface="Arial"/>
                  <a:cs typeface="Arial"/>
                  <a:sym typeface="Arial"/>
                </a:rPr>
                <a:t>Words with similar meanings cluster together (e.g., "Dog" and "Puppy").</a:t>
              </a:r>
              <a:endParaRPr b="0" sz="1250">
                <a:solidFill>
                  <a:srgbClr val="475569"/>
                </a:solidFill>
                <a:latin typeface="Arial"/>
                <a:ea typeface="Arial"/>
                <a:cs typeface="Arial"/>
                <a:sym typeface="Arial"/>
              </a:endParaRPr>
            </a:p>
          </p:txBody>
        </p:sp>
      </p:grpSp>
      <p:grpSp>
        <p:nvGrpSpPr>
          <p:cNvPr id="306" name="Google Shape;306;p20"/>
          <p:cNvGrpSpPr/>
          <p:nvPr/>
        </p:nvGrpSpPr>
        <p:grpSpPr>
          <a:xfrm>
            <a:off x="571500" y="3476625"/>
            <a:ext cx="5105400" cy="809700"/>
            <a:chOff x="0" y="0"/>
            <a:chExt cx="5105400" cy="809700"/>
          </a:xfrm>
        </p:grpSpPr>
        <p:sp>
          <p:nvSpPr>
            <p:cNvPr id="307" name="Google Shape;307;p20"/>
            <p:cNvSpPr/>
            <p:nvPr/>
          </p:nvSpPr>
          <p:spPr>
            <a:xfrm>
              <a:off x="0" y="0"/>
              <a:ext cx="38100" cy="809700"/>
            </a:xfrm>
            <a:prstGeom prst="roundRect">
              <a:avLst>
                <a:gd fmla="val 50000" name="adj"/>
              </a:avLst>
            </a:prstGeom>
            <a:solidFill>
              <a:srgbClr val="166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20"/>
            <p:cNvSpPr txBox="1"/>
            <p:nvPr/>
          </p:nvSpPr>
          <p:spPr>
            <a:xfrm>
              <a:off x="190500" y="0"/>
              <a:ext cx="4914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al"/>
                  <a:ea typeface="Arial"/>
                  <a:cs typeface="Arial"/>
                  <a:sym typeface="Arial"/>
                </a:rPr>
                <a:t>Search</a:t>
              </a:r>
              <a:endParaRPr b="1" sz="1500">
                <a:solidFill>
                  <a:srgbClr val="0F172A"/>
                </a:solidFill>
                <a:latin typeface="Arial"/>
                <a:ea typeface="Arial"/>
                <a:cs typeface="Arial"/>
                <a:sym typeface="Arial"/>
              </a:endParaRPr>
            </a:p>
            <a:p>
              <a:pPr indent="0" lvl="0" marL="0" rtl="0" algn="l">
                <a:spcBef>
                  <a:spcPts val="450"/>
                </a:spcBef>
                <a:spcAft>
                  <a:spcPts val="0"/>
                </a:spcAft>
                <a:buNone/>
              </a:pPr>
              <a:r>
                <a:rPr b="0" lang="en-US" sz="1250">
                  <a:solidFill>
                    <a:srgbClr val="475569"/>
                  </a:solidFill>
                  <a:latin typeface="Arial"/>
                  <a:ea typeface="Arial"/>
                  <a:cs typeface="Arial"/>
                  <a:sym typeface="Arial"/>
                </a:rPr>
                <a:t>When a user asks a question, it is embedded, and the DB finds the closest coordinates.</a:t>
              </a:r>
              <a:endParaRPr b="0" sz="1250">
                <a:solidFill>
                  <a:srgbClr val="475569"/>
                </a:solidFill>
                <a:latin typeface="Arial"/>
                <a:ea typeface="Arial"/>
                <a:cs typeface="Arial"/>
                <a:sym typeface="Arial"/>
              </a:endParaRPr>
            </a:p>
          </p:txBody>
        </p:sp>
      </p:grpSp>
      <p:grpSp>
        <p:nvGrpSpPr>
          <p:cNvPr id="309" name="Google Shape;309;p20"/>
          <p:cNvGrpSpPr/>
          <p:nvPr/>
        </p:nvGrpSpPr>
        <p:grpSpPr>
          <a:xfrm>
            <a:off x="571500" y="4524375"/>
            <a:ext cx="5105400" cy="809700"/>
            <a:chOff x="0" y="0"/>
            <a:chExt cx="5105400" cy="809700"/>
          </a:xfrm>
        </p:grpSpPr>
        <p:sp>
          <p:nvSpPr>
            <p:cNvPr id="310" name="Google Shape;310;p20"/>
            <p:cNvSpPr/>
            <p:nvPr/>
          </p:nvSpPr>
          <p:spPr>
            <a:xfrm>
              <a:off x="0" y="0"/>
              <a:ext cx="38100" cy="809700"/>
            </a:xfrm>
            <a:prstGeom prst="roundRect">
              <a:avLst>
                <a:gd fmla="val 50000" name="adj"/>
              </a:avLst>
            </a:prstGeom>
            <a:solidFill>
              <a:srgbClr val="166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0"/>
            <p:cNvSpPr txBox="1"/>
            <p:nvPr/>
          </p:nvSpPr>
          <p:spPr>
            <a:xfrm>
              <a:off x="190500" y="0"/>
              <a:ext cx="49149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al"/>
                  <a:ea typeface="Arial"/>
                  <a:cs typeface="Arial"/>
                  <a:sym typeface="Arial"/>
                </a:rPr>
                <a:t>Result</a:t>
              </a:r>
              <a:endParaRPr b="1" sz="1500">
                <a:solidFill>
                  <a:srgbClr val="0F172A"/>
                </a:solidFill>
                <a:latin typeface="Arial"/>
                <a:ea typeface="Arial"/>
                <a:cs typeface="Arial"/>
                <a:sym typeface="Arial"/>
              </a:endParaRPr>
            </a:p>
            <a:p>
              <a:pPr indent="0" lvl="0" marL="0" rtl="0" algn="l">
                <a:spcBef>
                  <a:spcPts val="450"/>
                </a:spcBef>
                <a:spcAft>
                  <a:spcPts val="0"/>
                </a:spcAft>
                <a:buNone/>
              </a:pPr>
              <a:r>
                <a:rPr b="0" lang="en-US" sz="1250">
                  <a:solidFill>
                    <a:srgbClr val="475569"/>
                  </a:solidFill>
                  <a:latin typeface="Arial"/>
                  <a:ea typeface="Arial"/>
                  <a:cs typeface="Arial"/>
                  <a:sym typeface="Arial"/>
                </a:rPr>
                <a:t>The agent is fed the exact document containing the answer.</a:t>
              </a:r>
              <a:endParaRPr b="0" sz="1250">
                <a:solidFill>
                  <a:srgbClr val="475569"/>
                </a:solidFill>
                <a:latin typeface="Arial"/>
                <a:ea typeface="Arial"/>
                <a:cs typeface="Arial"/>
                <a:sym typeface="Arial"/>
              </a:endParaRPr>
            </a:p>
          </p:txBody>
        </p:sp>
      </p:grpSp>
      <p:sp>
        <p:nvSpPr>
          <p:cNvPr id="312" name="Google Shape;312;p20"/>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0"/>
          <p:cNvSpPr txBox="1"/>
          <p:nvPr/>
        </p:nvSpPr>
        <p:spPr>
          <a:xfrm>
            <a:off x="381000" y="6286500"/>
            <a:ext cx="114300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Embeddings translate human language into a format computers can organize by concept.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pic>
        <p:nvPicPr>
          <p:cNvPr descr="image.png" id="318" name="Google Shape;318;p21"/>
          <p:cNvPicPr preferRelativeResize="0"/>
          <p:nvPr/>
        </p:nvPicPr>
        <p:blipFill rotWithShape="1">
          <a:blip r:embed="rId3">
            <a:alphaModFix/>
          </a:blip>
          <a:srcRect b="0" l="0" r="0" t="0"/>
          <a:stretch/>
        </p:blipFill>
        <p:spPr>
          <a:xfrm>
            <a:off x="5240089" y="214312"/>
            <a:ext cx="1711821" cy="333375"/>
          </a:xfrm>
          <a:prstGeom prst="rect">
            <a:avLst/>
          </a:prstGeom>
          <a:noFill/>
          <a:ln>
            <a:noFill/>
          </a:ln>
        </p:spPr>
      </p:pic>
      <p:pic>
        <p:nvPicPr>
          <p:cNvPr descr="image.png" id="319" name="Google Shape;319;p21"/>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sp>
        <p:nvSpPr>
          <p:cNvPr id="320" name="Google Shape;320;p21"/>
          <p:cNvSpPr txBox="1"/>
          <p:nvPr/>
        </p:nvSpPr>
        <p:spPr>
          <a:xfrm>
            <a:off x="6951910" y="295275"/>
            <a:ext cx="4859089"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09</a:t>
            </a:r>
            <a:endParaRPr/>
          </a:p>
        </p:txBody>
      </p:sp>
      <p:sp>
        <p:nvSpPr>
          <p:cNvPr id="321" name="Google Shape;321;p21"/>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Storage Trade-offs</a:t>
            </a:r>
            <a:endParaRPr/>
          </a:p>
        </p:txBody>
      </p:sp>
      <p:sp>
        <p:nvSpPr>
          <p:cNvPr id="322" name="Google Shape;322;p21"/>
          <p:cNvSpPr txBox="1"/>
          <p:nvPr/>
        </p:nvSpPr>
        <p:spPr>
          <a:xfrm>
            <a:off x="571500" y="1638300"/>
            <a:ext cx="1104900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Choosing the right database for long-term memory.</a:t>
            </a:r>
            <a:endParaRPr/>
          </a:p>
        </p:txBody>
      </p:sp>
      <p:graphicFrame>
        <p:nvGraphicFramePr>
          <p:cNvPr id="323" name="Google Shape;323;p21"/>
          <p:cNvGraphicFramePr/>
          <p:nvPr/>
        </p:nvGraphicFramePr>
        <p:xfrm>
          <a:off x="571500" y="2076450"/>
          <a:ext cx="3000000" cy="3000000"/>
        </p:xfrm>
        <a:graphic>
          <a:graphicData uri="http://schemas.openxmlformats.org/drawingml/2006/table">
            <a:tbl>
              <a:tblPr bandRow="1" firstRow="1">
                <a:noFill/>
                <a:tableStyleId>{E61976D4-2394-4808-ADAC-E73B55D06255}</a:tableStyleId>
              </a:tblPr>
              <a:tblGrid>
                <a:gridCol w="2431550"/>
                <a:gridCol w="2625325"/>
                <a:gridCol w="5992125"/>
              </a:tblGrid>
              <a:tr h="471475">
                <a:tc>
                  <a:txBody>
                    <a:bodyPr/>
                    <a:lstStyle/>
                    <a:p>
                      <a:pPr indent="0" lvl="0" marL="0" marR="0" rtl="0" algn="l">
                        <a:spcBef>
                          <a:spcPts val="0"/>
                        </a:spcBef>
                        <a:spcAft>
                          <a:spcPts val="0"/>
                        </a:spcAft>
                        <a:buNone/>
                      </a:pPr>
                      <a:r>
                        <a:rPr b="1" i="0" lang="en-US" sz="1350" u="none" cap="none" strike="noStrike">
                          <a:solidFill>
                            <a:srgbClr val="FFFFFF"/>
                          </a:solidFill>
                          <a:latin typeface="Arial"/>
                          <a:ea typeface="Arial"/>
                          <a:cs typeface="Arial"/>
                          <a:sym typeface="Arial"/>
                        </a:rPr>
                        <a:t>Solution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350" u="none" cap="none" strike="noStrike">
                          <a:solidFill>
                            <a:srgbClr val="FFFFFF"/>
                          </a:solidFill>
                          <a:latin typeface="Arial"/>
                          <a:ea typeface="Arial"/>
                          <a:cs typeface="Arial"/>
                          <a:sym typeface="Arial"/>
                        </a:rPr>
                        <a:t>Example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350" u="none" cap="none" strike="noStrike">
                          <a:solidFill>
                            <a:srgbClr val="FFFFFF"/>
                          </a:solidFill>
                          <a:latin typeface="Arial"/>
                          <a:ea typeface="Arial"/>
                          <a:cs typeface="Arial"/>
                          <a:sym typeface="Arial"/>
                        </a:rPr>
                        <a:t>Best Use Case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471475">
                <a:tc>
                  <a:txBody>
                    <a:bodyPr/>
                    <a:lstStyle/>
                    <a:p>
                      <a:pPr indent="0" lvl="0" marL="0" marR="0" rtl="0" algn="l">
                        <a:spcBef>
                          <a:spcPts val="0"/>
                        </a:spcBef>
                        <a:spcAft>
                          <a:spcPts val="0"/>
                        </a:spcAft>
                        <a:buNone/>
                      </a:pPr>
                      <a:r>
                        <a:rPr b="1" i="0" lang="en-US" sz="1200" u="none" cap="none" strike="noStrike">
                          <a:solidFill>
                            <a:srgbClr val="334155"/>
                          </a:solidFill>
                          <a:latin typeface="Arial"/>
                          <a:ea typeface="Arial"/>
                          <a:cs typeface="Arial"/>
                          <a:sym typeface="Arial"/>
                        </a:rPr>
                        <a:t>In-Memory Local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FAISS, ChromaDB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Prototyping, small document sets, local testing.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71475">
                <a:tc>
                  <a:txBody>
                    <a:bodyPr/>
                    <a:lstStyle/>
                    <a:p>
                      <a:pPr indent="0" lvl="0" marL="0" marR="0" rtl="0" algn="l">
                        <a:spcBef>
                          <a:spcPts val="0"/>
                        </a:spcBef>
                        <a:spcAft>
                          <a:spcPts val="0"/>
                        </a:spcAft>
                        <a:buNone/>
                      </a:pPr>
                      <a:r>
                        <a:rPr b="1" i="0" lang="en-US" sz="1200" u="none" cap="none" strike="noStrike">
                          <a:solidFill>
                            <a:srgbClr val="334155"/>
                          </a:solidFill>
                          <a:latin typeface="Arial"/>
                          <a:ea typeface="Arial"/>
                          <a:cs typeface="Arial"/>
                          <a:sym typeface="Arial"/>
                        </a:rPr>
                        <a:t>Managed Cloud DB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Pinecone, Weaviate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Production scale, millions of vectors, zero maintenance.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r>
              <a:tr h="471500">
                <a:tc>
                  <a:txBody>
                    <a:bodyPr/>
                    <a:lstStyle/>
                    <a:p>
                      <a:pPr indent="0" lvl="0" marL="0" marR="0" rtl="0" algn="l">
                        <a:spcBef>
                          <a:spcPts val="0"/>
                        </a:spcBef>
                        <a:spcAft>
                          <a:spcPts val="0"/>
                        </a:spcAft>
                        <a:buNone/>
                      </a:pPr>
                      <a:r>
                        <a:rPr b="1" i="0" lang="en-US" sz="1200" u="none" cap="none" strike="noStrike">
                          <a:solidFill>
                            <a:srgbClr val="334155"/>
                          </a:solidFill>
                          <a:latin typeface="Arial"/>
                          <a:ea typeface="Arial"/>
                          <a:cs typeface="Arial"/>
                          <a:sym typeface="Arial"/>
                        </a:rPr>
                        <a:t>Traditional + Vector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PostgreSQL (pgvector)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Enterprise apps keeping relational and vector data together.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24" name="Google Shape;324;p21"/>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21"/>
          <p:cNvSpPr/>
          <p:nvPr/>
        </p:nvSpPr>
        <p:spPr>
          <a:xfrm>
            <a:off x="571500" y="3014662"/>
            <a:ext cx="243155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1"/>
          <p:cNvSpPr/>
          <p:nvPr/>
        </p:nvSpPr>
        <p:spPr>
          <a:xfrm>
            <a:off x="3003053" y="3014662"/>
            <a:ext cx="26253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21"/>
          <p:cNvSpPr/>
          <p:nvPr/>
        </p:nvSpPr>
        <p:spPr>
          <a:xfrm>
            <a:off x="5628382" y="3014662"/>
            <a:ext cx="59921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21"/>
          <p:cNvSpPr/>
          <p:nvPr/>
        </p:nvSpPr>
        <p:spPr>
          <a:xfrm>
            <a:off x="571500" y="3481387"/>
            <a:ext cx="243155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21"/>
          <p:cNvSpPr/>
          <p:nvPr/>
        </p:nvSpPr>
        <p:spPr>
          <a:xfrm>
            <a:off x="3003053" y="3481387"/>
            <a:ext cx="26253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21"/>
          <p:cNvSpPr/>
          <p:nvPr/>
        </p:nvSpPr>
        <p:spPr>
          <a:xfrm>
            <a:off x="5628382" y="3481387"/>
            <a:ext cx="59921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1"/>
          <p:cNvSpPr/>
          <p:nvPr/>
        </p:nvSpPr>
        <p:spPr>
          <a:xfrm>
            <a:off x="571500" y="3948112"/>
            <a:ext cx="243155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21"/>
          <p:cNvSpPr/>
          <p:nvPr/>
        </p:nvSpPr>
        <p:spPr>
          <a:xfrm>
            <a:off x="3003053" y="3948112"/>
            <a:ext cx="262532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21"/>
          <p:cNvSpPr/>
          <p:nvPr/>
        </p:nvSpPr>
        <p:spPr>
          <a:xfrm>
            <a:off x="5628382" y="3948112"/>
            <a:ext cx="59921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21"/>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21"/>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Start with local ChromaDB for testing, and migrate to managed Cloud DBs for scale.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9" name="Shape 339"/>
        <p:cNvGrpSpPr/>
        <p:nvPr/>
      </p:nvGrpSpPr>
      <p:grpSpPr>
        <a:xfrm>
          <a:off x="0" y="0"/>
          <a:ext cx="0" cy="0"/>
          <a:chOff x="0" y="0"/>
          <a:chExt cx="0" cy="0"/>
        </a:xfrm>
      </p:grpSpPr>
      <p:pic>
        <p:nvPicPr>
          <p:cNvPr descr="image.png" id="340" name="Google Shape;340;p22"/>
          <p:cNvPicPr preferRelativeResize="0"/>
          <p:nvPr/>
        </p:nvPicPr>
        <p:blipFill rotWithShape="1">
          <a:blip r:embed="rId3">
            <a:alphaModFix/>
          </a:blip>
          <a:srcRect b="0" l="0" r="0" t="0"/>
          <a:stretch/>
        </p:blipFill>
        <p:spPr>
          <a:xfrm>
            <a:off x="5257055" y="214312"/>
            <a:ext cx="1677739" cy="333375"/>
          </a:xfrm>
          <a:prstGeom prst="rect">
            <a:avLst/>
          </a:prstGeom>
          <a:noFill/>
          <a:ln>
            <a:noFill/>
          </a:ln>
        </p:spPr>
      </p:pic>
      <p:pic>
        <p:nvPicPr>
          <p:cNvPr descr="image.png" id="341" name="Google Shape;341;p22"/>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sp>
        <p:nvSpPr>
          <p:cNvPr id="342" name="Google Shape;342;p22"/>
          <p:cNvSpPr txBox="1"/>
          <p:nvPr/>
        </p:nvSpPr>
        <p:spPr>
          <a:xfrm>
            <a:off x="6934795" y="295275"/>
            <a:ext cx="4876204"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10</a:t>
            </a:r>
            <a:endParaRPr/>
          </a:p>
        </p:txBody>
      </p:sp>
      <p:sp>
        <p:nvSpPr>
          <p:cNvPr id="343" name="Google Shape;343;p22"/>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22"/>
          <p:cNvSpPr txBox="1"/>
          <p:nvPr/>
        </p:nvSpPr>
        <p:spPr>
          <a:xfrm>
            <a:off x="2652132" y="2819400"/>
            <a:ext cx="6887735" cy="704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0F172A"/>
                </a:solidFill>
                <a:latin typeface="Arial"/>
                <a:ea typeface="Arial"/>
                <a:cs typeface="Arial"/>
                <a:sym typeface="Arial"/>
              </a:rPr>
              <a:t>Tool Calling Deep Dive</a:t>
            </a:r>
            <a:endParaRPr/>
          </a:p>
        </p:txBody>
      </p:sp>
      <p:sp>
        <p:nvSpPr>
          <p:cNvPr id="345" name="Google Shape;345;p22"/>
          <p:cNvSpPr/>
          <p:nvPr/>
        </p:nvSpPr>
        <p:spPr>
          <a:xfrm>
            <a:off x="5524500" y="3714750"/>
            <a:ext cx="1143000" cy="57150"/>
          </a:xfrm>
          <a:prstGeom prst="roundRect">
            <a:avLst>
              <a:gd fmla="val 50000" name="adj"/>
            </a:avLst>
          </a:prstGeom>
          <a:solidFill>
            <a:srgbClr val="1665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22"/>
          <p:cNvSpPr txBox="1"/>
          <p:nvPr/>
        </p:nvSpPr>
        <p:spPr>
          <a:xfrm>
            <a:off x="3395960" y="3962400"/>
            <a:ext cx="5399930"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64748B"/>
                </a:solidFill>
                <a:latin typeface="Arial"/>
                <a:ea typeface="Arial"/>
                <a:cs typeface="Arial"/>
                <a:sym typeface="Arial"/>
              </a:rPr>
              <a:t>Empowering agents to interact with external systems.</a:t>
            </a:r>
            <a:endParaRPr/>
          </a:p>
        </p:txBody>
      </p:sp>
      <p:sp>
        <p:nvSpPr>
          <p:cNvPr id="347" name="Google Shape;347;p22"/>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8" name="Google Shape;348;p22"/>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Tools bridge the gap between static knowledge and dynamic execution.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pic>
        <p:nvPicPr>
          <p:cNvPr descr="image.png" id="353" name="Google Shape;353;p23"/>
          <p:cNvPicPr preferRelativeResize="0"/>
          <p:nvPr/>
        </p:nvPicPr>
        <p:blipFill rotWithShape="1">
          <a:blip r:embed="rId3">
            <a:alphaModFix/>
          </a:blip>
          <a:srcRect b="0" l="0" r="0" t="0"/>
          <a:stretch/>
        </p:blipFill>
        <p:spPr>
          <a:xfrm>
            <a:off x="5257055" y="214312"/>
            <a:ext cx="1677739" cy="333375"/>
          </a:xfrm>
          <a:prstGeom prst="rect">
            <a:avLst/>
          </a:prstGeom>
          <a:noFill/>
          <a:ln>
            <a:noFill/>
          </a:ln>
        </p:spPr>
      </p:pic>
      <p:pic>
        <p:nvPicPr>
          <p:cNvPr descr="image.png" id="354" name="Google Shape;354;p23"/>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355" name="Google Shape;355;p23"/>
          <p:cNvPicPr preferRelativeResize="0"/>
          <p:nvPr/>
        </p:nvPicPr>
        <p:blipFill rotWithShape="1">
          <a:blip r:embed="rId5">
            <a:alphaModFix/>
          </a:blip>
          <a:srcRect b="0" l="0" r="0" t="0"/>
          <a:stretch/>
        </p:blipFill>
        <p:spPr>
          <a:xfrm>
            <a:off x="4620815" y="2405062"/>
            <a:ext cx="2950368" cy="685800"/>
          </a:xfrm>
          <a:prstGeom prst="rect">
            <a:avLst/>
          </a:prstGeom>
          <a:noFill/>
          <a:ln>
            <a:noFill/>
          </a:ln>
        </p:spPr>
      </p:pic>
      <p:pic>
        <p:nvPicPr>
          <p:cNvPr descr="image.png" id="356" name="Google Shape;356;p23"/>
          <p:cNvPicPr preferRelativeResize="0"/>
          <p:nvPr/>
        </p:nvPicPr>
        <p:blipFill rotWithShape="1">
          <a:blip r:embed="rId6">
            <a:alphaModFix/>
          </a:blip>
          <a:srcRect b="0" l="0" r="0" t="0"/>
          <a:stretch/>
        </p:blipFill>
        <p:spPr>
          <a:xfrm>
            <a:off x="571500" y="3471862"/>
            <a:ext cx="2547937" cy="1857375"/>
          </a:xfrm>
          <a:prstGeom prst="rect">
            <a:avLst/>
          </a:prstGeom>
          <a:noFill/>
          <a:ln>
            <a:noFill/>
          </a:ln>
        </p:spPr>
      </p:pic>
      <p:pic>
        <p:nvPicPr>
          <p:cNvPr descr="image.png" id="357" name="Google Shape;357;p23"/>
          <p:cNvPicPr preferRelativeResize="0"/>
          <p:nvPr/>
        </p:nvPicPr>
        <p:blipFill rotWithShape="1">
          <a:blip r:embed="rId7">
            <a:alphaModFix/>
          </a:blip>
          <a:srcRect b="0" l="0" r="0" t="0"/>
          <a:stretch/>
        </p:blipFill>
        <p:spPr>
          <a:xfrm>
            <a:off x="3405187" y="3471862"/>
            <a:ext cx="2547937" cy="1857375"/>
          </a:xfrm>
          <a:prstGeom prst="rect">
            <a:avLst/>
          </a:prstGeom>
          <a:noFill/>
          <a:ln>
            <a:noFill/>
          </a:ln>
        </p:spPr>
      </p:pic>
      <p:pic>
        <p:nvPicPr>
          <p:cNvPr descr="image.png" id="358" name="Google Shape;358;p23"/>
          <p:cNvPicPr preferRelativeResize="0"/>
          <p:nvPr/>
        </p:nvPicPr>
        <p:blipFill rotWithShape="1">
          <a:blip r:embed="rId8">
            <a:alphaModFix/>
          </a:blip>
          <a:srcRect b="0" l="0" r="0" t="0"/>
          <a:stretch/>
        </p:blipFill>
        <p:spPr>
          <a:xfrm>
            <a:off x="6238875" y="3471862"/>
            <a:ext cx="2547937" cy="1857375"/>
          </a:xfrm>
          <a:prstGeom prst="rect">
            <a:avLst/>
          </a:prstGeom>
          <a:noFill/>
          <a:ln>
            <a:noFill/>
          </a:ln>
        </p:spPr>
      </p:pic>
      <p:pic>
        <p:nvPicPr>
          <p:cNvPr descr="image.png" id="359" name="Google Shape;359;p23"/>
          <p:cNvPicPr preferRelativeResize="0"/>
          <p:nvPr/>
        </p:nvPicPr>
        <p:blipFill rotWithShape="1">
          <a:blip r:embed="rId9">
            <a:alphaModFix/>
          </a:blip>
          <a:srcRect b="0" l="0" r="0" t="0"/>
          <a:stretch/>
        </p:blipFill>
        <p:spPr>
          <a:xfrm>
            <a:off x="9072562" y="3471862"/>
            <a:ext cx="2547937" cy="1857375"/>
          </a:xfrm>
          <a:prstGeom prst="rect">
            <a:avLst/>
          </a:prstGeom>
          <a:noFill/>
          <a:ln>
            <a:noFill/>
          </a:ln>
        </p:spPr>
      </p:pic>
      <p:sp>
        <p:nvSpPr>
          <p:cNvPr id="360" name="Google Shape;360;p23"/>
          <p:cNvSpPr txBox="1"/>
          <p:nvPr/>
        </p:nvSpPr>
        <p:spPr>
          <a:xfrm>
            <a:off x="6934795" y="295275"/>
            <a:ext cx="4876204"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11</a:t>
            </a:r>
            <a:endParaRPr/>
          </a:p>
        </p:txBody>
      </p:sp>
      <p:sp>
        <p:nvSpPr>
          <p:cNvPr id="361" name="Google Shape;361;p23"/>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Anatomy of a Tool Call</a:t>
            </a:r>
            <a:endParaRPr/>
          </a:p>
        </p:txBody>
      </p:sp>
      <p:sp>
        <p:nvSpPr>
          <p:cNvPr id="362" name="Google Shape;362;p23"/>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63" name="Google Shape;363;p23"/>
          <p:cNvPicPr preferRelativeResize="0"/>
          <p:nvPr/>
        </p:nvPicPr>
        <p:blipFill rotWithShape="1">
          <a:blip r:embed="rId10">
            <a:alphaModFix/>
          </a:blip>
          <a:srcRect b="0" l="0" r="0" t="0"/>
          <a:stretch/>
        </p:blipFill>
        <p:spPr>
          <a:xfrm>
            <a:off x="1559718" y="3719512"/>
            <a:ext cx="571500" cy="457200"/>
          </a:xfrm>
          <a:prstGeom prst="rect">
            <a:avLst/>
          </a:prstGeom>
          <a:noFill/>
          <a:ln>
            <a:noFill/>
          </a:ln>
        </p:spPr>
      </p:pic>
      <p:sp>
        <p:nvSpPr>
          <p:cNvPr id="364" name="Google Shape;364;p23"/>
          <p:cNvSpPr txBox="1"/>
          <p:nvPr/>
        </p:nvSpPr>
        <p:spPr>
          <a:xfrm>
            <a:off x="767834"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Name</a:t>
            </a:r>
            <a:endParaRPr/>
          </a:p>
        </p:txBody>
      </p:sp>
      <p:sp>
        <p:nvSpPr>
          <p:cNvPr id="365" name="Google Shape;365;p23"/>
          <p:cNvSpPr txBox="1"/>
          <p:nvPr/>
        </p:nvSpPr>
        <p:spPr>
          <a:xfrm>
            <a:off x="819150"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Unique identifier for the function (e.g., `get_weather`).</a:t>
            </a:r>
            <a:endParaRPr/>
          </a:p>
        </p:txBody>
      </p:sp>
      <p:pic>
        <p:nvPicPr>
          <p:cNvPr descr="image.png" id="366" name="Google Shape;366;p23"/>
          <p:cNvPicPr preferRelativeResize="0"/>
          <p:nvPr/>
        </p:nvPicPr>
        <p:blipFill rotWithShape="1">
          <a:blip r:embed="rId11">
            <a:alphaModFix/>
          </a:blip>
          <a:srcRect b="0" l="0" r="0" t="0"/>
          <a:stretch/>
        </p:blipFill>
        <p:spPr>
          <a:xfrm>
            <a:off x="4479131" y="3719512"/>
            <a:ext cx="400050" cy="457200"/>
          </a:xfrm>
          <a:prstGeom prst="rect">
            <a:avLst/>
          </a:prstGeom>
          <a:noFill/>
          <a:ln>
            <a:noFill/>
          </a:ln>
        </p:spPr>
      </p:pic>
      <p:sp>
        <p:nvSpPr>
          <p:cNvPr id="367" name="Google Shape;367;p23"/>
          <p:cNvSpPr txBox="1"/>
          <p:nvPr/>
        </p:nvSpPr>
        <p:spPr>
          <a:xfrm>
            <a:off x="3601521"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Description</a:t>
            </a:r>
            <a:endParaRPr/>
          </a:p>
        </p:txBody>
      </p:sp>
      <p:sp>
        <p:nvSpPr>
          <p:cNvPr id="368" name="Google Shape;368;p23"/>
          <p:cNvSpPr txBox="1"/>
          <p:nvPr/>
        </p:nvSpPr>
        <p:spPr>
          <a:xfrm>
            <a:off x="3652837"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Crucial text telling the LLM exactly when to use it.</a:t>
            </a:r>
            <a:endParaRPr/>
          </a:p>
        </p:txBody>
      </p:sp>
      <p:pic>
        <p:nvPicPr>
          <p:cNvPr descr="image.png" id="369" name="Google Shape;369;p23"/>
          <p:cNvPicPr preferRelativeResize="0"/>
          <p:nvPr/>
        </p:nvPicPr>
        <p:blipFill rotWithShape="1">
          <a:blip r:embed="rId12">
            <a:alphaModFix/>
          </a:blip>
          <a:srcRect b="0" l="0" r="0" t="0"/>
          <a:stretch/>
        </p:blipFill>
        <p:spPr>
          <a:xfrm>
            <a:off x="7227093" y="3719512"/>
            <a:ext cx="571500" cy="457200"/>
          </a:xfrm>
          <a:prstGeom prst="rect">
            <a:avLst/>
          </a:prstGeom>
          <a:noFill/>
          <a:ln>
            <a:noFill/>
          </a:ln>
        </p:spPr>
      </p:pic>
      <p:sp>
        <p:nvSpPr>
          <p:cNvPr id="370" name="Google Shape;370;p23"/>
          <p:cNvSpPr txBox="1"/>
          <p:nvPr/>
        </p:nvSpPr>
        <p:spPr>
          <a:xfrm>
            <a:off x="6435209"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Parameters</a:t>
            </a:r>
            <a:endParaRPr/>
          </a:p>
        </p:txBody>
      </p:sp>
      <p:sp>
        <p:nvSpPr>
          <p:cNvPr id="371" name="Google Shape;371;p23"/>
          <p:cNvSpPr txBox="1"/>
          <p:nvPr/>
        </p:nvSpPr>
        <p:spPr>
          <a:xfrm>
            <a:off x="6486525"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JSON schema defining required inputs (e.g., `location`).</a:t>
            </a:r>
            <a:endParaRPr/>
          </a:p>
        </p:txBody>
      </p:sp>
      <p:pic>
        <p:nvPicPr>
          <p:cNvPr descr="image.png" id="372" name="Google Shape;372;p23"/>
          <p:cNvPicPr preferRelativeResize="0"/>
          <p:nvPr/>
        </p:nvPicPr>
        <p:blipFill rotWithShape="1">
          <a:blip r:embed="rId13">
            <a:alphaModFix/>
          </a:blip>
          <a:srcRect b="0" l="0" r="0" t="0"/>
          <a:stretch/>
        </p:blipFill>
        <p:spPr>
          <a:xfrm>
            <a:off x="10117931" y="3719512"/>
            <a:ext cx="457200" cy="457200"/>
          </a:xfrm>
          <a:prstGeom prst="rect">
            <a:avLst/>
          </a:prstGeom>
          <a:noFill/>
          <a:ln>
            <a:noFill/>
          </a:ln>
        </p:spPr>
      </p:pic>
      <p:sp>
        <p:nvSpPr>
          <p:cNvPr id="373" name="Google Shape;373;p23"/>
          <p:cNvSpPr txBox="1"/>
          <p:nvPr/>
        </p:nvSpPr>
        <p:spPr>
          <a:xfrm>
            <a:off x="9268896"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Return Type</a:t>
            </a:r>
            <a:endParaRPr/>
          </a:p>
        </p:txBody>
      </p:sp>
      <p:sp>
        <p:nvSpPr>
          <p:cNvPr id="374" name="Google Shape;374;p23"/>
          <p:cNvSpPr txBox="1"/>
          <p:nvPr/>
        </p:nvSpPr>
        <p:spPr>
          <a:xfrm>
            <a:off x="9320212"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Format of the data sent back to the LLM observation.</a:t>
            </a:r>
            <a:endParaRPr/>
          </a:p>
        </p:txBody>
      </p:sp>
      <p:sp>
        <p:nvSpPr>
          <p:cNvPr id="375" name="Google Shape;375;p23"/>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23"/>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The LLM never runs the code; it generates a JSON object matching your Tool Schema.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pic>
        <p:nvPicPr>
          <p:cNvPr descr="image.png" id="381" name="Google Shape;381;p24"/>
          <p:cNvPicPr preferRelativeResize="0"/>
          <p:nvPr/>
        </p:nvPicPr>
        <p:blipFill rotWithShape="1">
          <a:blip r:embed="rId3">
            <a:alphaModFix/>
          </a:blip>
          <a:srcRect b="0" l="0" r="0" t="0"/>
          <a:stretch/>
        </p:blipFill>
        <p:spPr>
          <a:xfrm>
            <a:off x="5257055" y="214312"/>
            <a:ext cx="1677739" cy="333375"/>
          </a:xfrm>
          <a:prstGeom prst="rect">
            <a:avLst/>
          </a:prstGeom>
          <a:noFill/>
          <a:ln>
            <a:noFill/>
          </a:ln>
        </p:spPr>
      </p:pic>
      <p:pic>
        <p:nvPicPr>
          <p:cNvPr descr="image.png" id="382" name="Google Shape;382;p24"/>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id="383" name="Google Shape;383;p24"/>
          <p:cNvPicPr preferRelativeResize="0"/>
          <p:nvPr/>
        </p:nvPicPr>
        <p:blipFill rotWithShape="1">
          <a:blip r:embed="rId5">
            <a:alphaModFix/>
          </a:blip>
          <a:srcRect b="189" l="0" r="0" t="179"/>
          <a:stretch/>
        </p:blipFill>
        <p:spPr>
          <a:xfrm>
            <a:off x="571500" y="2476500"/>
            <a:ext cx="5381700" cy="2581200"/>
          </a:xfrm>
          <a:prstGeom prst="rect">
            <a:avLst/>
          </a:prstGeom>
          <a:noFill/>
          <a:ln>
            <a:noFill/>
          </a:ln>
        </p:spPr>
      </p:pic>
      <p:pic>
        <p:nvPicPr>
          <p:cNvPr id="384" name="Google Shape;384;p24"/>
          <p:cNvPicPr preferRelativeResize="0"/>
          <p:nvPr/>
        </p:nvPicPr>
        <p:blipFill rotWithShape="1">
          <a:blip r:embed="rId6">
            <a:alphaModFix/>
          </a:blip>
          <a:srcRect b="1766" l="0" r="0" t="1756"/>
          <a:stretch/>
        </p:blipFill>
        <p:spPr>
          <a:xfrm>
            <a:off x="762000" y="2362200"/>
            <a:ext cx="1806300" cy="247800"/>
          </a:xfrm>
          <a:prstGeom prst="rect">
            <a:avLst/>
          </a:prstGeom>
          <a:noFill/>
          <a:ln>
            <a:noFill/>
          </a:ln>
        </p:spPr>
      </p:pic>
      <p:sp>
        <p:nvSpPr>
          <p:cNvPr id="385" name="Google Shape;385;p24"/>
          <p:cNvSpPr txBox="1"/>
          <p:nvPr/>
        </p:nvSpPr>
        <p:spPr>
          <a:xfrm>
            <a:off x="6934795" y="295275"/>
            <a:ext cx="4876200" cy="1848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12</a:t>
            </a:r>
            <a:endParaRPr/>
          </a:p>
        </p:txBody>
      </p:sp>
      <p:sp>
        <p:nvSpPr>
          <p:cNvPr id="386" name="Google Shape;386;p24"/>
          <p:cNvSpPr txBox="1"/>
          <p:nvPr/>
        </p:nvSpPr>
        <p:spPr>
          <a:xfrm>
            <a:off x="571500" y="95250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Tool Calling Syntax</a:t>
            </a:r>
            <a:endParaRPr/>
          </a:p>
        </p:txBody>
      </p:sp>
      <p:sp>
        <p:nvSpPr>
          <p:cNvPr id="387" name="Google Shape;387;p24"/>
          <p:cNvSpPr txBox="1"/>
          <p:nvPr/>
        </p:nvSpPr>
        <p:spPr>
          <a:xfrm>
            <a:off x="571500" y="1638300"/>
            <a:ext cx="110490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334155"/>
                </a:solidFill>
                <a:latin typeface="Arial"/>
                <a:ea typeface="Arial"/>
                <a:cs typeface="Arial"/>
                <a:sym typeface="Arial"/>
              </a:rPr>
              <a:t>Binding tools to an LLM instance.</a:t>
            </a:r>
            <a:endParaRPr/>
          </a:p>
        </p:txBody>
      </p:sp>
      <p:sp>
        <p:nvSpPr>
          <p:cNvPr id="388" name="Google Shape;388;p24"/>
          <p:cNvSpPr/>
          <p:nvPr/>
        </p:nvSpPr>
        <p:spPr>
          <a:xfrm>
            <a:off x="381000" y="304800"/>
            <a:ext cx="28590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24"/>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0" name="Google Shape;390;p24"/>
          <p:cNvSpPr txBox="1"/>
          <p:nvPr/>
        </p:nvSpPr>
        <p:spPr>
          <a:xfrm>
            <a:off x="381000" y="6286500"/>
            <a:ext cx="114300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Modern LLMs are fine-tuned to recognize tool schemas and output valid JSON arguments.</a:t>
            </a:r>
            <a:endParaRPr/>
          </a:p>
        </p:txBody>
      </p:sp>
      <p:grpSp>
        <p:nvGrpSpPr>
          <p:cNvPr id="391" name="Google Shape;391;p24"/>
          <p:cNvGrpSpPr/>
          <p:nvPr/>
        </p:nvGrpSpPr>
        <p:grpSpPr>
          <a:xfrm>
            <a:off x="6238875" y="2476500"/>
            <a:ext cx="5381700" cy="2571750"/>
            <a:chOff x="6238875" y="2476500"/>
            <a:chExt cx="5381700" cy="2571750"/>
          </a:xfrm>
        </p:grpSpPr>
        <p:sp>
          <p:nvSpPr>
            <p:cNvPr id="392" name="Google Shape;392;p24"/>
            <p:cNvSpPr/>
            <p:nvPr/>
          </p:nvSpPr>
          <p:spPr>
            <a:xfrm>
              <a:off x="6238875" y="2476500"/>
              <a:ext cx="5381700" cy="1143000"/>
            </a:xfrm>
            <a:prstGeom prst="roundRect">
              <a:avLst>
                <a:gd fmla="val 666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93" name="Google Shape;393;p24"/>
            <p:cNvGrpSpPr/>
            <p:nvPr/>
          </p:nvGrpSpPr>
          <p:grpSpPr>
            <a:xfrm>
              <a:off x="6477000" y="2619375"/>
              <a:ext cx="4762500" cy="857400"/>
              <a:chOff x="0" y="0"/>
              <a:chExt cx="4762500" cy="857400"/>
            </a:xfrm>
          </p:grpSpPr>
          <p:sp>
            <p:nvSpPr>
              <p:cNvPr id="394" name="Google Shape;394;p24"/>
              <p:cNvSpPr txBox="1"/>
              <p:nvPr/>
            </p:nvSpPr>
            <p:spPr>
              <a:xfrm>
                <a:off x="0" y="40894"/>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800">
                    <a:solidFill>
                      <a:srgbClr val="166534"/>
                    </a:solidFill>
                    <a:latin typeface="Material Icons"/>
                    <a:ea typeface="Material Icons"/>
                    <a:cs typeface="Material Icons"/>
                    <a:sym typeface="Material Icons"/>
                  </a:rPr>
                  <a:t>visibility</a:t>
                </a:r>
                <a:endParaRPr sz="2800">
                  <a:solidFill>
                    <a:srgbClr val="166534"/>
                  </a:solidFill>
                  <a:latin typeface="Material Icons"/>
                  <a:ea typeface="Material Icons"/>
                  <a:cs typeface="Material Icons"/>
                  <a:sym typeface="Material Icons"/>
                </a:endParaRPr>
              </a:p>
            </p:txBody>
          </p:sp>
          <p:sp>
            <p:nvSpPr>
              <p:cNvPr id="395" name="Google Shape;395;p24"/>
              <p:cNvSpPr txBox="1"/>
              <p:nvPr/>
            </p:nvSpPr>
            <p:spPr>
              <a:xfrm>
                <a:off x="571500" y="0"/>
                <a:ext cx="4191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al"/>
                    <a:ea typeface="Arial"/>
                    <a:cs typeface="Arial"/>
                    <a:sym typeface="Arial"/>
                  </a:rPr>
                  <a:t>Tool Awareness</a:t>
                </a:r>
                <a:endParaRPr b="1" sz="1500">
                  <a:solidFill>
                    <a:srgbClr val="0F172A"/>
                  </a:solidFill>
                  <a:latin typeface="Arial"/>
                  <a:ea typeface="Arial"/>
                  <a:cs typeface="Arial"/>
                  <a:sym typeface="Arial"/>
                </a:endParaRPr>
              </a:p>
              <a:p>
                <a:pPr indent="0" lvl="0" marL="0" rtl="0" algn="l">
                  <a:spcBef>
                    <a:spcPts val="450"/>
                  </a:spcBef>
                  <a:spcAft>
                    <a:spcPts val="0"/>
                  </a:spcAft>
                  <a:buNone/>
                </a:pPr>
                <a:r>
                  <a:rPr lang="en-US" sz="1200">
                    <a:solidFill>
                      <a:srgbClr val="475569"/>
                    </a:solidFill>
                    <a:latin typeface="Arial"/>
                    <a:ea typeface="Arial"/>
                    <a:cs typeface="Arial"/>
                    <a:sym typeface="Arial"/>
                  </a:rPr>
                  <a:t>By passing the </a:t>
                </a:r>
                <a:r>
                  <a:rPr lang="en-US" sz="1200">
                    <a:solidFill>
                      <a:srgbClr val="475569"/>
                    </a:solidFill>
                    <a:highlight>
                      <a:srgbClr val="E2E8F0"/>
                    </a:highlight>
                    <a:latin typeface="Arial"/>
                    <a:ea typeface="Arial"/>
                    <a:cs typeface="Arial"/>
                    <a:sym typeface="Arial"/>
                  </a:rPr>
                  <a:t>tools</a:t>
                </a:r>
                <a:r>
                  <a:rPr lang="en-US" sz="1200">
                    <a:solidFill>
                      <a:srgbClr val="475569"/>
                    </a:solidFill>
                    <a:latin typeface="Arial"/>
                    <a:ea typeface="Arial"/>
                    <a:cs typeface="Arial"/>
                    <a:sym typeface="Arial"/>
                  </a:rPr>
                  <a:t> array to the API, the LLM becomes fully aware of all available external capabilities.</a:t>
                </a:r>
                <a:endParaRPr sz="1200">
                  <a:solidFill>
                    <a:srgbClr val="475569"/>
                  </a:solidFill>
                  <a:latin typeface="Arial"/>
                  <a:ea typeface="Arial"/>
                  <a:cs typeface="Arial"/>
                  <a:sym typeface="Arial"/>
                </a:endParaRPr>
              </a:p>
            </p:txBody>
          </p:sp>
        </p:grpSp>
        <p:sp>
          <p:nvSpPr>
            <p:cNvPr id="396" name="Google Shape;396;p24"/>
            <p:cNvSpPr/>
            <p:nvPr/>
          </p:nvSpPr>
          <p:spPr>
            <a:xfrm>
              <a:off x="6238875" y="3905250"/>
              <a:ext cx="5381700" cy="1143000"/>
            </a:xfrm>
            <a:prstGeom prst="roundRect">
              <a:avLst>
                <a:gd fmla="val 666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97" name="Google Shape;397;p24"/>
            <p:cNvGrpSpPr/>
            <p:nvPr/>
          </p:nvGrpSpPr>
          <p:grpSpPr>
            <a:xfrm>
              <a:off x="6477000" y="4048125"/>
              <a:ext cx="4762500" cy="857400"/>
              <a:chOff x="0" y="0"/>
              <a:chExt cx="4762500" cy="857400"/>
            </a:xfrm>
          </p:grpSpPr>
          <p:sp>
            <p:nvSpPr>
              <p:cNvPr id="398" name="Google Shape;398;p24"/>
              <p:cNvSpPr txBox="1"/>
              <p:nvPr/>
            </p:nvSpPr>
            <p:spPr>
              <a:xfrm>
                <a:off x="0" y="40894"/>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800">
                    <a:solidFill>
                      <a:srgbClr val="166534"/>
                    </a:solidFill>
                    <a:latin typeface="Material Icons"/>
                    <a:ea typeface="Material Icons"/>
                    <a:cs typeface="Material Icons"/>
                    <a:sym typeface="Material Icons"/>
                  </a:rPr>
                  <a:t>code</a:t>
                </a:r>
                <a:endParaRPr sz="2800">
                  <a:solidFill>
                    <a:srgbClr val="166534"/>
                  </a:solidFill>
                  <a:latin typeface="Material Icons"/>
                  <a:ea typeface="Material Icons"/>
                  <a:cs typeface="Material Icons"/>
                  <a:sym typeface="Material Icons"/>
                </a:endParaRPr>
              </a:p>
            </p:txBody>
          </p:sp>
          <p:sp>
            <p:nvSpPr>
              <p:cNvPr id="399" name="Google Shape;399;p24"/>
              <p:cNvSpPr txBox="1"/>
              <p:nvPr/>
            </p:nvSpPr>
            <p:spPr>
              <a:xfrm>
                <a:off x="571500" y="0"/>
                <a:ext cx="4191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al"/>
                    <a:ea typeface="Arial"/>
                    <a:cs typeface="Arial"/>
                    <a:sym typeface="Arial"/>
                  </a:rPr>
                  <a:t>Structured Output</a:t>
                </a:r>
                <a:endParaRPr b="1" sz="1500">
                  <a:solidFill>
                    <a:srgbClr val="0F172A"/>
                  </a:solidFill>
                  <a:latin typeface="Arial"/>
                  <a:ea typeface="Arial"/>
                  <a:cs typeface="Arial"/>
                  <a:sym typeface="Arial"/>
                </a:endParaRPr>
              </a:p>
              <a:p>
                <a:pPr indent="0" lvl="0" marL="0" rtl="0" algn="l">
                  <a:spcBef>
                    <a:spcPts val="450"/>
                  </a:spcBef>
                  <a:spcAft>
                    <a:spcPts val="0"/>
                  </a:spcAft>
                  <a:buNone/>
                </a:pPr>
                <a:r>
                  <a:rPr lang="en-US" sz="1200">
                    <a:solidFill>
                      <a:srgbClr val="475569"/>
                    </a:solidFill>
                    <a:latin typeface="Arial"/>
                    <a:ea typeface="Arial"/>
                    <a:cs typeface="Arial"/>
                    <a:sym typeface="Arial"/>
                  </a:rPr>
                  <a:t>If the model decides to invoke a tool, it halts standard text generation and returns a structured </a:t>
                </a:r>
                <a:r>
                  <a:rPr lang="en-US" sz="1200">
                    <a:solidFill>
                      <a:srgbClr val="475569"/>
                    </a:solidFill>
                    <a:highlight>
                      <a:srgbClr val="E2E8F0"/>
                    </a:highlight>
                    <a:latin typeface="Arial"/>
                    <a:ea typeface="Arial"/>
                    <a:cs typeface="Arial"/>
                    <a:sym typeface="Arial"/>
                  </a:rPr>
                  <a:t>tool_calls</a:t>
                </a:r>
                <a:r>
                  <a:rPr lang="en-US" sz="1200">
                    <a:solidFill>
                      <a:srgbClr val="475569"/>
                    </a:solidFill>
                    <a:latin typeface="Arial"/>
                    <a:ea typeface="Arial"/>
                    <a:cs typeface="Arial"/>
                    <a:sym typeface="Arial"/>
                  </a:rPr>
                  <a:t> JSON object.</a:t>
                </a:r>
                <a:endParaRPr sz="1200">
                  <a:solidFill>
                    <a:srgbClr val="475569"/>
                  </a:solidFill>
                  <a:latin typeface="Arial"/>
                  <a:ea typeface="Arial"/>
                  <a:cs typeface="Arial"/>
                  <a:sym typeface="Arial"/>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pic>
        <p:nvPicPr>
          <p:cNvPr descr="image.png" id="404" name="Google Shape;404;p25"/>
          <p:cNvPicPr preferRelativeResize="0"/>
          <p:nvPr/>
        </p:nvPicPr>
        <p:blipFill rotWithShape="1">
          <a:blip r:embed="rId3">
            <a:alphaModFix/>
          </a:blip>
          <a:srcRect b="0" l="0" r="0" t="0"/>
          <a:stretch/>
        </p:blipFill>
        <p:spPr>
          <a:xfrm>
            <a:off x="5257055" y="214312"/>
            <a:ext cx="1677739" cy="333375"/>
          </a:xfrm>
          <a:prstGeom prst="rect">
            <a:avLst/>
          </a:prstGeom>
          <a:noFill/>
          <a:ln>
            <a:noFill/>
          </a:ln>
        </p:spPr>
      </p:pic>
      <p:pic>
        <p:nvPicPr>
          <p:cNvPr descr="image.png" id="405" name="Google Shape;405;p25"/>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406" name="Google Shape;406;p25"/>
          <p:cNvPicPr preferRelativeResize="0"/>
          <p:nvPr/>
        </p:nvPicPr>
        <p:blipFill rotWithShape="1">
          <a:blip r:embed="rId5">
            <a:alphaModFix/>
          </a:blip>
          <a:srcRect b="0" l="0" r="0" t="0"/>
          <a:stretch/>
        </p:blipFill>
        <p:spPr>
          <a:xfrm>
            <a:off x="571500" y="2621458"/>
            <a:ext cx="5381625" cy="1102816"/>
          </a:xfrm>
          <a:prstGeom prst="rect">
            <a:avLst/>
          </a:prstGeom>
          <a:noFill/>
          <a:ln>
            <a:noFill/>
          </a:ln>
        </p:spPr>
      </p:pic>
      <p:pic>
        <p:nvPicPr>
          <p:cNvPr descr="image.png" id="407" name="Google Shape;407;p25"/>
          <p:cNvPicPr preferRelativeResize="0"/>
          <p:nvPr/>
        </p:nvPicPr>
        <p:blipFill rotWithShape="1">
          <a:blip r:embed="rId5">
            <a:alphaModFix/>
          </a:blip>
          <a:srcRect b="0" l="0" r="0" t="0"/>
          <a:stretch/>
        </p:blipFill>
        <p:spPr>
          <a:xfrm>
            <a:off x="6238875" y="2621458"/>
            <a:ext cx="5381625" cy="1102816"/>
          </a:xfrm>
          <a:prstGeom prst="rect">
            <a:avLst/>
          </a:prstGeom>
          <a:noFill/>
          <a:ln>
            <a:noFill/>
          </a:ln>
        </p:spPr>
      </p:pic>
      <p:pic>
        <p:nvPicPr>
          <p:cNvPr descr="image.png" id="408" name="Google Shape;408;p25"/>
          <p:cNvPicPr preferRelativeResize="0"/>
          <p:nvPr/>
        </p:nvPicPr>
        <p:blipFill rotWithShape="1">
          <a:blip r:embed="rId5">
            <a:alphaModFix/>
          </a:blip>
          <a:srcRect b="0" l="0" r="0" t="0"/>
          <a:stretch/>
        </p:blipFill>
        <p:spPr>
          <a:xfrm>
            <a:off x="571500" y="4010025"/>
            <a:ext cx="5381625" cy="1102816"/>
          </a:xfrm>
          <a:prstGeom prst="rect">
            <a:avLst/>
          </a:prstGeom>
          <a:noFill/>
          <a:ln>
            <a:noFill/>
          </a:ln>
        </p:spPr>
      </p:pic>
      <p:pic>
        <p:nvPicPr>
          <p:cNvPr descr="image.png" id="409" name="Google Shape;409;p25"/>
          <p:cNvPicPr preferRelativeResize="0"/>
          <p:nvPr/>
        </p:nvPicPr>
        <p:blipFill rotWithShape="1">
          <a:blip r:embed="rId5">
            <a:alphaModFix/>
          </a:blip>
          <a:srcRect b="0" l="0" r="0" t="0"/>
          <a:stretch/>
        </p:blipFill>
        <p:spPr>
          <a:xfrm>
            <a:off x="6238875" y="4010025"/>
            <a:ext cx="5381625" cy="1102816"/>
          </a:xfrm>
          <a:prstGeom prst="rect">
            <a:avLst/>
          </a:prstGeom>
          <a:noFill/>
          <a:ln>
            <a:noFill/>
          </a:ln>
        </p:spPr>
      </p:pic>
      <p:pic>
        <p:nvPicPr>
          <p:cNvPr descr="image.png" id="410" name="Google Shape;410;p25"/>
          <p:cNvPicPr preferRelativeResize="0"/>
          <p:nvPr/>
        </p:nvPicPr>
        <p:blipFill rotWithShape="1">
          <a:blip r:embed="rId6">
            <a:alphaModFix/>
          </a:blip>
          <a:srcRect b="0" l="0" r="0" t="0"/>
          <a:stretch/>
        </p:blipFill>
        <p:spPr>
          <a:xfrm>
            <a:off x="762000" y="2811958"/>
            <a:ext cx="381000" cy="381000"/>
          </a:xfrm>
          <a:prstGeom prst="rect">
            <a:avLst/>
          </a:prstGeom>
          <a:noFill/>
          <a:ln>
            <a:noFill/>
          </a:ln>
        </p:spPr>
      </p:pic>
      <p:pic>
        <p:nvPicPr>
          <p:cNvPr descr="image.png" id="411" name="Google Shape;411;p25"/>
          <p:cNvPicPr preferRelativeResize="0"/>
          <p:nvPr/>
        </p:nvPicPr>
        <p:blipFill rotWithShape="1">
          <a:blip r:embed="rId7">
            <a:alphaModFix/>
          </a:blip>
          <a:srcRect b="0" l="0" r="0" t="0"/>
          <a:stretch/>
        </p:blipFill>
        <p:spPr>
          <a:xfrm>
            <a:off x="6429375" y="2811958"/>
            <a:ext cx="381000" cy="381000"/>
          </a:xfrm>
          <a:prstGeom prst="rect">
            <a:avLst/>
          </a:prstGeom>
          <a:noFill/>
          <a:ln>
            <a:noFill/>
          </a:ln>
        </p:spPr>
      </p:pic>
      <p:pic>
        <p:nvPicPr>
          <p:cNvPr descr="image.png" id="412" name="Google Shape;412;p25"/>
          <p:cNvPicPr preferRelativeResize="0"/>
          <p:nvPr/>
        </p:nvPicPr>
        <p:blipFill rotWithShape="1">
          <a:blip r:embed="rId8">
            <a:alphaModFix/>
          </a:blip>
          <a:srcRect b="0" l="0" r="0" t="0"/>
          <a:stretch/>
        </p:blipFill>
        <p:spPr>
          <a:xfrm>
            <a:off x="762000" y="4200525"/>
            <a:ext cx="381000" cy="381000"/>
          </a:xfrm>
          <a:prstGeom prst="rect">
            <a:avLst/>
          </a:prstGeom>
          <a:noFill/>
          <a:ln>
            <a:noFill/>
          </a:ln>
        </p:spPr>
      </p:pic>
      <p:pic>
        <p:nvPicPr>
          <p:cNvPr descr="image.png" id="413" name="Google Shape;413;p25"/>
          <p:cNvPicPr preferRelativeResize="0"/>
          <p:nvPr/>
        </p:nvPicPr>
        <p:blipFill rotWithShape="1">
          <a:blip r:embed="rId9">
            <a:alphaModFix/>
          </a:blip>
          <a:srcRect b="0" l="0" r="0" t="0"/>
          <a:stretch/>
        </p:blipFill>
        <p:spPr>
          <a:xfrm>
            <a:off x="6429375" y="4200525"/>
            <a:ext cx="381000" cy="381000"/>
          </a:xfrm>
          <a:prstGeom prst="rect">
            <a:avLst/>
          </a:prstGeom>
          <a:noFill/>
          <a:ln>
            <a:noFill/>
          </a:ln>
        </p:spPr>
      </p:pic>
      <p:sp>
        <p:nvSpPr>
          <p:cNvPr id="414" name="Google Shape;414;p25"/>
          <p:cNvSpPr txBox="1"/>
          <p:nvPr/>
        </p:nvSpPr>
        <p:spPr>
          <a:xfrm>
            <a:off x="6934795" y="295275"/>
            <a:ext cx="4876204"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13</a:t>
            </a:r>
            <a:endParaRPr/>
          </a:p>
        </p:txBody>
      </p:sp>
      <p:sp>
        <p:nvSpPr>
          <p:cNvPr id="415" name="Google Shape;415;p25"/>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Tool Execution Lifecycle</a:t>
            </a:r>
            <a:endParaRPr/>
          </a:p>
        </p:txBody>
      </p:sp>
      <p:sp>
        <p:nvSpPr>
          <p:cNvPr id="416" name="Google Shape;416;p25"/>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25"/>
          <p:cNvSpPr txBox="1"/>
          <p:nvPr/>
        </p:nvSpPr>
        <p:spPr>
          <a:xfrm>
            <a:off x="1333500" y="2811958"/>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Model Decision</a:t>
            </a:r>
            <a:endParaRPr/>
          </a:p>
        </p:txBody>
      </p:sp>
      <p:sp>
        <p:nvSpPr>
          <p:cNvPr id="418" name="Google Shape;418;p25"/>
          <p:cNvSpPr txBox="1"/>
          <p:nvPr/>
        </p:nvSpPr>
        <p:spPr>
          <a:xfrm>
            <a:off x="1333500" y="3107233"/>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The LLM decides a tool is needed and outputs JSON parameters.</a:t>
            </a:r>
            <a:endParaRPr/>
          </a:p>
        </p:txBody>
      </p:sp>
      <p:sp>
        <p:nvSpPr>
          <p:cNvPr id="419" name="Google Shape;419;p25"/>
          <p:cNvSpPr txBox="1"/>
          <p:nvPr/>
        </p:nvSpPr>
        <p:spPr>
          <a:xfrm>
            <a:off x="7000875" y="2811958"/>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App Interception</a:t>
            </a:r>
            <a:endParaRPr/>
          </a:p>
        </p:txBody>
      </p:sp>
      <p:sp>
        <p:nvSpPr>
          <p:cNvPr id="420" name="Google Shape;420;p25"/>
          <p:cNvSpPr txBox="1"/>
          <p:nvPr/>
        </p:nvSpPr>
        <p:spPr>
          <a:xfrm>
            <a:off x="7000875" y="3107233"/>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Your application code intercepts the JSON and halts the LLM generation.</a:t>
            </a:r>
            <a:endParaRPr/>
          </a:p>
        </p:txBody>
      </p:sp>
      <p:sp>
        <p:nvSpPr>
          <p:cNvPr id="421" name="Google Shape;421;p25"/>
          <p:cNvSpPr txBox="1"/>
          <p:nvPr/>
        </p:nvSpPr>
        <p:spPr>
          <a:xfrm>
            <a:off x="1333500" y="4200525"/>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Local Execution</a:t>
            </a:r>
            <a:endParaRPr/>
          </a:p>
        </p:txBody>
      </p:sp>
      <p:sp>
        <p:nvSpPr>
          <p:cNvPr id="422" name="Google Shape;422;p25"/>
          <p:cNvSpPr txBox="1"/>
          <p:nvPr/>
        </p:nvSpPr>
        <p:spPr>
          <a:xfrm>
            <a:off x="1333500" y="4495800"/>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Your app runs the actual Python function or API call using the provided parameters.</a:t>
            </a:r>
            <a:endParaRPr/>
          </a:p>
        </p:txBody>
      </p:sp>
      <p:sp>
        <p:nvSpPr>
          <p:cNvPr id="423" name="Google Shape;423;p25"/>
          <p:cNvSpPr txBox="1"/>
          <p:nvPr/>
        </p:nvSpPr>
        <p:spPr>
          <a:xfrm>
            <a:off x="7000875" y="4200525"/>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Return Observation</a:t>
            </a:r>
            <a:endParaRPr/>
          </a:p>
        </p:txBody>
      </p:sp>
      <p:sp>
        <p:nvSpPr>
          <p:cNvPr id="424" name="Google Shape;424;p25"/>
          <p:cNvSpPr txBox="1"/>
          <p:nvPr/>
        </p:nvSpPr>
        <p:spPr>
          <a:xfrm>
            <a:off x="7000875" y="4495800"/>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Your app feeds the raw output back to the LLM so it can continue reasoning.</a:t>
            </a:r>
            <a:endParaRPr/>
          </a:p>
        </p:txBody>
      </p:sp>
      <p:sp>
        <p:nvSpPr>
          <p:cNvPr id="425" name="Google Shape;425;p25"/>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6" name="Google Shape;426;p25"/>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The application code acts as the middleman between the LLM brain and the target system.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0" name="Shape 430"/>
        <p:cNvGrpSpPr/>
        <p:nvPr/>
      </p:nvGrpSpPr>
      <p:grpSpPr>
        <a:xfrm>
          <a:off x="0" y="0"/>
          <a:ext cx="0" cy="0"/>
          <a:chOff x="0" y="0"/>
          <a:chExt cx="0" cy="0"/>
        </a:xfrm>
      </p:grpSpPr>
      <p:pic>
        <p:nvPicPr>
          <p:cNvPr descr="image.png" id="431" name="Google Shape;431;p26"/>
          <p:cNvPicPr preferRelativeResize="0"/>
          <p:nvPr/>
        </p:nvPicPr>
        <p:blipFill rotWithShape="1">
          <a:blip r:embed="rId3">
            <a:alphaModFix/>
          </a:blip>
          <a:srcRect b="0" l="0" r="0" t="0"/>
          <a:stretch/>
        </p:blipFill>
        <p:spPr>
          <a:xfrm>
            <a:off x="5257055" y="214312"/>
            <a:ext cx="1677739" cy="333375"/>
          </a:xfrm>
          <a:prstGeom prst="rect">
            <a:avLst/>
          </a:prstGeom>
          <a:noFill/>
          <a:ln>
            <a:noFill/>
          </a:ln>
        </p:spPr>
      </p:pic>
      <p:pic>
        <p:nvPicPr>
          <p:cNvPr descr="image.png" id="432" name="Google Shape;432;p26"/>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433" name="Google Shape;433;p26"/>
          <p:cNvPicPr preferRelativeResize="0"/>
          <p:nvPr/>
        </p:nvPicPr>
        <p:blipFill rotWithShape="1">
          <a:blip r:embed="rId5">
            <a:alphaModFix/>
          </a:blip>
          <a:srcRect b="0" l="0" r="0" t="0"/>
          <a:stretch/>
        </p:blipFill>
        <p:spPr>
          <a:xfrm>
            <a:off x="571500" y="2938462"/>
            <a:ext cx="3524250" cy="1857375"/>
          </a:xfrm>
          <a:prstGeom prst="rect">
            <a:avLst/>
          </a:prstGeom>
          <a:noFill/>
          <a:ln>
            <a:noFill/>
          </a:ln>
        </p:spPr>
      </p:pic>
      <p:pic>
        <p:nvPicPr>
          <p:cNvPr descr="image.png" id="434" name="Google Shape;434;p26"/>
          <p:cNvPicPr preferRelativeResize="0"/>
          <p:nvPr/>
        </p:nvPicPr>
        <p:blipFill rotWithShape="1">
          <a:blip r:embed="rId5">
            <a:alphaModFix/>
          </a:blip>
          <a:srcRect b="0" l="0" r="0" t="0"/>
          <a:stretch/>
        </p:blipFill>
        <p:spPr>
          <a:xfrm>
            <a:off x="4333875" y="2938462"/>
            <a:ext cx="3524250" cy="1857375"/>
          </a:xfrm>
          <a:prstGeom prst="rect">
            <a:avLst/>
          </a:prstGeom>
          <a:noFill/>
          <a:ln>
            <a:noFill/>
          </a:ln>
        </p:spPr>
      </p:pic>
      <p:pic>
        <p:nvPicPr>
          <p:cNvPr descr="image.png" id="435" name="Google Shape;435;p26"/>
          <p:cNvPicPr preferRelativeResize="0"/>
          <p:nvPr/>
        </p:nvPicPr>
        <p:blipFill rotWithShape="1">
          <a:blip r:embed="rId6">
            <a:alphaModFix/>
          </a:blip>
          <a:srcRect b="0" l="0" r="0" t="0"/>
          <a:stretch/>
        </p:blipFill>
        <p:spPr>
          <a:xfrm>
            <a:off x="8096250" y="2938462"/>
            <a:ext cx="3524250" cy="1857375"/>
          </a:xfrm>
          <a:prstGeom prst="rect">
            <a:avLst/>
          </a:prstGeom>
          <a:noFill/>
          <a:ln>
            <a:noFill/>
          </a:ln>
        </p:spPr>
      </p:pic>
      <p:sp>
        <p:nvSpPr>
          <p:cNvPr id="436" name="Google Shape;436;p26"/>
          <p:cNvSpPr txBox="1"/>
          <p:nvPr/>
        </p:nvSpPr>
        <p:spPr>
          <a:xfrm>
            <a:off x="6934795" y="295275"/>
            <a:ext cx="4876204"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14</a:t>
            </a:r>
            <a:endParaRPr/>
          </a:p>
        </p:txBody>
      </p:sp>
      <p:sp>
        <p:nvSpPr>
          <p:cNvPr id="437" name="Google Shape;437;p26"/>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Common Tool Categories</a:t>
            </a:r>
            <a:endParaRPr/>
          </a:p>
        </p:txBody>
      </p:sp>
      <p:sp>
        <p:nvSpPr>
          <p:cNvPr id="438" name="Google Shape;438;p26"/>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39" name="Google Shape;439;p26"/>
          <p:cNvPicPr preferRelativeResize="0"/>
          <p:nvPr/>
        </p:nvPicPr>
        <p:blipFill rotWithShape="1">
          <a:blip r:embed="rId7">
            <a:alphaModFix/>
          </a:blip>
          <a:srcRect b="0" l="0" r="0" t="0"/>
          <a:stretch/>
        </p:blipFill>
        <p:spPr>
          <a:xfrm>
            <a:off x="2105025" y="3186112"/>
            <a:ext cx="457200" cy="457200"/>
          </a:xfrm>
          <a:prstGeom prst="rect">
            <a:avLst/>
          </a:prstGeom>
          <a:noFill/>
          <a:ln>
            <a:noFill/>
          </a:ln>
        </p:spPr>
      </p:pic>
      <p:sp>
        <p:nvSpPr>
          <p:cNvPr id="440" name="Google Shape;440;p26"/>
          <p:cNvSpPr txBox="1"/>
          <p:nvPr/>
        </p:nvSpPr>
        <p:spPr>
          <a:xfrm>
            <a:off x="743426" y="3833812"/>
            <a:ext cx="3180397"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Web Search</a:t>
            </a:r>
            <a:endParaRPr/>
          </a:p>
        </p:txBody>
      </p:sp>
      <p:sp>
        <p:nvSpPr>
          <p:cNvPr id="441" name="Google Shape;441;p26"/>
          <p:cNvSpPr txBox="1"/>
          <p:nvPr/>
        </p:nvSpPr>
        <p:spPr>
          <a:xfrm>
            <a:off x="819150" y="4148137"/>
            <a:ext cx="3028950"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Tavily or DuckDuckGo wrappers to bypass knowledge cutoff dates.</a:t>
            </a:r>
            <a:endParaRPr/>
          </a:p>
        </p:txBody>
      </p:sp>
      <p:pic>
        <p:nvPicPr>
          <p:cNvPr descr="image.png" id="442" name="Google Shape;442;p26"/>
          <p:cNvPicPr preferRelativeResize="0"/>
          <p:nvPr/>
        </p:nvPicPr>
        <p:blipFill rotWithShape="1">
          <a:blip r:embed="rId8">
            <a:alphaModFix/>
          </a:blip>
          <a:srcRect b="0" l="0" r="0" t="0"/>
          <a:stretch/>
        </p:blipFill>
        <p:spPr>
          <a:xfrm>
            <a:off x="5924550" y="3186112"/>
            <a:ext cx="342900" cy="457200"/>
          </a:xfrm>
          <a:prstGeom prst="rect">
            <a:avLst/>
          </a:prstGeom>
          <a:noFill/>
          <a:ln>
            <a:noFill/>
          </a:ln>
        </p:spPr>
      </p:pic>
      <p:sp>
        <p:nvSpPr>
          <p:cNvPr id="443" name="Google Shape;443;p26"/>
          <p:cNvSpPr txBox="1"/>
          <p:nvPr/>
        </p:nvSpPr>
        <p:spPr>
          <a:xfrm>
            <a:off x="4505801" y="3833812"/>
            <a:ext cx="3180397"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Math Engines</a:t>
            </a:r>
            <a:endParaRPr/>
          </a:p>
        </p:txBody>
      </p:sp>
      <p:sp>
        <p:nvSpPr>
          <p:cNvPr id="444" name="Google Shape;444;p26"/>
          <p:cNvSpPr txBox="1"/>
          <p:nvPr/>
        </p:nvSpPr>
        <p:spPr>
          <a:xfrm>
            <a:off x="4581525" y="4148137"/>
            <a:ext cx="3028950"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Python REPL or calculators to prevent arithmetic hallucinations.</a:t>
            </a:r>
            <a:endParaRPr/>
          </a:p>
        </p:txBody>
      </p:sp>
      <p:pic>
        <p:nvPicPr>
          <p:cNvPr descr="image.png" id="445" name="Google Shape;445;p26"/>
          <p:cNvPicPr preferRelativeResize="0"/>
          <p:nvPr/>
        </p:nvPicPr>
        <p:blipFill rotWithShape="1">
          <a:blip r:embed="rId9">
            <a:alphaModFix/>
          </a:blip>
          <a:srcRect b="0" l="0" r="0" t="0"/>
          <a:stretch/>
        </p:blipFill>
        <p:spPr>
          <a:xfrm>
            <a:off x="9658350" y="3186112"/>
            <a:ext cx="400050" cy="457200"/>
          </a:xfrm>
          <a:prstGeom prst="rect">
            <a:avLst/>
          </a:prstGeom>
          <a:noFill/>
          <a:ln>
            <a:noFill/>
          </a:ln>
        </p:spPr>
      </p:pic>
      <p:sp>
        <p:nvSpPr>
          <p:cNvPr id="446" name="Google Shape;446;p26"/>
          <p:cNvSpPr txBox="1"/>
          <p:nvPr/>
        </p:nvSpPr>
        <p:spPr>
          <a:xfrm>
            <a:off x="8268176" y="3833812"/>
            <a:ext cx="3180397"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RAG Retrieval</a:t>
            </a:r>
            <a:endParaRPr/>
          </a:p>
        </p:txBody>
      </p:sp>
      <p:sp>
        <p:nvSpPr>
          <p:cNvPr id="447" name="Google Shape;447;p26"/>
          <p:cNvSpPr txBox="1"/>
          <p:nvPr/>
        </p:nvSpPr>
        <p:spPr>
          <a:xfrm>
            <a:off x="8343900" y="4148137"/>
            <a:ext cx="3028950"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Tools linked to internal vector databases for corporate knowledge.</a:t>
            </a:r>
            <a:endParaRPr/>
          </a:p>
        </p:txBody>
      </p:sp>
      <p:sp>
        <p:nvSpPr>
          <p:cNvPr id="448" name="Google Shape;448;p26"/>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26"/>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Supply only the specific tools required for the task to avoid confusing the agent.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3" name="Shape 453"/>
        <p:cNvGrpSpPr/>
        <p:nvPr/>
      </p:nvGrpSpPr>
      <p:grpSpPr>
        <a:xfrm>
          <a:off x="0" y="0"/>
          <a:ext cx="0" cy="0"/>
          <a:chOff x="0" y="0"/>
          <a:chExt cx="0" cy="0"/>
        </a:xfrm>
      </p:grpSpPr>
      <p:pic>
        <p:nvPicPr>
          <p:cNvPr descr="image.png" id="454" name="Google Shape;454;p27"/>
          <p:cNvPicPr preferRelativeResize="0"/>
          <p:nvPr/>
        </p:nvPicPr>
        <p:blipFill rotWithShape="1">
          <a:blip r:embed="rId3">
            <a:alphaModFix/>
          </a:blip>
          <a:srcRect b="0" l="0" r="0" t="0"/>
          <a:stretch/>
        </p:blipFill>
        <p:spPr>
          <a:xfrm>
            <a:off x="5257055" y="214312"/>
            <a:ext cx="1677739" cy="333375"/>
          </a:xfrm>
          <a:prstGeom prst="rect">
            <a:avLst/>
          </a:prstGeom>
          <a:noFill/>
          <a:ln>
            <a:noFill/>
          </a:ln>
        </p:spPr>
      </p:pic>
      <p:pic>
        <p:nvPicPr>
          <p:cNvPr descr="image.png" id="455" name="Google Shape;455;p27"/>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sp>
        <p:nvSpPr>
          <p:cNvPr id="456" name="Google Shape;456;p27"/>
          <p:cNvSpPr txBox="1"/>
          <p:nvPr/>
        </p:nvSpPr>
        <p:spPr>
          <a:xfrm>
            <a:off x="6934795" y="295275"/>
            <a:ext cx="4876200" cy="1848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15</a:t>
            </a:r>
            <a:endParaRPr/>
          </a:p>
        </p:txBody>
      </p:sp>
      <p:sp>
        <p:nvSpPr>
          <p:cNvPr id="457" name="Google Shape;457;p27"/>
          <p:cNvSpPr txBox="1"/>
          <p:nvPr/>
        </p:nvSpPr>
        <p:spPr>
          <a:xfrm>
            <a:off x="571500" y="95250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Passing Arguments</a:t>
            </a:r>
            <a:endParaRPr/>
          </a:p>
        </p:txBody>
      </p:sp>
      <p:sp>
        <p:nvSpPr>
          <p:cNvPr id="458" name="Google Shape;458;p27"/>
          <p:cNvSpPr/>
          <p:nvPr/>
        </p:nvSpPr>
        <p:spPr>
          <a:xfrm>
            <a:off x="381000" y="304800"/>
            <a:ext cx="28590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459" name="Google Shape;459;p27"/>
          <p:cNvGrpSpPr/>
          <p:nvPr/>
        </p:nvGrpSpPr>
        <p:grpSpPr>
          <a:xfrm>
            <a:off x="571500" y="1524000"/>
            <a:ext cx="11049000" cy="381000"/>
            <a:chOff x="0" y="0"/>
            <a:chExt cx="11049000" cy="381000"/>
          </a:xfrm>
        </p:grpSpPr>
        <p:sp>
          <p:nvSpPr>
            <p:cNvPr id="460" name="Google Shape;460;p27"/>
            <p:cNvSpPr/>
            <p:nvPr/>
          </p:nvSpPr>
          <p:spPr>
            <a:xfrm>
              <a:off x="0" y="0"/>
              <a:ext cx="11049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27"/>
            <p:cNvSpPr txBox="1"/>
            <p:nvPr/>
          </p:nvSpPr>
          <p:spPr>
            <a:xfrm>
              <a:off x="0" y="0"/>
              <a:ext cx="11049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1500">
                  <a:solidFill>
                    <a:srgbClr val="475569"/>
                  </a:solidFill>
                  <a:latin typeface="Arial"/>
                  <a:ea typeface="Arial"/>
                  <a:cs typeface="Arial"/>
                  <a:sym typeface="Arial"/>
                </a:rPr>
                <a:t>The most common point of failure in tool calling is incorrect argument passing.</a:t>
              </a:r>
              <a:endParaRPr sz="1500">
                <a:solidFill>
                  <a:srgbClr val="475569"/>
                </a:solidFill>
                <a:latin typeface="Arial"/>
                <a:ea typeface="Arial"/>
                <a:cs typeface="Arial"/>
                <a:sym typeface="Arial"/>
              </a:endParaRPr>
            </a:p>
          </p:txBody>
        </p:sp>
      </p:grpSp>
      <p:grpSp>
        <p:nvGrpSpPr>
          <p:cNvPr id="462" name="Google Shape;462;p27"/>
          <p:cNvGrpSpPr/>
          <p:nvPr/>
        </p:nvGrpSpPr>
        <p:grpSpPr>
          <a:xfrm>
            <a:off x="571500" y="2190750"/>
            <a:ext cx="3429000" cy="3333900"/>
            <a:chOff x="0" y="0"/>
            <a:chExt cx="3429000" cy="3333900"/>
          </a:xfrm>
        </p:grpSpPr>
        <p:sp>
          <p:nvSpPr>
            <p:cNvPr id="463" name="Google Shape;463;p27"/>
            <p:cNvSpPr/>
            <p:nvPr/>
          </p:nvSpPr>
          <p:spPr>
            <a:xfrm>
              <a:off x="0" y="0"/>
              <a:ext cx="3429000" cy="3333900"/>
            </a:xfrm>
            <a:prstGeom prst="roundRect">
              <a:avLst>
                <a:gd fmla="val 457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27"/>
            <p:cNvSpPr/>
            <p:nvPr/>
          </p:nvSpPr>
          <p:spPr>
            <a:xfrm>
              <a:off x="304800" y="304800"/>
              <a:ext cx="457200" cy="457200"/>
            </a:xfrm>
            <a:prstGeom prst="ellipse">
              <a:avLst/>
            </a:prstGeom>
            <a:solidFill>
              <a:srgbClr val="166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27"/>
            <p:cNvSpPr txBox="1"/>
            <p:nvPr/>
          </p:nvSpPr>
          <p:spPr>
            <a:xfrm>
              <a:off x="304800" y="304800"/>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Arial"/>
                  <a:ea typeface="Arial"/>
                  <a:cs typeface="Arial"/>
                  <a:sym typeface="Arial"/>
                </a:rPr>
                <a:t>01</a:t>
              </a:r>
              <a:endParaRPr b="1" sz="1400">
                <a:solidFill>
                  <a:srgbClr val="FFFFFF"/>
                </a:solidFill>
                <a:latin typeface="Arial"/>
                <a:ea typeface="Arial"/>
                <a:cs typeface="Arial"/>
                <a:sym typeface="Arial"/>
              </a:endParaRPr>
            </a:p>
          </p:txBody>
        </p:sp>
        <p:sp>
          <p:nvSpPr>
            <p:cNvPr id="466" name="Google Shape;466;p27"/>
            <p:cNvSpPr txBox="1"/>
            <p:nvPr/>
          </p:nvSpPr>
          <p:spPr>
            <a:xfrm>
              <a:off x="304800" y="990600"/>
              <a:ext cx="28194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800">
                  <a:solidFill>
                    <a:srgbClr val="0F172A"/>
                  </a:solidFill>
                  <a:latin typeface="Arial"/>
                  <a:ea typeface="Arial"/>
                  <a:cs typeface="Arial"/>
                  <a:sym typeface="Arial"/>
                </a:rPr>
                <a:t>Data Typing</a:t>
              </a:r>
              <a:endParaRPr b="1" sz="1800">
                <a:solidFill>
                  <a:srgbClr val="0F172A"/>
                </a:solidFill>
                <a:latin typeface="Arial"/>
                <a:ea typeface="Arial"/>
                <a:cs typeface="Arial"/>
                <a:sym typeface="Arial"/>
              </a:endParaRPr>
            </a:p>
          </p:txBody>
        </p:sp>
        <p:sp>
          <p:nvSpPr>
            <p:cNvPr id="467" name="Google Shape;467;p27"/>
            <p:cNvSpPr txBox="1"/>
            <p:nvPr/>
          </p:nvSpPr>
          <p:spPr>
            <a:xfrm>
              <a:off x="304800" y="1485900"/>
              <a:ext cx="28194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350">
                  <a:solidFill>
                    <a:srgbClr val="334155"/>
                  </a:solidFill>
                  <a:latin typeface="Arial"/>
                  <a:ea typeface="Arial"/>
                  <a:cs typeface="Arial"/>
                  <a:sym typeface="Arial"/>
                </a:rPr>
                <a:t>If an API expects an integer, the LLM must not send a string.</a:t>
              </a:r>
              <a:endParaRPr sz="1350">
                <a:solidFill>
                  <a:srgbClr val="334155"/>
                </a:solidFill>
                <a:latin typeface="Arial"/>
                <a:ea typeface="Arial"/>
                <a:cs typeface="Arial"/>
                <a:sym typeface="Arial"/>
              </a:endParaRPr>
            </a:p>
          </p:txBody>
        </p:sp>
      </p:grpSp>
      <p:grpSp>
        <p:nvGrpSpPr>
          <p:cNvPr id="468" name="Google Shape;468;p27"/>
          <p:cNvGrpSpPr/>
          <p:nvPr/>
        </p:nvGrpSpPr>
        <p:grpSpPr>
          <a:xfrm>
            <a:off x="4381500" y="2190750"/>
            <a:ext cx="3429000" cy="3333900"/>
            <a:chOff x="0" y="0"/>
            <a:chExt cx="3429000" cy="3333900"/>
          </a:xfrm>
        </p:grpSpPr>
        <p:sp>
          <p:nvSpPr>
            <p:cNvPr id="469" name="Google Shape;469;p27"/>
            <p:cNvSpPr/>
            <p:nvPr/>
          </p:nvSpPr>
          <p:spPr>
            <a:xfrm>
              <a:off x="0" y="0"/>
              <a:ext cx="3429000" cy="3333900"/>
            </a:xfrm>
            <a:prstGeom prst="roundRect">
              <a:avLst>
                <a:gd fmla="val 457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27"/>
            <p:cNvSpPr/>
            <p:nvPr/>
          </p:nvSpPr>
          <p:spPr>
            <a:xfrm>
              <a:off x="304800" y="304800"/>
              <a:ext cx="457200" cy="457200"/>
            </a:xfrm>
            <a:prstGeom prst="ellipse">
              <a:avLst/>
            </a:prstGeom>
            <a:solidFill>
              <a:srgbClr val="166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27"/>
            <p:cNvSpPr txBox="1"/>
            <p:nvPr/>
          </p:nvSpPr>
          <p:spPr>
            <a:xfrm>
              <a:off x="304800" y="304800"/>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Arial"/>
                  <a:ea typeface="Arial"/>
                  <a:cs typeface="Arial"/>
                  <a:sym typeface="Arial"/>
                </a:rPr>
                <a:t>02</a:t>
              </a:r>
              <a:endParaRPr b="1" sz="1400">
                <a:solidFill>
                  <a:srgbClr val="FFFFFF"/>
                </a:solidFill>
                <a:latin typeface="Arial"/>
                <a:ea typeface="Arial"/>
                <a:cs typeface="Arial"/>
                <a:sym typeface="Arial"/>
              </a:endParaRPr>
            </a:p>
          </p:txBody>
        </p:sp>
        <p:sp>
          <p:nvSpPr>
            <p:cNvPr id="472" name="Google Shape;472;p27"/>
            <p:cNvSpPr txBox="1"/>
            <p:nvPr/>
          </p:nvSpPr>
          <p:spPr>
            <a:xfrm>
              <a:off x="304800" y="990600"/>
              <a:ext cx="28194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800">
                  <a:solidFill>
                    <a:srgbClr val="0F172A"/>
                  </a:solidFill>
                  <a:latin typeface="Arial"/>
                  <a:ea typeface="Arial"/>
                  <a:cs typeface="Arial"/>
                  <a:sym typeface="Arial"/>
                </a:rPr>
                <a:t>Descriptions Help</a:t>
              </a:r>
              <a:endParaRPr b="1" sz="1800">
                <a:solidFill>
                  <a:srgbClr val="0F172A"/>
                </a:solidFill>
                <a:latin typeface="Arial"/>
                <a:ea typeface="Arial"/>
                <a:cs typeface="Arial"/>
                <a:sym typeface="Arial"/>
              </a:endParaRPr>
            </a:p>
          </p:txBody>
        </p:sp>
        <p:sp>
          <p:nvSpPr>
            <p:cNvPr id="473" name="Google Shape;473;p27"/>
            <p:cNvSpPr txBox="1"/>
            <p:nvPr/>
          </p:nvSpPr>
          <p:spPr>
            <a:xfrm>
              <a:off x="304800" y="1485900"/>
              <a:ext cx="28194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350">
                  <a:solidFill>
                    <a:srgbClr val="334155"/>
                  </a:solidFill>
                  <a:latin typeface="Arial"/>
                  <a:ea typeface="Arial"/>
                  <a:cs typeface="Arial"/>
                  <a:sym typeface="Arial"/>
                </a:rPr>
                <a:t>Be explicit in descriptions: </a:t>
              </a:r>
              <a:r>
                <a:rPr i="1" lang="en-US" sz="1350">
                  <a:solidFill>
                    <a:srgbClr val="475569"/>
                  </a:solidFill>
                  <a:latin typeface="Arial"/>
                  <a:ea typeface="Arial"/>
                  <a:cs typeface="Arial"/>
                  <a:sym typeface="Arial"/>
                </a:rPr>
                <a:t>"Pass dates strictly in YYYY-MM-DD format."</a:t>
              </a:r>
              <a:endParaRPr sz="1350">
                <a:solidFill>
                  <a:srgbClr val="334155"/>
                </a:solidFill>
                <a:latin typeface="Arial"/>
                <a:ea typeface="Arial"/>
                <a:cs typeface="Arial"/>
                <a:sym typeface="Arial"/>
              </a:endParaRPr>
            </a:p>
          </p:txBody>
        </p:sp>
      </p:grpSp>
      <p:grpSp>
        <p:nvGrpSpPr>
          <p:cNvPr id="474" name="Google Shape;474;p27"/>
          <p:cNvGrpSpPr/>
          <p:nvPr/>
        </p:nvGrpSpPr>
        <p:grpSpPr>
          <a:xfrm>
            <a:off x="8191500" y="2190750"/>
            <a:ext cx="3429000" cy="3333900"/>
            <a:chOff x="0" y="0"/>
            <a:chExt cx="3429000" cy="3333900"/>
          </a:xfrm>
        </p:grpSpPr>
        <p:sp>
          <p:nvSpPr>
            <p:cNvPr id="475" name="Google Shape;475;p27"/>
            <p:cNvSpPr/>
            <p:nvPr/>
          </p:nvSpPr>
          <p:spPr>
            <a:xfrm>
              <a:off x="0" y="0"/>
              <a:ext cx="3429000" cy="3333900"/>
            </a:xfrm>
            <a:prstGeom prst="roundRect">
              <a:avLst>
                <a:gd fmla="val 457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27"/>
            <p:cNvSpPr/>
            <p:nvPr/>
          </p:nvSpPr>
          <p:spPr>
            <a:xfrm>
              <a:off x="304800" y="304800"/>
              <a:ext cx="457200" cy="457200"/>
            </a:xfrm>
            <a:prstGeom prst="ellipse">
              <a:avLst/>
            </a:prstGeom>
            <a:solidFill>
              <a:srgbClr val="16653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27"/>
            <p:cNvSpPr txBox="1"/>
            <p:nvPr/>
          </p:nvSpPr>
          <p:spPr>
            <a:xfrm>
              <a:off x="304800" y="304800"/>
              <a:ext cx="4572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Arial"/>
                  <a:ea typeface="Arial"/>
                  <a:cs typeface="Arial"/>
                  <a:sym typeface="Arial"/>
                </a:rPr>
                <a:t>03</a:t>
              </a:r>
              <a:endParaRPr b="1" sz="1400">
                <a:solidFill>
                  <a:srgbClr val="FFFFFF"/>
                </a:solidFill>
                <a:latin typeface="Arial"/>
                <a:ea typeface="Arial"/>
                <a:cs typeface="Arial"/>
                <a:sym typeface="Arial"/>
              </a:endParaRPr>
            </a:p>
          </p:txBody>
        </p:sp>
        <p:sp>
          <p:nvSpPr>
            <p:cNvPr id="478" name="Google Shape;478;p27"/>
            <p:cNvSpPr txBox="1"/>
            <p:nvPr/>
          </p:nvSpPr>
          <p:spPr>
            <a:xfrm>
              <a:off x="304800" y="990600"/>
              <a:ext cx="28194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800">
                  <a:solidFill>
                    <a:srgbClr val="0F172A"/>
                  </a:solidFill>
                  <a:latin typeface="Arial"/>
                  <a:ea typeface="Arial"/>
                  <a:cs typeface="Arial"/>
                  <a:sym typeface="Arial"/>
                </a:rPr>
                <a:t>Validation</a:t>
              </a:r>
              <a:endParaRPr b="1" sz="1800">
                <a:solidFill>
                  <a:srgbClr val="0F172A"/>
                </a:solidFill>
                <a:latin typeface="Arial"/>
                <a:ea typeface="Arial"/>
                <a:cs typeface="Arial"/>
                <a:sym typeface="Arial"/>
              </a:endParaRPr>
            </a:p>
          </p:txBody>
        </p:sp>
        <p:sp>
          <p:nvSpPr>
            <p:cNvPr id="479" name="Google Shape;479;p27"/>
            <p:cNvSpPr txBox="1"/>
            <p:nvPr/>
          </p:nvSpPr>
          <p:spPr>
            <a:xfrm>
              <a:off x="304800" y="1485900"/>
              <a:ext cx="28194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350">
                  <a:solidFill>
                    <a:srgbClr val="334155"/>
                  </a:solidFill>
                  <a:latin typeface="Arial"/>
                  <a:ea typeface="Arial"/>
                  <a:cs typeface="Arial"/>
                  <a:sym typeface="Arial"/>
                </a:rPr>
                <a:t>Always use Pydantic models (in Python) to validate arguments before execution.</a:t>
              </a:r>
              <a:endParaRPr sz="1350">
                <a:solidFill>
                  <a:srgbClr val="334155"/>
                </a:solidFill>
                <a:latin typeface="Arial"/>
                <a:ea typeface="Arial"/>
                <a:cs typeface="Arial"/>
                <a:sym typeface="Arial"/>
              </a:endParaRPr>
            </a:p>
          </p:txBody>
        </p:sp>
      </p:grpSp>
      <p:sp>
        <p:nvSpPr>
          <p:cNvPr id="480" name="Google Shape;480;p27"/>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27"/>
          <p:cNvSpPr txBox="1"/>
          <p:nvPr/>
        </p:nvSpPr>
        <p:spPr>
          <a:xfrm>
            <a:off x="381000" y="6286500"/>
            <a:ext cx="114300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Strict schema validation protects your external APIs from bad inputs generated by LLMs.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pic>
        <p:nvPicPr>
          <p:cNvPr descr="image.png" id="486" name="Google Shape;486;p28"/>
          <p:cNvPicPr preferRelativeResize="0"/>
          <p:nvPr/>
        </p:nvPicPr>
        <p:blipFill rotWithShape="1">
          <a:blip r:embed="rId3">
            <a:alphaModFix/>
          </a:blip>
          <a:srcRect b="0" l="0" r="0" t="0"/>
          <a:stretch/>
        </p:blipFill>
        <p:spPr>
          <a:xfrm>
            <a:off x="5257055" y="214312"/>
            <a:ext cx="1677739" cy="333375"/>
          </a:xfrm>
          <a:prstGeom prst="rect">
            <a:avLst/>
          </a:prstGeom>
          <a:noFill/>
          <a:ln>
            <a:noFill/>
          </a:ln>
        </p:spPr>
      </p:pic>
      <p:pic>
        <p:nvPicPr>
          <p:cNvPr descr="image.png" id="487" name="Google Shape;487;p28"/>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488" name="Google Shape;488;p28"/>
          <p:cNvPicPr preferRelativeResize="0"/>
          <p:nvPr/>
        </p:nvPicPr>
        <p:blipFill rotWithShape="1">
          <a:blip r:embed="rId5">
            <a:alphaModFix/>
          </a:blip>
          <a:srcRect b="0" l="0" r="0" t="0"/>
          <a:stretch/>
        </p:blipFill>
        <p:spPr>
          <a:xfrm>
            <a:off x="571500" y="1638300"/>
            <a:ext cx="5286375" cy="4457700"/>
          </a:xfrm>
          <a:prstGeom prst="rect">
            <a:avLst/>
          </a:prstGeom>
          <a:noFill/>
          <a:ln>
            <a:noFill/>
          </a:ln>
        </p:spPr>
      </p:pic>
      <p:pic>
        <p:nvPicPr>
          <p:cNvPr descr="image.png" id="489" name="Google Shape;489;p28"/>
          <p:cNvPicPr preferRelativeResize="0"/>
          <p:nvPr/>
        </p:nvPicPr>
        <p:blipFill rotWithShape="1">
          <a:blip r:embed="rId6">
            <a:alphaModFix/>
          </a:blip>
          <a:srcRect b="0" l="0" r="0" t="0"/>
          <a:stretch/>
        </p:blipFill>
        <p:spPr>
          <a:xfrm>
            <a:off x="6334125" y="1638300"/>
            <a:ext cx="5286375" cy="4457700"/>
          </a:xfrm>
          <a:prstGeom prst="rect">
            <a:avLst/>
          </a:prstGeom>
          <a:noFill/>
          <a:ln>
            <a:noFill/>
          </a:ln>
        </p:spPr>
      </p:pic>
      <p:sp>
        <p:nvSpPr>
          <p:cNvPr id="490" name="Google Shape;490;p28"/>
          <p:cNvSpPr txBox="1"/>
          <p:nvPr/>
        </p:nvSpPr>
        <p:spPr>
          <a:xfrm>
            <a:off x="6934795" y="295275"/>
            <a:ext cx="4876204"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16</a:t>
            </a:r>
            <a:endParaRPr/>
          </a:p>
        </p:txBody>
      </p:sp>
      <p:sp>
        <p:nvSpPr>
          <p:cNvPr id="491" name="Google Shape;491;p28"/>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Static vs Dynamic Tools</a:t>
            </a:r>
            <a:endParaRPr/>
          </a:p>
        </p:txBody>
      </p:sp>
      <p:sp>
        <p:nvSpPr>
          <p:cNvPr id="492" name="Google Shape;492;p28"/>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28"/>
          <p:cNvSpPr txBox="1"/>
          <p:nvPr/>
        </p:nvSpPr>
        <p:spPr>
          <a:xfrm>
            <a:off x="857250" y="1924050"/>
            <a:ext cx="1342667"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Arial"/>
                <a:ea typeface="Arial"/>
                <a:cs typeface="Arial"/>
                <a:sym typeface="Arial"/>
              </a:rPr>
              <a:t>Static Tools</a:t>
            </a:r>
            <a:endParaRPr/>
          </a:p>
        </p:txBody>
      </p:sp>
      <p:sp>
        <p:nvSpPr>
          <p:cNvPr id="494" name="Google Shape;494;p28"/>
          <p:cNvSpPr/>
          <p:nvPr/>
        </p:nvSpPr>
        <p:spPr>
          <a:xfrm>
            <a:off x="857250" y="2238375"/>
            <a:ext cx="1278731" cy="19050"/>
          </a:xfrm>
          <a:prstGeom prst="rect">
            <a:avLst/>
          </a:prstGeom>
          <a:solidFill>
            <a:srgbClr val="1665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28"/>
          <p:cNvSpPr txBox="1"/>
          <p:nvPr/>
        </p:nvSpPr>
        <p:spPr>
          <a:xfrm>
            <a:off x="857250" y="2400300"/>
            <a:ext cx="47148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Pre-compiled tools hardcoded into the agent logic (e.g., a specific Calculator tool).</a:t>
            </a:r>
            <a:endParaRPr/>
          </a:p>
        </p:txBody>
      </p:sp>
      <p:sp>
        <p:nvSpPr>
          <p:cNvPr id="496" name="Google Shape;496;p28"/>
          <p:cNvSpPr txBox="1"/>
          <p:nvPr/>
        </p:nvSpPr>
        <p:spPr>
          <a:xfrm>
            <a:off x="857250" y="3057525"/>
            <a:ext cx="47148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Safe, predictable, and easy to secure. Recommended for production enterprise environments.</a:t>
            </a:r>
            <a:endParaRPr/>
          </a:p>
        </p:txBody>
      </p:sp>
      <p:sp>
        <p:nvSpPr>
          <p:cNvPr id="497" name="Google Shape;497;p28"/>
          <p:cNvSpPr txBox="1"/>
          <p:nvPr/>
        </p:nvSpPr>
        <p:spPr>
          <a:xfrm>
            <a:off x="6619875" y="1924050"/>
            <a:ext cx="2214339"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Arial"/>
                <a:ea typeface="Arial"/>
                <a:cs typeface="Arial"/>
                <a:sym typeface="Arial"/>
              </a:rPr>
              <a:t>Dynamic Execution</a:t>
            </a:r>
            <a:endParaRPr/>
          </a:p>
        </p:txBody>
      </p:sp>
      <p:sp>
        <p:nvSpPr>
          <p:cNvPr id="498" name="Google Shape;498;p28"/>
          <p:cNvSpPr/>
          <p:nvPr/>
        </p:nvSpPr>
        <p:spPr>
          <a:xfrm>
            <a:off x="6619875" y="2238375"/>
            <a:ext cx="2108894" cy="19050"/>
          </a:xfrm>
          <a:prstGeom prst="rect">
            <a:avLst/>
          </a:prstGeom>
          <a:solidFill>
            <a:srgbClr val="1665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28"/>
          <p:cNvSpPr txBox="1"/>
          <p:nvPr/>
        </p:nvSpPr>
        <p:spPr>
          <a:xfrm>
            <a:off x="6619875" y="2400300"/>
            <a:ext cx="47148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Allowing the agent to write arbitrary Python code and execute it on the fly.</a:t>
            </a:r>
            <a:endParaRPr/>
          </a:p>
        </p:txBody>
      </p:sp>
      <p:sp>
        <p:nvSpPr>
          <p:cNvPr id="500" name="Google Shape;500;p28"/>
          <p:cNvSpPr txBox="1"/>
          <p:nvPr/>
        </p:nvSpPr>
        <p:spPr>
          <a:xfrm>
            <a:off x="6619875" y="3057525"/>
            <a:ext cx="47148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Extremely powerful but highly dangerous without strict sandboxing and containerization.</a:t>
            </a:r>
            <a:endParaRPr/>
          </a:p>
        </p:txBody>
      </p:sp>
      <p:sp>
        <p:nvSpPr>
          <p:cNvPr id="501" name="Google Shape;501;p28"/>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28"/>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Default to static APIs. Only use dynamic execution for advanced data analysis workflows.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6" name="Shape 506"/>
        <p:cNvGrpSpPr/>
        <p:nvPr/>
      </p:nvGrpSpPr>
      <p:grpSpPr>
        <a:xfrm>
          <a:off x="0" y="0"/>
          <a:ext cx="0" cy="0"/>
          <a:chOff x="0" y="0"/>
          <a:chExt cx="0" cy="0"/>
        </a:xfrm>
      </p:grpSpPr>
      <p:pic>
        <p:nvPicPr>
          <p:cNvPr descr="image.png" id="507" name="Google Shape;507;p29"/>
          <p:cNvPicPr preferRelativeResize="0"/>
          <p:nvPr/>
        </p:nvPicPr>
        <p:blipFill rotWithShape="1">
          <a:blip r:embed="rId3">
            <a:alphaModFix/>
          </a:blip>
          <a:srcRect b="0" l="0" r="0" t="0"/>
          <a:stretch/>
        </p:blipFill>
        <p:spPr>
          <a:xfrm>
            <a:off x="5149601" y="214312"/>
            <a:ext cx="1892647" cy="333375"/>
          </a:xfrm>
          <a:prstGeom prst="rect">
            <a:avLst/>
          </a:prstGeom>
          <a:noFill/>
          <a:ln>
            <a:noFill/>
          </a:ln>
        </p:spPr>
      </p:pic>
      <p:pic>
        <p:nvPicPr>
          <p:cNvPr descr="image.png" id="508" name="Google Shape;508;p29"/>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sp>
        <p:nvSpPr>
          <p:cNvPr id="509" name="Google Shape;509;p29"/>
          <p:cNvSpPr txBox="1"/>
          <p:nvPr/>
        </p:nvSpPr>
        <p:spPr>
          <a:xfrm>
            <a:off x="7042249" y="295275"/>
            <a:ext cx="476875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17</a:t>
            </a:r>
            <a:endParaRPr/>
          </a:p>
        </p:txBody>
      </p:sp>
      <p:sp>
        <p:nvSpPr>
          <p:cNvPr id="510" name="Google Shape;510;p29"/>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29"/>
          <p:cNvSpPr txBox="1"/>
          <p:nvPr/>
        </p:nvSpPr>
        <p:spPr>
          <a:xfrm>
            <a:off x="2859345" y="2819400"/>
            <a:ext cx="6473309" cy="704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0F172A"/>
                </a:solidFill>
                <a:latin typeface="Arial"/>
                <a:ea typeface="Arial"/>
                <a:cs typeface="Arial"/>
                <a:sym typeface="Arial"/>
              </a:rPr>
              <a:t>Feedback &amp; Planning</a:t>
            </a:r>
            <a:endParaRPr/>
          </a:p>
        </p:txBody>
      </p:sp>
      <p:sp>
        <p:nvSpPr>
          <p:cNvPr id="512" name="Google Shape;512;p29"/>
          <p:cNvSpPr/>
          <p:nvPr/>
        </p:nvSpPr>
        <p:spPr>
          <a:xfrm>
            <a:off x="5524500" y="3714750"/>
            <a:ext cx="1143000" cy="57150"/>
          </a:xfrm>
          <a:prstGeom prst="roundRect">
            <a:avLst>
              <a:gd fmla="val 50000" name="adj"/>
            </a:avLst>
          </a:prstGeom>
          <a:solidFill>
            <a:srgbClr val="1665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3" name="Google Shape;513;p29"/>
          <p:cNvSpPr txBox="1"/>
          <p:nvPr/>
        </p:nvSpPr>
        <p:spPr>
          <a:xfrm>
            <a:off x="4158257" y="3962400"/>
            <a:ext cx="3875484"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64748B"/>
                </a:solidFill>
                <a:latin typeface="Arial"/>
                <a:ea typeface="Arial"/>
                <a:cs typeface="Arial"/>
                <a:sym typeface="Arial"/>
              </a:rPr>
              <a:t>Orchestrating autonomous logic flows.</a:t>
            </a:r>
            <a:endParaRPr/>
          </a:p>
        </p:txBody>
      </p:sp>
      <p:sp>
        <p:nvSpPr>
          <p:cNvPr id="514" name="Google Shape;514;p29"/>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Google Shape;515;p29"/>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Agents reach their goals by constantly evaluating their current state.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9" name="Shape 519"/>
        <p:cNvGrpSpPr/>
        <p:nvPr/>
      </p:nvGrpSpPr>
      <p:grpSpPr>
        <a:xfrm>
          <a:off x="0" y="0"/>
          <a:ext cx="0" cy="0"/>
          <a:chOff x="0" y="0"/>
          <a:chExt cx="0" cy="0"/>
        </a:xfrm>
      </p:grpSpPr>
      <p:pic>
        <p:nvPicPr>
          <p:cNvPr descr="image.png" id="520" name="Google Shape;520;p30"/>
          <p:cNvPicPr preferRelativeResize="0"/>
          <p:nvPr/>
        </p:nvPicPr>
        <p:blipFill rotWithShape="1">
          <a:blip r:embed="rId3">
            <a:alphaModFix/>
          </a:blip>
          <a:srcRect b="0" l="0" r="0" t="0"/>
          <a:stretch/>
        </p:blipFill>
        <p:spPr>
          <a:xfrm>
            <a:off x="5149601" y="214312"/>
            <a:ext cx="1892647" cy="333375"/>
          </a:xfrm>
          <a:prstGeom prst="rect">
            <a:avLst/>
          </a:prstGeom>
          <a:noFill/>
          <a:ln>
            <a:noFill/>
          </a:ln>
        </p:spPr>
      </p:pic>
      <p:pic>
        <p:nvPicPr>
          <p:cNvPr descr="image.png" id="521" name="Google Shape;521;p30"/>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522" name="Google Shape;522;p30"/>
          <p:cNvPicPr preferRelativeResize="0"/>
          <p:nvPr/>
        </p:nvPicPr>
        <p:blipFill rotWithShape="1">
          <a:blip r:embed="rId5">
            <a:alphaModFix/>
          </a:blip>
          <a:srcRect b="0" l="0" r="0" t="0"/>
          <a:stretch/>
        </p:blipFill>
        <p:spPr>
          <a:xfrm>
            <a:off x="571500" y="2621458"/>
            <a:ext cx="5381625" cy="1102816"/>
          </a:xfrm>
          <a:prstGeom prst="rect">
            <a:avLst/>
          </a:prstGeom>
          <a:noFill/>
          <a:ln>
            <a:noFill/>
          </a:ln>
        </p:spPr>
      </p:pic>
      <p:pic>
        <p:nvPicPr>
          <p:cNvPr descr="image.png" id="523" name="Google Shape;523;p30"/>
          <p:cNvPicPr preferRelativeResize="0"/>
          <p:nvPr/>
        </p:nvPicPr>
        <p:blipFill rotWithShape="1">
          <a:blip r:embed="rId5">
            <a:alphaModFix/>
          </a:blip>
          <a:srcRect b="0" l="0" r="0" t="0"/>
          <a:stretch/>
        </p:blipFill>
        <p:spPr>
          <a:xfrm>
            <a:off x="6238875" y="2621458"/>
            <a:ext cx="5381625" cy="1102816"/>
          </a:xfrm>
          <a:prstGeom prst="rect">
            <a:avLst/>
          </a:prstGeom>
          <a:noFill/>
          <a:ln>
            <a:noFill/>
          </a:ln>
        </p:spPr>
      </p:pic>
      <p:pic>
        <p:nvPicPr>
          <p:cNvPr descr="image.png" id="524" name="Google Shape;524;p30"/>
          <p:cNvPicPr preferRelativeResize="0"/>
          <p:nvPr/>
        </p:nvPicPr>
        <p:blipFill rotWithShape="1">
          <a:blip r:embed="rId5">
            <a:alphaModFix/>
          </a:blip>
          <a:srcRect b="0" l="0" r="0" t="0"/>
          <a:stretch/>
        </p:blipFill>
        <p:spPr>
          <a:xfrm>
            <a:off x="571500" y="4010025"/>
            <a:ext cx="5381625" cy="1102816"/>
          </a:xfrm>
          <a:prstGeom prst="rect">
            <a:avLst/>
          </a:prstGeom>
          <a:noFill/>
          <a:ln>
            <a:noFill/>
          </a:ln>
        </p:spPr>
      </p:pic>
      <p:pic>
        <p:nvPicPr>
          <p:cNvPr descr="image.png" id="525" name="Google Shape;525;p30"/>
          <p:cNvPicPr preferRelativeResize="0"/>
          <p:nvPr/>
        </p:nvPicPr>
        <p:blipFill rotWithShape="1">
          <a:blip r:embed="rId5">
            <a:alphaModFix/>
          </a:blip>
          <a:srcRect b="0" l="0" r="0" t="0"/>
          <a:stretch/>
        </p:blipFill>
        <p:spPr>
          <a:xfrm>
            <a:off x="6238875" y="4010025"/>
            <a:ext cx="5381625" cy="1102816"/>
          </a:xfrm>
          <a:prstGeom prst="rect">
            <a:avLst/>
          </a:prstGeom>
          <a:noFill/>
          <a:ln>
            <a:noFill/>
          </a:ln>
        </p:spPr>
      </p:pic>
      <p:pic>
        <p:nvPicPr>
          <p:cNvPr descr="image.png" id="526" name="Google Shape;526;p30"/>
          <p:cNvPicPr preferRelativeResize="0"/>
          <p:nvPr/>
        </p:nvPicPr>
        <p:blipFill rotWithShape="1">
          <a:blip r:embed="rId6">
            <a:alphaModFix/>
          </a:blip>
          <a:srcRect b="0" l="0" r="0" t="0"/>
          <a:stretch/>
        </p:blipFill>
        <p:spPr>
          <a:xfrm>
            <a:off x="762000" y="2811958"/>
            <a:ext cx="381000" cy="381000"/>
          </a:xfrm>
          <a:prstGeom prst="rect">
            <a:avLst/>
          </a:prstGeom>
          <a:noFill/>
          <a:ln>
            <a:noFill/>
          </a:ln>
        </p:spPr>
      </p:pic>
      <p:pic>
        <p:nvPicPr>
          <p:cNvPr descr="image.png" id="527" name="Google Shape;527;p30"/>
          <p:cNvPicPr preferRelativeResize="0"/>
          <p:nvPr/>
        </p:nvPicPr>
        <p:blipFill rotWithShape="1">
          <a:blip r:embed="rId7">
            <a:alphaModFix/>
          </a:blip>
          <a:srcRect b="0" l="0" r="0" t="0"/>
          <a:stretch/>
        </p:blipFill>
        <p:spPr>
          <a:xfrm>
            <a:off x="6429375" y="2811958"/>
            <a:ext cx="381000" cy="381000"/>
          </a:xfrm>
          <a:prstGeom prst="rect">
            <a:avLst/>
          </a:prstGeom>
          <a:noFill/>
          <a:ln>
            <a:noFill/>
          </a:ln>
        </p:spPr>
      </p:pic>
      <p:pic>
        <p:nvPicPr>
          <p:cNvPr descr="image.png" id="528" name="Google Shape;528;p30"/>
          <p:cNvPicPr preferRelativeResize="0"/>
          <p:nvPr/>
        </p:nvPicPr>
        <p:blipFill rotWithShape="1">
          <a:blip r:embed="rId8">
            <a:alphaModFix/>
          </a:blip>
          <a:srcRect b="0" l="0" r="0" t="0"/>
          <a:stretch/>
        </p:blipFill>
        <p:spPr>
          <a:xfrm>
            <a:off x="762000" y="4200525"/>
            <a:ext cx="381000" cy="381000"/>
          </a:xfrm>
          <a:prstGeom prst="rect">
            <a:avLst/>
          </a:prstGeom>
          <a:noFill/>
          <a:ln>
            <a:noFill/>
          </a:ln>
        </p:spPr>
      </p:pic>
      <p:pic>
        <p:nvPicPr>
          <p:cNvPr descr="image.png" id="529" name="Google Shape;529;p30"/>
          <p:cNvPicPr preferRelativeResize="0"/>
          <p:nvPr/>
        </p:nvPicPr>
        <p:blipFill rotWithShape="1">
          <a:blip r:embed="rId9">
            <a:alphaModFix/>
          </a:blip>
          <a:srcRect b="0" l="0" r="0" t="0"/>
          <a:stretch/>
        </p:blipFill>
        <p:spPr>
          <a:xfrm>
            <a:off x="6429375" y="4200525"/>
            <a:ext cx="381000" cy="381000"/>
          </a:xfrm>
          <a:prstGeom prst="rect">
            <a:avLst/>
          </a:prstGeom>
          <a:noFill/>
          <a:ln>
            <a:noFill/>
          </a:ln>
        </p:spPr>
      </p:pic>
      <p:sp>
        <p:nvSpPr>
          <p:cNvPr id="530" name="Google Shape;530;p30"/>
          <p:cNvSpPr txBox="1"/>
          <p:nvPr/>
        </p:nvSpPr>
        <p:spPr>
          <a:xfrm>
            <a:off x="7042249" y="295275"/>
            <a:ext cx="476875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18</a:t>
            </a:r>
            <a:endParaRPr/>
          </a:p>
        </p:txBody>
      </p:sp>
      <p:sp>
        <p:nvSpPr>
          <p:cNvPr id="531" name="Google Shape;531;p30"/>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The Feedback Loop</a:t>
            </a:r>
            <a:endParaRPr/>
          </a:p>
        </p:txBody>
      </p:sp>
      <p:sp>
        <p:nvSpPr>
          <p:cNvPr id="532" name="Google Shape;532;p30"/>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30"/>
          <p:cNvSpPr txBox="1"/>
          <p:nvPr/>
        </p:nvSpPr>
        <p:spPr>
          <a:xfrm>
            <a:off x="1333500" y="2811958"/>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Act</a:t>
            </a:r>
            <a:endParaRPr/>
          </a:p>
        </p:txBody>
      </p:sp>
      <p:sp>
        <p:nvSpPr>
          <p:cNvPr id="534" name="Google Shape;534;p30"/>
          <p:cNvSpPr txBox="1"/>
          <p:nvPr/>
        </p:nvSpPr>
        <p:spPr>
          <a:xfrm>
            <a:off x="1333500" y="3107233"/>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The agent executes a tool (e.g., query database for "Account 123").</a:t>
            </a:r>
            <a:endParaRPr/>
          </a:p>
        </p:txBody>
      </p:sp>
      <p:sp>
        <p:nvSpPr>
          <p:cNvPr id="535" name="Google Shape;535;p30"/>
          <p:cNvSpPr txBox="1"/>
          <p:nvPr/>
        </p:nvSpPr>
        <p:spPr>
          <a:xfrm>
            <a:off x="7000875" y="2811958"/>
            <a:ext cx="460557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Observe</a:t>
            </a:r>
            <a:endParaRPr/>
          </a:p>
        </p:txBody>
      </p:sp>
      <p:sp>
        <p:nvSpPr>
          <p:cNvPr id="536" name="Google Shape;536;p30"/>
          <p:cNvSpPr txBox="1"/>
          <p:nvPr/>
        </p:nvSpPr>
        <p:spPr>
          <a:xfrm>
            <a:off x="7000875" y="3107233"/>
            <a:ext cx="4386262" cy="21327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The tool returns an observation (e.g., "Error: Account not found").</a:t>
            </a:r>
            <a:endParaRPr/>
          </a:p>
        </p:txBody>
      </p:sp>
      <p:sp>
        <p:nvSpPr>
          <p:cNvPr id="537" name="Google Shape;537;p30"/>
          <p:cNvSpPr txBox="1"/>
          <p:nvPr/>
        </p:nvSpPr>
        <p:spPr>
          <a:xfrm>
            <a:off x="1333500" y="4200525"/>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Analyze</a:t>
            </a:r>
            <a:endParaRPr/>
          </a:p>
        </p:txBody>
      </p:sp>
      <p:sp>
        <p:nvSpPr>
          <p:cNvPr id="538" name="Google Shape;538;p30"/>
          <p:cNvSpPr txBox="1"/>
          <p:nvPr/>
        </p:nvSpPr>
        <p:spPr>
          <a:xfrm>
            <a:off x="1333500" y="4495800"/>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The LLM analyzes the error. Realizes "123" might be wrong format.</a:t>
            </a:r>
            <a:endParaRPr/>
          </a:p>
        </p:txBody>
      </p:sp>
      <p:sp>
        <p:nvSpPr>
          <p:cNvPr id="539" name="Google Shape;539;p30"/>
          <p:cNvSpPr txBox="1"/>
          <p:nvPr/>
        </p:nvSpPr>
        <p:spPr>
          <a:xfrm>
            <a:off x="7000875" y="4200525"/>
            <a:ext cx="451634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Adjust</a:t>
            </a:r>
            <a:endParaRPr/>
          </a:p>
        </p:txBody>
      </p:sp>
      <p:sp>
        <p:nvSpPr>
          <p:cNvPr id="540" name="Google Shape;540;p30"/>
          <p:cNvSpPr txBox="1"/>
          <p:nvPr/>
        </p:nvSpPr>
        <p:spPr>
          <a:xfrm>
            <a:off x="7000875" y="4495800"/>
            <a:ext cx="4301281" cy="21327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LLM formulates a new plan and tries querying with "ACCT-123".</a:t>
            </a:r>
            <a:endParaRPr/>
          </a:p>
        </p:txBody>
      </p:sp>
      <p:sp>
        <p:nvSpPr>
          <p:cNvPr id="541" name="Google Shape;541;p30"/>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2" name="Google Shape;542;p30"/>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Feedback loops allow agents to recover gracefully from unforeseen errors.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6" name="Shape 546"/>
        <p:cNvGrpSpPr/>
        <p:nvPr/>
      </p:nvGrpSpPr>
      <p:grpSpPr>
        <a:xfrm>
          <a:off x="0" y="0"/>
          <a:ext cx="0" cy="0"/>
          <a:chOff x="0" y="0"/>
          <a:chExt cx="0" cy="0"/>
        </a:xfrm>
      </p:grpSpPr>
      <p:pic>
        <p:nvPicPr>
          <p:cNvPr descr="image.png" id="547" name="Google Shape;547;p31"/>
          <p:cNvPicPr preferRelativeResize="0"/>
          <p:nvPr/>
        </p:nvPicPr>
        <p:blipFill rotWithShape="1">
          <a:blip r:embed="rId3">
            <a:alphaModFix/>
          </a:blip>
          <a:srcRect b="0" l="0" r="0" t="0"/>
          <a:stretch/>
        </p:blipFill>
        <p:spPr>
          <a:xfrm>
            <a:off x="5149601" y="214312"/>
            <a:ext cx="1892647" cy="333375"/>
          </a:xfrm>
          <a:prstGeom prst="rect">
            <a:avLst/>
          </a:prstGeom>
          <a:noFill/>
          <a:ln>
            <a:noFill/>
          </a:ln>
        </p:spPr>
      </p:pic>
      <p:pic>
        <p:nvPicPr>
          <p:cNvPr descr="image.png" id="548" name="Google Shape;548;p31"/>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549" name="Google Shape;549;p31"/>
          <p:cNvPicPr preferRelativeResize="0"/>
          <p:nvPr/>
        </p:nvPicPr>
        <p:blipFill rotWithShape="1">
          <a:blip r:embed="rId5">
            <a:alphaModFix/>
          </a:blip>
          <a:srcRect b="0" l="0" r="0" t="0"/>
          <a:stretch/>
        </p:blipFill>
        <p:spPr>
          <a:xfrm>
            <a:off x="4269878" y="2405062"/>
            <a:ext cx="3652093" cy="685800"/>
          </a:xfrm>
          <a:prstGeom prst="rect">
            <a:avLst/>
          </a:prstGeom>
          <a:noFill/>
          <a:ln>
            <a:noFill/>
          </a:ln>
        </p:spPr>
      </p:pic>
      <p:pic>
        <p:nvPicPr>
          <p:cNvPr descr="image.png" id="550" name="Google Shape;550;p31"/>
          <p:cNvPicPr preferRelativeResize="0"/>
          <p:nvPr/>
        </p:nvPicPr>
        <p:blipFill rotWithShape="1">
          <a:blip r:embed="rId6">
            <a:alphaModFix/>
          </a:blip>
          <a:srcRect b="0" l="0" r="0" t="0"/>
          <a:stretch/>
        </p:blipFill>
        <p:spPr>
          <a:xfrm>
            <a:off x="571500" y="3471862"/>
            <a:ext cx="2547937" cy="1857375"/>
          </a:xfrm>
          <a:prstGeom prst="rect">
            <a:avLst/>
          </a:prstGeom>
          <a:noFill/>
          <a:ln>
            <a:noFill/>
          </a:ln>
        </p:spPr>
      </p:pic>
      <p:pic>
        <p:nvPicPr>
          <p:cNvPr descr="image.png" id="551" name="Google Shape;551;p31"/>
          <p:cNvPicPr preferRelativeResize="0"/>
          <p:nvPr/>
        </p:nvPicPr>
        <p:blipFill rotWithShape="1">
          <a:blip r:embed="rId7">
            <a:alphaModFix/>
          </a:blip>
          <a:srcRect b="0" l="0" r="0" t="0"/>
          <a:stretch/>
        </p:blipFill>
        <p:spPr>
          <a:xfrm>
            <a:off x="3405187" y="3471862"/>
            <a:ext cx="2547937" cy="1857375"/>
          </a:xfrm>
          <a:prstGeom prst="rect">
            <a:avLst/>
          </a:prstGeom>
          <a:noFill/>
          <a:ln>
            <a:noFill/>
          </a:ln>
        </p:spPr>
      </p:pic>
      <p:pic>
        <p:nvPicPr>
          <p:cNvPr descr="image.png" id="552" name="Google Shape;552;p31"/>
          <p:cNvPicPr preferRelativeResize="0"/>
          <p:nvPr/>
        </p:nvPicPr>
        <p:blipFill rotWithShape="1">
          <a:blip r:embed="rId8">
            <a:alphaModFix/>
          </a:blip>
          <a:srcRect b="0" l="0" r="0" t="0"/>
          <a:stretch/>
        </p:blipFill>
        <p:spPr>
          <a:xfrm>
            <a:off x="6238875" y="3471862"/>
            <a:ext cx="2547937" cy="1857375"/>
          </a:xfrm>
          <a:prstGeom prst="rect">
            <a:avLst/>
          </a:prstGeom>
          <a:noFill/>
          <a:ln>
            <a:noFill/>
          </a:ln>
        </p:spPr>
      </p:pic>
      <p:pic>
        <p:nvPicPr>
          <p:cNvPr descr="image.png" id="553" name="Google Shape;553;p31"/>
          <p:cNvPicPr preferRelativeResize="0"/>
          <p:nvPr/>
        </p:nvPicPr>
        <p:blipFill rotWithShape="1">
          <a:blip r:embed="rId9">
            <a:alphaModFix/>
          </a:blip>
          <a:srcRect b="0" l="0" r="0" t="0"/>
          <a:stretch/>
        </p:blipFill>
        <p:spPr>
          <a:xfrm>
            <a:off x="9072562" y="3471862"/>
            <a:ext cx="2547937" cy="1857375"/>
          </a:xfrm>
          <a:prstGeom prst="rect">
            <a:avLst/>
          </a:prstGeom>
          <a:noFill/>
          <a:ln>
            <a:noFill/>
          </a:ln>
        </p:spPr>
      </p:pic>
      <p:sp>
        <p:nvSpPr>
          <p:cNvPr id="554" name="Google Shape;554;p31"/>
          <p:cNvSpPr txBox="1"/>
          <p:nvPr/>
        </p:nvSpPr>
        <p:spPr>
          <a:xfrm>
            <a:off x="7042249" y="295275"/>
            <a:ext cx="476875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19</a:t>
            </a:r>
            <a:endParaRPr/>
          </a:p>
        </p:txBody>
      </p:sp>
      <p:sp>
        <p:nvSpPr>
          <p:cNvPr id="555" name="Google Shape;555;p31"/>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Planning Strategies</a:t>
            </a:r>
            <a:endParaRPr/>
          </a:p>
        </p:txBody>
      </p:sp>
      <p:sp>
        <p:nvSpPr>
          <p:cNvPr id="556" name="Google Shape;556;p31"/>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57" name="Google Shape;557;p31"/>
          <p:cNvPicPr preferRelativeResize="0"/>
          <p:nvPr/>
        </p:nvPicPr>
        <p:blipFill rotWithShape="1">
          <a:blip r:embed="rId10">
            <a:alphaModFix/>
          </a:blip>
          <a:srcRect b="0" l="0" r="0" t="0"/>
          <a:stretch/>
        </p:blipFill>
        <p:spPr>
          <a:xfrm>
            <a:off x="1702593" y="3719512"/>
            <a:ext cx="285750" cy="457200"/>
          </a:xfrm>
          <a:prstGeom prst="rect">
            <a:avLst/>
          </a:prstGeom>
          <a:noFill/>
          <a:ln>
            <a:noFill/>
          </a:ln>
        </p:spPr>
      </p:pic>
      <p:sp>
        <p:nvSpPr>
          <p:cNvPr id="558" name="Google Shape;558;p31"/>
          <p:cNvSpPr txBox="1"/>
          <p:nvPr/>
        </p:nvSpPr>
        <p:spPr>
          <a:xfrm>
            <a:off x="767834"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Linear Chain</a:t>
            </a:r>
            <a:endParaRPr/>
          </a:p>
        </p:txBody>
      </p:sp>
      <p:sp>
        <p:nvSpPr>
          <p:cNvPr id="559" name="Google Shape;559;p31"/>
          <p:cNvSpPr txBox="1"/>
          <p:nvPr/>
        </p:nvSpPr>
        <p:spPr>
          <a:xfrm>
            <a:off x="819150"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Step A always triggers Step B. No decision making.</a:t>
            </a:r>
            <a:endParaRPr/>
          </a:p>
        </p:txBody>
      </p:sp>
      <p:pic>
        <p:nvPicPr>
          <p:cNvPr descr="image.png" id="560" name="Google Shape;560;p31"/>
          <p:cNvPicPr preferRelativeResize="0"/>
          <p:nvPr/>
        </p:nvPicPr>
        <p:blipFill rotWithShape="1">
          <a:blip r:embed="rId11">
            <a:alphaModFix/>
          </a:blip>
          <a:srcRect b="0" l="0" r="0" t="0"/>
          <a:stretch/>
        </p:blipFill>
        <p:spPr>
          <a:xfrm>
            <a:off x="4450556" y="3719512"/>
            <a:ext cx="457200" cy="457200"/>
          </a:xfrm>
          <a:prstGeom prst="rect">
            <a:avLst/>
          </a:prstGeom>
          <a:noFill/>
          <a:ln>
            <a:noFill/>
          </a:ln>
        </p:spPr>
      </p:pic>
      <p:sp>
        <p:nvSpPr>
          <p:cNvPr id="561" name="Google Shape;561;p31"/>
          <p:cNvSpPr txBox="1"/>
          <p:nvPr/>
        </p:nvSpPr>
        <p:spPr>
          <a:xfrm>
            <a:off x="3601521"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ReAct</a:t>
            </a:r>
            <a:endParaRPr/>
          </a:p>
        </p:txBody>
      </p:sp>
      <p:sp>
        <p:nvSpPr>
          <p:cNvPr id="562" name="Google Shape;562;p31"/>
          <p:cNvSpPr txBox="1"/>
          <p:nvPr/>
        </p:nvSpPr>
        <p:spPr>
          <a:xfrm>
            <a:off x="3652837"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Think -&gt; Act -&gt; Observe loop. High adaptability.</a:t>
            </a:r>
            <a:endParaRPr/>
          </a:p>
        </p:txBody>
      </p:sp>
      <p:pic>
        <p:nvPicPr>
          <p:cNvPr descr="image.png" id="563" name="Google Shape;563;p31"/>
          <p:cNvPicPr preferRelativeResize="0"/>
          <p:nvPr/>
        </p:nvPicPr>
        <p:blipFill rotWithShape="1">
          <a:blip r:embed="rId12">
            <a:alphaModFix/>
          </a:blip>
          <a:srcRect b="0" l="0" r="0" t="0"/>
          <a:stretch/>
        </p:blipFill>
        <p:spPr>
          <a:xfrm>
            <a:off x="7284243" y="3719512"/>
            <a:ext cx="457200" cy="457200"/>
          </a:xfrm>
          <a:prstGeom prst="rect">
            <a:avLst/>
          </a:prstGeom>
          <a:noFill/>
          <a:ln>
            <a:noFill/>
          </a:ln>
        </p:spPr>
      </p:pic>
      <p:sp>
        <p:nvSpPr>
          <p:cNvPr id="564" name="Google Shape;564;p31"/>
          <p:cNvSpPr txBox="1"/>
          <p:nvPr/>
        </p:nvSpPr>
        <p:spPr>
          <a:xfrm>
            <a:off x="6435209"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Plan-and-Solve</a:t>
            </a:r>
            <a:endParaRPr/>
          </a:p>
        </p:txBody>
      </p:sp>
      <p:sp>
        <p:nvSpPr>
          <p:cNvPr id="565" name="Google Shape;565;p31"/>
          <p:cNvSpPr txBox="1"/>
          <p:nvPr/>
        </p:nvSpPr>
        <p:spPr>
          <a:xfrm>
            <a:off x="6486525"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Create full task list upfront, then execute sequentially.</a:t>
            </a:r>
            <a:endParaRPr/>
          </a:p>
        </p:txBody>
      </p:sp>
      <p:pic>
        <p:nvPicPr>
          <p:cNvPr descr="image.png" id="566" name="Google Shape;566;p31"/>
          <p:cNvPicPr preferRelativeResize="0"/>
          <p:nvPr/>
        </p:nvPicPr>
        <p:blipFill rotWithShape="1">
          <a:blip r:embed="rId13">
            <a:alphaModFix/>
          </a:blip>
          <a:srcRect b="0" l="0" r="0" t="0"/>
          <a:stretch/>
        </p:blipFill>
        <p:spPr>
          <a:xfrm>
            <a:off x="10060781" y="3719512"/>
            <a:ext cx="571500" cy="457200"/>
          </a:xfrm>
          <a:prstGeom prst="rect">
            <a:avLst/>
          </a:prstGeom>
          <a:noFill/>
          <a:ln>
            <a:noFill/>
          </a:ln>
        </p:spPr>
      </p:pic>
      <p:sp>
        <p:nvSpPr>
          <p:cNvPr id="567" name="Google Shape;567;p31"/>
          <p:cNvSpPr txBox="1"/>
          <p:nvPr/>
        </p:nvSpPr>
        <p:spPr>
          <a:xfrm>
            <a:off x="9268896"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Tree of Thoughts</a:t>
            </a:r>
            <a:endParaRPr/>
          </a:p>
        </p:txBody>
      </p:sp>
      <p:sp>
        <p:nvSpPr>
          <p:cNvPr id="568" name="Google Shape;568;p31"/>
          <p:cNvSpPr txBox="1"/>
          <p:nvPr/>
        </p:nvSpPr>
        <p:spPr>
          <a:xfrm>
            <a:off x="9320212"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Exploring multiple paths simultaneously and voting.</a:t>
            </a:r>
            <a:endParaRPr/>
          </a:p>
        </p:txBody>
      </p:sp>
      <p:sp>
        <p:nvSpPr>
          <p:cNvPr id="569" name="Google Shape;569;p31"/>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31"/>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Choose Plan-and-Solve for predictable tasks, ReAct for exploration.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4" name="Shape 574"/>
        <p:cNvGrpSpPr/>
        <p:nvPr/>
      </p:nvGrpSpPr>
      <p:grpSpPr>
        <a:xfrm>
          <a:off x="0" y="0"/>
          <a:ext cx="0" cy="0"/>
          <a:chOff x="0" y="0"/>
          <a:chExt cx="0" cy="0"/>
        </a:xfrm>
      </p:grpSpPr>
      <p:pic>
        <p:nvPicPr>
          <p:cNvPr descr="image.png" id="575" name="Google Shape;575;p32"/>
          <p:cNvPicPr preferRelativeResize="0"/>
          <p:nvPr/>
        </p:nvPicPr>
        <p:blipFill rotWithShape="1">
          <a:blip r:embed="rId3">
            <a:alphaModFix/>
          </a:blip>
          <a:srcRect b="0" l="0" r="0" t="0"/>
          <a:stretch/>
        </p:blipFill>
        <p:spPr>
          <a:xfrm>
            <a:off x="5149601" y="214312"/>
            <a:ext cx="1892647" cy="333375"/>
          </a:xfrm>
          <a:prstGeom prst="rect">
            <a:avLst/>
          </a:prstGeom>
          <a:noFill/>
          <a:ln>
            <a:noFill/>
          </a:ln>
        </p:spPr>
      </p:pic>
      <p:pic>
        <p:nvPicPr>
          <p:cNvPr descr="image.png" id="576" name="Google Shape;576;p32"/>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grpSp>
        <p:nvGrpSpPr>
          <p:cNvPr id="577" name="Google Shape;577;p32"/>
          <p:cNvGrpSpPr/>
          <p:nvPr/>
        </p:nvGrpSpPr>
        <p:grpSpPr>
          <a:xfrm>
            <a:off x="571500" y="2095500"/>
            <a:ext cx="5334000" cy="3619500"/>
            <a:chOff x="0" y="0"/>
            <a:chExt cx="5334000" cy="3619500"/>
          </a:xfrm>
        </p:grpSpPr>
        <p:sp>
          <p:nvSpPr>
            <p:cNvPr id="578" name="Google Shape;578;p32"/>
            <p:cNvSpPr/>
            <p:nvPr/>
          </p:nvSpPr>
          <p:spPr>
            <a:xfrm>
              <a:off x="0" y="0"/>
              <a:ext cx="5334000" cy="3619500"/>
            </a:xfrm>
            <a:prstGeom prst="roundRect">
              <a:avLst>
                <a:gd fmla="val 3157"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9" name="Google Shape;579;p32"/>
            <p:cNvSpPr/>
            <p:nvPr/>
          </p:nvSpPr>
          <p:spPr>
            <a:xfrm>
              <a:off x="0" y="0"/>
              <a:ext cx="5334000" cy="381000"/>
            </a:xfrm>
            <a:prstGeom prst="roundRect">
              <a:avLst>
                <a:gd fmla="val 30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0" name="Google Shape;580;p32"/>
            <p:cNvSpPr/>
            <p:nvPr/>
          </p:nvSpPr>
          <p:spPr>
            <a:xfrm>
              <a:off x="180975" y="133350"/>
              <a:ext cx="114300" cy="1143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32"/>
            <p:cNvSpPr/>
            <p:nvPr/>
          </p:nvSpPr>
          <p:spPr>
            <a:xfrm>
              <a:off x="371475" y="133350"/>
              <a:ext cx="114300" cy="114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2" name="Google Shape;582;p32"/>
            <p:cNvSpPr/>
            <p:nvPr/>
          </p:nvSpPr>
          <p:spPr>
            <a:xfrm>
              <a:off x="561975" y="133350"/>
              <a:ext cx="114300" cy="114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32"/>
            <p:cNvSpPr txBox="1"/>
            <p:nvPr/>
          </p:nvSpPr>
          <p:spPr>
            <a:xfrm>
              <a:off x="857250" y="95250"/>
              <a:ext cx="190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4A3B8"/>
                  </a:solidFill>
                  <a:latin typeface="Courier New"/>
                  <a:ea typeface="Courier New"/>
                  <a:cs typeface="Courier New"/>
                  <a:sym typeface="Courier New"/>
                </a:rPr>
                <a:t>system_prompt.py</a:t>
              </a:r>
              <a:endParaRPr sz="1000">
                <a:solidFill>
                  <a:srgbClr val="94A3B8"/>
                </a:solidFill>
                <a:latin typeface="Courier New"/>
                <a:ea typeface="Courier New"/>
                <a:cs typeface="Courier New"/>
                <a:sym typeface="Courier New"/>
              </a:endParaRPr>
            </a:p>
          </p:txBody>
        </p:sp>
        <p:sp>
          <p:nvSpPr>
            <p:cNvPr id="584" name="Google Shape;584;p32"/>
            <p:cNvSpPr txBox="1"/>
            <p:nvPr/>
          </p:nvSpPr>
          <p:spPr>
            <a:xfrm>
              <a:off x="238125" y="571500"/>
              <a:ext cx="48579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200">
                  <a:solidFill>
                    <a:srgbClr val="38BDF8"/>
                  </a:solidFill>
                  <a:latin typeface="Courier New"/>
                  <a:ea typeface="Courier New"/>
                  <a:cs typeface="Courier New"/>
                  <a:sym typeface="Courier New"/>
                </a:rPr>
                <a:t>system_prompt = </a:t>
              </a:r>
              <a:r>
                <a:rPr lang="en-US" sz="1200">
                  <a:solidFill>
                    <a:srgbClr val="E2E8F0"/>
                  </a:solidFill>
                  <a:latin typeface="Courier New"/>
                  <a:ea typeface="Courier New"/>
                  <a:cs typeface="Courier New"/>
                  <a:sym typeface="Courier New"/>
                </a:rPr>
                <a:t>"""</a:t>
              </a:r>
              <a:endParaRPr sz="1200">
                <a:solidFill>
                  <a:srgbClr val="38BDF8"/>
                </a:solidFill>
                <a:latin typeface="Courier New"/>
                <a:ea typeface="Courier New"/>
                <a:cs typeface="Courier New"/>
                <a:sym typeface="Courier New"/>
              </a:endParaRPr>
            </a:p>
            <a:p>
              <a:pPr indent="0" lvl="0" marL="0" rtl="0" algn="l">
                <a:spcBef>
                  <a:spcPts val="600"/>
                </a:spcBef>
                <a:spcAft>
                  <a:spcPts val="0"/>
                </a:spcAft>
                <a:buNone/>
              </a:pPr>
              <a:r>
                <a:rPr lang="en-US" sz="1200">
                  <a:solidFill>
                    <a:srgbClr val="F59E0B"/>
                  </a:solidFill>
                  <a:latin typeface="Courier New"/>
                  <a:ea typeface="Courier New"/>
                  <a:cs typeface="Courier New"/>
                  <a:sym typeface="Courier New"/>
                </a:rPr>
                <a:t>Evaluate your previous action.</a:t>
              </a:r>
              <a:endParaRPr sz="1200">
                <a:solidFill>
                  <a:srgbClr val="F59E0B"/>
                </a:solidFill>
                <a:latin typeface="Courier New"/>
                <a:ea typeface="Courier New"/>
                <a:cs typeface="Courier New"/>
                <a:sym typeface="Courier New"/>
              </a:endParaRPr>
            </a:p>
            <a:p>
              <a:pPr indent="0" lvl="0" marL="0" rtl="0" algn="l">
                <a:spcBef>
                  <a:spcPts val="300"/>
                </a:spcBef>
                <a:spcAft>
                  <a:spcPts val="0"/>
                </a:spcAft>
                <a:buNone/>
              </a:pPr>
              <a:r>
                <a:rPr lang="en-US" sz="1200">
                  <a:solidFill>
                    <a:srgbClr val="F59E0B"/>
                  </a:solidFill>
                  <a:latin typeface="Courier New"/>
                  <a:ea typeface="Courier New"/>
                  <a:cs typeface="Courier New"/>
                  <a:sym typeface="Courier New"/>
                </a:rPr>
                <a:t>If the tool returned an error:</a:t>
              </a:r>
              <a:endParaRPr sz="1200">
                <a:solidFill>
                  <a:srgbClr val="F59E0B"/>
                </a:solidFill>
                <a:latin typeface="Courier New"/>
                <a:ea typeface="Courier New"/>
                <a:cs typeface="Courier New"/>
                <a:sym typeface="Courier New"/>
              </a:endParaRPr>
            </a:p>
            <a:p>
              <a:pPr indent="0" lvl="0" marL="190500" marR="0" rtl="0" algn="l">
                <a:spcBef>
                  <a:spcPts val="300"/>
                </a:spcBef>
                <a:spcAft>
                  <a:spcPts val="0"/>
                </a:spcAft>
                <a:buNone/>
              </a:pPr>
              <a:r>
                <a:rPr lang="en-US" sz="1200">
                  <a:solidFill>
                    <a:srgbClr val="F59E0B"/>
                  </a:solidFill>
                  <a:latin typeface="Courier New"/>
                  <a:ea typeface="Courier New"/>
                  <a:cs typeface="Courier New"/>
                  <a:sym typeface="Courier New"/>
                </a:rPr>
                <a:t>1. Analyze the failure reason.</a:t>
              </a:r>
              <a:endParaRPr sz="1200">
                <a:solidFill>
                  <a:srgbClr val="F59E0B"/>
                </a:solidFill>
                <a:latin typeface="Courier New"/>
                <a:ea typeface="Courier New"/>
                <a:cs typeface="Courier New"/>
                <a:sym typeface="Courier New"/>
              </a:endParaRPr>
            </a:p>
            <a:p>
              <a:pPr indent="0" lvl="0" marL="190500" marR="0" rtl="0" algn="l">
                <a:spcBef>
                  <a:spcPts val="300"/>
                </a:spcBef>
                <a:spcAft>
                  <a:spcPts val="0"/>
                </a:spcAft>
                <a:buNone/>
              </a:pPr>
              <a:r>
                <a:rPr lang="en-US" sz="1200">
                  <a:solidFill>
                    <a:srgbClr val="F59E0B"/>
                  </a:solidFill>
                  <a:latin typeface="Courier New"/>
                  <a:ea typeface="Courier New"/>
                  <a:cs typeface="Courier New"/>
                  <a:sym typeface="Courier New"/>
                </a:rPr>
                <a:t>2. Adjust your parameters.</a:t>
              </a:r>
              <a:endParaRPr sz="1200">
                <a:solidFill>
                  <a:srgbClr val="F59E0B"/>
                </a:solidFill>
                <a:latin typeface="Courier New"/>
                <a:ea typeface="Courier New"/>
                <a:cs typeface="Courier New"/>
                <a:sym typeface="Courier New"/>
              </a:endParaRPr>
            </a:p>
            <a:p>
              <a:pPr indent="0" lvl="0" marL="190500" marR="0" rtl="0" algn="l">
                <a:spcBef>
                  <a:spcPts val="300"/>
                </a:spcBef>
                <a:spcAft>
                  <a:spcPts val="0"/>
                </a:spcAft>
                <a:buNone/>
              </a:pPr>
              <a:r>
                <a:rPr lang="en-US" sz="1200">
                  <a:solidFill>
                    <a:srgbClr val="F59E0B"/>
                  </a:solidFill>
                  <a:latin typeface="Courier New"/>
                  <a:ea typeface="Courier New"/>
                  <a:cs typeface="Courier New"/>
                  <a:sym typeface="Courier New"/>
                </a:rPr>
                <a:t>3. Try calling the tool again.</a:t>
              </a:r>
              <a:endParaRPr sz="1200">
                <a:solidFill>
                  <a:srgbClr val="F59E0B"/>
                </a:solidFill>
                <a:latin typeface="Courier New"/>
                <a:ea typeface="Courier New"/>
                <a:cs typeface="Courier New"/>
                <a:sym typeface="Courier New"/>
              </a:endParaRPr>
            </a:p>
            <a:p>
              <a:pPr indent="0" lvl="0" marL="0" rtl="0" algn="l">
                <a:spcBef>
                  <a:spcPts val="900"/>
                </a:spcBef>
                <a:spcAft>
                  <a:spcPts val="0"/>
                </a:spcAft>
                <a:buNone/>
              </a:pPr>
              <a:r>
                <a:rPr lang="en-US" sz="1200">
                  <a:solidFill>
                    <a:srgbClr val="F59E0B"/>
                  </a:solidFill>
                  <a:latin typeface="Courier New"/>
                  <a:ea typeface="Courier New"/>
                  <a:cs typeface="Courier New"/>
                  <a:sym typeface="Courier New"/>
                </a:rPr>
                <a:t>If successful, proceed to synthesize</a:t>
              </a:r>
              <a:endParaRPr sz="1200">
                <a:solidFill>
                  <a:srgbClr val="F59E0B"/>
                </a:solidFill>
                <a:latin typeface="Courier New"/>
                <a:ea typeface="Courier New"/>
                <a:cs typeface="Courier New"/>
                <a:sym typeface="Courier New"/>
              </a:endParaRPr>
            </a:p>
            <a:p>
              <a:pPr indent="0" lvl="0" marL="0" rtl="0" algn="l">
                <a:spcBef>
                  <a:spcPts val="300"/>
                </a:spcBef>
                <a:spcAft>
                  <a:spcPts val="0"/>
                </a:spcAft>
                <a:buNone/>
              </a:pPr>
              <a:r>
                <a:rPr lang="en-US" sz="1200">
                  <a:solidFill>
                    <a:srgbClr val="F59E0B"/>
                  </a:solidFill>
                  <a:latin typeface="Courier New"/>
                  <a:ea typeface="Courier New"/>
                  <a:cs typeface="Courier New"/>
                  <a:sym typeface="Courier New"/>
                </a:rPr>
                <a:t>the final answer for the user.</a:t>
              </a:r>
              <a:endParaRPr sz="1200">
                <a:solidFill>
                  <a:srgbClr val="F59E0B"/>
                </a:solidFill>
                <a:latin typeface="Courier New"/>
                <a:ea typeface="Courier New"/>
                <a:cs typeface="Courier New"/>
                <a:sym typeface="Courier New"/>
              </a:endParaRPr>
            </a:p>
            <a:p>
              <a:pPr indent="0" lvl="0" marL="0" rtl="0" algn="l">
                <a:spcBef>
                  <a:spcPts val="300"/>
                </a:spcBef>
                <a:spcAft>
                  <a:spcPts val="0"/>
                </a:spcAft>
                <a:buNone/>
              </a:pPr>
              <a:r>
                <a:rPr lang="en-US" sz="1200">
                  <a:solidFill>
                    <a:srgbClr val="E2E8F0"/>
                  </a:solidFill>
                  <a:latin typeface="Courier New"/>
                  <a:ea typeface="Courier New"/>
                  <a:cs typeface="Courier New"/>
                  <a:sym typeface="Courier New"/>
                </a:rPr>
                <a:t>"""</a:t>
              </a:r>
              <a:endParaRPr sz="1200">
                <a:solidFill>
                  <a:srgbClr val="E2E8F0"/>
                </a:solidFill>
                <a:latin typeface="Courier New"/>
                <a:ea typeface="Courier New"/>
                <a:cs typeface="Courier New"/>
                <a:sym typeface="Courier New"/>
              </a:endParaRPr>
            </a:p>
          </p:txBody>
        </p:sp>
      </p:grpSp>
      <p:grpSp>
        <p:nvGrpSpPr>
          <p:cNvPr id="585" name="Google Shape;585;p32"/>
          <p:cNvGrpSpPr/>
          <p:nvPr/>
        </p:nvGrpSpPr>
        <p:grpSpPr>
          <a:xfrm>
            <a:off x="6286500" y="2095500"/>
            <a:ext cx="5334000" cy="1714500"/>
            <a:chOff x="0" y="0"/>
            <a:chExt cx="5334000" cy="1714500"/>
          </a:xfrm>
        </p:grpSpPr>
        <p:sp>
          <p:nvSpPr>
            <p:cNvPr id="586" name="Google Shape;586;p32"/>
            <p:cNvSpPr/>
            <p:nvPr/>
          </p:nvSpPr>
          <p:spPr>
            <a:xfrm>
              <a:off x="0" y="0"/>
              <a:ext cx="5334000" cy="1714500"/>
            </a:xfrm>
            <a:prstGeom prst="roundRect">
              <a:avLst>
                <a:gd fmla="val 6666"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7" name="Google Shape;587;p32"/>
            <p:cNvSpPr txBox="1"/>
            <p:nvPr/>
          </p:nvSpPr>
          <p:spPr>
            <a:xfrm>
              <a:off x="285750" y="238125"/>
              <a:ext cx="4762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F172A"/>
                  </a:solidFill>
                  <a:latin typeface="Arial"/>
                  <a:ea typeface="Arial"/>
                  <a:cs typeface="Arial"/>
                  <a:sym typeface="Arial"/>
                </a:rPr>
                <a:t>Critical Failure Handling</a:t>
              </a:r>
              <a:endParaRPr b="1" sz="1600">
                <a:solidFill>
                  <a:srgbClr val="0F172A"/>
                </a:solidFill>
                <a:latin typeface="Arial"/>
                <a:ea typeface="Arial"/>
                <a:cs typeface="Arial"/>
                <a:sym typeface="Arial"/>
              </a:endParaRPr>
            </a:p>
            <a:p>
              <a:pPr indent="0" lvl="0" marL="0" rtl="0" algn="l">
                <a:spcBef>
                  <a:spcPts val="750"/>
                </a:spcBef>
                <a:spcAft>
                  <a:spcPts val="0"/>
                </a:spcAft>
                <a:buNone/>
              </a:pPr>
              <a:r>
                <a:rPr lang="en-US" sz="1200">
                  <a:solidFill>
                    <a:srgbClr val="475569"/>
                  </a:solidFill>
                  <a:latin typeface="Arial"/>
                  <a:ea typeface="Arial"/>
                  <a:cs typeface="Arial"/>
                  <a:sym typeface="Arial"/>
                </a:rPr>
                <a:t>Explicit instructions in the system prompt are critical. Without them, the LLM might panic on a tool error and immediately apologize to the user instead of retrying.</a:t>
              </a:r>
              <a:endParaRPr sz="1200">
                <a:solidFill>
                  <a:srgbClr val="475569"/>
                </a:solidFill>
                <a:latin typeface="Arial"/>
                <a:ea typeface="Arial"/>
                <a:cs typeface="Arial"/>
                <a:sym typeface="Arial"/>
              </a:endParaRPr>
            </a:p>
          </p:txBody>
        </p:sp>
      </p:grpSp>
      <p:grpSp>
        <p:nvGrpSpPr>
          <p:cNvPr id="588" name="Google Shape;588;p32"/>
          <p:cNvGrpSpPr/>
          <p:nvPr/>
        </p:nvGrpSpPr>
        <p:grpSpPr>
          <a:xfrm>
            <a:off x="6286500" y="4000500"/>
            <a:ext cx="5334000" cy="762000"/>
            <a:chOff x="0" y="0"/>
            <a:chExt cx="5334000" cy="762000"/>
          </a:xfrm>
        </p:grpSpPr>
        <p:sp>
          <p:nvSpPr>
            <p:cNvPr id="589" name="Google Shape;589;p32"/>
            <p:cNvSpPr/>
            <p:nvPr/>
          </p:nvSpPr>
          <p:spPr>
            <a:xfrm>
              <a:off x="0" y="0"/>
              <a:ext cx="5334000" cy="762000"/>
            </a:xfrm>
            <a:prstGeom prst="roundRect">
              <a:avLst>
                <a:gd fmla="val 10000" name="adj"/>
              </a:avLst>
            </a:prstGeom>
            <a:solidFill>
              <a:srgbClr val="F0FDF4"/>
            </a:solidFill>
            <a:ln cap="flat" cmpd="sng" w="14300">
              <a:solidFill>
                <a:srgbClr val="DCFC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0" name="Google Shape;590;p32"/>
            <p:cNvSpPr txBox="1"/>
            <p:nvPr/>
          </p:nvSpPr>
          <p:spPr>
            <a:xfrm>
              <a:off x="238125" y="0"/>
              <a:ext cx="48579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6A34A"/>
                  </a:solidFill>
                  <a:latin typeface="Material Icons"/>
                  <a:ea typeface="Material Icons"/>
                  <a:cs typeface="Material Icons"/>
                  <a:sym typeface="Material Icons"/>
                </a:rPr>
                <a:t>play_arrow</a:t>
              </a:r>
              <a:r>
                <a:rPr b="1" lang="en-US" sz="1200">
                  <a:solidFill>
                    <a:srgbClr val="15803D"/>
                  </a:solidFill>
                  <a:latin typeface="Arial"/>
                  <a:ea typeface="Arial"/>
                  <a:cs typeface="Arial"/>
                  <a:sym typeface="Arial"/>
                </a:rPr>
                <a:t>Pro Tip: </a:t>
              </a:r>
              <a:r>
                <a:rPr b="0" lang="en-US" sz="1200">
                  <a:solidFill>
                    <a:srgbClr val="166534"/>
                  </a:solidFill>
                  <a:latin typeface="Arial"/>
                  <a:ea typeface="Arial"/>
                  <a:cs typeface="Arial"/>
                  <a:sym typeface="Arial"/>
                </a:rPr>
                <a:t>Treat prompts as operational manuals.</a:t>
              </a:r>
              <a:endParaRPr b="1" sz="1200">
                <a:solidFill>
                  <a:srgbClr val="15803D"/>
                </a:solidFill>
                <a:latin typeface="Arial"/>
                <a:ea typeface="Arial"/>
                <a:cs typeface="Arial"/>
                <a:sym typeface="Arial"/>
              </a:endParaRPr>
            </a:p>
          </p:txBody>
        </p:sp>
      </p:grpSp>
      <p:sp>
        <p:nvSpPr>
          <p:cNvPr id="591" name="Google Shape;591;p32"/>
          <p:cNvSpPr txBox="1"/>
          <p:nvPr/>
        </p:nvSpPr>
        <p:spPr>
          <a:xfrm>
            <a:off x="7042249" y="295275"/>
            <a:ext cx="4768800" cy="1848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20</a:t>
            </a:r>
            <a:endParaRPr/>
          </a:p>
        </p:txBody>
      </p:sp>
      <p:sp>
        <p:nvSpPr>
          <p:cNvPr id="592" name="Google Shape;592;p32"/>
          <p:cNvSpPr txBox="1"/>
          <p:nvPr/>
        </p:nvSpPr>
        <p:spPr>
          <a:xfrm>
            <a:off x="571500" y="95250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System Prompt Setup</a:t>
            </a:r>
            <a:endParaRPr/>
          </a:p>
        </p:txBody>
      </p:sp>
      <p:sp>
        <p:nvSpPr>
          <p:cNvPr id="593" name="Google Shape;593;p32"/>
          <p:cNvSpPr txBox="1"/>
          <p:nvPr/>
        </p:nvSpPr>
        <p:spPr>
          <a:xfrm>
            <a:off x="571500" y="1638300"/>
            <a:ext cx="110490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334155"/>
                </a:solidFill>
                <a:latin typeface="Arial"/>
                <a:ea typeface="Arial"/>
                <a:cs typeface="Arial"/>
                <a:sym typeface="Arial"/>
              </a:rPr>
              <a:t>Engineering the prompt to force self-correction.</a:t>
            </a:r>
            <a:endParaRPr/>
          </a:p>
        </p:txBody>
      </p:sp>
      <p:sp>
        <p:nvSpPr>
          <p:cNvPr id="594" name="Google Shape;594;p32"/>
          <p:cNvSpPr/>
          <p:nvPr/>
        </p:nvSpPr>
        <p:spPr>
          <a:xfrm>
            <a:off x="381000" y="304800"/>
            <a:ext cx="28590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32"/>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6" name="Google Shape;596;p32"/>
          <p:cNvSpPr txBox="1"/>
          <p:nvPr/>
        </p:nvSpPr>
        <p:spPr>
          <a:xfrm>
            <a:off x="381000" y="6286500"/>
            <a:ext cx="114300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Always instruct the agent on how to handle failure states explicitly.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0" name="Shape 600"/>
        <p:cNvGrpSpPr/>
        <p:nvPr/>
      </p:nvGrpSpPr>
      <p:grpSpPr>
        <a:xfrm>
          <a:off x="0" y="0"/>
          <a:ext cx="0" cy="0"/>
          <a:chOff x="0" y="0"/>
          <a:chExt cx="0" cy="0"/>
        </a:xfrm>
      </p:grpSpPr>
      <p:pic>
        <p:nvPicPr>
          <p:cNvPr descr="image.png" id="601" name="Google Shape;601;p33"/>
          <p:cNvPicPr preferRelativeResize="0"/>
          <p:nvPr/>
        </p:nvPicPr>
        <p:blipFill rotWithShape="1">
          <a:blip r:embed="rId3">
            <a:alphaModFix/>
          </a:blip>
          <a:srcRect b="0" l="0" r="0" t="0"/>
          <a:stretch/>
        </p:blipFill>
        <p:spPr>
          <a:xfrm>
            <a:off x="5149601" y="214312"/>
            <a:ext cx="1892647" cy="333375"/>
          </a:xfrm>
          <a:prstGeom prst="rect">
            <a:avLst/>
          </a:prstGeom>
          <a:noFill/>
          <a:ln>
            <a:noFill/>
          </a:ln>
        </p:spPr>
      </p:pic>
      <p:pic>
        <p:nvPicPr>
          <p:cNvPr descr="image.png" id="602" name="Google Shape;602;p33"/>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603" name="Google Shape;603;p33"/>
          <p:cNvPicPr preferRelativeResize="0"/>
          <p:nvPr/>
        </p:nvPicPr>
        <p:blipFill rotWithShape="1">
          <a:blip r:embed="rId5">
            <a:alphaModFix/>
          </a:blip>
          <a:srcRect b="0" l="0" r="0" t="0"/>
          <a:stretch/>
        </p:blipFill>
        <p:spPr>
          <a:xfrm>
            <a:off x="571500" y="2938462"/>
            <a:ext cx="3524250" cy="1857375"/>
          </a:xfrm>
          <a:prstGeom prst="rect">
            <a:avLst/>
          </a:prstGeom>
          <a:noFill/>
          <a:ln>
            <a:noFill/>
          </a:ln>
        </p:spPr>
      </p:pic>
      <p:pic>
        <p:nvPicPr>
          <p:cNvPr descr="image.png" id="604" name="Google Shape;604;p33"/>
          <p:cNvPicPr preferRelativeResize="0"/>
          <p:nvPr/>
        </p:nvPicPr>
        <p:blipFill rotWithShape="1">
          <a:blip r:embed="rId5">
            <a:alphaModFix/>
          </a:blip>
          <a:srcRect b="0" l="0" r="0" t="0"/>
          <a:stretch/>
        </p:blipFill>
        <p:spPr>
          <a:xfrm>
            <a:off x="4333875" y="2938462"/>
            <a:ext cx="3524250" cy="1857375"/>
          </a:xfrm>
          <a:prstGeom prst="rect">
            <a:avLst/>
          </a:prstGeom>
          <a:noFill/>
          <a:ln>
            <a:noFill/>
          </a:ln>
        </p:spPr>
      </p:pic>
      <p:pic>
        <p:nvPicPr>
          <p:cNvPr descr="image.png" id="605" name="Google Shape;605;p33"/>
          <p:cNvPicPr preferRelativeResize="0"/>
          <p:nvPr/>
        </p:nvPicPr>
        <p:blipFill rotWithShape="1">
          <a:blip r:embed="rId6">
            <a:alphaModFix/>
          </a:blip>
          <a:srcRect b="0" l="0" r="0" t="0"/>
          <a:stretch/>
        </p:blipFill>
        <p:spPr>
          <a:xfrm>
            <a:off x="8096250" y="2938462"/>
            <a:ext cx="3524250" cy="1857375"/>
          </a:xfrm>
          <a:prstGeom prst="rect">
            <a:avLst/>
          </a:prstGeom>
          <a:noFill/>
          <a:ln>
            <a:noFill/>
          </a:ln>
        </p:spPr>
      </p:pic>
      <p:sp>
        <p:nvSpPr>
          <p:cNvPr id="606" name="Google Shape;606;p33"/>
          <p:cNvSpPr txBox="1"/>
          <p:nvPr/>
        </p:nvSpPr>
        <p:spPr>
          <a:xfrm>
            <a:off x="7042249" y="295275"/>
            <a:ext cx="476875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21</a:t>
            </a:r>
            <a:endParaRPr/>
          </a:p>
        </p:txBody>
      </p:sp>
      <p:sp>
        <p:nvSpPr>
          <p:cNvPr id="607" name="Google Shape;607;p33"/>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Common Failure Modes</a:t>
            </a:r>
            <a:endParaRPr/>
          </a:p>
        </p:txBody>
      </p:sp>
      <p:sp>
        <p:nvSpPr>
          <p:cNvPr id="608" name="Google Shape;608;p33"/>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09" name="Google Shape;609;p33"/>
          <p:cNvPicPr preferRelativeResize="0"/>
          <p:nvPr/>
        </p:nvPicPr>
        <p:blipFill rotWithShape="1">
          <a:blip r:embed="rId7">
            <a:alphaModFix/>
          </a:blip>
          <a:srcRect b="0" l="0" r="0" t="0"/>
          <a:stretch/>
        </p:blipFill>
        <p:spPr>
          <a:xfrm>
            <a:off x="2162175" y="3186112"/>
            <a:ext cx="342900" cy="457200"/>
          </a:xfrm>
          <a:prstGeom prst="rect">
            <a:avLst/>
          </a:prstGeom>
          <a:noFill/>
          <a:ln>
            <a:noFill/>
          </a:ln>
        </p:spPr>
      </p:pic>
      <p:sp>
        <p:nvSpPr>
          <p:cNvPr id="610" name="Google Shape;610;p33"/>
          <p:cNvSpPr txBox="1"/>
          <p:nvPr/>
        </p:nvSpPr>
        <p:spPr>
          <a:xfrm>
            <a:off x="743426" y="3833812"/>
            <a:ext cx="3180397"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Hallucination</a:t>
            </a:r>
            <a:endParaRPr/>
          </a:p>
        </p:txBody>
      </p:sp>
      <p:sp>
        <p:nvSpPr>
          <p:cNvPr id="611" name="Google Shape;611;p33"/>
          <p:cNvSpPr txBox="1"/>
          <p:nvPr/>
        </p:nvSpPr>
        <p:spPr>
          <a:xfrm>
            <a:off x="819150" y="4148137"/>
            <a:ext cx="3028950"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Agent claims to have used a tool but actually just generated fake output.</a:t>
            </a:r>
            <a:endParaRPr/>
          </a:p>
        </p:txBody>
      </p:sp>
      <p:pic>
        <p:nvPicPr>
          <p:cNvPr descr="image.png" id="612" name="Google Shape;612;p33"/>
          <p:cNvPicPr preferRelativeResize="0"/>
          <p:nvPr/>
        </p:nvPicPr>
        <p:blipFill rotWithShape="1">
          <a:blip r:embed="rId8">
            <a:alphaModFix/>
          </a:blip>
          <a:srcRect b="0" l="0" r="0" t="0"/>
          <a:stretch/>
        </p:blipFill>
        <p:spPr>
          <a:xfrm>
            <a:off x="5810250" y="3186112"/>
            <a:ext cx="571500" cy="457200"/>
          </a:xfrm>
          <a:prstGeom prst="rect">
            <a:avLst/>
          </a:prstGeom>
          <a:noFill/>
          <a:ln>
            <a:noFill/>
          </a:ln>
        </p:spPr>
      </p:pic>
      <p:sp>
        <p:nvSpPr>
          <p:cNvPr id="613" name="Google Shape;613;p33"/>
          <p:cNvSpPr txBox="1"/>
          <p:nvPr/>
        </p:nvSpPr>
        <p:spPr>
          <a:xfrm>
            <a:off x="4505801" y="3833812"/>
            <a:ext cx="3180397"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Infinite Loops</a:t>
            </a:r>
            <a:endParaRPr/>
          </a:p>
        </p:txBody>
      </p:sp>
      <p:sp>
        <p:nvSpPr>
          <p:cNvPr id="614" name="Google Shape;614;p33"/>
          <p:cNvSpPr txBox="1"/>
          <p:nvPr/>
        </p:nvSpPr>
        <p:spPr>
          <a:xfrm>
            <a:off x="4581525" y="4148137"/>
            <a:ext cx="3028950"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Agent gets stuck calling the same broken API with the same bad parameters.</a:t>
            </a:r>
            <a:endParaRPr/>
          </a:p>
        </p:txBody>
      </p:sp>
      <p:pic>
        <p:nvPicPr>
          <p:cNvPr descr="image.png" id="615" name="Google Shape;615;p33"/>
          <p:cNvPicPr preferRelativeResize="0"/>
          <p:nvPr/>
        </p:nvPicPr>
        <p:blipFill rotWithShape="1">
          <a:blip r:embed="rId9">
            <a:alphaModFix/>
          </a:blip>
          <a:srcRect b="0" l="0" r="0" t="0"/>
          <a:stretch/>
        </p:blipFill>
        <p:spPr>
          <a:xfrm>
            <a:off x="9629775" y="3186112"/>
            <a:ext cx="457200" cy="457200"/>
          </a:xfrm>
          <a:prstGeom prst="rect">
            <a:avLst/>
          </a:prstGeom>
          <a:noFill/>
          <a:ln>
            <a:noFill/>
          </a:ln>
        </p:spPr>
      </p:pic>
      <p:sp>
        <p:nvSpPr>
          <p:cNvPr id="616" name="Google Shape;616;p33"/>
          <p:cNvSpPr txBox="1"/>
          <p:nvPr/>
        </p:nvSpPr>
        <p:spPr>
          <a:xfrm>
            <a:off x="8268176" y="3833812"/>
            <a:ext cx="3180397"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Parsing Errors</a:t>
            </a:r>
            <a:endParaRPr/>
          </a:p>
        </p:txBody>
      </p:sp>
      <p:sp>
        <p:nvSpPr>
          <p:cNvPr id="617" name="Google Shape;617;p33"/>
          <p:cNvSpPr txBox="1"/>
          <p:nvPr/>
        </p:nvSpPr>
        <p:spPr>
          <a:xfrm>
            <a:off x="8343900" y="4148137"/>
            <a:ext cx="3028950"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LLM fails to format the JSON correctly, breaking the app execution logic.</a:t>
            </a:r>
            <a:endParaRPr/>
          </a:p>
        </p:txBody>
      </p:sp>
      <p:sp>
        <p:nvSpPr>
          <p:cNvPr id="618" name="Google Shape;618;p33"/>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33"/>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Agents are brittle. Engineering effort must focus on handling these edge cases.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3" name="Shape 623"/>
        <p:cNvGrpSpPr/>
        <p:nvPr/>
      </p:nvGrpSpPr>
      <p:grpSpPr>
        <a:xfrm>
          <a:off x="0" y="0"/>
          <a:ext cx="0" cy="0"/>
          <a:chOff x="0" y="0"/>
          <a:chExt cx="0" cy="0"/>
        </a:xfrm>
      </p:grpSpPr>
      <p:pic>
        <p:nvPicPr>
          <p:cNvPr descr="image.png" id="624" name="Google Shape;624;p34"/>
          <p:cNvPicPr preferRelativeResize="0"/>
          <p:nvPr/>
        </p:nvPicPr>
        <p:blipFill rotWithShape="1">
          <a:blip r:embed="rId3">
            <a:alphaModFix/>
          </a:blip>
          <a:srcRect b="0" l="0" r="0" t="0"/>
          <a:stretch/>
        </p:blipFill>
        <p:spPr>
          <a:xfrm>
            <a:off x="5149601" y="214312"/>
            <a:ext cx="1892647" cy="333375"/>
          </a:xfrm>
          <a:prstGeom prst="rect">
            <a:avLst/>
          </a:prstGeom>
          <a:noFill/>
          <a:ln>
            <a:noFill/>
          </a:ln>
        </p:spPr>
      </p:pic>
      <p:pic>
        <p:nvPicPr>
          <p:cNvPr descr="image.png" id="625" name="Google Shape;625;p34"/>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sp>
        <p:nvSpPr>
          <p:cNvPr id="626" name="Google Shape;626;p34"/>
          <p:cNvSpPr txBox="1"/>
          <p:nvPr/>
        </p:nvSpPr>
        <p:spPr>
          <a:xfrm>
            <a:off x="7042249" y="295275"/>
            <a:ext cx="4768750"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22</a:t>
            </a:r>
            <a:endParaRPr/>
          </a:p>
        </p:txBody>
      </p:sp>
      <p:sp>
        <p:nvSpPr>
          <p:cNvPr id="627" name="Google Shape;627;p34"/>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Recovery Strategies</a:t>
            </a:r>
            <a:endParaRPr/>
          </a:p>
        </p:txBody>
      </p:sp>
      <p:sp>
        <p:nvSpPr>
          <p:cNvPr id="628" name="Google Shape;628;p34"/>
          <p:cNvSpPr txBox="1"/>
          <p:nvPr/>
        </p:nvSpPr>
        <p:spPr>
          <a:xfrm>
            <a:off x="571500" y="1638300"/>
            <a:ext cx="11049000"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0F172A"/>
                </a:solidFill>
                <a:latin typeface="Arial"/>
                <a:ea typeface="Arial"/>
                <a:cs typeface="Arial"/>
                <a:sym typeface="Arial"/>
              </a:rPr>
              <a:t>How to handle agent breakdowns.</a:t>
            </a:r>
            <a:endParaRPr/>
          </a:p>
        </p:txBody>
      </p:sp>
      <p:graphicFrame>
        <p:nvGraphicFramePr>
          <p:cNvPr id="629" name="Google Shape;629;p34"/>
          <p:cNvGraphicFramePr/>
          <p:nvPr/>
        </p:nvGraphicFramePr>
        <p:xfrm>
          <a:off x="571500" y="2076450"/>
          <a:ext cx="3000000" cy="3000000"/>
        </p:xfrm>
        <a:graphic>
          <a:graphicData uri="http://schemas.openxmlformats.org/drawingml/2006/table">
            <a:tbl>
              <a:tblPr bandRow="1" firstRow="1">
                <a:noFill/>
                <a:tableStyleId>{E61976D4-2394-4808-ADAC-E73B55D06255}</a:tableStyleId>
              </a:tblPr>
              <a:tblGrid>
                <a:gridCol w="2112900"/>
                <a:gridCol w="2995600"/>
                <a:gridCol w="5940475"/>
              </a:tblGrid>
              <a:tr h="473875">
                <a:tc>
                  <a:txBody>
                    <a:bodyPr/>
                    <a:lstStyle/>
                    <a:p>
                      <a:pPr indent="0" lvl="0" marL="0" marR="0" rtl="0" algn="l">
                        <a:spcBef>
                          <a:spcPts val="0"/>
                        </a:spcBef>
                        <a:spcAft>
                          <a:spcPts val="0"/>
                        </a:spcAft>
                        <a:buNone/>
                      </a:pPr>
                      <a:r>
                        <a:rPr b="1" i="0" lang="en-US" sz="1350" u="none" cap="none" strike="noStrike">
                          <a:solidFill>
                            <a:srgbClr val="FFFFFF"/>
                          </a:solidFill>
                          <a:latin typeface="Arial"/>
                          <a:ea typeface="Arial"/>
                          <a:cs typeface="Arial"/>
                          <a:sym typeface="Arial"/>
                        </a:rPr>
                        <a:t>Failure Mode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350" u="none" cap="none" strike="noStrike">
                          <a:solidFill>
                            <a:srgbClr val="FFFFFF"/>
                          </a:solidFill>
                          <a:latin typeface="Arial"/>
                          <a:ea typeface="Arial"/>
                          <a:cs typeface="Arial"/>
                          <a:sym typeface="Arial"/>
                        </a:rPr>
                        <a:t>Standard App Response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1350" u="none" cap="none" strike="noStrike">
                          <a:solidFill>
                            <a:srgbClr val="FFFFFF"/>
                          </a:solidFill>
                          <a:latin typeface="Arial"/>
                          <a:ea typeface="Arial"/>
                          <a:cs typeface="Arial"/>
                          <a:sym typeface="Arial"/>
                        </a:rPr>
                        <a:t>Agentic Recovery Strategy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473875">
                <a:tc>
                  <a:txBody>
                    <a:bodyPr/>
                    <a:lstStyle/>
                    <a:p>
                      <a:pPr indent="0" lvl="0" marL="0" marR="0" rtl="0" algn="l">
                        <a:spcBef>
                          <a:spcPts val="0"/>
                        </a:spcBef>
                        <a:spcAft>
                          <a:spcPts val="0"/>
                        </a:spcAft>
                        <a:buNone/>
                      </a:pPr>
                      <a:r>
                        <a:rPr b="1" i="0" lang="en-US" sz="1200" u="none" cap="none" strike="noStrike">
                          <a:solidFill>
                            <a:srgbClr val="334155"/>
                          </a:solidFill>
                          <a:latin typeface="Arial"/>
                          <a:ea typeface="Arial"/>
                          <a:cs typeface="Arial"/>
                          <a:sym typeface="Arial"/>
                        </a:rPr>
                        <a:t>JSON Parse Error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Throw 500 Server Error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Catch error, feed error string back to LLM to self-correct syntax.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73875">
                <a:tc>
                  <a:txBody>
                    <a:bodyPr/>
                    <a:lstStyle/>
                    <a:p>
                      <a:pPr indent="0" lvl="0" marL="0" marR="0" rtl="0" algn="l">
                        <a:spcBef>
                          <a:spcPts val="0"/>
                        </a:spcBef>
                        <a:spcAft>
                          <a:spcPts val="0"/>
                        </a:spcAft>
                        <a:buNone/>
                      </a:pPr>
                      <a:r>
                        <a:rPr b="1" i="0" lang="en-US" sz="1200" u="none" cap="none" strike="noStrike">
                          <a:solidFill>
                            <a:srgbClr val="334155"/>
                          </a:solidFill>
                          <a:latin typeface="Arial"/>
                          <a:ea typeface="Arial"/>
                          <a:cs typeface="Arial"/>
                          <a:sym typeface="Arial"/>
                        </a:rPr>
                        <a:t>Infinite Loop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Crash application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Implement max_iterations counter; force fallback output.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FF6FF"/>
                    </a:solidFill>
                  </a:tcPr>
                </a:tc>
              </a:tr>
              <a:tr h="473875">
                <a:tc>
                  <a:txBody>
                    <a:bodyPr/>
                    <a:lstStyle/>
                    <a:p>
                      <a:pPr indent="0" lvl="0" marL="0" marR="0" rtl="0" algn="l">
                        <a:spcBef>
                          <a:spcPts val="0"/>
                        </a:spcBef>
                        <a:spcAft>
                          <a:spcPts val="0"/>
                        </a:spcAft>
                        <a:buNone/>
                      </a:pPr>
                      <a:r>
                        <a:rPr b="1" i="0" lang="en-US" sz="1200" u="none" cap="none" strike="noStrike">
                          <a:solidFill>
                            <a:srgbClr val="334155"/>
                          </a:solidFill>
                          <a:latin typeface="Arial"/>
                          <a:ea typeface="Arial"/>
                          <a:cs typeface="Arial"/>
                          <a:sym typeface="Arial"/>
                        </a:rPr>
                        <a:t>Missing Data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Return Null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solidFill>
                            <a:srgbClr val="334155"/>
                          </a:solidFill>
                          <a:latin typeface="Arial"/>
                          <a:ea typeface="Arial"/>
                          <a:cs typeface="Arial"/>
                          <a:sym typeface="Arial"/>
                        </a:rPr>
                        <a:t>Agent prompts user: "Could you provide your account number?"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30" name="Google Shape;630;p34"/>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34"/>
          <p:cNvSpPr/>
          <p:nvPr/>
        </p:nvSpPr>
        <p:spPr>
          <a:xfrm>
            <a:off x="571500" y="3014662"/>
            <a:ext cx="211291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34"/>
          <p:cNvSpPr/>
          <p:nvPr/>
        </p:nvSpPr>
        <p:spPr>
          <a:xfrm>
            <a:off x="2684412" y="3014662"/>
            <a:ext cx="299561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3" name="Google Shape;633;p34"/>
          <p:cNvSpPr/>
          <p:nvPr/>
        </p:nvSpPr>
        <p:spPr>
          <a:xfrm>
            <a:off x="5680025" y="3014662"/>
            <a:ext cx="594047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p34"/>
          <p:cNvSpPr/>
          <p:nvPr/>
        </p:nvSpPr>
        <p:spPr>
          <a:xfrm>
            <a:off x="571500" y="3490912"/>
            <a:ext cx="211291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5" name="Google Shape;635;p34"/>
          <p:cNvSpPr/>
          <p:nvPr/>
        </p:nvSpPr>
        <p:spPr>
          <a:xfrm>
            <a:off x="2684412" y="3490912"/>
            <a:ext cx="299561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6" name="Google Shape;636;p34"/>
          <p:cNvSpPr/>
          <p:nvPr/>
        </p:nvSpPr>
        <p:spPr>
          <a:xfrm>
            <a:off x="5680025" y="3490912"/>
            <a:ext cx="594047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7" name="Google Shape;637;p34"/>
          <p:cNvSpPr/>
          <p:nvPr/>
        </p:nvSpPr>
        <p:spPr>
          <a:xfrm>
            <a:off x="571500" y="3957637"/>
            <a:ext cx="211291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34"/>
          <p:cNvSpPr/>
          <p:nvPr/>
        </p:nvSpPr>
        <p:spPr>
          <a:xfrm>
            <a:off x="2684412" y="3957637"/>
            <a:ext cx="299561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9" name="Google Shape;639;p34"/>
          <p:cNvSpPr/>
          <p:nvPr/>
        </p:nvSpPr>
        <p:spPr>
          <a:xfrm>
            <a:off x="5680025" y="3957637"/>
            <a:ext cx="594047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34"/>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1" name="Google Shape;641;p34"/>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Feed exceptions back into the LLM prompt; it is surprisingly good at fixing its own code.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5" name="Shape 645"/>
        <p:cNvGrpSpPr/>
        <p:nvPr/>
      </p:nvGrpSpPr>
      <p:grpSpPr>
        <a:xfrm>
          <a:off x="0" y="0"/>
          <a:ext cx="0" cy="0"/>
          <a:chOff x="0" y="0"/>
          <a:chExt cx="0" cy="0"/>
        </a:xfrm>
      </p:grpSpPr>
      <p:pic>
        <p:nvPicPr>
          <p:cNvPr descr="image.png" id="646" name="Google Shape;646;p35"/>
          <p:cNvPicPr preferRelativeResize="0"/>
          <p:nvPr/>
        </p:nvPicPr>
        <p:blipFill rotWithShape="1">
          <a:blip r:embed="rId3">
            <a:alphaModFix/>
          </a:blip>
          <a:srcRect b="0" l="0" r="0" t="0"/>
          <a:stretch/>
        </p:blipFill>
        <p:spPr>
          <a:xfrm>
            <a:off x="5412134" y="214312"/>
            <a:ext cx="1367730" cy="333375"/>
          </a:xfrm>
          <a:prstGeom prst="rect">
            <a:avLst/>
          </a:prstGeom>
          <a:noFill/>
          <a:ln>
            <a:noFill/>
          </a:ln>
        </p:spPr>
      </p:pic>
      <p:pic>
        <p:nvPicPr>
          <p:cNvPr descr="image.png" id="647" name="Google Shape;647;p35"/>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sp>
        <p:nvSpPr>
          <p:cNvPr id="648" name="Google Shape;648;p35"/>
          <p:cNvSpPr txBox="1"/>
          <p:nvPr/>
        </p:nvSpPr>
        <p:spPr>
          <a:xfrm>
            <a:off x="6779865" y="295275"/>
            <a:ext cx="5031134"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23</a:t>
            </a:r>
            <a:endParaRPr/>
          </a:p>
        </p:txBody>
      </p:sp>
      <p:sp>
        <p:nvSpPr>
          <p:cNvPr id="649" name="Google Shape;649;p35"/>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35"/>
          <p:cNvSpPr txBox="1"/>
          <p:nvPr/>
        </p:nvSpPr>
        <p:spPr>
          <a:xfrm>
            <a:off x="3885723" y="2466975"/>
            <a:ext cx="4420552" cy="1409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0F172A"/>
                </a:solidFill>
                <a:latin typeface="Arial"/>
                <a:ea typeface="Arial"/>
                <a:cs typeface="Arial"/>
                <a:sym typeface="Arial"/>
              </a:rPr>
              <a:t>Case Study:</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0F172A"/>
                </a:solidFill>
                <a:latin typeface="Arial"/>
                <a:ea typeface="Arial"/>
                <a:cs typeface="Arial"/>
                <a:sym typeface="Arial"/>
              </a:rPr>
              <a:t> Support Agent</a:t>
            </a:r>
            <a:endParaRPr/>
          </a:p>
        </p:txBody>
      </p:sp>
      <p:sp>
        <p:nvSpPr>
          <p:cNvPr id="651" name="Google Shape;651;p35"/>
          <p:cNvSpPr/>
          <p:nvPr/>
        </p:nvSpPr>
        <p:spPr>
          <a:xfrm>
            <a:off x="5524500" y="4067175"/>
            <a:ext cx="1143000" cy="57150"/>
          </a:xfrm>
          <a:prstGeom prst="roundRect">
            <a:avLst>
              <a:gd fmla="val 50000" name="adj"/>
            </a:avLst>
          </a:prstGeom>
          <a:solidFill>
            <a:srgbClr val="1665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35"/>
          <p:cNvSpPr txBox="1"/>
          <p:nvPr/>
        </p:nvSpPr>
        <p:spPr>
          <a:xfrm>
            <a:off x="3474243" y="4314825"/>
            <a:ext cx="5243363"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64748B"/>
                </a:solidFill>
                <a:latin typeface="Arial"/>
                <a:ea typeface="Arial"/>
                <a:cs typeface="Arial"/>
                <a:sym typeface="Arial"/>
              </a:rPr>
              <a:t>Combining Memory and Tools in Customer Support.</a:t>
            </a:r>
            <a:endParaRPr/>
          </a:p>
        </p:txBody>
      </p:sp>
      <p:sp>
        <p:nvSpPr>
          <p:cNvPr id="653" name="Google Shape;653;p35"/>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35"/>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Customer service is the prime testing ground for memory-augmented agents.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8" name="Shape 658"/>
        <p:cNvGrpSpPr/>
        <p:nvPr/>
      </p:nvGrpSpPr>
      <p:grpSpPr>
        <a:xfrm>
          <a:off x="0" y="0"/>
          <a:ext cx="0" cy="0"/>
          <a:chOff x="0" y="0"/>
          <a:chExt cx="0" cy="0"/>
        </a:xfrm>
      </p:grpSpPr>
      <p:pic>
        <p:nvPicPr>
          <p:cNvPr descr="image.png" id="659" name="Google Shape;659;p36"/>
          <p:cNvPicPr preferRelativeResize="0"/>
          <p:nvPr/>
        </p:nvPicPr>
        <p:blipFill rotWithShape="1">
          <a:blip r:embed="rId3">
            <a:alphaModFix/>
          </a:blip>
          <a:srcRect b="0" l="0" r="0" t="0"/>
          <a:stretch/>
        </p:blipFill>
        <p:spPr>
          <a:xfrm>
            <a:off x="5412134" y="214312"/>
            <a:ext cx="1367730" cy="333375"/>
          </a:xfrm>
          <a:prstGeom prst="rect">
            <a:avLst/>
          </a:prstGeom>
          <a:noFill/>
          <a:ln>
            <a:noFill/>
          </a:ln>
        </p:spPr>
      </p:pic>
      <p:pic>
        <p:nvPicPr>
          <p:cNvPr descr="image.png" id="660" name="Google Shape;660;p36"/>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661" name="Google Shape;661;p36"/>
          <p:cNvPicPr preferRelativeResize="0"/>
          <p:nvPr/>
        </p:nvPicPr>
        <p:blipFill rotWithShape="1">
          <a:blip r:embed="rId5">
            <a:alphaModFix/>
          </a:blip>
          <a:srcRect b="0" l="0" r="0" t="0"/>
          <a:stretch/>
        </p:blipFill>
        <p:spPr>
          <a:xfrm>
            <a:off x="4267944" y="2405062"/>
            <a:ext cx="3656111" cy="685800"/>
          </a:xfrm>
          <a:prstGeom prst="rect">
            <a:avLst/>
          </a:prstGeom>
          <a:noFill/>
          <a:ln>
            <a:noFill/>
          </a:ln>
        </p:spPr>
      </p:pic>
      <p:pic>
        <p:nvPicPr>
          <p:cNvPr descr="image.png" id="662" name="Google Shape;662;p36"/>
          <p:cNvPicPr preferRelativeResize="0"/>
          <p:nvPr/>
        </p:nvPicPr>
        <p:blipFill rotWithShape="1">
          <a:blip r:embed="rId6">
            <a:alphaModFix/>
          </a:blip>
          <a:srcRect b="0" l="0" r="0" t="0"/>
          <a:stretch/>
        </p:blipFill>
        <p:spPr>
          <a:xfrm>
            <a:off x="571500" y="3471862"/>
            <a:ext cx="2547937" cy="1857375"/>
          </a:xfrm>
          <a:prstGeom prst="rect">
            <a:avLst/>
          </a:prstGeom>
          <a:noFill/>
          <a:ln>
            <a:noFill/>
          </a:ln>
        </p:spPr>
      </p:pic>
      <p:pic>
        <p:nvPicPr>
          <p:cNvPr descr="image.png" id="663" name="Google Shape;663;p36"/>
          <p:cNvPicPr preferRelativeResize="0"/>
          <p:nvPr/>
        </p:nvPicPr>
        <p:blipFill rotWithShape="1">
          <a:blip r:embed="rId7">
            <a:alphaModFix/>
          </a:blip>
          <a:srcRect b="0" l="0" r="0" t="0"/>
          <a:stretch/>
        </p:blipFill>
        <p:spPr>
          <a:xfrm>
            <a:off x="3405187" y="3471862"/>
            <a:ext cx="2547937" cy="1857375"/>
          </a:xfrm>
          <a:prstGeom prst="rect">
            <a:avLst/>
          </a:prstGeom>
          <a:noFill/>
          <a:ln>
            <a:noFill/>
          </a:ln>
        </p:spPr>
      </p:pic>
      <p:pic>
        <p:nvPicPr>
          <p:cNvPr descr="image.png" id="664" name="Google Shape;664;p36"/>
          <p:cNvPicPr preferRelativeResize="0"/>
          <p:nvPr/>
        </p:nvPicPr>
        <p:blipFill rotWithShape="1">
          <a:blip r:embed="rId8">
            <a:alphaModFix/>
          </a:blip>
          <a:srcRect b="0" l="0" r="0" t="0"/>
          <a:stretch/>
        </p:blipFill>
        <p:spPr>
          <a:xfrm>
            <a:off x="6238875" y="3471862"/>
            <a:ext cx="2547937" cy="1857375"/>
          </a:xfrm>
          <a:prstGeom prst="rect">
            <a:avLst/>
          </a:prstGeom>
          <a:noFill/>
          <a:ln>
            <a:noFill/>
          </a:ln>
        </p:spPr>
      </p:pic>
      <p:pic>
        <p:nvPicPr>
          <p:cNvPr descr="image.png" id="665" name="Google Shape;665;p36"/>
          <p:cNvPicPr preferRelativeResize="0"/>
          <p:nvPr/>
        </p:nvPicPr>
        <p:blipFill rotWithShape="1">
          <a:blip r:embed="rId9">
            <a:alphaModFix/>
          </a:blip>
          <a:srcRect b="0" l="0" r="0" t="0"/>
          <a:stretch/>
        </p:blipFill>
        <p:spPr>
          <a:xfrm>
            <a:off x="9072562" y="3471862"/>
            <a:ext cx="2547937" cy="1857375"/>
          </a:xfrm>
          <a:prstGeom prst="rect">
            <a:avLst/>
          </a:prstGeom>
          <a:noFill/>
          <a:ln>
            <a:noFill/>
          </a:ln>
        </p:spPr>
      </p:pic>
      <p:sp>
        <p:nvSpPr>
          <p:cNvPr id="666" name="Google Shape;666;p36"/>
          <p:cNvSpPr txBox="1"/>
          <p:nvPr/>
        </p:nvSpPr>
        <p:spPr>
          <a:xfrm>
            <a:off x="6779865" y="295275"/>
            <a:ext cx="5031134"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24</a:t>
            </a:r>
            <a:endParaRPr/>
          </a:p>
        </p:txBody>
      </p:sp>
      <p:sp>
        <p:nvSpPr>
          <p:cNvPr id="667" name="Google Shape;667;p36"/>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Support Architecture</a:t>
            </a:r>
            <a:endParaRPr/>
          </a:p>
        </p:txBody>
      </p:sp>
      <p:sp>
        <p:nvSpPr>
          <p:cNvPr id="668" name="Google Shape;668;p36"/>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69" name="Google Shape;669;p36"/>
          <p:cNvPicPr preferRelativeResize="0"/>
          <p:nvPr/>
        </p:nvPicPr>
        <p:blipFill rotWithShape="1">
          <a:blip r:embed="rId10">
            <a:alphaModFix/>
          </a:blip>
          <a:srcRect b="0" l="0" r="0" t="0"/>
          <a:stretch/>
        </p:blipFill>
        <p:spPr>
          <a:xfrm>
            <a:off x="1616868" y="3719512"/>
            <a:ext cx="457200" cy="457200"/>
          </a:xfrm>
          <a:prstGeom prst="rect">
            <a:avLst/>
          </a:prstGeom>
          <a:noFill/>
          <a:ln>
            <a:noFill/>
          </a:ln>
        </p:spPr>
      </p:pic>
      <p:sp>
        <p:nvSpPr>
          <p:cNvPr id="670" name="Google Shape;670;p36"/>
          <p:cNvSpPr txBox="1"/>
          <p:nvPr/>
        </p:nvSpPr>
        <p:spPr>
          <a:xfrm>
            <a:off x="767834"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Short-term</a:t>
            </a:r>
            <a:endParaRPr/>
          </a:p>
        </p:txBody>
      </p:sp>
      <p:sp>
        <p:nvSpPr>
          <p:cNvPr id="671" name="Google Shape;671;p36"/>
          <p:cNvSpPr txBox="1"/>
          <p:nvPr/>
        </p:nvSpPr>
        <p:spPr>
          <a:xfrm>
            <a:off x="819150"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Tracks the current issue (e.g., "Resetting router").</a:t>
            </a:r>
            <a:endParaRPr/>
          </a:p>
        </p:txBody>
      </p:sp>
      <p:pic>
        <p:nvPicPr>
          <p:cNvPr descr="image.png" id="672" name="Google Shape;672;p36"/>
          <p:cNvPicPr preferRelativeResize="0"/>
          <p:nvPr/>
        </p:nvPicPr>
        <p:blipFill rotWithShape="1">
          <a:blip r:embed="rId11">
            <a:alphaModFix/>
          </a:blip>
          <a:srcRect b="0" l="0" r="0" t="0"/>
          <a:stretch/>
        </p:blipFill>
        <p:spPr>
          <a:xfrm>
            <a:off x="4450556" y="3719512"/>
            <a:ext cx="457200" cy="457200"/>
          </a:xfrm>
          <a:prstGeom prst="rect">
            <a:avLst/>
          </a:prstGeom>
          <a:noFill/>
          <a:ln>
            <a:noFill/>
          </a:ln>
        </p:spPr>
      </p:pic>
      <p:sp>
        <p:nvSpPr>
          <p:cNvPr id="673" name="Google Shape;673;p36"/>
          <p:cNvSpPr txBox="1"/>
          <p:nvPr/>
        </p:nvSpPr>
        <p:spPr>
          <a:xfrm>
            <a:off x="3601521"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Long-term</a:t>
            </a:r>
            <a:endParaRPr/>
          </a:p>
        </p:txBody>
      </p:sp>
      <p:sp>
        <p:nvSpPr>
          <p:cNvPr id="674" name="Google Shape;674;p36"/>
          <p:cNvSpPr txBox="1"/>
          <p:nvPr/>
        </p:nvSpPr>
        <p:spPr>
          <a:xfrm>
            <a:off x="3652837"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Stores customer device history and past ticket resolutions.</a:t>
            </a:r>
            <a:endParaRPr/>
          </a:p>
        </p:txBody>
      </p:sp>
      <p:pic>
        <p:nvPicPr>
          <p:cNvPr descr="image.png" id="675" name="Google Shape;675;p36"/>
          <p:cNvPicPr preferRelativeResize="0"/>
          <p:nvPr/>
        </p:nvPicPr>
        <p:blipFill rotWithShape="1">
          <a:blip r:embed="rId12">
            <a:alphaModFix/>
          </a:blip>
          <a:srcRect b="0" l="0" r="0" t="0"/>
          <a:stretch/>
        </p:blipFill>
        <p:spPr>
          <a:xfrm>
            <a:off x="7312818" y="3719512"/>
            <a:ext cx="400050" cy="457200"/>
          </a:xfrm>
          <a:prstGeom prst="rect">
            <a:avLst/>
          </a:prstGeom>
          <a:noFill/>
          <a:ln>
            <a:noFill/>
          </a:ln>
        </p:spPr>
      </p:pic>
      <p:sp>
        <p:nvSpPr>
          <p:cNvPr id="676" name="Google Shape;676;p36"/>
          <p:cNvSpPr txBox="1"/>
          <p:nvPr/>
        </p:nvSpPr>
        <p:spPr>
          <a:xfrm>
            <a:off x="6435209"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RAG Tool</a:t>
            </a:r>
            <a:endParaRPr/>
          </a:p>
        </p:txBody>
      </p:sp>
      <p:sp>
        <p:nvSpPr>
          <p:cNvPr id="677" name="Google Shape;677;p36"/>
          <p:cNvSpPr txBox="1"/>
          <p:nvPr/>
        </p:nvSpPr>
        <p:spPr>
          <a:xfrm>
            <a:off x="6486525"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Queries corporate knowledge base for troubleshooting steps.</a:t>
            </a:r>
            <a:endParaRPr/>
          </a:p>
        </p:txBody>
      </p:sp>
      <p:pic>
        <p:nvPicPr>
          <p:cNvPr descr="image.png" id="678" name="Google Shape;678;p36"/>
          <p:cNvPicPr preferRelativeResize="0"/>
          <p:nvPr/>
        </p:nvPicPr>
        <p:blipFill rotWithShape="1">
          <a:blip r:embed="rId13">
            <a:alphaModFix/>
          </a:blip>
          <a:srcRect b="0" l="0" r="0" t="0"/>
          <a:stretch/>
        </p:blipFill>
        <p:spPr>
          <a:xfrm>
            <a:off x="10117931" y="3719512"/>
            <a:ext cx="457200" cy="457200"/>
          </a:xfrm>
          <a:prstGeom prst="rect">
            <a:avLst/>
          </a:prstGeom>
          <a:noFill/>
          <a:ln>
            <a:noFill/>
          </a:ln>
        </p:spPr>
      </p:pic>
      <p:sp>
        <p:nvSpPr>
          <p:cNvPr id="679" name="Google Shape;679;p36"/>
          <p:cNvSpPr txBox="1"/>
          <p:nvPr/>
        </p:nvSpPr>
        <p:spPr>
          <a:xfrm>
            <a:off x="9268896" y="4367212"/>
            <a:ext cx="215526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0F172A"/>
                </a:solidFill>
                <a:latin typeface="Arial"/>
                <a:ea typeface="Arial"/>
                <a:cs typeface="Arial"/>
                <a:sym typeface="Arial"/>
              </a:rPr>
              <a:t>Action Tool</a:t>
            </a:r>
            <a:endParaRPr/>
          </a:p>
        </p:txBody>
      </p:sp>
      <p:sp>
        <p:nvSpPr>
          <p:cNvPr id="680" name="Google Shape;680;p36"/>
          <p:cNvSpPr txBox="1"/>
          <p:nvPr/>
        </p:nvSpPr>
        <p:spPr>
          <a:xfrm>
            <a:off x="9320212" y="4681537"/>
            <a:ext cx="2052637" cy="4000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1125" u="none" cap="none" strike="noStrike">
                <a:solidFill>
                  <a:srgbClr val="475569"/>
                </a:solidFill>
                <a:latin typeface="Arial"/>
                <a:ea typeface="Arial"/>
                <a:cs typeface="Arial"/>
                <a:sym typeface="Arial"/>
              </a:rPr>
              <a:t>API to issue refunds or trigger physical router restarts.</a:t>
            </a:r>
            <a:endParaRPr/>
          </a:p>
        </p:txBody>
      </p:sp>
      <p:sp>
        <p:nvSpPr>
          <p:cNvPr id="681" name="Google Shape;681;p36"/>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2" name="Google Shape;682;p36"/>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A modern support bot requires integration across four distinct modules.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6" name="Shape 686"/>
        <p:cNvGrpSpPr/>
        <p:nvPr/>
      </p:nvGrpSpPr>
      <p:grpSpPr>
        <a:xfrm>
          <a:off x="0" y="0"/>
          <a:ext cx="0" cy="0"/>
          <a:chOff x="0" y="0"/>
          <a:chExt cx="0" cy="0"/>
        </a:xfrm>
      </p:grpSpPr>
      <p:pic>
        <p:nvPicPr>
          <p:cNvPr descr="image.png" id="687" name="Google Shape;687;p37"/>
          <p:cNvPicPr preferRelativeResize="0"/>
          <p:nvPr/>
        </p:nvPicPr>
        <p:blipFill rotWithShape="1">
          <a:blip r:embed="rId3">
            <a:alphaModFix/>
          </a:blip>
          <a:srcRect b="0" l="0" r="0" t="0"/>
          <a:stretch/>
        </p:blipFill>
        <p:spPr>
          <a:xfrm>
            <a:off x="5412134" y="214312"/>
            <a:ext cx="1367730" cy="333375"/>
          </a:xfrm>
          <a:prstGeom prst="rect">
            <a:avLst/>
          </a:prstGeom>
          <a:noFill/>
          <a:ln>
            <a:noFill/>
          </a:ln>
        </p:spPr>
      </p:pic>
      <p:pic>
        <p:nvPicPr>
          <p:cNvPr descr="image.png" id="688" name="Google Shape;688;p37"/>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689" name="Google Shape;689;p37"/>
          <p:cNvPicPr preferRelativeResize="0"/>
          <p:nvPr/>
        </p:nvPicPr>
        <p:blipFill rotWithShape="1">
          <a:blip r:embed="rId5">
            <a:alphaModFix/>
          </a:blip>
          <a:srcRect b="0" l="0" r="0" t="0"/>
          <a:stretch/>
        </p:blipFill>
        <p:spPr>
          <a:xfrm>
            <a:off x="571500" y="2621458"/>
            <a:ext cx="5381625" cy="1102816"/>
          </a:xfrm>
          <a:prstGeom prst="rect">
            <a:avLst/>
          </a:prstGeom>
          <a:noFill/>
          <a:ln>
            <a:noFill/>
          </a:ln>
        </p:spPr>
      </p:pic>
      <p:pic>
        <p:nvPicPr>
          <p:cNvPr descr="image.png" id="690" name="Google Shape;690;p37"/>
          <p:cNvPicPr preferRelativeResize="0"/>
          <p:nvPr/>
        </p:nvPicPr>
        <p:blipFill rotWithShape="1">
          <a:blip r:embed="rId5">
            <a:alphaModFix/>
          </a:blip>
          <a:srcRect b="0" l="0" r="0" t="0"/>
          <a:stretch/>
        </p:blipFill>
        <p:spPr>
          <a:xfrm>
            <a:off x="6238875" y="2621458"/>
            <a:ext cx="5381625" cy="1102816"/>
          </a:xfrm>
          <a:prstGeom prst="rect">
            <a:avLst/>
          </a:prstGeom>
          <a:noFill/>
          <a:ln>
            <a:noFill/>
          </a:ln>
        </p:spPr>
      </p:pic>
      <p:pic>
        <p:nvPicPr>
          <p:cNvPr descr="image.png" id="691" name="Google Shape;691;p37"/>
          <p:cNvPicPr preferRelativeResize="0"/>
          <p:nvPr/>
        </p:nvPicPr>
        <p:blipFill rotWithShape="1">
          <a:blip r:embed="rId5">
            <a:alphaModFix/>
          </a:blip>
          <a:srcRect b="0" l="0" r="0" t="0"/>
          <a:stretch/>
        </p:blipFill>
        <p:spPr>
          <a:xfrm>
            <a:off x="571500" y="4010025"/>
            <a:ext cx="5381625" cy="1102816"/>
          </a:xfrm>
          <a:prstGeom prst="rect">
            <a:avLst/>
          </a:prstGeom>
          <a:noFill/>
          <a:ln>
            <a:noFill/>
          </a:ln>
        </p:spPr>
      </p:pic>
      <p:pic>
        <p:nvPicPr>
          <p:cNvPr descr="image.png" id="692" name="Google Shape;692;p37"/>
          <p:cNvPicPr preferRelativeResize="0"/>
          <p:nvPr/>
        </p:nvPicPr>
        <p:blipFill rotWithShape="1">
          <a:blip r:embed="rId5">
            <a:alphaModFix/>
          </a:blip>
          <a:srcRect b="0" l="0" r="0" t="0"/>
          <a:stretch/>
        </p:blipFill>
        <p:spPr>
          <a:xfrm>
            <a:off x="6238875" y="4010025"/>
            <a:ext cx="5381625" cy="1102816"/>
          </a:xfrm>
          <a:prstGeom prst="rect">
            <a:avLst/>
          </a:prstGeom>
          <a:noFill/>
          <a:ln>
            <a:noFill/>
          </a:ln>
        </p:spPr>
      </p:pic>
      <p:pic>
        <p:nvPicPr>
          <p:cNvPr descr="image.png" id="693" name="Google Shape;693;p37"/>
          <p:cNvPicPr preferRelativeResize="0"/>
          <p:nvPr/>
        </p:nvPicPr>
        <p:blipFill rotWithShape="1">
          <a:blip r:embed="rId6">
            <a:alphaModFix/>
          </a:blip>
          <a:srcRect b="0" l="0" r="0" t="0"/>
          <a:stretch/>
        </p:blipFill>
        <p:spPr>
          <a:xfrm>
            <a:off x="762000" y="2811958"/>
            <a:ext cx="381000" cy="381000"/>
          </a:xfrm>
          <a:prstGeom prst="rect">
            <a:avLst/>
          </a:prstGeom>
          <a:noFill/>
          <a:ln>
            <a:noFill/>
          </a:ln>
        </p:spPr>
      </p:pic>
      <p:pic>
        <p:nvPicPr>
          <p:cNvPr descr="image.png" id="694" name="Google Shape;694;p37"/>
          <p:cNvPicPr preferRelativeResize="0"/>
          <p:nvPr/>
        </p:nvPicPr>
        <p:blipFill rotWithShape="1">
          <a:blip r:embed="rId7">
            <a:alphaModFix/>
          </a:blip>
          <a:srcRect b="0" l="0" r="0" t="0"/>
          <a:stretch/>
        </p:blipFill>
        <p:spPr>
          <a:xfrm>
            <a:off x="6429375" y="2811958"/>
            <a:ext cx="381000" cy="381000"/>
          </a:xfrm>
          <a:prstGeom prst="rect">
            <a:avLst/>
          </a:prstGeom>
          <a:noFill/>
          <a:ln>
            <a:noFill/>
          </a:ln>
        </p:spPr>
      </p:pic>
      <p:pic>
        <p:nvPicPr>
          <p:cNvPr descr="image.png" id="695" name="Google Shape;695;p37"/>
          <p:cNvPicPr preferRelativeResize="0"/>
          <p:nvPr/>
        </p:nvPicPr>
        <p:blipFill rotWithShape="1">
          <a:blip r:embed="rId8">
            <a:alphaModFix/>
          </a:blip>
          <a:srcRect b="0" l="0" r="0" t="0"/>
          <a:stretch/>
        </p:blipFill>
        <p:spPr>
          <a:xfrm>
            <a:off x="762000" y="4200525"/>
            <a:ext cx="381000" cy="381000"/>
          </a:xfrm>
          <a:prstGeom prst="rect">
            <a:avLst/>
          </a:prstGeom>
          <a:noFill/>
          <a:ln>
            <a:noFill/>
          </a:ln>
        </p:spPr>
      </p:pic>
      <p:pic>
        <p:nvPicPr>
          <p:cNvPr descr="image.png" id="696" name="Google Shape;696;p37"/>
          <p:cNvPicPr preferRelativeResize="0"/>
          <p:nvPr/>
        </p:nvPicPr>
        <p:blipFill rotWithShape="1">
          <a:blip r:embed="rId9">
            <a:alphaModFix/>
          </a:blip>
          <a:srcRect b="0" l="0" r="0" t="0"/>
          <a:stretch/>
        </p:blipFill>
        <p:spPr>
          <a:xfrm>
            <a:off x="6429375" y="4200525"/>
            <a:ext cx="381000" cy="381000"/>
          </a:xfrm>
          <a:prstGeom prst="rect">
            <a:avLst/>
          </a:prstGeom>
          <a:noFill/>
          <a:ln>
            <a:noFill/>
          </a:ln>
        </p:spPr>
      </p:pic>
      <p:sp>
        <p:nvSpPr>
          <p:cNvPr id="697" name="Google Shape;697;p37"/>
          <p:cNvSpPr txBox="1"/>
          <p:nvPr/>
        </p:nvSpPr>
        <p:spPr>
          <a:xfrm>
            <a:off x="6779865" y="295275"/>
            <a:ext cx="5031134"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25</a:t>
            </a:r>
            <a:endParaRPr/>
          </a:p>
        </p:txBody>
      </p:sp>
      <p:sp>
        <p:nvSpPr>
          <p:cNvPr id="698" name="Google Shape;698;p37"/>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Step-by-Step Resolution</a:t>
            </a:r>
            <a:endParaRPr/>
          </a:p>
        </p:txBody>
      </p:sp>
      <p:sp>
        <p:nvSpPr>
          <p:cNvPr id="699" name="Google Shape;699;p37"/>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0" name="Google Shape;700;p37"/>
          <p:cNvSpPr txBox="1"/>
          <p:nvPr/>
        </p:nvSpPr>
        <p:spPr>
          <a:xfrm>
            <a:off x="1333500" y="2811958"/>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Identify User</a:t>
            </a:r>
            <a:endParaRPr/>
          </a:p>
        </p:txBody>
      </p:sp>
      <p:sp>
        <p:nvSpPr>
          <p:cNvPr id="701" name="Google Shape;701;p37"/>
          <p:cNvSpPr txBox="1"/>
          <p:nvPr/>
        </p:nvSpPr>
        <p:spPr>
          <a:xfrm>
            <a:off x="1333500" y="3107233"/>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Agent checks Long-Term memory vector DB to see user's active subscriptions.</a:t>
            </a:r>
            <a:endParaRPr/>
          </a:p>
        </p:txBody>
      </p:sp>
      <p:sp>
        <p:nvSpPr>
          <p:cNvPr id="702" name="Google Shape;702;p37"/>
          <p:cNvSpPr txBox="1"/>
          <p:nvPr/>
        </p:nvSpPr>
        <p:spPr>
          <a:xfrm>
            <a:off x="7000875" y="2811958"/>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Analyze Issue</a:t>
            </a:r>
            <a:endParaRPr/>
          </a:p>
        </p:txBody>
      </p:sp>
      <p:sp>
        <p:nvSpPr>
          <p:cNvPr id="703" name="Google Shape;703;p37"/>
          <p:cNvSpPr txBox="1"/>
          <p:nvPr/>
        </p:nvSpPr>
        <p:spPr>
          <a:xfrm>
            <a:off x="7000875" y="3107233"/>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Reads current chat (Short-Term). User says "Internet is down again."</a:t>
            </a:r>
            <a:endParaRPr/>
          </a:p>
        </p:txBody>
      </p:sp>
      <p:sp>
        <p:nvSpPr>
          <p:cNvPr id="704" name="Google Shape;704;p37"/>
          <p:cNvSpPr txBox="1"/>
          <p:nvPr/>
        </p:nvSpPr>
        <p:spPr>
          <a:xfrm>
            <a:off x="1333500" y="4200525"/>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Consult Manual</a:t>
            </a:r>
            <a:endParaRPr/>
          </a:p>
        </p:txBody>
      </p:sp>
      <p:sp>
        <p:nvSpPr>
          <p:cNvPr id="705" name="Google Shape;705;p37"/>
          <p:cNvSpPr txBox="1"/>
          <p:nvPr/>
        </p:nvSpPr>
        <p:spPr>
          <a:xfrm>
            <a:off x="1333500" y="4495800"/>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Agent uses RAG Tool to pull the exact reset procedure for the user's specific router model.</a:t>
            </a:r>
            <a:endParaRPr/>
          </a:p>
        </p:txBody>
      </p:sp>
      <p:sp>
        <p:nvSpPr>
          <p:cNvPr id="706" name="Google Shape;706;p37"/>
          <p:cNvSpPr txBox="1"/>
          <p:nvPr/>
        </p:nvSpPr>
        <p:spPr>
          <a:xfrm>
            <a:off x="7000875" y="4200525"/>
            <a:ext cx="465058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Arial"/>
                <a:ea typeface="Arial"/>
                <a:cs typeface="Arial"/>
                <a:sym typeface="Arial"/>
              </a:rPr>
              <a:t>Take Action</a:t>
            </a:r>
            <a:endParaRPr/>
          </a:p>
        </p:txBody>
      </p:sp>
      <p:sp>
        <p:nvSpPr>
          <p:cNvPr id="707" name="Google Shape;707;p37"/>
          <p:cNvSpPr txBox="1"/>
          <p:nvPr/>
        </p:nvSpPr>
        <p:spPr>
          <a:xfrm>
            <a:off x="7000875" y="4495800"/>
            <a:ext cx="442912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334155"/>
                </a:solidFill>
                <a:latin typeface="Arial"/>
                <a:ea typeface="Arial"/>
                <a:cs typeface="Arial"/>
                <a:sym typeface="Arial"/>
              </a:rPr>
              <a:t>Agent triggers the API Tool to run a remote diagnostic test and informs the user.</a:t>
            </a:r>
            <a:endParaRPr/>
          </a:p>
        </p:txBody>
      </p:sp>
      <p:sp>
        <p:nvSpPr>
          <p:cNvPr id="708" name="Google Shape;708;p37"/>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9" name="Google Shape;709;p37"/>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The agent synthesizes past data, current context, external knowledge, and action seamlessly.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3" name="Shape 713"/>
        <p:cNvGrpSpPr/>
        <p:nvPr/>
      </p:nvGrpSpPr>
      <p:grpSpPr>
        <a:xfrm>
          <a:off x="0" y="0"/>
          <a:ext cx="0" cy="0"/>
          <a:chOff x="0" y="0"/>
          <a:chExt cx="0" cy="0"/>
        </a:xfrm>
      </p:grpSpPr>
      <p:pic>
        <p:nvPicPr>
          <p:cNvPr descr="image.png" id="714" name="Google Shape;714;p38"/>
          <p:cNvPicPr preferRelativeResize="0"/>
          <p:nvPr/>
        </p:nvPicPr>
        <p:blipFill rotWithShape="1">
          <a:blip r:embed="rId3">
            <a:alphaModFix/>
          </a:blip>
          <a:srcRect b="0" l="0" r="0" t="0"/>
          <a:stretch/>
        </p:blipFill>
        <p:spPr>
          <a:xfrm>
            <a:off x="5412134" y="214312"/>
            <a:ext cx="1367730" cy="333375"/>
          </a:xfrm>
          <a:prstGeom prst="rect">
            <a:avLst/>
          </a:prstGeom>
          <a:noFill/>
          <a:ln>
            <a:noFill/>
          </a:ln>
        </p:spPr>
      </p:pic>
      <p:pic>
        <p:nvPicPr>
          <p:cNvPr descr="image.png" id="715" name="Google Shape;715;p38"/>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grpSp>
        <p:nvGrpSpPr>
          <p:cNvPr id="716" name="Google Shape;716;p38"/>
          <p:cNvGrpSpPr/>
          <p:nvPr/>
        </p:nvGrpSpPr>
        <p:grpSpPr>
          <a:xfrm>
            <a:off x="571500" y="1571625"/>
            <a:ext cx="5143500" cy="4191150"/>
            <a:chOff x="571500" y="1571625"/>
            <a:chExt cx="5143500" cy="4191150"/>
          </a:xfrm>
        </p:grpSpPr>
        <p:sp>
          <p:nvSpPr>
            <p:cNvPr id="717" name="Google Shape;717;p38"/>
            <p:cNvSpPr txBox="1"/>
            <p:nvPr/>
          </p:nvSpPr>
          <p:spPr>
            <a:xfrm>
              <a:off x="571500" y="1571625"/>
              <a:ext cx="5143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50">
                  <a:solidFill>
                    <a:srgbClr val="475569"/>
                  </a:solidFill>
                  <a:latin typeface="Arial"/>
                  <a:ea typeface="Arial"/>
                  <a:cs typeface="Arial"/>
                  <a:sym typeface="Arial"/>
                </a:rPr>
                <a:t>Instead of forcing the user to repeat their issue, the agent instantly retrieves their CRM history.</a:t>
              </a:r>
              <a:endParaRPr b="0" sz="1450">
                <a:solidFill>
                  <a:srgbClr val="475569"/>
                </a:solidFill>
                <a:latin typeface="Arial"/>
                <a:ea typeface="Arial"/>
                <a:cs typeface="Arial"/>
                <a:sym typeface="Arial"/>
              </a:endParaRPr>
            </a:p>
          </p:txBody>
        </p:sp>
        <p:sp>
          <p:nvSpPr>
            <p:cNvPr id="718" name="Google Shape;718;p38"/>
            <p:cNvSpPr/>
            <p:nvPr/>
          </p:nvSpPr>
          <p:spPr>
            <a:xfrm>
              <a:off x="571500" y="2333625"/>
              <a:ext cx="5143500" cy="1047900"/>
            </a:xfrm>
            <a:prstGeom prst="roundRect">
              <a:avLst>
                <a:gd fmla="val 10909"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9" name="Google Shape;719;p38"/>
            <p:cNvSpPr txBox="1"/>
            <p:nvPr/>
          </p:nvSpPr>
          <p:spPr>
            <a:xfrm>
              <a:off x="762000" y="2476500"/>
              <a:ext cx="4762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Arial"/>
                  <a:ea typeface="Arial"/>
                  <a:cs typeface="Arial"/>
                  <a:sym typeface="Arial"/>
                </a:rPr>
                <a:t>🔍 Vector Database Query</a:t>
              </a:r>
              <a:endParaRPr b="1" sz="1200">
                <a:solidFill>
                  <a:srgbClr val="0F172A"/>
                </a:solidFill>
                <a:latin typeface="Arial"/>
                <a:ea typeface="Arial"/>
                <a:cs typeface="Arial"/>
                <a:sym typeface="Arial"/>
              </a:endParaRPr>
            </a:p>
            <a:p>
              <a:pPr indent="0" lvl="0" marL="0" rtl="0" algn="l">
                <a:spcBef>
                  <a:spcPts val="600"/>
                </a:spcBef>
                <a:spcAft>
                  <a:spcPts val="0"/>
                </a:spcAft>
                <a:buNone/>
              </a:pPr>
              <a:r>
                <a:rPr b="1" lang="en-US" sz="1250">
                  <a:solidFill>
                    <a:srgbClr val="38BDF8"/>
                  </a:solidFill>
                  <a:highlight>
                    <a:srgbClr val="0F172A"/>
                  </a:highlight>
                  <a:latin typeface="Arial"/>
                  <a:ea typeface="Arial"/>
                  <a:cs typeface="Arial"/>
                  <a:sym typeface="Arial"/>
                </a:rPr>
                <a:t>search(user_id="U882", topic="past_tickets")</a:t>
              </a:r>
              <a:endParaRPr b="1" sz="1250">
                <a:solidFill>
                  <a:srgbClr val="38BDF8"/>
                </a:solidFill>
                <a:highlight>
                  <a:srgbClr val="0F172A"/>
                </a:highlight>
                <a:latin typeface="Arial"/>
                <a:ea typeface="Arial"/>
                <a:cs typeface="Arial"/>
                <a:sym typeface="Arial"/>
              </a:endParaRPr>
            </a:p>
          </p:txBody>
        </p:sp>
        <p:sp>
          <p:nvSpPr>
            <p:cNvPr id="720" name="Google Shape;720;p38"/>
            <p:cNvSpPr/>
            <p:nvPr/>
          </p:nvSpPr>
          <p:spPr>
            <a:xfrm>
              <a:off x="571500" y="3571875"/>
              <a:ext cx="5143500" cy="1095300"/>
            </a:xfrm>
            <a:prstGeom prst="roundRect">
              <a:avLst>
                <a:gd fmla="val 10434" name="adj"/>
              </a:avLst>
            </a:prstGeom>
            <a:solidFill>
              <a:srgbClr val="F0FDF4"/>
            </a:solidFill>
            <a:ln cap="flat" cmpd="sng" w="14300">
              <a:solidFill>
                <a:srgbClr val="DCFC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1" name="Google Shape;721;p38"/>
            <p:cNvSpPr txBox="1"/>
            <p:nvPr/>
          </p:nvSpPr>
          <p:spPr>
            <a:xfrm>
              <a:off x="762000" y="3714750"/>
              <a:ext cx="4762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166534"/>
                  </a:solidFill>
                  <a:latin typeface="Arial"/>
                  <a:ea typeface="Arial"/>
                  <a:cs typeface="Arial"/>
                  <a:sym typeface="Arial"/>
                </a:rPr>
                <a:t>💡 Real-time Agent Context</a:t>
              </a:r>
              <a:endParaRPr b="1" sz="1200">
                <a:solidFill>
                  <a:srgbClr val="166534"/>
                </a:solidFill>
                <a:latin typeface="Arial"/>
                <a:ea typeface="Arial"/>
                <a:cs typeface="Arial"/>
                <a:sym typeface="Arial"/>
              </a:endParaRPr>
            </a:p>
            <a:p>
              <a:pPr indent="0" lvl="0" marL="0" rtl="0" algn="l">
                <a:spcBef>
                  <a:spcPts val="600"/>
                </a:spcBef>
                <a:spcAft>
                  <a:spcPts val="0"/>
                </a:spcAft>
                <a:buNone/>
              </a:pPr>
              <a:r>
                <a:rPr i="1" lang="en-US" sz="1350">
                  <a:solidFill>
                    <a:srgbClr val="14532D"/>
                  </a:solidFill>
                  <a:latin typeface="Arial"/>
                  <a:ea typeface="Arial"/>
                  <a:cs typeface="Arial"/>
                  <a:sym typeface="Arial"/>
                </a:rPr>
                <a:t>"I see you called yesterday about the billing error. I have processed the $15 refund."</a:t>
              </a:r>
              <a:endParaRPr i="1" sz="1350">
                <a:solidFill>
                  <a:srgbClr val="14532D"/>
                </a:solidFill>
                <a:latin typeface="Arial"/>
                <a:ea typeface="Arial"/>
                <a:cs typeface="Arial"/>
                <a:sym typeface="Arial"/>
              </a:endParaRPr>
            </a:p>
          </p:txBody>
        </p:sp>
        <p:sp>
          <p:nvSpPr>
            <p:cNvPr id="722" name="Google Shape;722;p38"/>
            <p:cNvSpPr txBox="1"/>
            <p:nvPr/>
          </p:nvSpPr>
          <p:spPr>
            <a:xfrm>
              <a:off x="571500" y="4905375"/>
              <a:ext cx="51435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50">
                  <a:solidFill>
                    <a:srgbClr val="0F172A"/>
                  </a:solidFill>
                  <a:latin typeface="Arial"/>
                  <a:ea typeface="Arial"/>
                  <a:cs typeface="Arial"/>
                  <a:sym typeface="Arial"/>
                </a:rPr>
                <a:t>🚀 Strategic Impact</a:t>
              </a:r>
              <a:endParaRPr b="1" sz="1450">
                <a:solidFill>
                  <a:srgbClr val="0F172A"/>
                </a:solidFill>
                <a:latin typeface="Arial"/>
                <a:ea typeface="Arial"/>
                <a:cs typeface="Arial"/>
                <a:sym typeface="Arial"/>
              </a:endParaRPr>
            </a:p>
            <a:p>
              <a:pPr indent="0" lvl="0" marL="0" rtl="0" algn="l">
                <a:spcBef>
                  <a:spcPts val="450"/>
                </a:spcBef>
                <a:spcAft>
                  <a:spcPts val="0"/>
                </a:spcAft>
                <a:buNone/>
              </a:pPr>
              <a:r>
                <a:rPr b="0" lang="en-US" sz="1350">
                  <a:solidFill>
                    <a:srgbClr val="475569"/>
                  </a:solidFill>
                  <a:latin typeface="Arial"/>
                  <a:ea typeface="Arial"/>
                  <a:cs typeface="Arial"/>
                  <a:sym typeface="Arial"/>
                </a:rPr>
                <a:t>This drastically reduces handle time, eliminates onboarding friction, and improves overall customer satisfaction.</a:t>
              </a:r>
              <a:endParaRPr b="0" sz="1350">
                <a:solidFill>
                  <a:srgbClr val="475569"/>
                </a:solidFill>
                <a:latin typeface="Arial"/>
                <a:ea typeface="Arial"/>
                <a:cs typeface="Arial"/>
                <a:sym typeface="Arial"/>
              </a:endParaRPr>
            </a:p>
          </p:txBody>
        </p:sp>
      </p:grpSp>
      <p:grpSp>
        <p:nvGrpSpPr>
          <p:cNvPr id="723" name="Google Shape;723;p38"/>
          <p:cNvGrpSpPr/>
          <p:nvPr/>
        </p:nvGrpSpPr>
        <p:grpSpPr>
          <a:xfrm>
            <a:off x="6143625" y="1571625"/>
            <a:ext cx="5429400" cy="4286400"/>
            <a:chOff x="6143625" y="1571625"/>
            <a:chExt cx="5429400" cy="4286400"/>
          </a:xfrm>
        </p:grpSpPr>
        <p:sp>
          <p:nvSpPr>
            <p:cNvPr id="724" name="Google Shape;724;p38"/>
            <p:cNvSpPr/>
            <p:nvPr/>
          </p:nvSpPr>
          <p:spPr>
            <a:xfrm>
              <a:off x="6143625" y="1571625"/>
              <a:ext cx="5429400" cy="4286400"/>
            </a:xfrm>
            <a:prstGeom prst="roundRect">
              <a:avLst>
                <a:gd fmla="val 355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lean and modern customer support CRM dashboard interface showing active customer profile, past ticket logs, and timeline. Sleek SaaS software design, light mode UI, minimal design, high resolution vector style." id="725" name="Google Shape;725;p38"/>
            <p:cNvPicPr preferRelativeResize="0"/>
            <p:nvPr/>
          </p:nvPicPr>
          <p:blipFill rotWithShape="1">
            <a:blip r:embed="rId5">
              <a:alphaModFix/>
            </a:blip>
            <a:srcRect b="0" l="2034" r="2034" t="0"/>
            <a:stretch/>
          </p:blipFill>
          <p:spPr>
            <a:xfrm>
              <a:off x="6238875" y="1666875"/>
              <a:ext cx="5238900" cy="4095900"/>
            </a:xfrm>
            <a:prstGeom prst="rect">
              <a:avLst/>
            </a:prstGeom>
            <a:noFill/>
            <a:ln>
              <a:noFill/>
            </a:ln>
          </p:spPr>
        </p:pic>
      </p:grpSp>
      <p:sp>
        <p:nvSpPr>
          <p:cNvPr id="726" name="Google Shape;726;p38"/>
          <p:cNvSpPr txBox="1"/>
          <p:nvPr/>
        </p:nvSpPr>
        <p:spPr>
          <a:xfrm>
            <a:off x="6779865" y="295275"/>
            <a:ext cx="5031000" cy="1848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26</a:t>
            </a:r>
            <a:endParaRPr/>
          </a:p>
        </p:txBody>
      </p:sp>
      <p:sp>
        <p:nvSpPr>
          <p:cNvPr id="727" name="Google Shape;727;p38"/>
          <p:cNvSpPr txBox="1"/>
          <p:nvPr/>
        </p:nvSpPr>
        <p:spPr>
          <a:xfrm>
            <a:off x="571500" y="95250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Accessing User History</a:t>
            </a:r>
            <a:endParaRPr/>
          </a:p>
        </p:txBody>
      </p:sp>
      <p:sp>
        <p:nvSpPr>
          <p:cNvPr id="728" name="Google Shape;728;p38"/>
          <p:cNvSpPr/>
          <p:nvPr/>
        </p:nvSpPr>
        <p:spPr>
          <a:xfrm>
            <a:off x="381000" y="304800"/>
            <a:ext cx="28590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9" name="Google Shape;729;p38"/>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0" name="Google Shape;730;p38"/>
          <p:cNvSpPr txBox="1"/>
          <p:nvPr/>
        </p:nvSpPr>
        <p:spPr>
          <a:xfrm>
            <a:off x="381000" y="6286500"/>
            <a:ext cx="114300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Contextual continuity is the hallmark of premium customer service.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4" name="Shape 734"/>
        <p:cNvGrpSpPr/>
        <p:nvPr/>
      </p:nvGrpSpPr>
      <p:grpSpPr>
        <a:xfrm>
          <a:off x="0" y="0"/>
          <a:ext cx="0" cy="0"/>
          <a:chOff x="0" y="0"/>
          <a:chExt cx="0" cy="0"/>
        </a:xfrm>
      </p:grpSpPr>
      <p:pic>
        <p:nvPicPr>
          <p:cNvPr descr="image.png" id="735" name="Google Shape;735;p39"/>
          <p:cNvPicPr preferRelativeResize="0"/>
          <p:nvPr/>
        </p:nvPicPr>
        <p:blipFill rotWithShape="1">
          <a:blip r:embed="rId3">
            <a:alphaModFix/>
          </a:blip>
          <a:srcRect b="0" l="0" r="0" t="0"/>
          <a:stretch/>
        </p:blipFill>
        <p:spPr>
          <a:xfrm>
            <a:off x="5412134" y="214312"/>
            <a:ext cx="1367730" cy="333375"/>
          </a:xfrm>
          <a:prstGeom prst="rect">
            <a:avLst/>
          </a:prstGeom>
          <a:noFill/>
          <a:ln>
            <a:noFill/>
          </a:ln>
        </p:spPr>
      </p:pic>
      <p:pic>
        <p:nvPicPr>
          <p:cNvPr descr="image.png" id="736" name="Google Shape;736;p39"/>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id="737" name="Google Shape;737;p39"/>
          <p:cNvPicPr preferRelativeResize="0"/>
          <p:nvPr/>
        </p:nvPicPr>
        <p:blipFill rotWithShape="1">
          <a:blip r:embed="rId5">
            <a:alphaModFix/>
          </a:blip>
          <a:srcRect b="189" l="0" r="0" t="179"/>
          <a:stretch/>
        </p:blipFill>
        <p:spPr>
          <a:xfrm>
            <a:off x="571500" y="2095500"/>
            <a:ext cx="5143500" cy="2847900"/>
          </a:xfrm>
          <a:prstGeom prst="rect">
            <a:avLst/>
          </a:prstGeom>
          <a:noFill/>
          <a:ln>
            <a:noFill/>
          </a:ln>
        </p:spPr>
      </p:pic>
      <p:pic>
        <p:nvPicPr>
          <p:cNvPr id="738" name="Google Shape;738;p39"/>
          <p:cNvPicPr preferRelativeResize="0"/>
          <p:nvPr/>
        </p:nvPicPr>
        <p:blipFill rotWithShape="1">
          <a:blip r:embed="rId6">
            <a:alphaModFix/>
          </a:blip>
          <a:srcRect b="1710" l="0" r="0" t="1700"/>
          <a:stretch/>
        </p:blipFill>
        <p:spPr>
          <a:xfrm>
            <a:off x="762000" y="1952625"/>
            <a:ext cx="1737600" cy="247800"/>
          </a:xfrm>
          <a:prstGeom prst="rect">
            <a:avLst/>
          </a:prstGeom>
          <a:noFill/>
          <a:ln>
            <a:noFill/>
          </a:ln>
        </p:spPr>
      </p:pic>
      <p:sp>
        <p:nvSpPr>
          <p:cNvPr id="739" name="Google Shape;739;p39"/>
          <p:cNvSpPr txBox="1"/>
          <p:nvPr/>
        </p:nvSpPr>
        <p:spPr>
          <a:xfrm>
            <a:off x="6779865" y="295275"/>
            <a:ext cx="5031000" cy="1848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27</a:t>
            </a:r>
            <a:endParaRPr/>
          </a:p>
        </p:txBody>
      </p:sp>
      <p:sp>
        <p:nvSpPr>
          <p:cNvPr id="740" name="Google Shape;740;p39"/>
          <p:cNvSpPr txBox="1"/>
          <p:nvPr/>
        </p:nvSpPr>
        <p:spPr>
          <a:xfrm>
            <a:off x="571500" y="952500"/>
            <a:ext cx="116016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RAG Knowledge Base Code</a:t>
            </a:r>
            <a:endParaRPr/>
          </a:p>
        </p:txBody>
      </p:sp>
      <p:sp>
        <p:nvSpPr>
          <p:cNvPr id="741" name="Google Shape;741;p39"/>
          <p:cNvSpPr txBox="1"/>
          <p:nvPr/>
        </p:nvSpPr>
        <p:spPr>
          <a:xfrm>
            <a:off x="571500" y="1638300"/>
            <a:ext cx="110490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334155"/>
                </a:solidFill>
                <a:latin typeface="Arial"/>
                <a:ea typeface="Arial"/>
                <a:cs typeface="Arial"/>
                <a:sym typeface="Arial"/>
              </a:rPr>
              <a:t>Connecting the support agent to company manuals.</a:t>
            </a:r>
            <a:endParaRPr/>
          </a:p>
        </p:txBody>
      </p:sp>
      <p:sp>
        <p:nvSpPr>
          <p:cNvPr id="742" name="Google Shape;742;p39"/>
          <p:cNvSpPr/>
          <p:nvPr/>
        </p:nvSpPr>
        <p:spPr>
          <a:xfrm>
            <a:off x="381000" y="304800"/>
            <a:ext cx="28590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3" name="Google Shape;743;p39"/>
          <p:cNvSpPr/>
          <p:nvPr/>
        </p:nvSpPr>
        <p:spPr>
          <a:xfrm>
            <a:off x="6286500" y="2095500"/>
            <a:ext cx="5334000" cy="2857500"/>
          </a:xfrm>
          <a:prstGeom prst="roundRect">
            <a:avLst>
              <a:gd fmla="val 4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4" name="Google Shape;744;p39"/>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745" name="Google Shape;745;p39"/>
          <p:cNvGrpSpPr/>
          <p:nvPr/>
        </p:nvGrpSpPr>
        <p:grpSpPr>
          <a:xfrm>
            <a:off x="6572250" y="2333625"/>
            <a:ext cx="4762500" cy="2381400"/>
            <a:chOff x="0" y="0"/>
            <a:chExt cx="4762500" cy="2381400"/>
          </a:xfrm>
        </p:grpSpPr>
        <p:sp>
          <p:nvSpPr>
            <p:cNvPr id="746" name="Google Shape;746;p39"/>
            <p:cNvSpPr/>
            <p:nvPr/>
          </p:nvSpPr>
          <p:spPr>
            <a:xfrm>
              <a:off x="0" y="0"/>
              <a:ext cx="4762500" cy="2381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7" name="Google Shape;747;p39"/>
            <p:cNvSpPr txBox="1"/>
            <p:nvPr/>
          </p:nvSpPr>
          <p:spPr>
            <a:xfrm>
              <a:off x="0" y="0"/>
              <a:ext cx="4762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500">
                  <a:solidFill>
                    <a:srgbClr val="0F172A"/>
                  </a:solidFill>
                  <a:latin typeface="Arial"/>
                  <a:ea typeface="Arial"/>
                  <a:cs typeface="Arial"/>
                  <a:sym typeface="Arial"/>
                </a:rPr>
                <a:t>How the Retrieval Chain Works</a:t>
              </a:r>
              <a:endParaRPr b="1" sz="1500">
                <a:solidFill>
                  <a:srgbClr val="0F172A"/>
                </a:solidFill>
                <a:latin typeface="Arial"/>
                <a:ea typeface="Arial"/>
                <a:cs typeface="Arial"/>
                <a:sym typeface="Arial"/>
              </a:endParaRPr>
            </a:p>
            <a:p>
              <a:pPr indent="-304800" lvl="0" marL="457200" rtl="0" algn="l">
                <a:spcBef>
                  <a:spcPts val="120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Embeds:</a:t>
              </a:r>
              <a:r>
                <a:rPr lang="en-US" sz="1200">
                  <a:solidFill>
                    <a:srgbClr val="334155"/>
                  </a:solidFill>
                  <a:latin typeface="Arial"/>
                  <a:ea typeface="Arial"/>
                  <a:cs typeface="Arial"/>
                  <a:sym typeface="Arial"/>
                </a:rPr>
                <a:t> Automatically converts the user's query into a vector representation.</a:t>
              </a:r>
              <a:endParaRPr sz="1200">
                <a:solidFill>
                  <a:srgbClr val="334155"/>
                </a:solidFill>
                <a:latin typeface="Arial"/>
                <a:ea typeface="Arial"/>
                <a:cs typeface="Arial"/>
                <a:sym typeface="Arial"/>
              </a:endParaRPr>
            </a:p>
            <a:p>
              <a:pPr indent="-304800" lvl="0" marL="457200" rtl="0" algn="l">
                <a:spcBef>
                  <a:spcPts val="90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Searches:</a:t>
              </a:r>
              <a:r>
                <a:rPr lang="en-US" sz="1200">
                  <a:solidFill>
                    <a:srgbClr val="334155"/>
                  </a:solidFill>
                  <a:latin typeface="Arial"/>
                  <a:ea typeface="Arial"/>
                  <a:cs typeface="Arial"/>
                  <a:sym typeface="Arial"/>
                </a:rPr>
                <a:t> Queries the vector database to locate matching company manuals.</a:t>
              </a:r>
              <a:endParaRPr sz="1200">
                <a:solidFill>
                  <a:srgbClr val="334155"/>
                </a:solidFill>
                <a:latin typeface="Arial"/>
                <a:ea typeface="Arial"/>
                <a:cs typeface="Arial"/>
                <a:sym typeface="Arial"/>
              </a:endParaRPr>
            </a:p>
            <a:p>
              <a:pPr indent="-304800" lvl="0" marL="457200" rtl="0" algn="l">
                <a:spcBef>
                  <a:spcPts val="90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Extracts:</a:t>
              </a:r>
              <a:r>
                <a:rPr lang="en-US" sz="1200">
                  <a:solidFill>
                    <a:srgbClr val="334155"/>
                  </a:solidFill>
                  <a:latin typeface="Arial"/>
                  <a:ea typeface="Arial"/>
                  <a:cs typeface="Arial"/>
                  <a:sym typeface="Arial"/>
                </a:rPr>
                <a:t> Pulls the most relevant sections and instructional pages.</a:t>
              </a:r>
              <a:endParaRPr sz="1200">
                <a:solidFill>
                  <a:srgbClr val="334155"/>
                </a:solidFill>
                <a:latin typeface="Arial"/>
                <a:ea typeface="Arial"/>
                <a:cs typeface="Arial"/>
                <a:sym typeface="Arial"/>
              </a:endParaRPr>
            </a:p>
            <a:p>
              <a:pPr indent="-304800" lvl="0" marL="457200" rtl="0" algn="l">
                <a:spcBef>
                  <a:spcPts val="900"/>
                </a:spcBef>
                <a:spcAft>
                  <a:spcPts val="0"/>
                </a:spcAft>
                <a:buClr>
                  <a:srgbClr val="334155"/>
                </a:buClr>
                <a:buSzPts val="1200"/>
                <a:buFont typeface="Arial"/>
                <a:buChar char="●"/>
              </a:pPr>
              <a:r>
                <a:rPr b="1" lang="en-US" sz="1200">
                  <a:solidFill>
                    <a:srgbClr val="0F172A"/>
                  </a:solidFill>
                  <a:latin typeface="Arial"/>
                  <a:ea typeface="Arial"/>
                  <a:cs typeface="Arial"/>
                  <a:sym typeface="Arial"/>
                </a:rPr>
                <a:t>Feeds:</a:t>
              </a:r>
              <a:r>
                <a:rPr lang="en-US" sz="1200">
                  <a:solidFill>
                    <a:srgbClr val="334155"/>
                  </a:solidFill>
                  <a:latin typeface="Arial"/>
                  <a:ea typeface="Arial"/>
                  <a:cs typeface="Arial"/>
                  <a:sym typeface="Arial"/>
                </a:rPr>
                <a:t> Sends the context to the LLM to generate an accurate, plain-English response.</a:t>
              </a:r>
              <a:endParaRPr sz="1200">
                <a:solidFill>
                  <a:srgbClr val="334155"/>
                </a:solidFill>
                <a:latin typeface="Arial"/>
                <a:ea typeface="Arial"/>
                <a:cs typeface="Arial"/>
                <a:sym typeface="Arial"/>
              </a:endParaRPr>
            </a:p>
          </p:txBody>
        </p:sp>
      </p:grpSp>
      <p:sp>
        <p:nvSpPr>
          <p:cNvPr id="748" name="Google Shape;748;p39"/>
          <p:cNvSpPr txBox="1"/>
          <p:nvPr/>
        </p:nvSpPr>
        <p:spPr>
          <a:xfrm>
            <a:off x="381000" y="6286500"/>
            <a:ext cx="11430000" cy="184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RAG (Retrieval-Augmented Generation) prevents the agent from guessing technical solutions.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2" name="Shape 752"/>
        <p:cNvGrpSpPr/>
        <p:nvPr/>
      </p:nvGrpSpPr>
      <p:grpSpPr>
        <a:xfrm>
          <a:off x="0" y="0"/>
          <a:ext cx="0" cy="0"/>
          <a:chOff x="0" y="0"/>
          <a:chExt cx="0" cy="0"/>
        </a:xfrm>
      </p:grpSpPr>
      <p:pic>
        <p:nvPicPr>
          <p:cNvPr descr="image.png" id="753" name="Google Shape;753;p40"/>
          <p:cNvPicPr preferRelativeResize="0"/>
          <p:nvPr/>
        </p:nvPicPr>
        <p:blipFill rotWithShape="1">
          <a:blip r:embed="rId3">
            <a:alphaModFix/>
          </a:blip>
          <a:srcRect b="0" l="0" r="0" t="0"/>
          <a:stretch/>
        </p:blipFill>
        <p:spPr>
          <a:xfrm>
            <a:off x="5412134" y="214312"/>
            <a:ext cx="1367730" cy="333375"/>
          </a:xfrm>
          <a:prstGeom prst="rect">
            <a:avLst/>
          </a:prstGeom>
          <a:noFill/>
          <a:ln>
            <a:noFill/>
          </a:ln>
        </p:spPr>
      </p:pic>
      <p:pic>
        <p:nvPicPr>
          <p:cNvPr descr="image.png" id="754" name="Google Shape;754;p40"/>
          <p:cNvPicPr preferRelativeResize="0"/>
          <p:nvPr/>
        </p:nvPicPr>
        <p:blipFill rotWithShape="1">
          <a:blip r:embed="rId4">
            <a:alphaModFix/>
          </a:blip>
          <a:srcRect b="0" l="0" r="0" t="0"/>
          <a:stretch/>
        </p:blipFill>
        <p:spPr>
          <a:xfrm>
            <a:off x="381000" y="6438900"/>
            <a:ext cx="1373981" cy="266700"/>
          </a:xfrm>
          <a:prstGeom prst="rect">
            <a:avLst/>
          </a:prstGeom>
          <a:noFill/>
          <a:ln>
            <a:noFill/>
          </a:ln>
        </p:spPr>
      </p:pic>
      <p:pic>
        <p:nvPicPr>
          <p:cNvPr descr="image.png" id="755" name="Google Shape;755;p40"/>
          <p:cNvPicPr preferRelativeResize="0"/>
          <p:nvPr/>
        </p:nvPicPr>
        <p:blipFill rotWithShape="1">
          <a:blip r:embed="rId5">
            <a:alphaModFix/>
          </a:blip>
          <a:srcRect b="0" l="0" r="0" t="0"/>
          <a:stretch/>
        </p:blipFill>
        <p:spPr>
          <a:xfrm>
            <a:off x="571500" y="1638300"/>
            <a:ext cx="5286375" cy="4457700"/>
          </a:xfrm>
          <a:prstGeom prst="rect">
            <a:avLst/>
          </a:prstGeom>
          <a:noFill/>
          <a:ln>
            <a:noFill/>
          </a:ln>
        </p:spPr>
      </p:pic>
      <p:pic>
        <p:nvPicPr>
          <p:cNvPr descr="image.png" id="756" name="Google Shape;756;p40"/>
          <p:cNvPicPr preferRelativeResize="0"/>
          <p:nvPr/>
        </p:nvPicPr>
        <p:blipFill rotWithShape="1">
          <a:blip r:embed="rId6">
            <a:alphaModFix/>
          </a:blip>
          <a:srcRect b="0" l="0" r="0" t="0"/>
          <a:stretch/>
        </p:blipFill>
        <p:spPr>
          <a:xfrm>
            <a:off x="6334125" y="1638300"/>
            <a:ext cx="5286375" cy="4457700"/>
          </a:xfrm>
          <a:prstGeom prst="rect">
            <a:avLst/>
          </a:prstGeom>
          <a:noFill/>
          <a:ln>
            <a:noFill/>
          </a:ln>
        </p:spPr>
      </p:pic>
      <p:sp>
        <p:nvSpPr>
          <p:cNvPr id="757" name="Google Shape;757;p40"/>
          <p:cNvSpPr txBox="1"/>
          <p:nvPr/>
        </p:nvSpPr>
        <p:spPr>
          <a:xfrm>
            <a:off x="6779865" y="295275"/>
            <a:ext cx="5031134" cy="1714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200" u="none" cap="none" strike="noStrike">
                <a:solidFill>
                  <a:srgbClr val="64748B"/>
                </a:solidFill>
                <a:latin typeface="Arial"/>
                <a:ea typeface="Arial"/>
                <a:cs typeface="Arial"/>
                <a:sym typeface="Arial"/>
              </a:rPr>
              <a:t>Slide 28</a:t>
            </a:r>
            <a:endParaRPr/>
          </a:p>
        </p:txBody>
      </p:sp>
      <p:sp>
        <p:nvSpPr>
          <p:cNvPr id="758" name="Google Shape;758;p40"/>
          <p:cNvSpPr txBox="1"/>
          <p:nvPr/>
        </p:nvSpPr>
        <p:spPr>
          <a:xfrm>
            <a:off x="571500" y="952500"/>
            <a:ext cx="11601450"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Stateless vs Stateful</a:t>
            </a:r>
            <a:endParaRPr/>
          </a:p>
        </p:txBody>
      </p:sp>
      <p:sp>
        <p:nvSpPr>
          <p:cNvPr id="759" name="Google Shape;759;p40"/>
          <p:cNvSpPr/>
          <p:nvPr/>
        </p:nvSpPr>
        <p:spPr>
          <a:xfrm>
            <a:off x="381000" y="304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0" name="Google Shape;760;p40"/>
          <p:cNvSpPr txBox="1"/>
          <p:nvPr/>
        </p:nvSpPr>
        <p:spPr>
          <a:xfrm>
            <a:off x="857250" y="1924050"/>
            <a:ext cx="2027440"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Arial"/>
                <a:ea typeface="Arial"/>
                <a:cs typeface="Arial"/>
                <a:sym typeface="Arial"/>
              </a:rPr>
              <a:t>Stateless Chatbot</a:t>
            </a:r>
            <a:endParaRPr/>
          </a:p>
        </p:txBody>
      </p:sp>
      <p:sp>
        <p:nvSpPr>
          <p:cNvPr id="761" name="Google Shape;761;p40"/>
          <p:cNvSpPr/>
          <p:nvPr/>
        </p:nvSpPr>
        <p:spPr>
          <a:xfrm>
            <a:off x="857250" y="2238375"/>
            <a:ext cx="1930896" cy="19050"/>
          </a:xfrm>
          <a:prstGeom prst="rect">
            <a:avLst/>
          </a:prstGeom>
          <a:solidFill>
            <a:srgbClr val="1665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2" name="Google Shape;762;p40"/>
          <p:cNvSpPr txBox="1"/>
          <p:nvPr/>
        </p:nvSpPr>
        <p:spPr>
          <a:xfrm>
            <a:off x="857250" y="2400300"/>
            <a:ext cx="47148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User: "My device is broken."</a:t>
            </a:r>
            <a:endParaRPr/>
          </a:p>
        </p:txBody>
      </p:sp>
      <p:sp>
        <p:nvSpPr>
          <p:cNvPr id="763" name="Google Shape;763;p40"/>
          <p:cNvSpPr txBox="1"/>
          <p:nvPr/>
        </p:nvSpPr>
        <p:spPr>
          <a:xfrm>
            <a:off x="857250" y="2800350"/>
            <a:ext cx="47148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Bot: "What is your device type?"</a:t>
            </a:r>
            <a:endParaRPr/>
          </a:p>
        </p:txBody>
      </p:sp>
      <p:sp>
        <p:nvSpPr>
          <p:cNvPr id="764" name="Google Shape;764;p40"/>
          <p:cNvSpPr txBox="1"/>
          <p:nvPr/>
        </p:nvSpPr>
        <p:spPr>
          <a:xfrm>
            <a:off x="857250" y="3200400"/>
            <a:ext cx="47148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User: "I told you yesterday!"</a:t>
            </a:r>
            <a:endParaRPr/>
          </a:p>
        </p:txBody>
      </p:sp>
      <p:sp>
        <p:nvSpPr>
          <p:cNvPr id="765" name="Google Shape;765;p40"/>
          <p:cNvSpPr txBox="1"/>
          <p:nvPr/>
        </p:nvSpPr>
        <p:spPr>
          <a:xfrm>
            <a:off x="857250" y="3600450"/>
            <a:ext cx="47148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Bot: "I'm sorry, I don't have access to past chats. What is your device type?"</a:t>
            </a:r>
            <a:endParaRPr/>
          </a:p>
        </p:txBody>
      </p:sp>
      <p:sp>
        <p:nvSpPr>
          <p:cNvPr id="766" name="Google Shape;766;p40"/>
          <p:cNvSpPr txBox="1"/>
          <p:nvPr/>
        </p:nvSpPr>
        <p:spPr>
          <a:xfrm>
            <a:off x="6619875" y="1924050"/>
            <a:ext cx="1618014"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Arial"/>
                <a:ea typeface="Arial"/>
                <a:cs typeface="Arial"/>
                <a:sym typeface="Arial"/>
              </a:rPr>
              <a:t>Stateful Agent</a:t>
            </a:r>
            <a:endParaRPr/>
          </a:p>
        </p:txBody>
      </p:sp>
      <p:sp>
        <p:nvSpPr>
          <p:cNvPr id="767" name="Google Shape;767;p40"/>
          <p:cNvSpPr/>
          <p:nvPr/>
        </p:nvSpPr>
        <p:spPr>
          <a:xfrm>
            <a:off x="6619875" y="2238375"/>
            <a:ext cx="1540966" cy="19050"/>
          </a:xfrm>
          <a:prstGeom prst="rect">
            <a:avLst/>
          </a:prstGeom>
          <a:solidFill>
            <a:srgbClr val="1665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8" name="Google Shape;768;p40"/>
          <p:cNvSpPr txBox="1"/>
          <p:nvPr/>
        </p:nvSpPr>
        <p:spPr>
          <a:xfrm>
            <a:off x="6619875" y="2400300"/>
            <a:ext cx="47148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User: "My device is broken."</a:t>
            </a:r>
            <a:endParaRPr/>
          </a:p>
        </p:txBody>
      </p:sp>
      <p:sp>
        <p:nvSpPr>
          <p:cNvPr id="769" name="Google Shape;769;p40"/>
          <p:cNvSpPr txBox="1"/>
          <p:nvPr/>
        </p:nvSpPr>
        <p:spPr>
          <a:xfrm>
            <a:off x="6619875" y="2800350"/>
            <a:ext cx="471487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Agent (Checks Memory): "I see you have the Router X2. Are the lights blinking red like last time?"</a:t>
            </a:r>
            <a:endParaRPr/>
          </a:p>
        </p:txBody>
      </p:sp>
      <p:sp>
        <p:nvSpPr>
          <p:cNvPr id="770" name="Google Shape;770;p40"/>
          <p:cNvSpPr txBox="1"/>
          <p:nvPr/>
        </p:nvSpPr>
        <p:spPr>
          <a:xfrm>
            <a:off x="6619875" y="3457575"/>
            <a:ext cx="47148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User: "Yes exactly."</a:t>
            </a:r>
            <a:endParaRPr/>
          </a:p>
        </p:txBody>
      </p:sp>
      <p:sp>
        <p:nvSpPr>
          <p:cNvPr id="771" name="Google Shape;771;p40"/>
          <p:cNvSpPr txBox="1"/>
          <p:nvPr/>
        </p:nvSpPr>
        <p:spPr>
          <a:xfrm>
            <a:off x="6619875" y="3857625"/>
            <a:ext cx="4714875" cy="2571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334155"/>
                </a:solidFill>
                <a:latin typeface="Arial"/>
                <a:ea typeface="Arial"/>
                <a:cs typeface="Arial"/>
                <a:sym typeface="Arial"/>
              </a:rPr>
              <a:t>Agent: "Executing remote restart protocol now."</a:t>
            </a:r>
            <a:endParaRPr/>
          </a:p>
        </p:txBody>
      </p:sp>
      <p:sp>
        <p:nvSpPr>
          <p:cNvPr id="772" name="Google Shape;772;p40"/>
          <p:cNvSpPr/>
          <p:nvPr/>
        </p:nvSpPr>
        <p:spPr>
          <a:xfrm>
            <a:off x="0" y="6286500"/>
            <a:ext cx="12192000" cy="571500"/>
          </a:xfrm>
          <a:prstGeom prst="rect">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3" name="Google Shape;773;p40"/>
          <p:cNvSpPr txBox="1"/>
          <p:nvPr/>
        </p:nvSpPr>
        <p:spPr>
          <a:xfrm>
            <a:off x="381000" y="6286500"/>
            <a:ext cx="11430000" cy="571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FFFFFF"/>
                </a:solidFill>
                <a:latin typeface="Arial"/>
                <a:ea typeface="Arial"/>
                <a:cs typeface="Arial"/>
                <a:sym typeface="Arial"/>
              </a:rPr>
              <a:t>Stateful agents reduce user frustration by eliminating repetitive onboarding questions.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7" name="Shape 777"/>
        <p:cNvGrpSpPr/>
        <p:nvPr/>
      </p:nvGrpSpPr>
      <p:grpSpPr>
        <a:xfrm>
          <a:off x="0" y="0"/>
          <a:ext cx="0" cy="0"/>
          <a:chOff x="0" y="0"/>
          <a:chExt cx="0" cy="0"/>
        </a:xfrm>
      </p:grpSpPr>
      <p:pic>
        <p:nvPicPr>
          <p:cNvPr descr="image.png" id="778" name="Google Shape;778;p41"/>
          <p:cNvPicPr preferRelativeResize="0"/>
          <p:nvPr/>
        </p:nvPicPr>
        <p:blipFill rotWithShape="1">
          <a:blip r:embed="rId3">
            <a:alphaModFix/>
          </a:blip>
          <a:srcRect b="0" l="0" r="0" t="0"/>
          <a:stretch/>
        </p:blipFill>
        <p:spPr>
          <a:xfrm>
            <a:off x="2637383" y="976312"/>
            <a:ext cx="1011733" cy="333375"/>
          </a:xfrm>
          <a:prstGeom prst="rect">
            <a:avLst/>
          </a:prstGeom>
          <a:noFill/>
          <a:ln>
            <a:noFill/>
          </a:ln>
        </p:spPr>
      </p:pic>
      <p:pic>
        <p:nvPicPr>
          <p:cNvPr descr="image.png" id="779" name="Google Shape;779;p41"/>
          <p:cNvPicPr preferRelativeResize="0"/>
          <p:nvPr/>
        </p:nvPicPr>
        <p:blipFill rotWithShape="1">
          <a:blip r:embed="rId4">
            <a:alphaModFix/>
          </a:blip>
          <a:srcRect b="0" l="0" r="0" t="0"/>
          <a:stretch/>
        </p:blipFill>
        <p:spPr>
          <a:xfrm>
            <a:off x="571500" y="5791200"/>
            <a:ext cx="1127819" cy="419100"/>
          </a:xfrm>
          <a:prstGeom prst="rect">
            <a:avLst/>
          </a:prstGeom>
          <a:noFill/>
          <a:ln>
            <a:noFill/>
          </a:ln>
        </p:spPr>
      </p:pic>
      <p:pic>
        <p:nvPicPr>
          <p:cNvPr descr="image.png" id="780" name="Google Shape;780;p41"/>
          <p:cNvPicPr preferRelativeResize="0"/>
          <p:nvPr/>
        </p:nvPicPr>
        <p:blipFill rotWithShape="1">
          <a:blip r:embed="rId5">
            <a:alphaModFix/>
          </a:blip>
          <a:srcRect b="0" l="0" r="0" t="0"/>
          <a:stretch/>
        </p:blipFill>
        <p:spPr>
          <a:xfrm>
            <a:off x="6096000" y="0"/>
            <a:ext cx="6096000" cy="6858000"/>
          </a:xfrm>
          <a:prstGeom prst="rect">
            <a:avLst/>
          </a:prstGeom>
          <a:noFill/>
          <a:ln>
            <a:noFill/>
          </a:ln>
        </p:spPr>
      </p:pic>
      <p:sp>
        <p:nvSpPr>
          <p:cNvPr id="781" name="Google Shape;781;p41"/>
          <p:cNvSpPr txBox="1"/>
          <p:nvPr/>
        </p:nvSpPr>
        <p:spPr>
          <a:xfrm>
            <a:off x="571500" y="1809750"/>
            <a:ext cx="5400675"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Arial"/>
                <a:ea typeface="Arial"/>
                <a:cs typeface="Arial"/>
                <a:sym typeface="Arial"/>
              </a:rPr>
              <a:t>Persistent Agents</a:t>
            </a:r>
            <a:endParaRPr/>
          </a:p>
        </p:txBody>
      </p:sp>
      <p:sp>
        <p:nvSpPr>
          <p:cNvPr id="782" name="Google Shape;782;p41"/>
          <p:cNvSpPr txBox="1"/>
          <p:nvPr/>
        </p:nvSpPr>
        <p:spPr>
          <a:xfrm>
            <a:off x="571500" y="2495550"/>
            <a:ext cx="5143500"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4155"/>
                </a:solidFill>
                <a:latin typeface="Arial"/>
                <a:ea typeface="Arial"/>
                <a:cs typeface="Arial"/>
                <a:sym typeface="Arial"/>
              </a:rPr>
              <a:t>Persistent personal agents remember you across sessions. By storing vector data tied to your ID, the agent retrieves past context instantly. This enables deeply personalized workflows, completely changing how we interact with software over time. No more starting from scratch.</a:t>
            </a:r>
            <a:endParaRPr/>
          </a:p>
        </p:txBody>
      </p:sp>
      <p:sp>
        <p:nvSpPr>
          <p:cNvPr id="783" name="Google Shape;783;p41"/>
          <p:cNvSpPr/>
          <p:nvPr/>
        </p:nvSpPr>
        <p:spPr>
          <a:xfrm>
            <a:off x="571500" y="1066800"/>
            <a:ext cx="285750" cy="152400"/>
          </a:xfrm>
          <a:prstGeom prst="roundRect">
            <a:avLst>
              <a:gd fmla="val 50000" name="adj"/>
            </a:avLst>
          </a:prstGeom>
          <a:noFill/>
          <a:ln cap="flat" cmpd="sng" w="19050">
            <a:solidFill>
              <a:srgbClr val="0F1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4" name="Google Shape;784;p41"/>
          <p:cNvSpPr txBox="1"/>
          <p:nvPr/>
        </p:nvSpPr>
        <p:spPr>
          <a:xfrm>
            <a:off x="571500" y="5905500"/>
            <a:ext cx="5143500" cy="19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chemeClr val="dk1"/>
                </a:solidFill>
                <a:latin typeface="Arial"/>
                <a:ea typeface="Arial"/>
                <a:cs typeface="Arial"/>
                <a:sym typeface="Arial"/>
              </a:rPr>
              <a:t>Memory moves AI from generic utilities to bespoke digital partners.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