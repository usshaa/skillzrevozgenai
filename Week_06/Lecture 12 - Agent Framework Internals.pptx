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6ED4A1-5B4B-43D0-9EB2-DF1342792A75}">
  <a:tblStyle styleId="{6A6ED4A1-5B4B-43D0-9EB2-DF1342792A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10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9.png"/><Relationship Id="rId13" Type="http://schemas.openxmlformats.org/officeDocument/2006/relationships/image" Target="../media/image36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39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2.png"/><Relationship Id="rId13" Type="http://schemas.openxmlformats.org/officeDocument/2006/relationships/image" Target="../media/image33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77.png"/><Relationship Id="rId14" Type="http://schemas.openxmlformats.org/officeDocument/2006/relationships/image" Target="../media/image47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4.png"/><Relationship Id="rId13" Type="http://schemas.openxmlformats.org/officeDocument/2006/relationships/image" Target="../media/image42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45.png"/><Relationship Id="rId7" Type="http://schemas.openxmlformats.org/officeDocument/2006/relationships/image" Target="../media/image27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50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Relationship Id="rId7" Type="http://schemas.openxmlformats.org/officeDocument/2006/relationships/image" Target="../media/image48.png"/><Relationship Id="rId8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3" Type="http://schemas.openxmlformats.org/officeDocument/2006/relationships/image" Target="../media/image58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Relationship Id="rId14" Type="http://schemas.openxmlformats.org/officeDocument/2006/relationships/image" Target="../media/image68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59.png"/><Relationship Id="rId13" Type="http://schemas.openxmlformats.org/officeDocument/2006/relationships/image" Target="../media/image98.png"/><Relationship Id="rId1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57.png"/><Relationship Id="rId8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64.png"/><Relationship Id="rId5" Type="http://schemas.openxmlformats.org/officeDocument/2006/relationships/image" Target="../media/image63.png"/><Relationship Id="rId6" Type="http://schemas.openxmlformats.org/officeDocument/2006/relationships/image" Target="../media/image76.png"/><Relationship Id="rId7" Type="http://schemas.openxmlformats.org/officeDocument/2006/relationships/image" Target="../media/image56.png"/><Relationship Id="rId8" Type="http://schemas.openxmlformats.org/officeDocument/2006/relationships/image" Target="../media/image81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83.png"/><Relationship Id="rId13" Type="http://schemas.openxmlformats.org/officeDocument/2006/relationships/image" Target="../media/image108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Relationship Id="rId14" Type="http://schemas.openxmlformats.org/officeDocument/2006/relationships/image" Target="../media/image72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4.png"/><Relationship Id="rId10" Type="http://schemas.openxmlformats.org/officeDocument/2006/relationships/image" Target="../media/image69.png"/><Relationship Id="rId13" Type="http://schemas.openxmlformats.org/officeDocument/2006/relationships/image" Target="../media/image82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57.png"/><Relationship Id="rId8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80.png"/><Relationship Id="rId5" Type="http://schemas.openxmlformats.org/officeDocument/2006/relationships/image" Target="../media/image78.png"/><Relationship Id="rId6" Type="http://schemas.openxmlformats.org/officeDocument/2006/relationships/image" Target="../media/image70.png"/><Relationship Id="rId7" Type="http://schemas.openxmlformats.org/officeDocument/2006/relationships/image" Target="../media/image79.png"/><Relationship Id="rId8" Type="http://schemas.openxmlformats.org/officeDocument/2006/relationships/image" Target="../media/image73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3.png"/><Relationship Id="rId10" Type="http://schemas.openxmlformats.org/officeDocument/2006/relationships/image" Target="../media/image74.png"/><Relationship Id="rId13" Type="http://schemas.openxmlformats.org/officeDocument/2006/relationships/image" Target="../media/image97.png"/><Relationship Id="rId1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Relationship Id="rId14" Type="http://schemas.openxmlformats.org/officeDocument/2006/relationships/image" Target="../media/image85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84.png"/></Relationships>
</file>

<file path=ppt/slides/_rels/slide2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6.png"/><Relationship Id="rId10" Type="http://schemas.openxmlformats.org/officeDocument/2006/relationships/image" Target="../media/image87.png"/><Relationship Id="rId13" Type="http://schemas.openxmlformats.org/officeDocument/2006/relationships/image" Target="../media/image90.png"/><Relationship Id="rId1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57.png"/><Relationship Id="rId8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88.png"/><Relationship Id="rId5" Type="http://schemas.openxmlformats.org/officeDocument/2006/relationships/image" Target="../media/image91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4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2.png"/><Relationship Id="rId10" Type="http://schemas.openxmlformats.org/officeDocument/2006/relationships/image" Target="../media/image89.png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Relationship Id="rId14" Type="http://schemas.openxmlformats.org/officeDocument/2006/relationships/image" Target="../media/image107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9.png"/><Relationship Id="rId10" Type="http://schemas.openxmlformats.org/officeDocument/2006/relationships/image" Target="../media/image106.png"/><Relationship Id="rId13" Type="http://schemas.openxmlformats.org/officeDocument/2006/relationships/image" Target="../media/image105.png"/><Relationship Id="rId1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Relationship Id="rId14" Type="http://schemas.openxmlformats.org/officeDocument/2006/relationships/image" Target="../media/image100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5076825" y="209550"/>
            <a:ext cx="2038500" cy="304800"/>
            <a:chOff x="0" y="0"/>
            <a:chExt cx="2038500" cy="3048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2038500" cy="3048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0"/>
              <a:ext cx="20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⚙️ Framework Internals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13"/>
          <p:cNvSpPr txBox="1"/>
          <p:nvPr/>
        </p:nvSpPr>
        <p:spPr>
          <a:xfrm>
            <a:off x="10668000" y="266700"/>
            <a:ext cx="1143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SLIDE 01</a:t>
            </a:r>
            <a:endParaRPr b="1" sz="11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714375"/>
            <a:ext cx="110490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6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Agent Framework Internals?</a:t>
            </a:r>
            <a:endParaRPr b="0" sz="296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1257300"/>
            <a:ext cx="11049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Abstracted Architecture Powering Autonomous Systems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81000" y="6286500"/>
            <a:ext cx="114300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Frameworks drastically reduce boilerplate code, allowing developers to focus on agentic behavior rather than API mechanics.</a:t>
            </a:r>
            <a:endParaRPr b="1" i="0" sz="13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571500" y="1476375"/>
            <a:ext cx="3476700" cy="2190900"/>
            <a:chOff x="0" y="0"/>
            <a:chExt cx="3476700" cy="2190900"/>
          </a:xfrm>
        </p:grpSpPr>
        <p:sp>
          <p:nvSpPr>
            <p:cNvPr id="93" name="Google Shape;93;p13"/>
            <p:cNvSpPr/>
            <p:nvPr/>
          </p:nvSpPr>
          <p:spPr>
            <a:xfrm>
              <a:off x="0" y="0"/>
              <a:ext cx="34767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190500" y="190500"/>
              <a:ext cx="952500" cy="209700"/>
            </a:xfrm>
            <a:prstGeom prst="roundRect">
              <a:avLst>
                <a:gd fmla="val 1818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190500" y="190500"/>
              <a:ext cx="952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DEFINITION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190500" y="523875"/>
              <a:ext cx="3095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Agent Frameworks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are robust software libraries that provide the </a:t>
              </a:r>
              <a:r>
                <a:rPr b="1" lang="en-US" sz="11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orchestration layer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needed to seamlessly connect LLMs with external Memory stores and actionable Tools, handling complex state management internally.</a:t>
              </a:r>
              <a:endParaRPr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190500" y="1714500"/>
              <a:ext cx="857400" cy="247800"/>
              <a:chOff x="0" y="0"/>
              <a:chExt cx="857400" cy="247800"/>
            </a:xfrm>
          </p:grpSpPr>
          <p:sp>
            <p:nvSpPr>
              <p:cNvPr id="98" name="Google Shape;98;p13"/>
              <p:cNvSpPr/>
              <p:nvPr/>
            </p:nvSpPr>
            <p:spPr>
              <a:xfrm>
                <a:off x="0" y="0"/>
                <a:ext cx="8574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 txBox="1"/>
              <p:nvPr/>
            </p:nvSpPr>
            <p:spPr>
              <a:xfrm>
                <a:off x="0" y="0"/>
                <a:ext cx="857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Orchestration</a:t>
                </a:r>
                <a:endParaRPr b="0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" name="Google Shape;100;p13"/>
            <p:cNvGrpSpPr/>
            <p:nvPr/>
          </p:nvGrpSpPr>
          <p:grpSpPr>
            <a:xfrm>
              <a:off x="1123950" y="1714500"/>
              <a:ext cx="809700" cy="247800"/>
              <a:chOff x="0" y="0"/>
              <a:chExt cx="809700" cy="247800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0" y="0"/>
                <a:ext cx="8097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 txBox="1"/>
              <p:nvPr/>
            </p:nvSpPr>
            <p:spPr>
              <a:xfrm>
                <a:off x="0" y="0"/>
                <a:ext cx="8097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Abstraction</a:t>
                </a:r>
                <a:endParaRPr b="0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13"/>
            <p:cNvGrpSpPr/>
            <p:nvPr/>
          </p:nvGrpSpPr>
          <p:grpSpPr>
            <a:xfrm>
              <a:off x="2009775" y="1714500"/>
              <a:ext cx="1095300" cy="247800"/>
              <a:chOff x="0" y="0"/>
              <a:chExt cx="1095300" cy="247800"/>
            </a:xfrm>
          </p:grpSpPr>
          <p:sp>
            <p:nvSpPr>
              <p:cNvPr id="104" name="Google Shape;104;p13"/>
              <p:cNvSpPr/>
              <p:nvPr/>
            </p:nvSpPr>
            <p:spPr>
              <a:xfrm>
                <a:off x="0" y="0"/>
                <a:ext cx="10953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 txBox="1"/>
              <p:nvPr/>
            </p:nvSpPr>
            <p:spPr>
              <a:xfrm>
                <a:off x="0" y="0"/>
                <a:ext cx="10953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State Management</a:t>
                </a:r>
                <a:endParaRPr b="0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image.png" id="106" name="Google Shape;1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9550" y="1533525"/>
            <a:ext cx="152400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3"/>
          <p:cNvGrpSpPr/>
          <p:nvPr/>
        </p:nvGrpSpPr>
        <p:grpSpPr>
          <a:xfrm>
            <a:off x="571500" y="3810000"/>
            <a:ext cx="3476700" cy="2238300"/>
            <a:chOff x="0" y="0"/>
            <a:chExt cx="3476700" cy="2238300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3476700" cy="2238300"/>
            </a:xfrm>
            <a:prstGeom prst="roundRect">
              <a:avLst>
                <a:gd fmla="val 5106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90500" y="190500"/>
              <a:ext cx="1333500" cy="209700"/>
            </a:xfrm>
            <a:prstGeom prst="roundRect">
              <a:avLst>
                <a:gd fmla="val 18181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190500" y="190500"/>
              <a:ext cx="1333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REAL-LIFE ANALOGY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3"/>
            <p:cNvSpPr txBox="1"/>
            <p:nvPr/>
          </p:nvSpPr>
          <p:spPr>
            <a:xfrm>
              <a:off x="2952750" y="1428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35">
                  <a:latin typeface="Arial"/>
                  <a:ea typeface="Arial"/>
                  <a:cs typeface="Arial"/>
                  <a:sym typeface="Arial"/>
                </a:rPr>
                <a:t>🏢</a:t>
              </a:r>
              <a:endParaRPr sz="2035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3"/>
            <p:cNvSpPr txBox="1"/>
            <p:nvPr/>
          </p:nvSpPr>
          <p:spPr>
            <a:xfrm>
              <a:off x="190500" y="523875"/>
              <a:ext cx="3095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Think of a corporate office. The LLM is the </a:t>
              </a:r>
              <a:r>
                <a:rPr b="1" lang="en-US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CEO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but the framework acts as the </a:t>
              </a:r>
              <a:r>
                <a:rPr b="1" lang="en-US" sz="11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HR, IT, and Filing System</a:t>
              </a:r>
              <a:r>
                <a:rPr lang="en-US" sz="11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that allows the CEO to actually run the company efficiently.</a:t>
              </a:r>
              <a:endParaRPr sz="11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190500" y="1571625"/>
              <a:ext cx="3095700" cy="438300"/>
            </a:xfrm>
            <a:prstGeom prst="roundRect">
              <a:avLst>
                <a:gd fmla="val 13043" name="adj"/>
              </a:avLst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 txBox="1"/>
            <p:nvPr/>
          </p:nvSpPr>
          <p:spPr>
            <a:xfrm>
              <a:off x="285750" y="1619250"/>
              <a:ext cx="2905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Mapping: </a:t>
              </a:r>
              <a:r>
                <a:rPr b="0" lang="en-US" sz="950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Frameworks handle the </a:t>
              </a:r>
              <a:r>
                <a:rPr b="1" lang="en-US" sz="950" u="sng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logistics</a:t>
              </a:r>
              <a:r>
                <a:rPr b="0" lang="en-US" sz="950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 so the LLM can focus purely on </a:t>
              </a:r>
              <a:r>
                <a:rPr b="1" lang="en-US" sz="950" u="sng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reasoning</a:t>
              </a:r>
              <a:r>
                <a:rPr b="0" lang="en-US" sz="950">
                  <a:solidFill>
                    <a:srgbClr val="065F46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1" sz="950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115" name="Google Shape;11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06212" y="2676525"/>
            <a:ext cx="219075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3"/>
          <p:cNvGrpSpPr/>
          <p:nvPr/>
        </p:nvGrpSpPr>
        <p:grpSpPr>
          <a:xfrm>
            <a:off x="4238625" y="1476375"/>
            <a:ext cx="3714900" cy="4572000"/>
            <a:chOff x="0" y="0"/>
            <a:chExt cx="3714900" cy="4572000"/>
          </a:xfrm>
        </p:grpSpPr>
        <p:sp>
          <p:nvSpPr>
            <p:cNvPr id="117" name="Google Shape;117;p13"/>
            <p:cNvSpPr/>
            <p:nvPr/>
          </p:nvSpPr>
          <p:spPr>
            <a:xfrm>
              <a:off x="0" y="0"/>
              <a:ext cx="3714900" cy="4572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190500" y="190500"/>
              <a:ext cx="1238400" cy="209700"/>
            </a:xfrm>
            <a:prstGeom prst="roundRect">
              <a:avLst>
                <a:gd fmla="val 18181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190500" y="190500"/>
              <a:ext cx="1238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 WORKFLOW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0" name="Google Shape;120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9100" y="762000"/>
              <a:ext cx="19200" cy="290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" name="Google Shape;121;p13"/>
            <p:cNvGrpSpPr/>
            <p:nvPr/>
          </p:nvGrpSpPr>
          <p:grpSpPr>
            <a:xfrm>
              <a:off x="285750" y="666750"/>
              <a:ext cx="3238425" cy="333300"/>
              <a:chOff x="0" y="0"/>
              <a:chExt cx="3238425" cy="333300"/>
            </a:xfrm>
          </p:grpSpPr>
          <p:sp>
            <p:nvSpPr>
              <p:cNvPr id="122" name="Google Shape;122;p13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EFF6FF"/>
              </a:solidFill>
              <a:ln cap="flat" cmpd="sng" w="9525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3"/>
              <p:cNvSpPr txBox="1"/>
              <p:nvPr/>
            </p:nvSpPr>
            <p:spPr>
              <a:xfrm>
                <a:off x="0" y="17526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1E40A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person</a:t>
                </a:r>
                <a:endParaRPr sz="12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4" name="Google Shape;124;p13"/>
              <p:cNvSpPr txBox="1"/>
              <p:nvPr/>
            </p:nvSpPr>
            <p:spPr>
              <a:xfrm>
                <a:off x="428625" y="0"/>
                <a:ext cx="28098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E3A8A"/>
                    </a:solidFill>
                    <a:latin typeface="Arial"/>
                    <a:ea typeface="Arial"/>
                    <a:cs typeface="Arial"/>
                    <a:sym typeface="Arial"/>
                  </a:rPr>
                  <a:t>1. Input User </a:t>
                </a:r>
                <a:r>
                  <a:rPr b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- Receives raw prompt</a:t>
                </a:r>
                <a:endParaRPr b="1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p13"/>
            <p:cNvGrpSpPr/>
            <p:nvPr/>
          </p:nvGrpSpPr>
          <p:grpSpPr>
            <a:xfrm>
              <a:off x="285750" y="1381125"/>
              <a:ext cx="3238425" cy="333300"/>
              <a:chOff x="0" y="0"/>
              <a:chExt cx="3238425" cy="333300"/>
            </a:xfrm>
          </p:grpSpPr>
          <p:sp>
            <p:nvSpPr>
              <p:cNvPr id="126" name="Google Shape;126;p13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3"/>
              <p:cNvSpPr txBox="1"/>
              <p:nvPr/>
            </p:nvSpPr>
            <p:spPr>
              <a:xfrm>
                <a:off x="0" y="17526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64748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1200">
                  <a:solidFill>
                    <a:srgbClr val="64748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8" name="Google Shape;128;p13"/>
              <p:cNvSpPr txBox="1"/>
              <p:nvPr/>
            </p:nvSpPr>
            <p:spPr>
              <a:xfrm>
                <a:off x="428625" y="0"/>
                <a:ext cx="28098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2. Parse JSON </a:t>
                </a:r>
                <a:r>
                  <a:rPr b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- Extracts key variables</a:t>
                </a:r>
                <a:endParaRPr b="1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" name="Google Shape;129;p13"/>
            <p:cNvGrpSpPr/>
            <p:nvPr/>
          </p:nvGrpSpPr>
          <p:grpSpPr>
            <a:xfrm>
              <a:off x="285750" y="2095500"/>
              <a:ext cx="3238425" cy="333300"/>
              <a:chOff x="0" y="0"/>
              <a:chExt cx="3238425" cy="333300"/>
            </a:xfrm>
          </p:grpSpPr>
          <p:sp>
            <p:nvSpPr>
              <p:cNvPr id="130" name="Google Shape;130;p13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F0FDF4"/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3"/>
              <p:cNvSpPr txBox="1"/>
              <p:nvPr/>
            </p:nvSpPr>
            <p:spPr>
              <a:xfrm>
                <a:off x="0" y="17526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16653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1200">
                  <a:solidFill>
                    <a:srgbClr val="16653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2" name="Google Shape;132;p13"/>
              <p:cNvSpPr txBox="1"/>
              <p:nvPr/>
            </p:nvSpPr>
            <p:spPr>
              <a:xfrm>
                <a:off x="428625" y="0"/>
                <a:ext cx="28098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4532D"/>
                    </a:solidFill>
                    <a:latin typeface="Arial"/>
                    <a:ea typeface="Arial"/>
                    <a:cs typeface="Arial"/>
                    <a:sym typeface="Arial"/>
                  </a:rPr>
                  <a:t>3. Route LLM Plan </a:t>
                </a:r>
                <a:r>
                  <a:rPr b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- Determines next action</a:t>
                </a:r>
                <a:endParaRPr b="1" sz="1100">
                  <a:solidFill>
                    <a:srgbClr val="1453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13"/>
            <p:cNvGrpSpPr/>
            <p:nvPr/>
          </p:nvGrpSpPr>
          <p:grpSpPr>
            <a:xfrm>
              <a:off x="285750" y="2809875"/>
              <a:ext cx="3238425" cy="333300"/>
              <a:chOff x="0" y="0"/>
              <a:chExt cx="3238425" cy="333300"/>
            </a:xfrm>
          </p:grpSpPr>
          <p:sp>
            <p:nvSpPr>
              <p:cNvPr id="134" name="Google Shape;134;p13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FFFBEB"/>
              </a:solidFill>
              <a:ln cap="flat" cmpd="sng" w="9525">
                <a:solidFill>
                  <a:srgbClr val="FDE6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3"/>
              <p:cNvSpPr txBox="1"/>
              <p:nvPr/>
            </p:nvSpPr>
            <p:spPr>
              <a:xfrm>
                <a:off x="0" y="17526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92400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build</a:t>
                </a:r>
                <a:endParaRPr sz="1200">
                  <a:solidFill>
                    <a:srgbClr val="92400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6" name="Google Shape;136;p13"/>
              <p:cNvSpPr txBox="1"/>
              <p:nvPr/>
            </p:nvSpPr>
            <p:spPr>
              <a:xfrm>
                <a:off x="428625" y="0"/>
                <a:ext cx="28098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78350F"/>
                    </a:solidFill>
                    <a:latin typeface="Arial"/>
                    <a:ea typeface="Arial"/>
                    <a:cs typeface="Arial"/>
                    <a:sym typeface="Arial"/>
                  </a:rPr>
                  <a:t>4. Execute Tools </a:t>
                </a:r>
                <a:r>
                  <a:rPr b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- Runs selected functions</a:t>
                </a:r>
                <a:endParaRPr b="1" sz="1100">
                  <a:solidFill>
                    <a:srgbClr val="78350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" name="Google Shape;137;p13"/>
            <p:cNvGrpSpPr/>
            <p:nvPr/>
          </p:nvGrpSpPr>
          <p:grpSpPr>
            <a:xfrm>
              <a:off x="285750" y="3524250"/>
              <a:ext cx="3238425" cy="333300"/>
              <a:chOff x="0" y="0"/>
              <a:chExt cx="3238425" cy="333300"/>
            </a:xfrm>
          </p:grpSpPr>
          <p:sp>
            <p:nvSpPr>
              <p:cNvPr id="138" name="Google Shape;138;p13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F5F3FF"/>
              </a:solidFill>
              <a:ln cap="flat" cmpd="sng" w="9525">
                <a:solidFill>
                  <a:srgbClr val="DDD6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3"/>
              <p:cNvSpPr txBox="1"/>
              <p:nvPr/>
            </p:nvSpPr>
            <p:spPr>
              <a:xfrm>
                <a:off x="0" y="17526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5B21B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check_circle</a:t>
                </a:r>
                <a:endParaRPr sz="1200">
                  <a:solidFill>
                    <a:srgbClr val="5B21B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0" name="Google Shape;140;p13"/>
              <p:cNvSpPr txBox="1"/>
              <p:nvPr/>
            </p:nvSpPr>
            <p:spPr>
              <a:xfrm>
                <a:off x="428625" y="0"/>
                <a:ext cx="28098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5. Output Result </a:t>
                </a:r>
                <a:r>
                  <a:rPr b="0" lang="en-US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- Returns answer to user</a:t>
                </a:r>
                <a:endParaRPr b="1" sz="1100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p13"/>
            <p:cNvSpPr txBox="1"/>
            <p:nvPr/>
          </p:nvSpPr>
          <p:spPr>
            <a:xfrm>
              <a:off x="190500" y="4000500"/>
              <a:ext cx="333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The framework orchestrates this circular execution loop automatically, maintaining state history across interactions.</a:t>
              </a:r>
              <a:endParaRPr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142" name="Google Shape;14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06212" y="3819525"/>
            <a:ext cx="219075" cy="17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3"/>
          <p:cNvGrpSpPr/>
          <p:nvPr/>
        </p:nvGrpSpPr>
        <p:grpSpPr>
          <a:xfrm>
            <a:off x="8143875" y="1476375"/>
            <a:ext cx="3476700" cy="4572000"/>
            <a:chOff x="0" y="0"/>
            <a:chExt cx="3476700" cy="4572000"/>
          </a:xfrm>
        </p:grpSpPr>
        <p:sp>
          <p:nvSpPr>
            <p:cNvPr id="144" name="Google Shape;144;p13"/>
            <p:cNvSpPr/>
            <p:nvPr/>
          </p:nvSpPr>
          <p:spPr>
            <a:xfrm>
              <a:off x="0" y="0"/>
              <a:ext cx="3476700" cy="4572000"/>
            </a:xfrm>
            <a:prstGeom prst="roundRect">
              <a:avLst>
                <a:gd fmla="val 328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190500" y="190500"/>
              <a:ext cx="1143000" cy="209700"/>
            </a:xfrm>
            <a:prstGeom prst="roundRect">
              <a:avLst>
                <a:gd fmla="val 18181" name="adj"/>
              </a:avLst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 txBox="1"/>
            <p:nvPr/>
          </p:nvSpPr>
          <p:spPr>
            <a:xfrm>
              <a:off x="190500" y="190500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IMPLEMENTATION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" name="Google Shape;147;p13"/>
            <p:cNvGrpSpPr/>
            <p:nvPr/>
          </p:nvGrpSpPr>
          <p:grpSpPr>
            <a:xfrm>
              <a:off x="190500" y="523875"/>
              <a:ext cx="3095700" cy="1762200"/>
              <a:chOff x="0" y="0"/>
              <a:chExt cx="3095700" cy="1762200"/>
            </a:xfrm>
          </p:grpSpPr>
          <p:sp>
            <p:nvSpPr>
              <p:cNvPr id="148" name="Google Shape;148;p13"/>
              <p:cNvSpPr/>
              <p:nvPr/>
            </p:nvSpPr>
            <p:spPr>
              <a:xfrm>
                <a:off x="0" y="0"/>
                <a:ext cx="30957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76200" y="104775"/>
                <a:ext cx="76200" cy="762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190500" y="104775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304800" y="104775"/>
                <a:ext cx="76200" cy="76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3"/>
              <p:cNvSpPr txBox="1"/>
              <p:nvPr/>
            </p:nvSpPr>
            <p:spPr>
              <a:xfrm>
                <a:off x="142875" y="285750"/>
                <a:ext cx="28098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FRAMEWORK INIT</a:t>
                </a:r>
                <a:endParaRPr b="1" sz="85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agent = Agent(</a:t>
                </a:r>
                <a:endParaRPr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142875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llm=ChatOpenAI(),</a:t>
                </a:r>
                <a:endParaRPr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142875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tools=[SearchTool()],</a:t>
                </a:r>
                <a:endParaRPr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142875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memory=BufferMemory()</a:t>
                </a:r>
                <a:endParaRPr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53" name="Google Shape;153;p13"/>
            <p:cNvGrpSpPr/>
            <p:nvPr/>
          </p:nvGrpSpPr>
          <p:grpSpPr>
            <a:xfrm>
              <a:off x="190500" y="2428875"/>
              <a:ext cx="3095700" cy="1762200"/>
              <a:chOff x="0" y="0"/>
              <a:chExt cx="3095700" cy="1762200"/>
            </a:xfrm>
          </p:grpSpPr>
          <p:sp>
            <p:nvSpPr>
              <p:cNvPr id="154" name="Google Shape;154;p13"/>
              <p:cNvSpPr/>
              <p:nvPr/>
            </p:nvSpPr>
            <p:spPr>
              <a:xfrm>
                <a:off x="0" y="0"/>
                <a:ext cx="3095700" cy="1762200"/>
              </a:xfrm>
              <a:prstGeom prst="roundRect">
                <a:avLst>
                  <a:gd fmla="val 4324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76200" y="104775"/>
                <a:ext cx="76200" cy="762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190500" y="104775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304800" y="104775"/>
                <a:ext cx="76200" cy="76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3"/>
              <p:cNvSpPr txBox="1"/>
              <p:nvPr/>
            </p:nvSpPr>
            <p:spPr>
              <a:xfrm>
                <a:off x="142875" y="285750"/>
                <a:ext cx="28098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F1F5F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EXECUTION</a:t>
                </a:r>
                <a:endParaRPr b="1" sz="850">
                  <a:solidFill>
                    <a:srgbClr val="F1F5F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response = agent.run(</a:t>
                </a:r>
                <a:endParaRPr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142875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"What is the current"</a:t>
                </a:r>
                <a:endParaRPr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142875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 stock price of Apple?"</a:t>
                </a:r>
                <a:endParaRPr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>
                    <a:solidFill>
                      <a:srgbClr val="94A3B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sz="8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descr="image.png" id="159" name="Google Shape;15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20500" y="4962525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4"/>
          <p:cNvGrpSpPr/>
          <p:nvPr/>
        </p:nvGrpSpPr>
        <p:grpSpPr>
          <a:xfrm>
            <a:off x="5076825" y="209550"/>
            <a:ext cx="2038500" cy="304800"/>
            <a:chOff x="0" y="0"/>
            <a:chExt cx="2038500" cy="304800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2038500" cy="3048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 txBox="1"/>
            <p:nvPr/>
          </p:nvSpPr>
          <p:spPr>
            <a:xfrm>
              <a:off x="0" y="0"/>
              <a:ext cx="20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⚙️ Framework Internals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2705100" y="2714625"/>
            <a:ext cx="3400575" cy="1238250"/>
            <a:chOff x="2705100" y="2714625"/>
            <a:chExt cx="3400575" cy="1238250"/>
          </a:xfrm>
        </p:grpSpPr>
        <p:pic>
          <p:nvPicPr>
            <p:cNvPr id="168" name="Google Shape;168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86475" y="2714625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5100" y="3762375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86475" y="3762375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" name="Google Shape;171;p14"/>
          <p:cNvGrpSpPr/>
          <p:nvPr/>
        </p:nvGrpSpPr>
        <p:grpSpPr>
          <a:xfrm>
            <a:off x="1143000" y="2000250"/>
            <a:ext cx="9906000" cy="755194"/>
            <a:chOff x="0" y="0"/>
            <a:chExt cx="9906000" cy="755194"/>
          </a:xfrm>
        </p:grpSpPr>
        <p:sp>
          <p:nvSpPr>
            <p:cNvPr id="172" name="Google Shape;172;p14"/>
            <p:cNvSpPr/>
            <p:nvPr/>
          </p:nvSpPr>
          <p:spPr>
            <a:xfrm>
              <a:off x="0" y="0"/>
              <a:ext cx="9906000" cy="714300"/>
            </a:xfrm>
            <a:prstGeom prst="roundRect">
              <a:avLst>
                <a:gd fmla="val 16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 txBox="1"/>
            <p:nvPr/>
          </p:nvSpPr>
          <p:spPr>
            <a:xfrm>
              <a:off x="238125" y="40894"/>
              <a:ext cx="47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4" name="Google Shape;174;p14"/>
            <p:cNvSpPr txBox="1"/>
            <p:nvPr/>
          </p:nvSpPr>
          <p:spPr>
            <a:xfrm>
              <a:off x="857250" y="0"/>
              <a:ext cx="8763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User Interface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The front-end app interacting directly with the user.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14"/>
          <p:cNvGrpSpPr/>
          <p:nvPr/>
        </p:nvGrpSpPr>
        <p:grpSpPr>
          <a:xfrm>
            <a:off x="1143000" y="3952875"/>
            <a:ext cx="3143400" cy="1857300"/>
            <a:chOff x="0" y="0"/>
            <a:chExt cx="3143400" cy="18573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3143400" cy="1857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238125" y="225552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8" name="Google Shape;178;p14"/>
            <p:cNvSpPr txBox="1"/>
            <p:nvPr/>
          </p:nvSpPr>
          <p:spPr>
            <a:xfrm>
              <a:off x="238125" y="666750"/>
              <a:ext cx="2667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LLM Provider</a:t>
              </a:r>
              <a:endParaRPr b="1" sz="13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OpenAI, Anthropic, or local open-source models via APIs.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14"/>
          <p:cNvGrpSpPr/>
          <p:nvPr/>
        </p:nvGrpSpPr>
        <p:grpSpPr>
          <a:xfrm>
            <a:off x="4524375" y="3952875"/>
            <a:ext cx="3143400" cy="1857300"/>
            <a:chOff x="0" y="0"/>
            <a:chExt cx="3143400" cy="1857300"/>
          </a:xfrm>
        </p:grpSpPr>
        <p:sp>
          <p:nvSpPr>
            <p:cNvPr id="180" name="Google Shape;180;p14"/>
            <p:cNvSpPr/>
            <p:nvPr/>
          </p:nvSpPr>
          <p:spPr>
            <a:xfrm>
              <a:off x="0" y="0"/>
              <a:ext cx="3143400" cy="1857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 txBox="1"/>
            <p:nvPr/>
          </p:nvSpPr>
          <p:spPr>
            <a:xfrm>
              <a:off x="238125" y="225552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4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2" name="Google Shape;182;p14"/>
            <p:cNvSpPr txBox="1"/>
            <p:nvPr/>
          </p:nvSpPr>
          <p:spPr>
            <a:xfrm>
              <a:off x="238125" y="666750"/>
              <a:ext cx="2667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Vector Databases</a:t>
              </a:r>
              <a:endParaRPr b="1" sz="13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Long-term semantic memory storage for context retrieval.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14"/>
          <p:cNvGrpSpPr/>
          <p:nvPr/>
        </p:nvGrpSpPr>
        <p:grpSpPr>
          <a:xfrm>
            <a:off x="7905750" y="3952875"/>
            <a:ext cx="3143400" cy="1857300"/>
            <a:chOff x="0" y="0"/>
            <a:chExt cx="3143400" cy="1857300"/>
          </a:xfrm>
        </p:grpSpPr>
        <p:sp>
          <p:nvSpPr>
            <p:cNvPr id="184" name="Google Shape;184;p14"/>
            <p:cNvSpPr/>
            <p:nvPr/>
          </p:nvSpPr>
          <p:spPr>
            <a:xfrm>
              <a:off x="0" y="0"/>
              <a:ext cx="3143400" cy="1857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 txBox="1"/>
            <p:nvPr/>
          </p:nvSpPr>
          <p:spPr>
            <a:xfrm>
              <a:off x="238125" y="225552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</a:t>
              </a:r>
              <a:endParaRPr sz="24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238125" y="666750"/>
              <a:ext cx="2667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External Tools</a:t>
              </a:r>
              <a:endParaRPr b="1" sz="13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APIs, web search engines, calculators, and custom code environments.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4"/>
          <p:cNvGrpSpPr/>
          <p:nvPr/>
        </p:nvGrpSpPr>
        <p:grpSpPr>
          <a:xfrm>
            <a:off x="1143000" y="2905125"/>
            <a:ext cx="9906000" cy="857400"/>
            <a:chOff x="0" y="0"/>
            <a:chExt cx="9906000" cy="857400"/>
          </a:xfrm>
        </p:grpSpPr>
        <p:sp>
          <p:nvSpPr>
            <p:cNvPr id="188" name="Google Shape;188;p14"/>
            <p:cNvSpPr/>
            <p:nvPr/>
          </p:nvSpPr>
          <p:spPr>
            <a:xfrm>
              <a:off x="0" y="0"/>
              <a:ext cx="9906000" cy="857400"/>
            </a:xfrm>
            <a:prstGeom prst="roundRect">
              <a:avLst>
                <a:gd fmla="val 1333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0" y="0"/>
              <a:ext cx="990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FRAMEWORK LAYER (ORCHESTRATION &amp; STATE)</a:t>
              </a:r>
              <a:endParaRPr b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The central nervous system linking interfaces, models, databases, and tools into a cohesive loop.</a:t>
              </a:r>
              <a:endParaRPr sz="11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14"/>
          <p:cNvSpPr txBox="1"/>
          <p:nvPr/>
        </p:nvSpPr>
        <p:spPr>
          <a:xfrm>
            <a:off x="7110114" y="295275"/>
            <a:ext cx="470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02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571500" y="95250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AI Application Stack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571500" y="163830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Where the framework sits in the modern GenAI ecosystem.</a:t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381000" y="304800"/>
            <a:ext cx="28590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381000" y="62865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framework acts as the central nervous system, connecting disparate components into a unified application.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03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Use an Agent Framework?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primary advantages of adopting an established library.</a:t>
            </a: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Hides complex, repetitive API calls and JSON parsing behind simple, standardized class methods.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Orchestration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Automatically manages the intricate logic loops (like ReAct) required for autonomous agent behavior.</a:t>
            </a:r>
            <a:endParaRPr/>
          </a:p>
        </p:txBody>
      </p:sp>
      <p:sp>
        <p:nvSpPr>
          <p:cNvPr id="219" name="Google Shape;219;p15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Integrations</a:t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Provides hundreds of pre-built connectors to external APIs, databases, and document loaders.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Standardization</a:t>
            </a:r>
            <a:endParaRPr/>
          </a:p>
        </p:txBody>
      </p:sp>
      <p:sp>
        <p:nvSpPr>
          <p:cNvPr id="222" name="Google Shape;222;p15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Enforces a uniform structure for components, making team collaboration and code maintenance much easier.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Frameworks accelerate development by solving the generic plumbing problems of AI applications.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6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04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Building With vs. Without Frameworks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952500" y="2438400"/>
            <a:ext cx="261126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Without Framework</a:t>
            </a:r>
            <a:endParaRPr/>
          </a:p>
        </p:txBody>
      </p:sp>
      <p:sp>
        <p:nvSpPr>
          <p:cNvPr id="237" name="Google Shape;237;p16"/>
          <p:cNvSpPr/>
          <p:nvPr/>
        </p:nvSpPr>
        <p:spPr>
          <a:xfrm>
            <a:off x="952500" y="2819400"/>
            <a:ext cx="2486917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52500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Manual Construction: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Developers must write custom logic to parse string outputs into JSON.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952500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Brittle Logic: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Custom retry loops and error handling must be built from scratch for every new tool.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952500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High Maintenance: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Hardcoded prompts become difficult to manage as the application scales.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6715125" y="2438400"/>
            <a:ext cx="21758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With Framework</a:t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6715125" y="2819400"/>
            <a:ext cx="2072282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6715125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Standardized Components: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Plug-and-play modules for memory, prompt templates, and output parsers.</a:t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6715125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Built-in Resilience: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Frameworks handle API rate limits and automatic retries natively.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6715125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Rapid Prototyping: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Swapping out an LLM provider takes changing a single line of code.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While you can build agents from scratch, frameworks provide enterprise-grade reliability out of the box.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3281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5062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36843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05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571500" y="1690687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Popular Agent Frameworks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571500" y="2376487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leading tools shaping the Agentic ecosystem.</a:t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63290" y="31765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7"/>
          <p:cNvSpPr txBox="1"/>
          <p:nvPr/>
        </p:nvSpPr>
        <p:spPr>
          <a:xfrm>
            <a:off x="1346544" y="3843337"/>
            <a:ext cx="103356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771525" y="4205287"/>
            <a:ext cx="218360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industry standard, highly modular framework for building generic LLM applications and agents.</a:t>
            </a:r>
            <a:endParaRPr/>
          </a:p>
        </p:txBody>
      </p:sp>
      <p:pic>
        <p:nvPicPr>
          <p:cNvPr descr="image.png" id="266" name="Google Shape;26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5559" y="31765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7"/>
          <p:cNvSpPr txBox="1"/>
          <p:nvPr/>
        </p:nvSpPr>
        <p:spPr>
          <a:xfrm>
            <a:off x="4134731" y="3843337"/>
            <a:ext cx="110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LlamaIndex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3593306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Specialized framework focused heavily on optimal data ingestion, indexing, and advanced RAG.</a:t>
            </a:r>
            <a:endParaRPr/>
          </a:p>
        </p:txBody>
      </p:sp>
      <p:pic>
        <p:nvPicPr>
          <p:cNvPr descr="image.png" id="269" name="Google Shape;26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06853" y="31765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7"/>
          <p:cNvSpPr txBox="1"/>
          <p:nvPr/>
        </p:nvSpPr>
        <p:spPr>
          <a:xfrm>
            <a:off x="7162316" y="3843337"/>
            <a:ext cx="6891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CrewAI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6415087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Built on LangChain, designed specifically for orchestrating multi-agent, role-playing teams.</a:t>
            </a:r>
            <a:endParaRPr/>
          </a:p>
        </p:txBody>
      </p:sp>
      <p:pic>
        <p:nvPicPr>
          <p:cNvPr descr="image.png" id="272" name="Google Shape;27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28634" y="31765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7"/>
          <p:cNvSpPr txBox="1"/>
          <p:nvPr/>
        </p:nvSpPr>
        <p:spPr>
          <a:xfrm>
            <a:off x="9906431" y="3843337"/>
            <a:ext cx="8444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AutoGen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9236868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Microsoft's framework focused on conversational, multi-agent workflows and code execution.</a:t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Choose your framework based on your primary need: general workflows, data retrieval, or multi-agent teams.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8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06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571500" y="151447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Chains vs. Agents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571500" y="220027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the two fundamental operational paradigms.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571500" y="2705100"/>
            <a:ext cx="11049000" cy="2828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" name="Google Shape;288;p18"/>
          <p:cNvGraphicFramePr/>
          <p:nvPr/>
        </p:nvGraphicFramePr>
        <p:xfrm>
          <a:off x="571500" y="270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{6A6ED4A1-5B4B-43D0-9EB2-DF1342792A75}</a:tableStyleId>
              </a:tblPr>
              <a:tblGrid>
                <a:gridCol w="2092075"/>
                <a:gridCol w="4424075"/>
                <a:gridCol w="4532850"/>
              </a:tblGrid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Execution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Deterministic (Hardcoded sequence)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Autonomous (Dynamic routing)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Extremely 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(Relies on LLM reasoning)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extraction, simple Q&amp;A, formatting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Complex research, open-ended 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Tool Usage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(Uses specific tool at specific step)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Adaptive (Chooses tool based on context)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18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571500" y="3833812"/>
            <a:ext cx="2092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2663576" y="3833812"/>
            <a:ext cx="4424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7087641" y="3833812"/>
            <a:ext cx="453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571500" y="4395787"/>
            <a:ext cx="2092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2663576" y="4395787"/>
            <a:ext cx="4424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7087641" y="4395787"/>
            <a:ext cx="453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571500" y="4957762"/>
            <a:ext cx="2092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2663576" y="4957762"/>
            <a:ext cx="4424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7087641" y="4957762"/>
            <a:ext cx="453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571500" y="5519737"/>
            <a:ext cx="20920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2663576" y="5519737"/>
            <a:ext cx="4424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7087641" y="5519737"/>
            <a:ext cx="4532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Always prefer a Chain over an Agent if the workflow is highly predictable and static.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81375"/>
            <a:ext cx="53340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156644"/>
            <a:ext cx="5334000" cy="2116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3248025"/>
            <a:ext cx="1886247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3023294"/>
            <a:ext cx="2202507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680644"/>
            <a:ext cx="4857750" cy="35421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07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571500" y="1775519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Conceptual Chain Logic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571500" y="2461319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frameworks pipe components together elegantly.</a:t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Modern frameworks use piping syntax to pass outputs of one component directly as inputs to the next.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2562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43995" y="2539454"/>
            <a:ext cx="3504009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08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Managing Tools Internally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571500" y="163830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frameworks translate LLM intentions into executed code.</a:t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1676400" y="4762500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8" name="Google Shape;338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16881" y="4101554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0"/>
          <p:cNvSpPr txBox="1"/>
          <p:nvPr/>
        </p:nvSpPr>
        <p:spPr>
          <a:xfrm>
            <a:off x="1035054" y="4587329"/>
            <a:ext cx="16208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Schema Extraction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828675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Converts Python functions into JSON schemas for the LLM.</a:t>
            </a:r>
            <a:endParaRPr/>
          </a:p>
        </p:txBody>
      </p:sp>
      <p:pic>
        <p:nvPicPr>
          <p:cNvPr descr="image.png" id="341" name="Google Shape;341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64843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0"/>
          <p:cNvSpPr txBox="1"/>
          <p:nvPr/>
        </p:nvSpPr>
        <p:spPr>
          <a:xfrm>
            <a:off x="4074080" y="4587329"/>
            <a:ext cx="121015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JSON Binding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3662362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Attaches the available tool schemas to the API request.</a:t>
            </a:r>
            <a:endParaRPr/>
          </a:p>
        </p:txBody>
      </p:sp>
      <p:pic>
        <p:nvPicPr>
          <p:cNvPr descr="image.png" id="344" name="Google Shape;344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98531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0"/>
          <p:cNvSpPr txBox="1"/>
          <p:nvPr/>
        </p:nvSpPr>
        <p:spPr>
          <a:xfrm>
            <a:off x="6757593" y="4587329"/>
            <a:ext cx="151050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Execution Engine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6496050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Runs the local code when the LLM requests a tool call.</a:t>
            </a:r>
            <a:endParaRPr/>
          </a:p>
        </p:txBody>
      </p:sp>
      <p:pic>
        <p:nvPicPr>
          <p:cNvPr descr="image.png" id="347" name="Google Shape;347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75081" y="4101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0"/>
          <p:cNvSpPr txBox="1"/>
          <p:nvPr/>
        </p:nvSpPr>
        <p:spPr>
          <a:xfrm>
            <a:off x="9716299" y="4587329"/>
            <a:ext cx="12603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Error Handling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9329737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Catches execution errors and formats them for LLM self-correction.</a:t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Tool Registry is the bridge between the LLM's text output and the application's actual executable code.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1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09</a:t>
            </a:r>
            <a:endParaRPr/>
          </a:p>
        </p:txBody>
      </p:sp>
      <p:sp>
        <p:nvSpPr>
          <p:cNvPr id="368" name="Google Shape;368;p21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Framework Agent Orchestration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hidden loop managed automatically by agent executor classes.</a:t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Parse Input</a:t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framework receives the user query and injects it into the base agent prompt template.</a:t>
            </a:r>
            <a:endParaRPr/>
          </a:p>
        </p:txBody>
      </p:sp>
      <p:sp>
        <p:nvSpPr>
          <p:cNvPr id="373" name="Google Shape;373;p21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Format Prompt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Memory history, tool schemas, and the current goal are combined into one large context block.</a:t>
            </a: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Extract Tool Call</a:t>
            </a: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framework intercepts the LLM response, parsing out the specific JSON requesting tool usage.</a:t>
            </a:r>
            <a:endParaRPr/>
          </a:p>
        </p:txBody>
      </p:sp>
      <p:sp>
        <p:nvSpPr>
          <p:cNvPr id="377" name="Google Shape;377;p21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Execute &amp; Feed Back</a:t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Runs the tool locally, appends the result as an "Observation", and loops back to Step 2.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executors hide the complexity of while-loops, string parsing, and error catching from the developer.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5" name="Google Shape;3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2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10</a:t>
            </a: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Native vs Custom Tools</a:t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952500" y="2438400"/>
            <a:ext cx="164426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Native Tools</a:t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952500" y="2819400"/>
            <a:ext cx="1565969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952500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Built-in: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Provided directly by the framework (e.g., WikipediaSearch, Calculator).</a:t>
            </a:r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952500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Verified: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Schemas and execution logic are thoroughly tested by the open-source community.</a:t>
            </a: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952500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Instant 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Can be initialized and passed to an agent with a single line of code.</a:t>
            </a:r>
            <a:endParaRPr/>
          </a:p>
        </p:txBody>
      </p:sp>
      <p:sp>
        <p:nvSpPr>
          <p:cNvPr id="397" name="Google Shape;397;p22"/>
          <p:cNvSpPr txBox="1"/>
          <p:nvPr/>
        </p:nvSpPr>
        <p:spPr>
          <a:xfrm>
            <a:off x="6715125" y="2438400"/>
            <a:ext cx="184616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Custom Tools</a:t>
            </a: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6715125" y="2819400"/>
            <a:ext cx="1758255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6715125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User-Defined: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Bespoke Python functions written by the developer for specific business logic.</a:t>
            </a:r>
            <a:endParaRPr/>
          </a:p>
        </p:txBody>
      </p:sp>
      <p:sp>
        <p:nvSpPr>
          <p:cNvPr id="400" name="Google Shape;400;p22"/>
          <p:cNvSpPr txBox="1"/>
          <p:nvPr/>
        </p:nvSpPr>
        <p:spPr>
          <a:xfrm>
            <a:off x="6715125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Strict Schemas: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Requires explicit docstrings and type hints so the framework can extract the schema.</a:t>
            </a: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6715125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Highly Specific: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Connects the agent directly to internal proprietary databases or APIs.</a:t>
            </a: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Leverage native tools for common tasks, and build custom tools to give agents access to your unique business data.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8" name="Google Shape;4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3281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5062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36843" y="2881312"/>
            <a:ext cx="2583656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3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11</a:t>
            </a:r>
            <a:endParaRPr/>
          </a:p>
        </p:txBody>
      </p:sp>
      <p:sp>
        <p:nvSpPr>
          <p:cNvPr id="416" name="Google Shape;416;p23"/>
          <p:cNvSpPr txBox="1"/>
          <p:nvPr/>
        </p:nvSpPr>
        <p:spPr>
          <a:xfrm>
            <a:off x="571500" y="1690687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Types of Memory Implementations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571500" y="2376487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frameworks handle state across conversation turns.</a:t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9" name="Google Shape;41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25203" y="3176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3"/>
          <p:cNvSpPr txBox="1"/>
          <p:nvPr/>
        </p:nvSpPr>
        <p:spPr>
          <a:xfrm>
            <a:off x="1157462" y="3843337"/>
            <a:ext cx="141158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Buffer Memory</a:t>
            </a:r>
            <a:endParaRPr/>
          </a:p>
        </p:txBody>
      </p:sp>
      <p:sp>
        <p:nvSpPr>
          <p:cNvPr id="421" name="Google Shape;421;p23"/>
          <p:cNvSpPr txBox="1"/>
          <p:nvPr/>
        </p:nvSpPr>
        <p:spPr>
          <a:xfrm>
            <a:off x="771525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Stores the exact transcript of every message. Simple, but quickly consumes token limits.</a:t>
            </a:r>
            <a:endParaRPr/>
          </a:p>
        </p:txBody>
      </p:sp>
      <p:pic>
        <p:nvPicPr>
          <p:cNvPr descr="image.png" id="422" name="Google Shape;422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5559" y="31765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3"/>
          <p:cNvSpPr txBox="1"/>
          <p:nvPr/>
        </p:nvSpPr>
        <p:spPr>
          <a:xfrm>
            <a:off x="3817969" y="3843337"/>
            <a:ext cx="173427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Summary Memory</a:t>
            </a:r>
            <a:endParaRPr/>
          </a:p>
        </p:txBody>
      </p:sp>
      <p:sp>
        <p:nvSpPr>
          <p:cNvPr id="424" name="Google Shape;424;p23"/>
          <p:cNvSpPr txBox="1"/>
          <p:nvPr/>
        </p:nvSpPr>
        <p:spPr>
          <a:xfrm>
            <a:off x="3593306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Uses an LLM to continually condense past turns into a running summary, saving tokens.</a:t>
            </a:r>
            <a:endParaRPr/>
          </a:p>
        </p:txBody>
      </p:sp>
      <p:pic>
        <p:nvPicPr>
          <p:cNvPr descr="image.png" id="425" name="Google Shape;425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68765" y="3176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3"/>
          <p:cNvSpPr txBox="1"/>
          <p:nvPr/>
        </p:nvSpPr>
        <p:spPr>
          <a:xfrm>
            <a:off x="6713197" y="3843337"/>
            <a:ext cx="15873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Window Memory</a:t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6415087" y="4205287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Only retains the last 'K' interactions, strictly limiting context to recent events.</a:t>
            </a:r>
            <a:endParaRPr/>
          </a:p>
        </p:txBody>
      </p:sp>
      <p:pic>
        <p:nvPicPr>
          <p:cNvPr descr="image.png" id="428" name="Google Shape;428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61971" y="317658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3"/>
          <p:cNvSpPr txBox="1"/>
          <p:nvPr/>
        </p:nvSpPr>
        <p:spPr>
          <a:xfrm>
            <a:off x="9611554" y="3843337"/>
            <a:ext cx="14340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Vector Memory</a:t>
            </a:r>
            <a:endParaRPr/>
          </a:p>
        </p:txBody>
      </p:sp>
      <p:sp>
        <p:nvSpPr>
          <p:cNvPr id="430" name="Google Shape;430;p23"/>
          <p:cNvSpPr txBox="1"/>
          <p:nvPr/>
        </p:nvSpPr>
        <p:spPr>
          <a:xfrm>
            <a:off x="9236868" y="4205287"/>
            <a:ext cx="218360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Embeds past interactions into a vector database, retrieving only semantically relevant past messages.</a:t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Frameworks allow you to swap memory types effortlessly to balance context depth with API token costs.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7" name="Google Shape;4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4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12</a:t>
            </a:r>
            <a:endParaRPr/>
          </a:p>
        </p:txBody>
      </p:sp>
      <p:sp>
        <p:nvSpPr>
          <p:cNvPr id="441" name="Google Shape;441;p24"/>
          <p:cNvSpPr txBox="1"/>
          <p:nvPr/>
        </p:nvSpPr>
        <p:spPr>
          <a:xfrm>
            <a:off x="571500" y="151447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Tool Execution Tradeoffs</a:t>
            </a:r>
            <a:endParaRPr/>
          </a:p>
        </p:txBody>
      </p:sp>
      <p:sp>
        <p:nvSpPr>
          <p:cNvPr id="442" name="Google Shape;442;p24"/>
          <p:cNvSpPr txBox="1"/>
          <p:nvPr/>
        </p:nvSpPr>
        <p:spPr>
          <a:xfrm>
            <a:off x="571500" y="220027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Evaluating the impact of different tool categories on agent performance.</a:t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571500" y="2705100"/>
            <a:ext cx="11049000" cy="2828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4" name="Google Shape;444;p24"/>
          <p:cNvGraphicFramePr/>
          <p:nvPr/>
        </p:nvGraphicFramePr>
        <p:xfrm>
          <a:off x="571500" y="270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{6A6ED4A1-5B4B-43D0-9EB2-DF1342792A75}</a:tableStyleId>
              </a:tblPr>
              <a:tblGrid>
                <a:gridCol w="2572800"/>
                <a:gridCol w="1363575"/>
                <a:gridCol w="3588100"/>
                <a:gridCol w="3524550"/>
              </a:tblGrid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Tool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Reliability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Flexibility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Search (Native)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(Depends on web results)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Extremely 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 Interpreter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 (Prone to syntax errors)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(Can solve novel math/logic)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 API 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 (Structured data)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 (Strictly bounded)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RAG Retrieval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(Grounded in documents)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45" name="Google Shape;445;p2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571500" y="3833812"/>
            <a:ext cx="2572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3144291" y="3833812"/>
            <a:ext cx="1363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4507855" y="3833812"/>
            <a:ext cx="3588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8095952" y="3833812"/>
            <a:ext cx="3524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571500" y="4395787"/>
            <a:ext cx="2572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3144291" y="4395787"/>
            <a:ext cx="1363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4507855" y="4395787"/>
            <a:ext cx="3588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8095952" y="4395787"/>
            <a:ext cx="3524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571500" y="4957762"/>
            <a:ext cx="2572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3144291" y="4957762"/>
            <a:ext cx="1363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4507855" y="4957762"/>
            <a:ext cx="3588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8095952" y="4957762"/>
            <a:ext cx="3524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571500" y="5519737"/>
            <a:ext cx="2572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3144291" y="5519737"/>
            <a:ext cx="1363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4507855" y="5519737"/>
            <a:ext cx="35880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8095952" y="5519737"/>
            <a:ext cx="35245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Mix structured custom APIs for reliability with generic search tools for flexibility.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8" name="Google Shape;4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38475"/>
            <a:ext cx="53340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42344"/>
            <a:ext cx="5334000" cy="2344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905125"/>
            <a:ext cx="1886247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908994"/>
            <a:ext cx="1569987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794944"/>
            <a:ext cx="4857750" cy="35421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5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13</a:t>
            </a:r>
            <a:endParaRPr/>
          </a:p>
        </p:txBody>
      </p:sp>
      <p:sp>
        <p:nvSpPr>
          <p:cNvPr id="476" name="Google Shape;476;p25"/>
          <p:cNvSpPr txBox="1"/>
          <p:nvPr/>
        </p:nvSpPr>
        <p:spPr>
          <a:xfrm>
            <a:off x="571500" y="16573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Memory Injection Implementation</a:t>
            </a:r>
            <a:endParaRPr/>
          </a:p>
        </p:txBody>
      </p:sp>
      <p:sp>
        <p:nvSpPr>
          <p:cNvPr id="477" name="Google Shape;477;p25"/>
          <p:cNvSpPr txBox="1"/>
          <p:nvPr/>
        </p:nvSpPr>
        <p:spPr>
          <a:xfrm>
            <a:off x="571500" y="234315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Abstracting state management away from the core logic.</a:t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framework automatically manages appending inputs and outputs to the memory object during execution.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5" name="Google Shape;4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2562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66703" y="2539454"/>
            <a:ext cx="4458592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6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14</a:t>
            </a:r>
            <a:endParaRPr/>
          </a:p>
        </p:txBody>
      </p:sp>
      <p:sp>
        <p:nvSpPr>
          <p:cNvPr id="494" name="Google Shape;494;p26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Positioning of LangChain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571500" y="163830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Understanding the dominant framework in the ecosystem.</a:t>
            </a:r>
            <a:endParaRPr/>
          </a:p>
        </p:txBody>
      </p:sp>
      <p:sp>
        <p:nvSpPr>
          <p:cNvPr id="496" name="Google Shape;496;p2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1676400" y="4762500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8" name="Google Shape;498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74018" y="4101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6"/>
          <p:cNvSpPr txBox="1"/>
          <p:nvPr/>
        </p:nvSpPr>
        <p:spPr>
          <a:xfrm>
            <a:off x="924732" y="4587329"/>
            <a:ext cx="184132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Extensive Ecosystem</a:t>
            </a:r>
            <a:endParaRPr/>
          </a:p>
        </p:txBody>
      </p:sp>
      <p:sp>
        <p:nvSpPr>
          <p:cNvPr id="500" name="Google Shape;500;p26"/>
          <p:cNvSpPr txBox="1"/>
          <p:nvPr/>
        </p:nvSpPr>
        <p:spPr>
          <a:xfrm>
            <a:off x="828675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Integrates with virtually every LLM, database, and tool provider.</a:t>
            </a:r>
            <a:endParaRPr/>
          </a:p>
        </p:txBody>
      </p:sp>
      <p:pic>
        <p:nvPicPr>
          <p:cNvPr descr="image.png" id="501" name="Google Shape;501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83893" y="4101554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6"/>
          <p:cNvSpPr txBox="1"/>
          <p:nvPr/>
        </p:nvSpPr>
        <p:spPr>
          <a:xfrm>
            <a:off x="4003919" y="4587329"/>
            <a:ext cx="1350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Modular Design</a:t>
            </a:r>
            <a:endParaRPr/>
          </a:p>
        </p:txBody>
      </p:sp>
      <p:sp>
        <p:nvSpPr>
          <p:cNvPr id="503" name="Google Shape;503;p26"/>
          <p:cNvSpPr txBox="1"/>
          <p:nvPr/>
        </p:nvSpPr>
        <p:spPr>
          <a:xfrm>
            <a:off x="3662362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only the parts you need (e.g., just prompts, or just memory).</a:t>
            </a:r>
            <a:endParaRPr/>
          </a:p>
        </p:txBody>
      </p:sp>
      <p:pic>
        <p:nvPicPr>
          <p:cNvPr descr="image.png" id="504" name="Google Shape;504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17581" y="4101554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6"/>
          <p:cNvSpPr txBox="1"/>
          <p:nvPr/>
        </p:nvSpPr>
        <p:spPr>
          <a:xfrm>
            <a:off x="6791034" y="4587329"/>
            <a:ext cx="14436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High Abstraction</a:t>
            </a:r>
            <a:endParaRPr/>
          </a:p>
        </p:txBody>
      </p:sp>
      <p:sp>
        <p:nvSpPr>
          <p:cNvPr id="506" name="Google Shape;506;p26"/>
          <p:cNvSpPr txBox="1"/>
          <p:nvPr/>
        </p:nvSpPr>
        <p:spPr>
          <a:xfrm>
            <a:off x="6496050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Simplifies complex tasks, but can sometimes obscure underlying mechanics.</a:t>
            </a:r>
            <a:endParaRPr/>
          </a:p>
        </p:txBody>
      </p:sp>
      <p:pic>
        <p:nvPicPr>
          <p:cNvPr descr="image.png" id="507" name="Google Shape;507;p2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94131" y="4101554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6"/>
          <p:cNvSpPr txBox="1"/>
          <p:nvPr/>
        </p:nvSpPr>
        <p:spPr>
          <a:xfrm>
            <a:off x="9546278" y="4587329"/>
            <a:ext cx="16003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Prototyping Speed</a:t>
            </a:r>
            <a:endParaRPr/>
          </a:p>
        </p:txBody>
      </p:sp>
      <p:sp>
        <p:nvSpPr>
          <p:cNvPr id="509" name="Google Shape;509;p26"/>
          <p:cNvSpPr txBox="1"/>
          <p:nvPr/>
        </p:nvSpPr>
        <p:spPr>
          <a:xfrm>
            <a:off x="9329737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Unmatched velocity for getting an AI application from idea to working demo.</a:t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LangChain sacrifices some fine-grained control in exchange for massive development speed and connectivity.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6" name="Google Shape;5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4" name="Google Shape;5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6" name="Google Shape;526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7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15</a:t>
            </a:r>
            <a:endParaRPr/>
          </a:p>
        </p:txBody>
      </p:sp>
      <p:sp>
        <p:nvSpPr>
          <p:cNvPr id="528" name="Google Shape;528;p27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LangChain Core Paradigms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four pillars making up the framework's architecture.</a:t>
            </a: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7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I/O</a:t>
            </a:r>
            <a:endParaRPr/>
          </a:p>
        </p:txBody>
      </p:sp>
      <p:sp>
        <p:nvSpPr>
          <p:cNvPr id="532" name="Google Shape;532;p27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Standardized wrappers for communicating with various LLMs and formatting prompt inputs/outputs.</a:t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Retrieval (RAG)</a:t>
            </a:r>
            <a:endParaRPr/>
          </a:p>
        </p:txBody>
      </p:sp>
      <p:sp>
        <p:nvSpPr>
          <p:cNvPr id="534" name="Google Shape;534;p27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Components for loading documents, splitting text, embedding vectors, and querying databases.</a:t>
            </a:r>
            <a:endParaRPr/>
          </a:p>
        </p:txBody>
      </p:sp>
      <p:sp>
        <p:nvSpPr>
          <p:cNvPr id="535" name="Google Shape;535;p27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Chains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Constructs that link multiple components together into a predictable, sequential pipeline.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Dynamic routing systems where the LLM determines the execution path and tool usage.</a:t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Mastering these four paradigms is essential for building robust applications within the LangChain ecosystem.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5" name="Google Shape;5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6" name="Google Shape;5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7" name="Google Shape;54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8" name="Google Shape;54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8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16</a:t>
            </a:r>
            <a:endParaRPr/>
          </a:p>
        </p:txBody>
      </p:sp>
      <p:sp>
        <p:nvSpPr>
          <p:cNvPr id="550" name="Google Shape;550;p28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LangChain vs LlamaIndex</a:t>
            </a:r>
            <a:endParaRPr/>
          </a:p>
        </p:txBody>
      </p:sp>
      <p:sp>
        <p:nvSpPr>
          <p:cNvPr id="551" name="Google Shape;551;p28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 txBox="1"/>
          <p:nvPr/>
        </p:nvSpPr>
        <p:spPr>
          <a:xfrm>
            <a:off x="952500" y="2438400"/>
            <a:ext cx="14468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/>
          </a:p>
        </p:txBody>
      </p:sp>
      <p:sp>
        <p:nvSpPr>
          <p:cNvPr id="553" name="Google Shape;553;p28"/>
          <p:cNvSpPr/>
          <p:nvPr/>
        </p:nvSpPr>
        <p:spPr>
          <a:xfrm>
            <a:off x="952500" y="2819400"/>
            <a:ext cx="1377999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952500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Focus: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Application workflows, complex chaining, and agentic action.</a:t>
            </a:r>
            <a:endParaRPr/>
          </a:p>
        </p:txBody>
      </p:sp>
      <p:sp>
        <p:nvSpPr>
          <p:cNvPr id="555" name="Google Shape;555;p28"/>
          <p:cNvSpPr txBox="1"/>
          <p:nvPr/>
        </p:nvSpPr>
        <p:spPr>
          <a:xfrm>
            <a:off x="952500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Building bots that need to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things (execute APIs, write files).</a:t>
            </a:r>
            <a:endParaRPr/>
          </a:p>
        </p:txBody>
      </p:sp>
      <p:sp>
        <p:nvSpPr>
          <p:cNvPr id="556" name="Google Shape;556;p28"/>
          <p:cNvSpPr txBox="1"/>
          <p:nvPr/>
        </p:nvSpPr>
        <p:spPr>
          <a:xfrm>
            <a:off x="952500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Philosophy: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 general-purpose Swiss Army knife for all LLM interactions.</a:t>
            </a:r>
            <a:endParaRPr/>
          </a:p>
        </p:txBody>
      </p:sp>
      <p:sp>
        <p:nvSpPr>
          <p:cNvPr id="557" name="Google Shape;557;p28"/>
          <p:cNvSpPr txBox="1"/>
          <p:nvPr/>
        </p:nvSpPr>
        <p:spPr>
          <a:xfrm>
            <a:off x="6715125" y="2438400"/>
            <a:ext cx="15408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LlamaIndex</a:t>
            </a:r>
            <a:endParaRPr/>
          </a:p>
        </p:txBody>
      </p:sp>
      <p:sp>
        <p:nvSpPr>
          <p:cNvPr id="558" name="Google Shape;558;p28"/>
          <p:cNvSpPr/>
          <p:nvPr/>
        </p:nvSpPr>
        <p:spPr>
          <a:xfrm>
            <a:off x="6715125" y="2819400"/>
            <a:ext cx="1467445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 txBox="1"/>
          <p:nvPr/>
        </p:nvSpPr>
        <p:spPr>
          <a:xfrm>
            <a:off x="6715125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Focus: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Deep data connection, indexing, and advanced retrieval (RAG).</a:t>
            </a:r>
            <a:endParaRPr/>
          </a:p>
        </p:txBody>
      </p:sp>
      <p:sp>
        <p:nvSpPr>
          <p:cNvPr id="560" name="Google Shape;560;p28"/>
          <p:cNvSpPr txBox="1"/>
          <p:nvPr/>
        </p:nvSpPr>
        <p:spPr>
          <a:xfrm>
            <a:off x="6715125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Building bots that need to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know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things (querying massive internal PDFs).</a:t>
            </a:r>
            <a:endParaRPr/>
          </a:p>
        </p:txBody>
      </p:sp>
      <p:sp>
        <p:nvSpPr>
          <p:cNvPr id="561" name="Google Shape;561;p28"/>
          <p:cNvSpPr txBox="1"/>
          <p:nvPr/>
        </p:nvSpPr>
        <p:spPr>
          <a:xfrm>
            <a:off x="6715125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Philosophy: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 specialized pipeline optimizing the connection between LLMs and your custom data.</a:t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LangChain when you need an agent to take actions, and LlamaIndex when you need an agent to act as an expert researcher.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8" name="Google Shape;5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0" name="Google Shape;5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1" name="Google Shape;57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2" name="Google Shape;57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3281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3" name="Google Shape;57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5062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4" name="Google Shape;57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36843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9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17</a:t>
            </a:r>
            <a:endParaRPr/>
          </a:p>
        </p:txBody>
      </p:sp>
      <p:sp>
        <p:nvSpPr>
          <p:cNvPr id="576" name="Google Shape;576;p29"/>
          <p:cNvSpPr txBox="1"/>
          <p:nvPr/>
        </p:nvSpPr>
        <p:spPr>
          <a:xfrm>
            <a:off x="571500" y="1797843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LangChain Ecosystem</a:t>
            </a:r>
            <a:endParaRPr/>
          </a:p>
        </p:txBody>
      </p:sp>
      <p:sp>
        <p:nvSpPr>
          <p:cNvPr id="577" name="Google Shape;577;p29"/>
          <p:cNvSpPr txBox="1"/>
          <p:nvPr/>
        </p:nvSpPr>
        <p:spPr>
          <a:xfrm>
            <a:off x="571500" y="2483643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Beyond the core library: The full production suite.</a:t>
            </a:r>
            <a:endParaRPr/>
          </a:p>
        </p:txBody>
      </p:sp>
      <p:sp>
        <p:nvSpPr>
          <p:cNvPr id="578" name="Google Shape;578;p29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79" name="Google Shape;579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53778" y="3283743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9"/>
          <p:cNvSpPr txBox="1"/>
          <p:nvPr/>
        </p:nvSpPr>
        <p:spPr>
          <a:xfrm>
            <a:off x="1346544" y="3950493"/>
            <a:ext cx="103356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/>
          </a:p>
        </p:txBody>
      </p:sp>
      <p:sp>
        <p:nvSpPr>
          <p:cNvPr id="581" name="Google Shape;581;p29"/>
          <p:cNvSpPr txBox="1"/>
          <p:nvPr/>
        </p:nvSpPr>
        <p:spPr>
          <a:xfrm>
            <a:off x="771525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core open-source library for building components, chains, and simple agents.</a:t>
            </a:r>
            <a:endParaRPr/>
          </a:p>
        </p:txBody>
      </p:sp>
      <p:pic>
        <p:nvPicPr>
          <p:cNvPr descr="image.png" id="582" name="Google Shape;582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18409" y="3283743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9"/>
          <p:cNvSpPr txBox="1"/>
          <p:nvPr/>
        </p:nvSpPr>
        <p:spPr>
          <a:xfrm>
            <a:off x="4151608" y="3950493"/>
            <a:ext cx="106685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endParaRPr/>
          </a:p>
        </p:txBody>
      </p:sp>
      <p:sp>
        <p:nvSpPr>
          <p:cNvPr id="584" name="Google Shape;584;p29"/>
          <p:cNvSpPr txBox="1"/>
          <p:nvPr/>
        </p:nvSpPr>
        <p:spPr>
          <a:xfrm>
            <a:off x="3593306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Advanced framework for building stateful, multi-actor applications using graph-based routing.</a:t>
            </a:r>
            <a:endParaRPr/>
          </a:p>
        </p:txBody>
      </p:sp>
      <p:pic>
        <p:nvPicPr>
          <p:cNvPr descr="image.png" id="585" name="Google Shape;585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68765" y="328374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9"/>
          <p:cNvSpPr txBox="1"/>
          <p:nvPr/>
        </p:nvSpPr>
        <p:spPr>
          <a:xfrm>
            <a:off x="6990107" y="3950493"/>
            <a:ext cx="103356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LangSmith</a:t>
            </a:r>
            <a:endParaRPr/>
          </a:p>
        </p:txBody>
      </p:sp>
      <p:sp>
        <p:nvSpPr>
          <p:cNvPr id="587" name="Google Shape;587;p29"/>
          <p:cNvSpPr txBox="1"/>
          <p:nvPr/>
        </p:nvSpPr>
        <p:spPr>
          <a:xfrm>
            <a:off x="6415087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unified platform for debugging, testing, evaluating, and monitoring LLM applications.</a:t>
            </a:r>
            <a:endParaRPr/>
          </a:p>
        </p:txBody>
      </p:sp>
      <p:pic>
        <p:nvPicPr>
          <p:cNvPr descr="image.png" id="588" name="Google Shape;588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90546" y="328374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9"/>
          <p:cNvSpPr txBox="1"/>
          <p:nvPr/>
        </p:nvSpPr>
        <p:spPr>
          <a:xfrm>
            <a:off x="9817205" y="3950493"/>
            <a:ext cx="10227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LangServe</a:t>
            </a:r>
            <a:endParaRPr/>
          </a:p>
        </p:txBody>
      </p:sp>
      <p:sp>
        <p:nvSpPr>
          <p:cNvPr id="590" name="Google Shape;590;p29"/>
          <p:cNvSpPr txBox="1"/>
          <p:nvPr/>
        </p:nvSpPr>
        <p:spPr>
          <a:xfrm>
            <a:off x="9236868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tool for instantly deploying LangChain runnables and chains as REST APIs.</a:t>
            </a:r>
            <a:endParaRPr/>
          </a:p>
        </p:txBody>
      </p:sp>
      <p:sp>
        <p:nvSpPr>
          <p:cNvPr id="591" name="Google Shape;591;p2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ecosystem covers the entire lifecycle: Development (Core/Graph) -&gt; Deployment (Serve) -&gt; Observability (Smith).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7" name="Google Shape;5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8" name="Google Shape;59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9" name="Google Shape;59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0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18</a:t>
            </a:r>
            <a:endParaRPr/>
          </a:p>
        </p:txBody>
      </p:sp>
      <p:sp>
        <p:nvSpPr>
          <p:cNvPr id="601" name="Google Shape;601;p30"/>
          <p:cNvSpPr txBox="1"/>
          <p:nvPr/>
        </p:nvSpPr>
        <p:spPr>
          <a:xfrm>
            <a:off x="571500" y="151447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LangChain vs CrewAI</a:t>
            </a:r>
            <a:endParaRPr/>
          </a:p>
        </p:txBody>
      </p:sp>
      <p:sp>
        <p:nvSpPr>
          <p:cNvPr id="602" name="Google Shape;602;p30"/>
          <p:cNvSpPr txBox="1"/>
          <p:nvPr/>
        </p:nvSpPr>
        <p:spPr>
          <a:xfrm>
            <a:off x="571500" y="220027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Choosing the right abstraction level for agents.</a:t>
            </a:r>
            <a:endParaRPr/>
          </a:p>
        </p:txBody>
      </p:sp>
      <p:sp>
        <p:nvSpPr>
          <p:cNvPr id="603" name="Google Shape;603;p30"/>
          <p:cNvSpPr/>
          <p:nvPr/>
        </p:nvSpPr>
        <p:spPr>
          <a:xfrm>
            <a:off x="571500" y="2705100"/>
            <a:ext cx="11049000" cy="2828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30"/>
          <p:cNvGraphicFramePr/>
          <p:nvPr/>
        </p:nvGraphicFramePr>
        <p:xfrm>
          <a:off x="571500" y="270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{6A6ED4A1-5B4B-43D0-9EB2-DF1342792A75}</a:tableStyleId>
              </a:tblPr>
              <a:tblGrid>
                <a:gridCol w="1952925"/>
                <a:gridCol w="4351275"/>
                <a:gridCol w="4744800"/>
              </a:tblGrid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LangChain (Agents)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CrewAI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Highly customizable, granular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Opinionated, built on top of LangChain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Single, complex generic agent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Teams of role-playing specialized agents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Setup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wiring components together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Extremely fast for team topologies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Best For...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 tools, unique routing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Collaborative workflows, delegating 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05" name="Google Shape;605;p30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571500" y="3833812"/>
            <a:ext cx="1952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2524422" y="3833812"/>
            <a:ext cx="4351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0"/>
          <p:cNvSpPr/>
          <p:nvPr/>
        </p:nvSpPr>
        <p:spPr>
          <a:xfrm>
            <a:off x="6875710" y="3833812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571500" y="4395787"/>
            <a:ext cx="1952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2524422" y="4395787"/>
            <a:ext cx="4351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6875710" y="4395787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571500" y="4957762"/>
            <a:ext cx="1952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2524422" y="4957762"/>
            <a:ext cx="4351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6875710" y="4957762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571500" y="5519737"/>
            <a:ext cx="1952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2524422" y="5519737"/>
            <a:ext cx="43512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6875710" y="5519737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CrewAI provides a higher-level abstraction specifically designed to make multi-agent orchestration simple.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4" name="Google Shape;6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5" name="Google Shape;62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6" name="Google Shape;62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67075"/>
            <a:ext cx="53340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7" name="Google Shape;62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42344"/>
            <a:ext cx="5334000" cy="2344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8" name="Google Shape;628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3133725"/>
            <a:ext cx="1490960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9" name="Google Shape;629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908994"/>
            <a:ext cx="1411783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0" name="Google Shape;630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794944"/>
            <a:ext cx="4857750" cy="35421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31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19</a:t>
            </a:r>
            <a:endParaRPr/>
          </a:p>
        </p:txBody>
      </p:sp>
      <p:sp>
        <p:nvSpPr>
          <p:cNvPr id="632" name="Google Shape;632;p31"/>
          <p:cNvSpPr txBox="1"/>
          <p:nvPr/>
        </p:nvSpPr>
        <p:spPr>
          <a:xfrm>
            <a:off x="571500" y="1661219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LangGraph State Management</a:t>
            </a:r>
            <a:endParaRPr/>
          </a:p>
        </p:txBody>
      </p:sp>
      <p:sp>
        <p:nvSpPr>
          <p:cNvPr id="633" name="Google Shape;633;p31"/>
          <p:cNvSpPr txBox="1"/>
          <p:nvPr/>
        </p:nvSpPr>
        <p:spPr>
          <a:xfrm>
            <a:off x="571500" y="2347019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Conceptualizing graph-based stateful orchestration.</a:t>
            </a:r>
            <a:endParaRPr/>
          </a:p>
        </p:txBody>
      </p:sp>
      <p:sp>
        <p:nvSpPr>
          <p:cNvPr id="634" name="Google Shape;634;p3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 models agents as state machines, making complex loops and branching highly predictable.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1" name="Google Shape;6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2" name="Google Shape;6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3" name="Google Shape;64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4" name="Google Shape;64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5" name="Google Shape;645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6" name="Google Shape;646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7" name="Google Shape;647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2562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75955" y="2539454"/>
            <a:ext cx="4039939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2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20</a:t>
            </a:r>
            <a:endParaRPr/>
          </a:p>
        </p:txBody>
      </p:sp>
      <p:sp>
        <p:nvSpPr>
          <p:cNvPr id="650" name="Google Shape;650;p32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Considerations: Reliability</a:t>
            </a:r>
            <a:endParaRPr/>
          </a:p>
        </p:txBody>
      </p:sp>
      <p:sp>
        <p:nvSpPr>
          <p:cNvPr id="651" name="Google Shape;651;p32"/>
          <p:cNvSpPr txBox="1"/>
          <p:nvPr/>
        </p:nvSpPr>
        <p:spPr>
          <a:xfrm>
            <a:off x="571500" y="163830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Ensuring autonomous systems don't fail silently.</a:t>
            </a:r>
            <a:endParaRPr/>
          </a:p>
        </p:txBody>
      </p:sp>
      <p:sp>
        <p:nvSpPr>
          <p:cNvPr id="652" name="Google Shape;652;p32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2"/>
          <p:cNvSpPr/>
          <p:nvPr/>
        </p:nvSpPr>
        <p:spPr>
          <a:xfrm>
            <a:off x="1676400" y="4762500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54" name="Google Shape;654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31156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2"/>
          <p:cNvSpPr txBox="1"/>
          <p:nvPr/>
        </p:nvSpPr>
        <p:spPr>
          <a:xfrm>
            <a:off x="1066781" y="4587329"/>
            <a:ext cx="1557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 Enforcement</a:t>
            </a:r>
            <a:endParaRPr/>
          </a:p>
        </p:txBody>
      </p:sp>
      <p:sp>
        <p:nvSpPr>
          <p:cNvPr id="656" name="Google Shape;656;p32"/>
          <p:cNvSpPr txBox="1"/>
          <p:nvPr/>
        </p:nvSpPr>
        <p:spPr>
          <a:xfrm>
            <a:off x="828675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Validating JSON tool outputs strictly using Pydantic.</a:t>
            </a:r>
            <a:endParaRPr/>
          </a:p>
        </p:txBody>
      </p:sp>
      <p:pic>
        <p:nvPicPr>
          <p:cNvPr descr="image.png" id="657" name="Google Shape;657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07706" y="4101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2"/>
          <p:cNvSpPr txBox="1"/>
          <p:nvPr/>
        </p:nvSpPr>
        <p:spPr>
          <a:xfrm>
            <a:off x="3983760" y="4587329"/>
            <a:ext cx="13906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Fallback Models</a:t>
            </a:r>
            <a:endParaRPr/>
          </a:p>
        </p:txBody>
      </p:sp>
      <p:sp>
        <p:nvSpPr>
          <p:cNvPr id="659" name="Google Shape;659;p32"/>
          <p:cNvSpPr txBox="1"/>
          <p:nvPr/>
        </p:nvSpPr>
        <p:spPr>
          <a:xfrm>
            <a:off x="3662362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Routing to a smaller model if the primary API experiences downtime.</a:t>
            </a:r>
            <a:endParaRPr/>
          </a:p>
        </p:txBody>
      </p:sp>
      <p:pic>
        <p:nvPicPr>
          <p:cNvPr descr="image.png" id="660" name="Google Shape;660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1393" y="4101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2"/>
          <p:cNvSpPr txBox="1"/>
          <p:nvPr/>
        </p:nvSpPr>
        <p:spPr>
          <a:xfrm>
            <a:off x="6927301" y="4587329"/>
            <a:ext cx="117108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Retry Parsers</a:t>
            </a:r>
            <a:endParaRPr/>
          </a:p>
        </p:txBody>
      </p:sp>
      <p:sp>
        <p:nvSpPr>
          <p:cNvPr id="662" name="Google Shape;662;p32"/>
          <p:cNvSpPr txBox="1"/>
          <p:nvPr/>
        </p:nvSpPr>
        <p:spPr>
          <a:xfrm>
            <a:off x="6496050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Asking the LLM to fix its own formatting errors automatically.</a:t>
            </a:r>
            <a:endParaRPr/>
          </a:p>
        </p:txBody>
      </p:sp>
      <p:pic>
        <p:nvPicPr>
          <p:cNvPr descr="image.png" id="663" name="Google Shape;663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94131" y="4101554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2"/>
          <p:cNvSpPr txBox="1"/>
          <p:nvPr/>
        </p:nvSpPr>
        <p:spPr>
          <a:xfrm>
            <a:off x="9741146" y="4587329"/>
            <a:ext cx="12106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Max Iterations</a:t>
            </a:r>
            <a:endParaRPr/>
          </a:p>
        </p:txBody>
      </p:sp>
      <p:sp>
        <p:nvSpPr>
          <p:cNvPr id="665" name="Google Shape;665;p32"/>
          <p:cNvSpPr txBox="1"/>
          <p:nvPr/>
        </p:nvSpPr>
        <p:spPr>
          <a:xfrm>
            <a:off x="9329737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Capping the reasoning loop to prevent infinite token consumption.</a:t>
            </a:r>
            <a:endParaRPr/>
          </a:p>
        </p:txBody>
      </p:sp>
      <p:sp>
        <p:nvSpPr>
          <p:cNvPr id="666" name="Google Shape;666;p3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2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Frameworks provide the tools for reliability, but developers must explicitly configure these safety nets.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2" name="Google Shape;67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3" name="Google Shape;67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4" name="Google Shape;67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5" name="Google Shape;67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6" name="Google Shape;67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7" name="Google Shape;67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8" name="Google Shape;67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9" name="Google Shape;67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0" name="Google Shape;680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1" name="Google Shape;681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2" name="Google Shape;682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3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21</a:t>
            </a:r>
            <a:endParaRPr/>
          </a:p>
        </p:txBody>
      </p:sp>
      <p:sp>
        <p:nvSpPr>
          <p:cNvPr id="684" name="Google Shape;684;p33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Managing Non-Determinism</a:t>
            </a:r>
            <a:endParaRPr/>
          </a:p>
        </p:txBody>
      </p:sp>
      <p:sp>
        <p:nvSpPr>
          <p:cNvPr id="685" name="Google Shape;685;p33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Taming the unpredictable nature of LLM reasoning.</a:t>
            </a:r>
            <a:endParaRPr/>
          </a:p>
        </p:txBody>
      </p:sp>
      <p:sp>
        <p:nvSpPr>
          <p:cNvPr id="686" name="Google Shape;686;p33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3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Temperature Control</a:t>
            </a:r>
            <a:endParaRPr/>
          </a:p>
        </p:txBody>
      </p:sp>
      <p:sp>
        <p:nvSpPr>
          <p:cNvPr id="688" name="Google Shape;688;p33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Set LLM temperature to 0 for strict tool calling, reducing creative hallucinations.</a:t>
            </a:r>
            <a:endParaRPr/>
          </a:p>
        </p:txBody>
      </p:sp>
      <p:sp>
        <p:nvSpPr>
          <p:cNvPr id="689" name="Google Shape;689;p33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Strict Schemas</a:t>
            </a:r>
            <a:endParaRPr/>
          </a:p>
        </p:txBody>
      </p:sp>
      <p:sp>
        <p:nvSpPr>
          <p:cNvPr id="690" name="Google Shape;690;p33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Define tool parameters exactly, providing enums and explicit formatting instructions.</a:t>
            </a:r>
            <a:endParaRPr/>
          </a:p>
        </p:txBody>
      </p:sp>
      <p:sp>
        <p:nvSpPr>
          <p:cNvPr id="691" name="Google Shape;691;p33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Evaluation Loops</a:t>
            </a:r>
            <a:endParaRPr/>
          </a:p>
        </p:txBody>
      </p:sp>
      <p:sp>
        <p:nvSpPr>
          <p:cNvPr id="692" name="Google Shape;692;p33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Implement a "Critic" node that verifies the output before returning it to the user.</a:t>
            </a:r>
            <a:endParaRPr/>
          </a:p>
        </p:txBody>
      </p:sp>
      <p:sp>
        <p:nvSpPr>
          <p:cNvPr id="693" name="Google Shape;693;p33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Grounding Data</a:t>
            </a:r>
            <a:endParaRPr/>
          </a:p>
        </p:txBody>
      </p:sp>
      <p:sp>
        <p:nvSpPr>
          <p:cNvPr id="694" name="Google Shape;694;p33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Force the agent to cite internal RAG documents to justify its final answer.</a:t>
            </a:r>
            <a:endParaRPr/>
          </a:p>
        </p:txBody>
      </p:sp>
      <p:sp>
        <p:nvSpPr>
          <p:cNvPr id="695" name="Google Shape;695;p3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3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Non-determinism is a feature for creative writing, but a bug for enterprise agents executing workflows.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1" name="Google Shape;7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2" name="Google Shape;7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3" name="Google Shape;70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4" name="Google Shape;70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4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22</a:t>
            </a:r>
            <a:endParaRPr/>
          </a:p>
        </p:txBody>
      </p:sp>
      <p:sp>
        <p:nvSpPr>
          <p:cNvPr id="706" name="Google Shape;706;p34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Scalability vs Latency</a:t>
            </a:r>
            <a:endParaRPr/>
          </a:p>
        </p:txBody>
      </p:sp>
      <p:sp>
        <p:nvSpPr>
          <p:cNvPr id="707" name="Google Shape;707;p3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4"/>
          <p:cNvSpPr txBox="1"/>
          <p:nvPr/>
        </p:nvSpPr>
        <p:spPr>
          <a:xfrm>
            <a:off x="952500" y="2438400"/>
            <a:ext cx="25154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Agentic Workflows</a:t>
            </a:r>
            <a:endParaRPr/>
          </a:p>
        </p:txBody>
      </p:sp>
      <p:sp>
        <p:nvSpPr>
          <p:cNvPr id="709" name="Google Shape;709;p34"/>
          <p:cNvSpPr/>
          <p:nvPr/>
        </p:nvSpPr>
        <p:spPr>
          <a:xfrm>
            <a:off x="952500" y="2819400"/>
            <a:ext cx="2395686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4"/>
          <p:cNvSpPr txBox="1"/>
          <p:nvPr/>
        </p:nvSpPr>
        <p:spPr>
          <a:xfrm>
            <a:off x="952500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High accuracy through multi-step reasoning and self-correction.</a:t>
            </a:r>
            <a:endParaRPr/>
          </a:p>
        </p:txBody>
      </p:sp>
      <p:sp>
        <p:nvSpPr>
          <p:cNvPr id="711" name="Google Shape;711;p34"/>
          <p:cNvSpPr txBox="1"/>
          <p:nvPr/>
        </p:nvSpPr>
        <p:spPr>
          <a:xfrm>
            <a:off x="952500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Latency: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Very slow (often 10-30 seconds) due to multiple sequential API calls.</a:t>
            </a:r>
            <a:endParaRPr/>
          </a:p>
        </p:txBody>
      </p:sp>
      <p:sp>
        <p:nvSpPr>
          <p:cNvPr id="712" name="Google Shape;712;p34"/>
          <p:cNvSpPr txBox="1"/>
          <p:nvPr/>
        </p:nvSpPr>
        <p:spPr>
          <a:xfrm>
            <a:off x="952500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High token consumption from passing memory and tool schemas repeatedly.</a:t>
            </a:r>
            <a:endParaRPr/>
          </a:p>
        </p:txBody>
      </p:sp>
      <p:sp>
        <p:nvSpPr>
          <p:cNvPr id="713" name="Google Shape;713;p34"/>
          <p:cNvSpPr txBox="1"/>
          <p:nvPr/>
        </p:nvSpPr>
        <p:spPr>
          <a:xfrm>
            <a:off x="6715125" y="2438400"/>
            <a:ext cx="21319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Directed Chains</a:t>
            </a:r>
            <a:endParaRPr/>
          </a:p>
        </p:txBody>
      </p:sp>
      <p:sp>
        <p:nvSpPr>
          <p:cNvPr id="714" name="Google Shape;714;p34"/>
          <p:cNvSpPr/>
          <p:nvPr/>
        </p:nvSpPr>
        <p:spPr>
          <a:xfrm>
            <a:off x="6715125" y="2819400"/>
            <a:ext cx="2030462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4"/>
          <p:cNvSpPr txBox="1"/>
          <p:nvPr/>
        </p:nvSpPr>
        <p:spPr>
          <a:xfrm>
            <a:off x="6715125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Lower accuracy on complex tasks, rigid boundary conditions.</a:t>
            </a:r>
            <a:endParaRPr/>
          </a:p>
        </p:txBody>
      </p:sp>
      <p:sp>
        <p:nvSpPr>
          <p:cNvPr id="716" name="Google Shape;716;p34"/>
          <p:cNvSpPr txBox="1"/>
          <p:nvPr/>
        </p:nvSpPr>
        <p:spPr>
          <a:xfrm>
            <a:off x="6715125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Latency: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Very fast (1-3 seconds), executing exactly the required steps.</a:t>
            </a:r>
            <a:endParaRPr/>
          </a:p>
        </p:txBody>
      </p:sp>
      <p:sp>
        <p:nvSpPr>
          <p:cNvPr id="717" name="Google Shape;717;p34"/>
          <p:cNvSpPr txBox="1"/>
          <p:nvPr/>
        </p:nvSpPr>
        <p:spPr>
          <a:xfrm>
            <a:off x="6715125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Highly efficient, utilizing minimal context windows.</a:t>
            </a:r>
            <a:endParaRPr/>
          </a:p>
        </p:txBody>
      </p:sp>
      <p:sp>
        <p:nvSpPr>
          <p:cNvPr id="718" name="Google Shape;718;p3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not default to Agents. Start with a Chain for speed, and upgrade to an Agent only if dynamic routing is strictly required.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4" name="Google Shape;72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5" name="Google Shape;72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6" name="Google Shape;72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7" name="Google Shape;72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8" name="Google Shape;728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3281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9" name="Google Shape;729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5062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0" name="Google Shape;730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36843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35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23</a:t>
            </a:r>
            <a:endParaRPr/>
          </a:p>
        </p:txBody>
      </p:sp>
      <p:sp>
        <p:nvSpPr>
          <p:cNvPr id="732" name="Google Shape;732;p35"/>
          <p:cNvSpPr txBox="1"/>
          <p:nvPr/>
        </p:nvSpPr>
        <p:spPr>
          <a:xfrm>
            <a:off x="571500" y="1797843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Security Guardrails</a:t>
            </a:r>
            <a:endParaRPr/>
          </a:p>
        </p:txBody>
      </p:sp>
      <p:sp>
        <p:nvSpPr>
          <p:cNvPr id="733" name="Google Shape;733;p35"/>
          <p:cNvSpPr txBox="1"/>
          <p:nvPr/>
        </p:nvSpPr>
        <p:spPr>
          <a:xfrm>
            <a:off x="571500" y="2483643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Protecting systems against autonomous execution risks.</a:t>
            </a:r>
            <a:endParaRPr/>
          </a:p>
        </p:txBody>
      </p:sp>
      <p:sp>
        <p:nvSpPr>
          <p:cNvPr id="734" name="Google Shape;734;p3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35" name="Google Shape;735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53778" y="3283743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35"/>
          <p:cNvSpPr txBox="1"/>
          <p:nvPr/>
        </p:nvSpPr>
        <p:spPr>
          <a:xfrm>
            <a:off x="1237316" y="3950493"/>
            <a:ext cx="1251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Tool Scoping</a:t>
            </a:r>
            <a:endParaRPr/>
          </a:p>
        </p:txBody>
      </p:sp>
      <p:sp>
        <p:nvSpPr>
          <p:cNvPr id="737" name="Google Shape;737;p35"/>
          <p:cNvSpPr txBox="1"/>
          <p:nvPr/>
        </p:nvSpPr>
        <p:spPr>
          <a:xfrm>
            <a:off x="771525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Agents must operate with the principle of least privilege, unable to access broad admin APIs.</a:t>
            </a:r>
            <a:endParaRPr/>
          </a:p>
        </p:txBody>
      </p:sp>
      <p:pic>
        <p:nvPicPr>
          <p:cNvPr descr="image.png" id="738" name="Google Shape;738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46984" y="328374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5"/>
          <p:cNvSpPr txBox="1"/>
          <p:nvPr/>
        </p:nvSpPr>
        <p:spPr>
          <a:xfrm>
            <a:off x="3895951" y="3950493"/>
            <a:ext cx="15781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Prompt Injection</a:t>
            </a:r>
            <a:endParaRPr/>
          </a:p>
        </p:txBody>
      </p:sp>
      <p:sp>
        <p:nvSpPr>
          <p:cNvPr id="740" name="Google Shape;740;p35"/>
          <p:cNvSpPr txBox="1"/>
          <p:nvPr/>
        </p:nvSpPr>
        <p:spPr>
          <a:xfrm>
            <a:off x="3593306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Sanitizing user input so malicious requests cannot override the agent's core system prompt.</a:t>
            </a:r>
            <a:endParaRPr/>
          </a:p>
        </p:txBody>
      </p:sp>
      <p:pic>
        <p:nvPicPr>
          <p:cNvPr descr="image.png" id="741" name="Google Shape;741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40190" y="3283743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35"/>
          <p:cNvSpPr txBox="1"/>
          <p:nvPr/>
        </p:nvSpPr>
        <p:spPr>
          <a:xfrm>
            <a:off x="6956665" y="3950493"/>
            <a:ext cx="1100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PII Masking</a:t>
            </a:r>
            <a:endParaRPr/>
          </a:p>
        </p:txBody>
      </p:sp>
      <p:sp>
        <p:nvSpPr>
          <p:cNvPr id="743" name="Google Shape;743;p35"/>
          <p:cNvSpPr txBox="1"/>
          <p:nvPr/>
        </p:nvSpPr>
        <p:spPr>
          <a:xfrm>
            <a:off x="6415087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Using framework middleware to scrub personal data before it is sent to external LLM providers.</a:t>
            </a:r>
            <a:endParaRPr/>
          </a:p>
        </p:txBody>
      </p:sp>
      <p:pic>
        <p:nvPicPr>
          <p:cNvPr descr="image.png" id="744" name="Google Shape;744;p3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61971" y="3283743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5"/>
          <p:cNvSpPr txBox="1"/>
          <p:nvPr/>
        </p:nvSpPr>
        <p:spPr>
          <a:xfrm>
            <a:off x="9828453" y="3950493"/>
            <a:ext cx="10004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Read-Only</a:t>
            </a:r>
            <a:endParaRPr/>
          </a:p>
        </p:txBody>
      </p:sp>
      <p:sp>
        <p:nvSpPr>
          <p:cNvPr id="746" name="Google Shape;746;p35"/>
          <p:cNvSpPr txBox="1"/>
          <p:nvPr/>
        </p:nvSpPr>
        <p:spPr>
          <a:xfrm>
            <a:off x="9236868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Ensuring database tools are strictly scoped to SELECT queries to prevent catastrophic data loss.</a:t>
            </a:r>
            <a:endParaRPr/>
          </a:p>
        </p:txBody>
      </p:sp>
      <p:sp>
        <p:nvSpPr>
          <p:cNvPr id="747" name="Google Shape;747;p3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must be designed into the framework architecture, not bolted onto the LLM prompt.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3" name="Google Shape;75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4" name="Google Shape;75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5" name="Google Shape;75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6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24</a:t>
            </a:r>
            <a:endParaRPr/>
          </a:p>
        </p:txBody>
      </p:sp>
      <p:sp>
        <p:nvSpPr>
          <p:cNvPr id="757" name="Google Shape;757;p36"/>
          <p:cNvSpPr txBox="1"/>
          <p:nvPr/>
        </p:nvSpPr>
        <p:spPr>
          <a:xfrm>
            <a:off x="571500" y="151447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Agent Evaluation Metrics</a:t>
            </a:r>
            <a:endParaRPr/>
          </a:p>
        </p:txBody>
      </p:sp>
      <p:sp>
        <p:nvSpPr>
          <p:cNvPr id="758" name="Google Shape;758;p36"/>
          <p:cNvSpPr txBox="1"/>
          <p:nvPr/>
        </p:nvSpPr>
        <p:spPr>
          <a:xfrm>
            <a:off x="571500" y="220027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Measuring the success of non-deterministic systems.</a:t>
            </a:r>
            <a:endParaRPr/>
          </a:p>
        </p:txBody>
      </p:sp>
      <p:sp>
        <p:nvSpPr>
          <p:cNvPr id="759" name="Google Shape;759;p36"/>
          <p:cNvSpPr/>
          <p:nvPr/>
        </p:nvSpPr>
        <p:spPr>
          <a:xfrm>
            <a:off x="571500" y="2705100"/>
            <a:ext cx="11049000" cy="2828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0" name="Google Shape;760;p36"/>
          <p:cNvGraphicFramePr/>
          <p:nvPr/>
        </p:nvGraphicFramePr>
        <p:xfrm>
          <a:off x="571500" y="270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{6A6ED4A1-5B4B-43D0-9EB2-DF1342792A75}</a:tableStyleId>
              </a:tblPr>
              <a:tblGrid>
                <a:gridCol w="2220675"/>
                <a:gridCol w="6250025"/>
                <a:gridCol w="2578300"/>
              </a:tblGrid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Importance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Tool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Did the agent select the correct tool and parameters?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Reliability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Goal Completion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Did the final output answer the user's intent?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Experience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Latency (TTFT)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To First Token; how long before the user sees progress.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Token Efficiency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many tokens were burned in the reasoning loop?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Operational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61" name="Google Shape;761;p3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6"/>
          <p:cNvSpPr/>
          <p:nvPr/>
        </p:nvSpPr>
        <p:spPr>
          <a:xfrm>
            <a:off x="571500" y="3833812"/>
            <a:ext cx="2220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6"/>
          <p:cNvSpPr/>
          <p:nvPr/>
        </p:nvSpPr>
        <p:spPr>
          <a:xfrm>
            <a:off x="2792164" y="3833812"/>
            <a:ext cx="6250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6"/>
          <p:cNvSpPr/>
          <p:nvPr/>
        </p:nvSpPr>
        <p:spPr>
          <a:xfrm>
            <a:off x="9042201" y="3833812"/>
            <a:ext cx="2578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6"/>
          <p:cNvSpPr/>
          <p:nvPr/>
        </p:nvSpPr>
        <p:spPr>
          <a:xfrm>
            <a:off x="571500" y="4395787"/>
            <a:ext cx="2220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6"/>
          <p:cNvSpPr/>
          <p:nvPr/>
        </p:nvSpPr>
        <p:spPr>
          <a:xfrm>
            <a:off x="2792164" y="4395787"/>
            <a:ext cx="6250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9042201" y="4395787"/>
            <a:ext cx="2578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571500" y="4957762"/>
            <a:ext cx="2220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6"/>
          <p:cNvSpPr/>
          <p:nvPr/>
        </p:nvSpPr>
        <p:spPr>
          <a:xfrm>
            <a:off x="2792164" y="4957762"/>
            <a:ext cx="6250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6"/>
          <p:cNvSpPr/>
          <p:nvPr/>
        </p:nvSpPr>
        <p:spPr>
          <a:xfrm>
            <a:off x="9042201" y="4957762"/>
            <a:ext cx="2578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6"/>
          <p:cNvSpPr/>
          <p:nvPr/>
        </p:nvSpPr>
        <p:spPr>
          <a:xfrm>
            <a:off x="571500" y="5519737"/>
            <a:ext cx="2220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6"/>
          <p:cNvSpPr/>
          <p:nvPr/>
        </p:nvSpPr>
        <p:spPr>
          <a:xfrm>
            <a:off x="2792164" y="5519737"/>
            <a:ext cx="62500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6"/>
          <p:cNvSpPr/>
          <p:nvPr/>
        </p:nvSpPr>
        <p:spPr>
          <a:xfrm>
            <a:off x="9042201" y="5519737"/>
            <a:ext cx="2578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Unlike traditional software tested via unit tests, agents require probabilistic evaluation pipelines.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80" name="Google Shape;7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1" name="Google Shape;78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2" name="Google Shape;78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67075"/>
            <a:ext cx="53340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3" name="Google Shape;78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156644"/>
            <a:ext cx="5334000" cy="2116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4" name="Google Shape;784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3133725"/>
            <a:ext cx="1728192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5" name="Google Shape;785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3023294"/>
            <a:ext cx="1807219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6" name="Google Shape;786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680644"/>
            <a:ext cx="4857750" cy="35421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37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25</a:t>
            </a:r>
            <a:endParaRPr/>
          </a:p>
        </p:txBody>
      </p:sp>
      <p:sp>
        <p:nvSpPr>
          <p:cNvPr id="788" name="Google Shape;788;p37"/>
          <p:cNvSpPr txBox="1"/>
          <p:nvPr/>
        </p:nvSpPr>
        <p:spPr>
          <a:xfrm>
            <a:off x="571500" y="1775519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Telemetry Configuration</a:t>
            </a:r>
            <a:endParaRPr/>
          </a:p>
        </p:txBody>
      </p:sp>
      <p:sp>
        <p:nvSpPr>
          <p:cNvPr id="789" name="Google Shape;789;p37"/>
          <p:cNvSpPr txBox="1"/>
          <p:nvPr/>
        </p:nvSpPr>
        <p:spPr>
          <a:xfrm>
            <a:off x="571500" y="2461319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Implementing tracing to debug complex loops.</a:t>
            </a:r>
            <a:endParaRPr/>
          </a:p>
        </p:txBody>
      </p:sp>
      <p:sp>
        <p:nvSpPr>
          <p:cNvPr id="790" name="Google Shape;790;p3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Observability is non-negotiable. Without tracing, debugging a failing agent loop is nearly impossible.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97" name="Google Shape;79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8" name="Google Shape;79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9" name="Google Shape;799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0" name="Google Shape;800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1" name="Google Shape;801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2" name="Google Shape;802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3" name="Google Shape;803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2562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4" name="Google Shape;804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05287" y="2539454"/>
            <a:ext cx="3781425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38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26</a:t>
            </a:r>
            <a:endParaRPr/>
          </a:p>
        </p:txBody>
      </p:sp>
      <p:sp>
        <p:nvSpPr>
          <p:cNvPr id="806" name="Google Shape;806;p38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Human-in-the-Loop Implementation</a:t>
            </a:r>
            <a:endParaRPr/>
          </a:p>
        </p:txBody>
      </p:sp>
      <p:sp>
        <p:nvSpPr>
          <p:cNvPr id="807" name="Google Shape;807;p38"/>
          <p:cNvSpPr txBox="1"/>
          <p:nvPr/>
        </p:nvSpPr>
        <p:spPr>
          <a:xfrm>
            <a:off x="571500" y="163830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Designing frameworks for safe escalation.</a:t>
            </a:r>
            <a:endParaRPr/>
          </a:p>
        </p:txBody>
      </p:sp>
      <p:sp>
        <p:nvSpPr>
          <p:cNvPr id="808" name="Google Shape;808;p38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8"/>
          <p:cNvSpPr/>
          <p:nvPr/>
        </p:nvSpPr>
        <p:spPr>
          <a:xfrm>
            <a:off x="1676400" y="4762500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10" name="Google Shape;810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35931" y="4101554"/>
            <a:ext cx="219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38"/>
          <p:cNvSpPr txBox="1"/>
          <p:nvPr/>
        </p:nvSpPr>
        <p:spPr>
          <a:xfrm>
            <a:off x="1325247" y="4587329"/>
            <a:ext cx="10404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Breakpoints</a:t>
            </a:r>
            <a:endParaRPr/>
          </a:p>
        </p:txBody>
      </p:sp>
      <p:sp>
        <p:nvSpPr>
          <p:cNvPr id="812" name="Google Shape;812;p38"/>
          <p:cNvSpPr txBox="1"/>
          <p:nvPr/>
        </p:nvSpPr>
        <p:spPr>
          <a:xfrm>
            <a:off x="828675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Framework halts execution just before a high-risk tool call.</a:t>
            </a:r>
            <a:endParaRPr/>
          </a:p>
        </p:txBody>
      </p:sp>
      <p:pic>
        <p:nvPicPr>
          <p:cNvPr descr="image.png" id="813" name="Google Shape;813;p3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50568" y="4101554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8"/>
          <p:cNvSpPr txBox="1"/>
          <p:nvPr/>
        </p:nvSpPr>
        <p:spPr>
          <a:xfrm>
            <a:off x="3928593" y="4587329"/>
            <a:ext cx="1501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Persistence</a:t>
            </a:r>
            <a:endParaRPr/>
          </a:p>
        </p:txBody>
      </p:sp>
      <p:sp>
        <p:nvSpPr>
          <p:cNvPr id="815" name="Google Shape;815;p38"/>
          <p:cNvSpPr txBox="1"/>
          <p:nvPr/>
        </p:nvSpPr>
        <p:spPr>
          <a:xfrm>
            <a:off x="3662362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Agent's current memory and plan are serialized and saved.</a:t>
            </a:r>
            <a:endParaRPr/>
          </a:p>
        </p:txBody>
      </p:sp>
      <p:pic>
        <p:nvPicPr>
          <p:cNvPr descr="image.png" id="816" name="Google Shape;816;p3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98531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38"/>
          <p:cNvSpPr txBox="1"/>
          <p:nvPr/>
        </p:nvSpPr>
        <p:spPr>
          <a:xfrm>
            <a:off x="6872454" y="4587329"/>
            <a:ext cx="128062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/>
          </a:p>
        </p:txBody>
      </p:sp>
      <p:sp>
        <p:nvSpPr>
          <p:cNvPr id="818" name="Google Shape;818;p38"/>
          <p:cNvSpPr txBox="1"/>
          <p:nvPr/>
        </p:nvSpPr>
        <p:spPr>
          <a:xfrm>
            <a:off x="6496050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User reviews the intended action and modifies parameters if needed.</a:t>
            </a:r>
            <a:endParaRPr/>
          </a:p>
        </p:txBody>
      </p:sp>
      <p:pic>
        <p:nvPicPr>
          <p:cNvPr descr="image.png" id="819" name="Google Shape;819;p3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17943" y="4101554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38"/>
          <p:cNvSpPr txBox="1"/>
          <p:nvPr/>
        </p:nvSpPr>
        <p:spPr>
          <a:xfrm>
            <a:off x="9826313" y="4587329"/>
            <a:ext cx="10402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Resumption</a:t>
            </a:r>
            <a:endParaRPr/>
          </a:p>
        </p:txBody>
      </p:sp>
      <p:sp>
        <p:nvSpPr>
          <p:cNvPr id="821" name="Google Shape;821;p38"/>
          <p:cNvSpPr txBox="1"/>
          <p:nvPr/>
        </p:nvSpPr>
        <p:spPr>
          <a:xfrm>
            <a:off x="9329737" y="4882604"/>
            <a:ext cx="2033587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Execution continues using the human-approved state.</a:t>
            </a:r>
            <a:endParaRPr/>
          </a:p>
        </p:txBody>
      </p:sp>
      <p:sp>
        <p:nvSpPr>
          <p:cNvPr id="822" name="Google Shape;822;p3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8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Stateful frameworks like LangGraph are required to pause, persist, and resume agent processes reliably.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8" name="Google Shape;8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9" name="Google Shape;82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0" name="Google Shape;83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1" name="Google Shape;831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2" name="Google Shape;83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3" name="Google Shape;83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4" name="Google Shape;83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5" name="Google Shape;835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6" name="Google Shape;836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7" name="Google Shape;837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8" name="Google Shape;838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39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27</a:t>
            </a:r>
            <a:endParaRPr/>
          </a:p>
        </p:txBody>
      </p:sp>
      <p:sp>
        <p:nvSpPr>
          <p:cNvPr id="840" name="Google Shape;840;p39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Advanced Routing Mechanisms</a:t>
            </a:r>
            <a:endParaRPr/>
          </a:p>
        </p:txBody>
      </p:sp>
      <p:sp>
        <p:nvSpPr>
          <p:cNvPr id="841" name="Google Shape;841;p39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frameworks navigate complex multi-path logic.</a:t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9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Semantic Router</a:t>
            </a:r>
            <a:endParaRPr/>
          </a:p>
        </p:txBody>
      </p:sp>
      <p:sp>
        <p:nvSpPr>
          <p:cNvPr id="844" name="Google Shape;844;p39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Embeds user queries and routes them to specific chains based on vector similarity (fastest).</a:t>
            </a:r>
            <a:endParaRPr/>
          </a:p>
        </p:txBody>
      </p:sp>
      <p:sp>
        <p:nvSpPr>
          <p:cNvPr id="845" name="Google Shape;845;p39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Fallback Router</a:t>
            </a:r>
            <a:endParaRPr/>
          </a:p>
        </p:txBody>
      </p:sp>
      <p:sp>
        <p:nvSpPr>
          <p:cNvPr id="846" name="Google Shape;846;p39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Attempts execution with primary logic; automatically routes to a secondary chain upon failure.</a:t>
            </a:r>
            <a:endParaRPr/>
          </a:p>
        </p:txBody>
      </p:sp>
      <p:sp>
        <p:nvSpPr>
          <p:cNvPr id="847" name="Google Shape;847;p39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Tool Router</a:t>
            </a:r>
            <a:endParaRPr/>
          </a:p>
        </p:txBody>
      </p:sp>
      <p:sp>
        <p:nvSpPr>
          <p:cNvPr id="848" name="Google Shape;848;p39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Standard agent behavior where the LLM evaluates the prompt and selects the optimal tool path.</a:t>
            </a:r>
            <a:endParaRPr/>
          </a:p>
        </p:txBody>
      </p:sp>
      <p:sp>
        <p:nvSpPr>
          <p:cNvPr id="849" name="Google Shape;849;p39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Multi-Agent Router</a:t>
            </a:r>
            <a:endParaRPr/>
          </a:p>
        </p:txBody>
      </p:sp>
      <p:sp>
        <p:nvSpPr>
          <p:cNvPr id="850" name="Google Shape;850;p39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"Supervisor" LLM evaluates the task and delegates it to the most qualified subordinate agent.</a:t>
            </a:r>
            <a:endParaRPr/>
          </a:p>
        </p:txBody>
      </p:sp>
      <p:sp>
        <p:nvSpPr>
          <p:cNvPr id="851" name="Google Shape;851;p39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9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Intelligent routing minimizes latency by bypassing complex agents for simple, predictable requests.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7" name="Google Shape;85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8" name="Google Shape;85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9" name="Google Shape;85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0" name="Google Shape;86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40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28</a:t>
            </a:r>
            <a:endParaRPr/>
          </a:p>
        </p:txBody>
      </p:sp>
      <p:sp>
        <p:nvSpPr>
          <p:cNvPr id="862" name="Google Shape;862;p40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Monolithic vs Micro-Agents</a:t>
            </a:r>
            <a:endParaRPr/>
          </a:p>
        </p:txBody>
      </p:sp>
      <p:sp>
        <p:nvSpPr>
          <p:cNvPr id="863" name="Google Shape;863;p40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0"/>
          <p:cNvSpPr txBox="1"/>
          <p:nvPr/>
        </p:nvSpPr>
        <p:spPr>
          <a:xfrm>
            <a:off x="952500" y="2590800"/>
            <a:ext cx="241639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Monolithic Agents</a:t>
            </a:r>
            <a:endParaRPr/>
          </a:p>
        </p:txBody>
      </p:sp>
      <p:sp>
        <p:nvSpPr>
          <p:cNvPr id="865" name="Google Shape;865;p40"/>
          <p:cNvSpPr/>
          <p:nvPr/>
        </p:nvSpPr>
        <p:spPr>
          <a:xfrm>
            <a:off x="952500" y="2971800"/>
            <a:ext cx="2301329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0"/>
          <p:cNvSpPr txBox="1"/>
          <p:nvPr/>
        </p:nvSpPr>
        <p:spPr>
          <a:xfrm>
            <a:off x="952500" y="31908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One giant system prompt giving a single LLM access to all 15 tools.</a:t>
            </a:r>
            <a:endParaRPr/>
          </a:p>
        </p:txBody>
      </p:sp>
      <p:sp>
        <p:nvSpPr>
          <p:cNvPr id="867" name="Google Shape;867;p40"/>
          <p:cNvSpPr txBox="1"/>
          <p:nvPr/>
        </p:nvSpPr>
        <p:spPr>
          <a:xfrm>
            <a:off x="952500" y="39433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Issue: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Context degradation. The LLM gets confused about which tool to use, leading to high error rates.</a:t>
            </a:r>
            <a:endParaRPr/>
          </a:p>
        </p:txBody>
      </p:sp>
      <p:sp>
        <p:nvSpPr>
          <p:cNvPr id="868" name="Google Shape;868;p40"/>
          <p:cNvSpPr txBox="1"/>
          <p:nvPr/>
        </p:nvSpPr>
        <p:spPr>
          <a:xfrm>
            <a:off x="952500" y="46958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Maintenance: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Extremely fragile to prompt updates.</a:t>
            </a:r>
            <a:endParaRPr/>
          </a:p>
        </p:txBody>
      </p:sp>
      <p:sp>
        <p:nvSpPr>
          <p:cNvPr id="869" name="Google Shape;869;p40"/>
          <p:cNvSpPr txBox="1"/>
          <p:nvPr/>
        </p:nvSpPr>
        <p:spPr>
          <a:xfrm>
            <a:off x="6715125" y="2438400"/>
            <a:ext cx="178928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Micro-Agents</a:t>
            </a:r>
            <a:endParaRPr/>
          </a:p>
        </p:txBody>
      </p:sp>
      <p:sp>
        <p:nvSpPr>
          <p:cNvPr id="870" name="Google Shape;870;p40"/>
          <p:cNvSpPr/>
          <p:nvPr/>
        </p:nvSpPr>
        <p:spPr>
          <a:xfrm>
            <a:off x="6715125" y="2819400"/>
            <a:ext cx="1704082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0"/>
          <p:cNvSpPr txBox="1"/>
          <p:nvPr/>
        </p:nvSpPr>
        <p:spPr>
          <a:xfrm>
            <a:off x="6715125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Distinct agents with narrow prompts and only 1-2 specialized tools each.</a:t>
            </a:r>
            <a:endParaRPr/>
          </a:p>
        </p:txBody>
      </p:sp>
      <p:sp>
        <p:nvSpPr>
          <p:cNvPr id="872" name="Google Shape;872;p40"/>
          <p:cNvSpPr txBox="1"/>
          <p:nvPr/>
        </p:nvSpPr>
        <p:spPr>
          <a:xfrm>
            <a:off x="6715125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Highly focused, resilient, and easier to debug specific failure points.</a:t>
            </a:r>
            <a:endParaRPr/>
          </a:p>
        </p:txBody>
      </p:sp>
      <p:sp>
        <p:nvSpPr>
          <p:cNvPr id="873" name="Google Shape;873;p40"/>
          <p:cNvSpPr txBox="1"/>
          <p:nvPr/>
        </p:nvSpPr>
        <p:spPr>
          <a:xfrm>
            <a:off x="6715125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Requirement: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Needs a strong framework orchestrator to handle handoffs.</a:t>
            </a:r>
            <a:endParaRPr/>
          </a:p>
        </p:txBody>
      </p:sp>
      <p:sp>
        <p:nvSpPr>
          <p:cNvPr id="874" name="Google Shape;874;p40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0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system complexity grows, break monolithic agents down into orchestrator-managed micro-agent teams.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0" name="Google Shape;8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1" name="Google Shape;8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2" name="Google Shape;8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3" name="Google Shape;883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4" name="Google Shape;884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3281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5" name="Google Shape;885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5062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6" name="Google Shape;886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36843" y="2988468"/>
            <a:ext cx="2583656" cy="2262187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41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29</a:t>
            </a:r>
            <a:endParaRPr/>
          </a:p>
        </p:txBody>
      </p:sp>
      <p:sp>
        <p:nvSpPr>
          <p:cNvPr id="888" name="Google Shape;888;p41"/>
          <p:cNvSpPr txBox="1"/>
          <p:nvPr/>
        </p:nvSpPr>
        <p:spPr>
          <a:xfrm>
            <a:off x="571500" y="1797843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Multi-Agent Topologies</a:t>
            </a:r>
            <a:endParaRPr/>
          </a:p>
        </p:txBody>
      </p:sp>
      <p:sp>
        <p:nvSpPr>
          <p:cNvPr id="889" name="Google Shape;889;p41"/>
          <p:cNvSpPr txBox="1"/>
          <p:nvPr/>
        </p:nvSpPr>
        <p:spPr>
          <a:xfrm>
            <a:off x="571500" y="2483643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Structuring collaboration between specialized models.</a:t>
            </a:r>
            <a:endParaRPr/>
          </a:p>
        </p:txBody>
      </p:sp>
      <p:sp>
        <p:nvSpPr>
          <p:cNvPr id="890" name="Google Shape;890;p41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1" name="Google Shape;891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96628" y="3283743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41"/>
          <p:cNvSpPr txBox="1"/>
          <p:nvPr/>
        </p:nvSpPr>
        <p:spPr>
          <a:xfrm>
            <a:off x="1290604" y="3950493"/>
            <a:ext cx="11452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Hierarchical</a:t>
            </a:r>
            <a:endParaRPr/>
          </a:p>
        </p:txBody>
      </p:sp>
      <p:sp>
        <p:nvSpPr>
          <p:cNvPr id="893" name="Google Shape;893;p41"/>
          <p:cNvSpPr txBox="1"/>
          <p:nvPr/>
        </p:nvSpPr>
        <p:spPr>
          <a:xfrm>
            <a:off x="771525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Supervisor agent breaks down tasks and delegates to Worker agents, compiling the final result.</a:t>
            </a:r>
            <a:endParaRPr/>
          </a:p>
        </p:txBody>
      </p:sp>
      <p:pic>
        <p:nvPicPr>
          <p:cNvPr descr="image.png" id="894" name="Google Shape;894;p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5559" y="3283743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41"/>
          <p:cNvSpPr txBox="1"/>
          <p:nvPr/>
        </p:nvSpPr>
        <p:spPr>
          <a:xfrm>
            <a:off x="4179268" y="3950493"/>
            <a:ext cx="10115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Sequential</a:t>
            </a:r>
            <a:endParaRPr/>
          </a:p>
        </p:txBody>
      </p:sp>
      <p:sp>
        <p:nvSpPr>
          <p:cNvPr id="896" name="Google Shape;896;p41"/>
          <p:cNvSpPr txBox="1"/>
          <p:nvPr/>
        </p:nvSpPr>
        <p:spPr>
          <a:xfrm>
            <a:off x="3593306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Output of Agent A is passed directly as input to Agent B (e.g., Writer -&gt; Editor -&gt; Publisher).</a:t>
            </a:r>
            <a:endParaRPr/>
          </a:p>
        </p:txBody>
      </p:sp>
      <p:pic>
        <p:nvPicPr>
          <p:cNvPr descr="image.png" id="897" name="Google Shape;897;p4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68765" y="328374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41"/>
          <p:cNvSpPr txBox="1"/>
          <p:nvPr/>
        </p:nvSpPr>
        <p:spPr>
          <a:xfrm>
            <a:off x="7017766" y="3950493"/>
            <a:ext cx="9782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endParaRPr/>
          </a:p>
        </p:txBody>
      </p:sp>
      <p:sp>
        <p:nvSpPr>
          <p:cNvPr id="899" name="Google Shape;899;p41"/>
          <p:cNvSpPr txBox="1"/>
          <p:nvPr/>
        </p:nvSpPr>
        <p:spPr>
          <a:xfrm>
            <a:off x="6415087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task is sent to all agents simultaneously; the fastest or most confident response wins.</a:t>
            </a:r>
            <a:endParaRPr/>
          </a:p>
        </p:txBody>
      </p:sp>
      <p:pic>
        <p:nvPicPr>
          <p:cNvPr descr="image.png" id="900" name="Google Shape;900;p4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61971" y="3283743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41"/>
          <p:cNvSpPr txBox="1"/>
          <p:nvPr/>
        </p:nvSpPr>
        <p:spPr>
          <a:xfrm>
            <a:off x="10024887" y="3950493"/>
            <a:ext cx="6074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Voting</a:t>
            </a:r>
            <a:endParaRPr/>
          </a:p>
        </p:txBody>
      </p:sp>
      <p:sp>
        <p:nvSpPr>
          <p:cNvPr id="902" name="Google Shape;902;p41"/>
          <p:cNvSpPr txBox="1"/>
          <p:nvPr/>
        </p:nvSpPr>
        <p:spPr>
          <a:xfrm>
            <a:off x="9236868" y="4312443"/>
            <a:ext cx="2183606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Multiple agents solve the same problem; a meta-agent evaluates and selects the best consensus.</a:t>
            </a:r>
            <a:endParaRPr/>
          </a:p>
        </p:txBody>
      </p:sp>
      <p:sp>
        <p:nvSpPr>
          <p:cNvPr id="903" name="Google Shape;903;p4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1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Frameworks like CrewAI are designed specifically to implement these complex topologies with minimal code.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9" name="Google Shape;9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0" name="Google Shape;9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1" name="Google Shape;91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42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30</a:t>
            </a:r>
            <a:endParaRPr/>
          </a:p>
        </p:txBody>
      </p:sp>
      <p:sp>
        <p:nvSpPr>
          <p:cNvPr id="913" name="Google Shape;913;p42"/>
          <p:cNvSpPr txBox="1"/>
          <p:nvPr/>
        </p:nvSpPr>
        <p:spPr>
          <a:xfrm>
            <a:off x="571500" y="151447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Choosing a Framework</a:t>
            </a:r>
            <a:endParaRPr/>
          </a:p>
        </p:txBody>
      </p:sp>
      <p:sp>
        <p:nvSpPr>
          <p:cNvPr id="914" name="Google Shape;914;p42"/>
          <p:cNvSpPr txBox="1"/>
          <p:nvPr/>
        </p:nvSpPr>
        <p:spPr>
          <a:xfrm>
            <a:off x="571500" y="2200275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Aligning your project requirements with the right tool.</a:t>
            </a:r>
            <a:endParaRPr/>
          </a:p>
        </p:txBody>
      </p:sp>
      <p:sp>
        <p:nvSpPr>
          <p:cNvPr id="915" name="Google Shape;915;p42"/>
          <p:cNvSpPr/>
          <p:nvPr/>
        </p:nvSpPr>
        <p:spPr>
          <a:xfrm>
            <a:off x="571500" y="2705100"/>
            <a:ext cx="11049000" cy="2828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6" name="Google Shape;916;p42"/>
          <p:cNvGraphicFramePr/>
          <p:nvPr/>
        </p:nvGraphicFramePr>
        <p:xfrm>
          <a:off x="571500" y="270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{6A6ED4A1-5B4B-43D0-9EB2-DF1342792A75}</a:tableStyleId>
              </a:tblPr>
              <a:tblGrid>
                <a:gridCol w="2751975"/>
                <a:gridCol w="3058875"/>
                <a:gridCol w="5238150"/>
              </a:tblGrid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Recommended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Reason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Rapid Prototyping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LangChain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Massive community, easy syntax, vast integrations.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Document-Heavy (RAG)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LlamaIndex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Unmatched data parsing, indexing, and retrieval algorithms.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Multi-Agent Collaboration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CrewAI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Abstracts role-playing team dynamics beautifully.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Stateful, Loop-Heavy Apps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LangGraph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Provides low-level control over state transitions and cycles.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17" name="Google Shape;917;p42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2"/>
          <p:cNvSpPr/>
          <p:nvPr/>
        </p:nvSpPr>
        <p:spPr>
          <a:xfrm>
            <a:off x="571500" y="3833812"/>
            <a:ext cx="27519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2"/>
          <p:cNvSpPr/>
          <p:nvPr/>
        </p:nvSpPr>
        <p:spPr>
          <a:xfrm>
            <a:off x="3323480" y="3833812"/>
            <a:ext cx="305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2"/>
          <p:cNvSpPr/>
          <p:nvPr/>
        </p:nvSpPr>
        <p:spPr>
          <a:xfrm>
            <a:off x="6382345" y="3833812"/>
            <a:ext cx="523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2"/>
          <p:cNvSpPr/>
          <p:nvPr/>
        </p:nvSpPr>
        <p:spPr>
          <a:xfrm>
            <a:off x="571500" y="4395787"/>
            <a:ext cx="27519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2"/>
          <p:cNvSpPr/>
          <p:nvPr/>
        </p:nvSpPr>
        <p:spPr>
          <a:xfrm>
            <a:off x="3323480" y="4395787"/>
            <a:ext cx="305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2"/>
          <p:cNvSpPr/>
          <p:nvPr/>
        </p:nvSpPr>
        <p:spPr>
          <a:xfrm>
            <a:off x="6382345" y="4395787"/>
            <a:ext cx="523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2"/>
          <p:cNvSpPr/>
          <p:nvPr/>
        </p:nvSpPr>
        <p:spPr>
          <a:xfrm>
            <a:off x="571500" y="4957762"/>
            <a:ext cx="27519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2"/>
          <p:cNvSpPr/>
          <p:nvPr/>
        </p:nvSpPr>
        <p:spPr>
          <a:xfrm>
            <a:off x="3323480" y="4957762"/>
            <a:ext cx="305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2"/>
          <p:cNvSpPr/>
          <p:nvPr/>
        </p:nvSpPr>
        <p:spPr>
          <a:xfrm>
            <a:off x="6382345" y="4957762"/>
            <a:ext cx="523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2"/>
          <p:cNvSpPr/>
          <p:nvPr/>
        </p:nvSpPr>
        <p:spPr>
          <a:xfrm>
            <a:off x="571500" y="5519737"/>
            <a:ext cx="27519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2"/>
          <p:cNvSpPr/>
          <p:nvPr/>
        </p:nvSpPr>
        <p:spPr>
          <a:xfrm>
            <a:off x="3323480" y="5519737"/>
            <a:ext cx="305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2"/>
          <p:cNvSpPr/>
          <p:nvPr/>
        </p:nvSpPr>
        <p:spPr>
          <a:xfrm>
            <a:off x="6382345" y="5519737"/>
            <a:ext cx="523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2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2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There is no single "best" framework; architectural choice depends entirely on your specific workflow.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6" name="Google Shape;93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7" name="Google Shape;93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8" name="Google Shape;93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24175"/>
            <a:ext cx="533400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9" name="Google Shape;939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42344"/>
            <a:ext cx="5334000" cy="2344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0" name="Google Shape;940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790825"/>
            <a:ext cx="1649015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1" name="Google Shape;941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908994"/>
            <a:ext cx="1649015" cy="312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2" name="Google Shape;942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794944"/>
            <a:ext cx="4857750" cy="35421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43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31</a:t>
            </a:r>
            <a:endParaRPr/>
          </a:p>
        </p:txBody>
      </p:sp>
      <p:sp>
        <p:nvSpPr>
          <p:cNvPr id="944" name="Google Shape;944;p43"/>
          <p:cNvSpPr txBox="1"/>
          <p:nvPr/>
        </p:nvSpPr>
        <p:spPr>
          <a:xfrm>
            <a:off x="571500" y="15430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Custom Tool Schema</a:t>
            </a:r>
            <a:endParaRPr/>
          </a:p>
        </p:txBody>
      </p:sp>
      <p:sp>
        <p:nvSpPr>
          <p:cNvPr id="945" name="Google Shape;945;p43"/>
          <p:cNvSpPr txBox="1"/>
          <p:nvPr/>
        </p:nvSpPr>
        <p:spPr>
          <a:xfrm>
            <a:off x="571500" y="222885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Enforcing robust inputs via frameworks.</a:t>
            </a:r>
            <a:endParaRPr/>
          </a:p>
        </p:txBody>
      </p:sp>
      <p:sp>
        <p:nvSpPr>
          <p:cNvPr id="946" name="Google Shape;946;p43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3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3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Strict Pydantic schemas guarantee the agent knows exactly what data types are required, preventing execution errors.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3" name="Google Shape;95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4" name="Google Shape;95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5" name="Google Shape;95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6" name="Google Shape;95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7" name="Google Shape;957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8" name="Google Shape;958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9" name="Google Shape;959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2562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0" name="Google Shape;960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13770" y="2539454"/>
            <a:ext cx="3764458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44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32</a:t>
            </a:r>
            <a:endParaRPr/>
          </a:p>
        </p:txBody>
      </p:sp>
      <p:sp>
        <p:nvSpPr>
          <p:cNvPr id="962" name="Google Shape;962;p44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Common Framework Pitfalls</a:t>
            </a:r>
            <a:endParaRPr/>
          </a:p>
        </p:txBody>
      </p:sp>
      <p:sp>
        <p:nvSpPr>
          <p:cNvPr id="963" name="Google Shape;963;p44"/>
          <p:cNvSpPr txBox="1"/>
          <p:nvPr/>
        </p:nvSpPr>
        <p:spPr>
          <a:xfrm>
            <a:off x="571500" y="163830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Navigating the risks of high-abstraction libraries.</a:t>
            </a:r>
            <a:endParaRPr/>
          </a:p>
        </p:txBody>
      </p:sp>
      <p:sp>
        <p:nvSpPr>
          <p:cNvPr id="964" name="Google Shape;964;p44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4"/>
          <p:cNvSpPr/>
          <p:nvPr/>
        </p:nvSpPr>
        <p:spPr>
          <a:xfrm>
            <a:off x="1676400" y="4762500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6" name="Google Shape;966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31156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44"/>
          <p:cNvSpPr txBox="1"/>
          <p:nvPr/>
        </p:nvSpPr>
        <p:spPr>
          <a:xfrm>
            <a:off x="1110068" y="4587329"/>
            <a:ext cx="147065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Over-Abstraction</a:t>
            </a:r>
            <a:endParaRPr/>
          </a:p>
        </p:txBody>
      </p:sp>
      <p:sp>
        <p:nvSpPr>
          <p:cNvPr id="968" name="Google Shape;968;p44"/>
          <p:cNvSpPr txBox="1"/>
          <p:nvPr/>
        </p:nvSpPr>
        <p:spPr>
          <a:xfrm>
            <a:off x="828675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Hiding too much logic makes it difficult to fix deep underlying errors.</a:t>
            </a:r>
            <a:endParaRPr/>
          </a:p>
        </p:txBody>
      </p:sp>
      <p:pic>
        <p:nvPicPr>
          <p:cNvPr descr="image.png" id="969" name="Google Shape;969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64843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44"/>
          <p:cNvSpPr txBox="1"/>
          <p:nvPr/>
        </p:nvSpPr>
        <p:spPr>
          <a:xfrm>
            <a:off x="4063923" y="4587329"/>
            <a:ext cx="12304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Version Churn</a:t>
            </a:r>
            <a:endParaRPr/>
          </a:p>
        </p:txBody>
      </p:sp>
      <p:sp>
        <p:nvSpPr>
          <p:cNvPr id="971" name="Google Shape;971;p44"/>
          <p:cNvSpPr txBox="1"/>
          <p:nvPr/>
        </p:nvSpPr>
        <p:spPr>
          <a:xfrm>
            <a:off x="3662362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Rapid framework updates can frequently break existing production code.</a:t>
            </a:r>
            <a:endParaRPr/>
          </a:p>
        </p:txBody>
      </p:sp>
      <p:pic>
        <p:nvPicPr>
          <p:cNvPr descr="image.png" id="972" name="Google Shape;972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1393" y="4101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44"/>
          <p:cNvSpPr txBox="1"/>
          <p:nvPr/>
        </p:nvSpPr>
        <p:spPr>
          <a:xfrm>
            <a:off x="7004346" y="4587329"/>
            <a:ext cx="101684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Token Bloat</a:t>
            </a:r>
            <a:endParaRPr/>
          </a:p>
        </p:txBody>
      </p:sp>
      <p:sp>
        <p:nvSpPr>
          <p:cNvPr id="974" name="Google Shape;974;p44"/>
          <p:cNvSpPr txBox="1"/>
          <p:nvPr/>
        </p:nvSpPr>
        <p:spPr>
          <a:xfrm>
            <a:off x="6496050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Default memory wrappers can silently consume massive context windows.</a:t>
            </a:r>
            <a:endParaRPr/>
          </a:p>
        </p:txBody>
      </p:sp>
      <p:pic>
        <p:nvPicPr>
          <p:cNvPr descr="image.png" id="975" name="Google Shape;975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75081" y="4101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44"/>
          <p:cNvSpPr txBox="1"/>
          <p:nvPr/>
        </p:nvSpPr>
        <p:spPr>
          <a:xfrm>
            <a:off x="9876476" y="4587329"/>
            <a:ext cx="93996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Debugging</a:t>
            </a:r>
            <a:endParaRPr/>
          </a:p>
        </p:txBody>
      </p:sp>
      <p:sp>
        <p:nvSpPr>
          <p:cNvPr id="977" name="Google Shape;977;p44"/>
          <p:cNvSpPr txBox="1"/>
          <p:nvPr/>
        </p:nvSpPr>
        <p:spPr>
          <a:xfrm>
            <a:off x="9329737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Without telemetry, tracing a failed tool call through abstraction layers is tough.</a:t>
            </a:r>
            <a:endParaRPr/>
          </a:p>
        </p:txBody>
      </p:sp>
      <p:sp>
        <p:nvSpPr>
          <p:cNvPr id="978" name="Google Shape;978;p4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4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 what the framework does under the hood so you can troubleshoot effectively when the abstraction leaks.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4" name="Google Shape;9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4667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5" name="Google Shape;98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6" name="Google Shape;98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7" name="Google Shape;987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8" name="Google Shape;988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7003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9" name="Google Shape;989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0" name="Google Shape;99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262437"/>
            <a:ext cx="538162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1" name="Google Shape;991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2" name="Google Shape;992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938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3" name="Google Shape;993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4" name="Google Shape;994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45005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45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33</a:t>
            </a:r>
            <a:endParaRPr/>
          </a:p>
        </p:txBody>
      </p:sp>
      <p:sp>
        <p:nvSpPr>
          <p:cNvPr id="996" name="Google Shape;996;p45"/>
          <p:cNvSpPr txBox="1"/>
          <p:nvPr/>
        </p:nvSpPr>
        <p:spPr>
          <a:xfrm>
            <a:off x="571500" y="1509712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Best Practices for Framework Adoption</a:t>
            </a:r>
            <a:endParaRPr/>
          </a:p>
        </p:txBody>
      </p:sp>
      <p:sp>
        <p:nvSpPr>
          <p:cNvPr id="997" name="Google Shape;997;p45"/>
          <p:cNvSpPr txBox="1"/>
          <p:nvPr/>
        </p:nvSpPr>
        <p:spPr>
          <a:xfrm>
            <a:off x="571500" y="2195512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Strategies for scaling agentic systems reliably.</a:t>
            </a:r>
            <a:endParaRPr/>
          </a:p>
        </p:txBody>
      </p:sp>
      <p:sp>
        <p:nvSpPr>
          <p:cNvPr id="998" name="Google Shape;998;p45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5"/>
          <p:cNvSpPr txBox="1"/>
          <p:nvPr/>
        </p:nvSpPr>
        <p:spPr>
          <a:xfrm>
            <a:off x="1428750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Start with Chains</a:t>
            </a:r>
            <a:endParaRPr/>
          </a:p>
        </p:txBody>
      </p:sp>
      <p:sp>
        <p:nvSpPr>
          <p:cNvPr id="1000" name="Google Shape;1000;p45"/>
          <p:cNvSpPr txBox="1"/>
          <p:nvPr/>
        </p:nvSpPr>
        <p:spPr>
          <a:xfrm>
            <a:off x="1428750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 not build an Agent unless dynamic routing is strictly required. Chains are faster and cheaper.</a:t>
            </a:r>
            <a:endParaRPr/>
          </a:p>
        </p:txBody>
      </p:sp>
      <p:sp>
        <p:nvSpPr>
          <p:cNvPr id="1001" name="Google Shape;1001;p45"/>
          <p:cNvSpPr txBox="1"/>
          <p:nvPr/>
        </p:nvSpPr>
        <p:spPr>
          <a:xfrm>
            <a:off x="7096125" y="29384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Limit Tool Options</a:t>
            </a:r>
            <a:endParaRPr/>
          </a:p>
        </p:txBody>
      </p:sp>
      <p:sp>
        <p:nvSpPr>
          <p:cNvPr id="1002" name="Google Shape;1002;p45"/>
          <p:cNvSpPr txBox="1"/>
          <p:nvPr/>
        </p:nvSpPr>
        <p:spPr>
          <a:xfrm>
            <a:off x="7096125" y="32813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Giving an agent too many tools degrades decision-making. Keep toolsets focused and narrow.</a:t>
            </a:r>
            <a:endParaRPr/>
          </a:p>
        </p:txBody>
      </p:sp>
      <p:sp>
        <p:nvSpPr>
          <p:cNvPr id="1003" name="Google Shape;1003;p45"/>
          <p:cNvSpPr txBox="1"/>
          <p:nvPr/>
        </p:nvSpPr>
        <p:spPr>
          <a:xfrm>
            <a:off x="1428750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Monitor Costs Closely</a:t>
            </a:r>
            <a:endParaRPr/>
          </a:p>
        </p:txBody>
      </p:sp>
      <p:sp>
        <p:nvSpPr>
          <p:cNvPr id="1004" name="Google Shape;1004;p45"/>
          <p:cNvSpPr txBox="1"/>
          <p:nvPr/>
        </p:nvSpPr>
        <p:spPr>
          <a:xfrm>
            <a:off x="1428750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Agent reasoning loops can burn through tokens. Set max iteration limits immediately.</a:t>
            </a:r>
            <a:endParaRPr/>
          </a:p>
        </p:txBody>
      </p:sp>
      <p:sp>
        <p:nvSpPr>
          <p:cNvPr id="1005" name="Google Shape;1005;p45"/>
          <p:cNvSpPr txBox="1"/>
          <p:nvPr/>
        </p:nvSpPr>
        <p:spPr>
          <a:xfrm>
            <a:off x="7096125" y="4500562"/>
            <a:ext cx="4500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Version Control Prompts</a:t>
            </a:r>
            <a:endParaRPr/>
          </a:p>
        </p:txBody>
      </p:sp>
      <p:sp>
        <p:nvSpPr>
          <p:cNvPr id="1006" name="Google Shape;1006;p45"/>
          <p:cNvSpPr txBox="1"/>
          <p:nvPr/>
        </p:nvSpPr>
        <p:spPr>
          <a:xfrm>
            <a:off x="7096125" y="4843462"/>
            <a:ext cx="4286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Treat system prompts as production code. Small prompt tweaks can break entire framework pipelines.</a:t>
            </a:r>
            <a:endParaRPr/>
          </a:p>
        </p:txBody>
      </p:sp>
      <p:sp>
        <p:nvSpPr>
          <p:cNvPr id="1007" name="Google Shape;1007;p4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5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Simplicity is the ultimate sophistication in Agent design. Rely on the framework, but keep the architecture lean.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3" name="Google Shape;101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4" name="Google Shape;101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5" name="Google Shape;101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6" name="Google Shape;101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638300"/>
            <a:ext cx="5286375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46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34</a:t>
            </a:r>
            <a:endParaRPr/>
          </a:p>
        </p:txBody>
      </p:sp>
      <p:sp>
        <p:nvSpPr>
          <p:cNvPr id="1018" name="Google Shape;1018;p46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Source vs Managed Frameworks</a:t>
            </a:r>
            <a:endParaRPr/>
          </a:p>
        </p:txBody>
      </p:sp>
      <p:sp>
        <p:nvSpPr>
          <p:cNvPr id="1019" name="Google Shape;1019;p46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46"/>
          <p:cNvSpPr txBox="1"/>
          <p:nvPr/>
        </p:nvSpPr>
        <p:spPr>
          <a:xfrm>
            <a:off x="952500" y="2438400"/>
            <a:ext cx="34540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Open Source (LangChain)</a:t>
            </a:r>
            <a:endParaRPr/>
          </a:p>
        </p:txBody>
      </p:sp>
      <p:sp>
        <p:nvSpPr>
          <p:cNvPr id="1021" name="Google Shape;1021;p46"/>
          <p:cNvSpPr/>
          <p:nvPr/>
        </p:nvSpPr>
        <p:spPr>
          <a:xfrm>
            <a:off x="952500" y="2819400"/>
            <a:ext cx="3289548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6"/>
          <p:cNvSpPr txBox="1"/>
          <p:nvPr/>
        </p:nvSpPr>
        <p:spPr>
          <a:xfrm>
            <a:off x="952500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Customization: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Infinite. You own the code and the orchestration logic.</a:t>
            </a:r>
            <a:endParaRPr/>
          </a:p>
        </p:txBody>
      </p:sp>
      <p:sp>
        <p:nvSpPr>
          <p:cNvPr id="1023" name="Google Shape;1023;p46"/>
          <p:cNvSpPr txBox="1"/>
          <p:nvPr/>
        </p:nvSpPr>
        <p:spPr>
          <a:xfrm>
            <a:off x="952500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Requires self-hosting, managing infrastructure, and scaling compute manually.</a:t>
            </a:r>
            <a:endParaRPr/>
          </a:p>
        </p:txBody>
      </p:sp>
      <p:sp>
        <p:nvSpPr>
          <p:cNvPr id="1024" name="Google Shape;1024;p46"/>
          <p:cNvSpPr txBox="1"/>
          <p:nvPr/>
        </p:nvSpPr>
        <p:spPr>
          <a:xfrm>
            <a:off x="952500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Free to use, but high engineering overhead to maintain in production.</a:t>
            </a:r>
            <a:endParaRPr/>
          </a:p>
        </p:txBody>
      </p:sp>
      <p:sp>
        <p:nvSpPr>
          <p:cNvPr id="1025" name="Google Shape;1025;p46"/>
          <p:cNvSpPr txBox="1"/>
          <p:nvPr/>
        </p:nvSpPr>
        <p:spPr>
          <a:xfrm>
            <a:off x="6715125" y="2438400"/>
            <a:ext cx="43306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Managed (AWS Bedrock Agents)</a:t>
            </a:r>
            <a:endParaRPr/>
          </a:p>
        </p:txBody>
      </p:sp>
      <p:sp>
        <p:nvSpPr>
          <p:cNvPr id="1026" name="Google Shape;1026;p46"/>
          <p:cNvSpPr/>
          <p:nvPr/>
        </p:nvSpPr>
        <p:spPr>
          <a:xfrm>
            <a:off x="6715125" y="2819400"/>
            <a:ext cx="4124473" cy="28575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6"/>
          <p:cNvSpPr txBox="1"/>
          <p:nvPr/>
        </p:nvSpPr>
        <p:spPr>
          <a:xfrm>
            <a:off x="6715125" y="303847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Security: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Enterprise-grade compliance, VPC integration, and built-in IAM roles.</a:t>
            </a:r>
            <a:endParaRPr/>
          </a:p>
        </p:txBody>
      </p:sp>
      <p:sp>
        <p:nvSpPr>
          <p:cNvPr id="1028" name="Google Shape;1028;p46"/>
          <p:cNvSpPr txBox="1"/>
          <p:nvPr/>
        </p:nvSpPr>
        <p:spPr>
          <a:xfrm>
            <a:off x="6715125" y="37909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Ease of Use: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Click-and-drag orchestration; framework logic is handled by the cloud provider.</a:t>
            </a:r>
            <a:endParaRPr/>
          </a:p>
        </p:txBody>
      </p:sp>
      <p:sp>
        <p:nvSpPr>
          <p:cNvPr id="1029" name="Google Shape;1029;p46"/>
          <p:cNvSpPr txBox="1"/>
          <p:nvPr/>
        </p:nvSpPr>
        <p:spPr>
          <a:xfrm>
            <a:off x="6715125" y="454342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Lock-in: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High dependency on the specific vendor's ecosystem and pricing model.</a:t>
            </a:r>
            <a:endParaRPr/>
          </a:p>
        </p:txBody>
      </p:sp>
      <p:sp>
        <p:nvSpPr>
          <p:cNvPr id="1030" name="Google Shape;1030;p46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6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Open-source frameworks provide flexibility, while managed cloud agents prioritize enterprise security and compliance.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6" name="Google Shape;10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0" y="-762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7" name="Google Shape;103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736" y="214312"/>
            <a:ext cx="202837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8" name="Google Shape;103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6438900"/>
            <a:ext cx="137398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9" name="Google Shape;1039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0" name="Google Shape;1040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1" name="Google Shape;1041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2" name="Google Shape;1042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72562" y="3844379"/>
            <a:ext cx="2547937" cy="1855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3" name="Google Shape;1043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90739" y="2539454"/>
            <a:ext cx="3210520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47"/>
          <p:cNvSpPr txBox="1"/>
          <p:nvPr/>
        </p:nvSpPr>
        <p:spPr>
          <a:xfrm>
            <a:off x="7110114" y="295275"/>
            <a:ext cx="4700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35</a:t>
            </a:r>
            <a:endParaRPr/>
          </a:p>
        </p:txBody>
      </p:sp>
      <p:sp>
        <p:nvSpPr>
          <p:cNvPr id="1045" name="Google Shape;1045;p47"/>
          <p:cNvSpPr txBox="1"/>
          <p:nvPr/>
        </p:nvSpPr>
        <p:spPr>
          <a:xfrm>
            <a:off x="571500" y="952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Future of Agent Frameworks</a:t>
            </a:r>
            <a:endParaRPr/>
          </a:p>
        </p:txBody>
      </p:sp>
      <p:sp>
        <p:nvSpPr>
          <p:cNvPr id="1046" name="Google Shape;1046;p47"/>
          <p:cNvSpPr txBox="1"/>
          <p:nvPr/>
        </p:nvSpPr>
        <p:spPr>
          <a:xfrm>
            <a:off x="571500" y="1638300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Where the architecture is heading next.</a:t>
            </a:r>
            <a:endParaRPr/>
          </a:p>
        </p:txBody>
      </p:sp>
      <p:sp>
        <p:nvSpPr>
          <p:cNvPr id="1047" name="Google Shape;1047;p47"/>
          <p:cNvSpPr/>
          <p:nvPr/>
        </p:nvSpPr>
        <p:spPr>
          <a:xfrm>
            <a:off x="381000" y="304800"/>
            <a:ext cx="285750" cy="1524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7"/>
          <p:cNvSpPr/>
          <p:nvPr/>
        </p:nvSpPr>
        <p:spPr>
          <a:xfrm>
            <a:off x="1676400" y="4762500"/>
            <a:ext cx="8839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9" name="Google Shape;1049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31156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47"/>
          <p:cNvSpPr txBox="1"/>
          <p:nvPr/>
        </p:nvSpPr>
        <p:spPr>
          <a:xfrm>
            <a:off x="840034" y="4587329"/>
            <a:ext cx="20107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Standardized Protocols</a:t>
            </a:r>
            <a:endParaRPr/>
          </a:p>
        </p:txBody>
      </p:sp>
      <p:sp>
        <p:nvSpPr>
          <p:cNvPr id="1051" name="Google Shape;1051;p47"/>
          <p:cNvSpPr txBox="1"/>
          <p:nvPr/>
        </p:nvSpPr>
        <p:spPr>
          <a:xfrm>
            <a:off x="828675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Agents from different frameworks (e.g., LangChain communicating natively with AutoGen).</a:t>
            </a:r>
            <a:endParaRPr/>
          </a:p>
        </p:txBody>
      </p:sp>
      <p:pic>
        <p:nvPicPr>
          <p:cNvPr descr="image.png" id="1052" name="Google Shape;1052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07706" y="41015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47"/>
          <p:cNvSpPr txBox="1"/>
          <p:nvPr/>
        </p:nvSpPr>
        <p:spPr>
          <a:xfrm>
            <a:off x="4003915" y="4587329"/>
            <a:ext cx="13504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Edge Execution</a:t>
            </a:r>
            <a:endParaRPr/>
          </a:p>
        </p:txBody>
      </p:sp>
      <p:sp>
        <p:nvSpPr>
          <p:cNvPr id="1054" name="Google Shape;1054;p47"/>
          <p:cNvSpPr txBox="1"/>
          <p:nvPr/>
        </p:nvSpPr>
        <p:spPr>
          <a:xfrm>
            <a:off x="3662362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Frameworks optimized for running small, specialized agents locally on mobile devices.</a:t>
            </a:r>
            <a:endParaRPr/>
          </a:p>
        </p:txBody>
      </p:sp>
      <p:pic>
        <p:nvPicPr>
          <p:cNvPr descr="image.png" id="1055" name="Google Shape;1055;p4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60443" y="4101554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47"/>
          <p:cNvSpPr txBox="1"/>
          <p:nvPr/>
        </p:nvSpPr>
        <p:spPr>
          <a:xfrm>
            <a:off x="6637265" y="4587329"/>
            <a:ext cx="17511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Memory Persistence</a:t>
            </a:r>
            <a:endParaRPr/>
          </a:p>
        </p:txBody>
      </p:sp>
      <p:sp>
        <p:nvSpPr>
          <p:cNvPr id="1057" name="Google Shape;1057;p47"/>
          <p:cNvSpPr txBox="1"/>
          <p:nvPr/>
        </p:nvSpPr>
        <p:spPr>
          <a:xfrm>
            <a:off x="6496050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Built-in semantic memory that travels with the user across different agentic applications.</a:t>
            </a:r>
            <a:endParaRPr/>
          </a:p>
        </p:txBody>
      </p:sp>
      <p:pic>
        <p:nvPicPr>
          <p:cNvPr descr="image.png" id="1058" name="Google Shape;1058;p4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32218" y="410155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47"/>
          <p:cNvSpPr txBox="1"/>
          <p:nvPr/>
        </p:nvSpPr>
        <p:spPr>
          <a:xfrm>
            <a:off x="9336096" y="4587329"/>
            <a:ext cx="20207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Autonomous Discovery</a:t>
            </a:r>
            <a:endParaRPr/>
          </a:p>
        </p:txBody>
      </p:sp>
      <p:sp>
        <p:nvSpPr>
          <p:cNvPr id="1060" name="Google Shape;1060;p47"/>
          <p:cNvSpPr txBox="1"/>
          <p:nvPr/>
        </p:nvSpPr>
        <p:spPr>
          <a:xfrm>
            <a:off x="9329737" y="4882604"/>
            <a:ext cx="203358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Agents writing and compiling their own tool schemas on the fly to interact with undocumented APIs.</a:t>
            </a:r>
            <a:endParaRPr/>
          </a:p>
        </p:txBody>
      </p:sp>
      <p:sp>
        <p:nvSpPr>
          <p:cNvPr id="1061" name="Google Shape;1061;p4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7"/>
          <p:cNvSpPr txBox="1"/>
          <p:nvPr/>
        </p:nvSpPr>
        <p:spPr>
          <a:xfrm>
            <a:off x="381000" y="6286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Frameworks will evolve from simple orchestrators into foundational operating systems for autonomous AI.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