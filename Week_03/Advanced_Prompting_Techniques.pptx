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9" name="Google Shape;58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3" name="Google Shape;66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3" name="Google Shape;69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4" name="Google Shape;72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3" name="Google Shape;75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1" name="Google Shape;77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8" name="Google Shape;81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2" name="Google Shape;90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4" name="Google Shape;97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D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-73152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32004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A2048">
              <a:alpha val="60000"/>
            </a:srgbClr>
          </a:solidFill>
          <a:ln w="12700" cap="flat" cmpd="sng">
            <a:solidFill>
              <a:srgbClr val="0A20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36576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Prompting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Techniques &amp; Best Practices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97280" y="292608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097280" y="29260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Debugging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754880" y="292608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754880" y="29260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97280" y="342900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97280" y="34290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Evaluation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754880" y="342900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754880" y="34290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 Optimization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Prompting?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The foundation of communicating with AI systems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74320" y="1005840"/>
            <a:ext cx="8595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" name="Google Shape;3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143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868680" y="1115568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68680" y="111556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150876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prompt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is the input you give to an AI model — a question, instruction, or context that shapes the response.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65760" y="214884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Prompting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is the art of crafting these inputs to get the most accurate, useful, and relevant outputs from the model.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65760" y="27889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Advanced prompting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involves techniques like debugging, guardrails, evaluation, and optimization to get reliable, high-quality outputs.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3440" y="1143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5029200" y="1115568"/>
            <a:ext cx="347472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029200" y="111556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REAL-LIFE ANALOGY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0" y="15087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Think of prompting like giving instructions to a new employee.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0" y="201168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Vague: "Fix this." → Confusing result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Clear: "Edit this email for grammar and tone." → Great result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Advanced: Add context, constraints, examples, format specs.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0" y="2926080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617720" y="29718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💡 The better your instructions, the better the AI's output — just like managing people!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Prompting is a skill — clear, structured inputs yield dramatically better AI outputs.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Anatomy of a Good Prompt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The five key components every strong prompt should have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74320" y="10515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74320" y="105156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74320" y="10515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ROLE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11480" y="1435608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Tell the AI who to be: "Act as a data scientist..."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0" y="11247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4709160" y="10515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709160" y="105156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709160" y="10515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CONTEXT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846320" y="1435608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Provide background: "Given this dataset of 10K rows..."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1040" y="11247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274320" y="246888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74320" y="246888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1A6EB0"/>
          </a:solidFill>
          <a:ln w="12700" cap="flat" cmpd="sng">
            <a:solidFill>
              <a:srgbClr val="1A6E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74320" y="24688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TASK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11480" y="2852928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State the goal clearly: "Identify outliers and explain why."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86200" y="2542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4709160" y="246888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709160" y="246888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709160" y="24688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CONSTRAINTS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846320" y="2852928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Set limits: "Keep response under 200 words. Use bullet points."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21040" y="2542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2377440" y="388620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2377440" y="388620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2377440" y="38862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OUTPUT FMT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2514600" y="4270248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Specify format: "Return JSON with keys: name, value, flag."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12280" y="39593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complete prompt includes Role + Context + Task + Constraints + Output Format for best results.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Prompt Debugging?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Identifying and fixing problems in AI prompts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28600" y="1005840"/>
            <a:ext cx="4251960" cy="1737360"/>
          </a:xfrm>
          <a:prstGeom prst="roundRect">
            <a:avLst>
              <a:gd name="adj" fmla="val 6316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10698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594360" y="1042416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594360" y="104241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65760" y="1408176"/>
            <a:ext cx="3977640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Prompt debugging is the process of identifying why an AI produces incorrect, incomplete, or unexpected outputs — and fixing the prompt to get the desired result.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Like code debugging, it requires systematic testing, hypothesis formation, and iterative refinement.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663440" y="1005840"/>
            <a:ext cx="4251960" cy="1737360"/>
          </a:xfrm>
          <a:prstGeom prst="roundRect">
            <a:avLst>
              <a:gd name="adj" fmla="val 6316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4880" y="10698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5029200" y="1042416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029200" y="104241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REAL-LIFE ANALOGY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800600" y="1408176"/>
            <a:ext cx="3977640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 chef's recipe gives wrong results. They debug by testing one variable at a time: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Change ingredient amount → test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Change cooking time → test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Change technique → test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💡 Similarly, prompt debugging changes ONE element at a time to isolate the problem.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28600" y="2926080"/>
            <a:ext cx="4251960" cy="1737360"/>
          </a:xfrm>
          <a:prstGeom prst="roundRect">
            <a:avLst>
              <a:gd name="adj" fmla="val 6316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0040" y="29900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594360" y="2962656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94360" y="296265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65760" y="3328416"/>
            <a:ext cx="3977640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Bad prompt: "Tell me about ML"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Problem: Too vague — output is generic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Debug Step 1: Add role → "Act as ML tutor"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Debug Step 2: Add context → "for beginners"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Debug Step 3: Add constraint → "explain in 5 bullet points"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Result: Clear, structured, useful answer 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663440" y="2926080"/>
            <a:ext cx="4251960" cy="1737360"/>
          </a:xfrm>
          <a:prstGeom prst="roundRect">
            <a:avLst>
              <a:gd name="adj" fmla="val 6316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4880" y="29900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5029200" y="2962656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5029200" y="296265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COMMON BUGS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800600" y="3328416"/>
            <a:ext cx="3977640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Ambiguity Bug: Vague instructions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Missing Context Bug: No background info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Format Bug: Didn't specify output format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Scope Creep Bug: Task too broad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Contradiction Bug: Conflicting instructions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debugging = isolate one variable at a time, test systematically, and refine until output quality improves.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Debugging Framework: T-R-A-C-E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A systematic 5-step method to debug any failing prompt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74320" y="1005840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11480" y="11155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11480" y="11155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05840" y="10789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005840" y="13716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Identify what went wrong. What did you expect vs. what did you get?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2520" y="14173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274320" y="1773936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11480" y="18836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11480" y="18836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005840" y="18470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005840" y="2139696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Is the issue ambiguity? Missing context? Wrong format spec? Wrong role?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2520" y="218541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274320" y="2542032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11480" y="26517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1148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05840" y="26151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ADJUST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05840" y="290779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Change ONE element of the prompt. Rewrite that specific component only.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2520" y="295351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274320" y="3310128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11480" y="341985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11480" y="34198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05840" y="3383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005840" y="367588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Run the updated prompt. Compare new output to expected output.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2520" y="37216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274320" y="4078224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11480" y="41879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11480" y="41879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05840" y="415137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005840" y="4443984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If fixed — document the working prompt. If not — loop back to step 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TRACE to debug prompts methodically — change one thing at a time, test, document working solutions.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Example: Debugging a Prompt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Before and after — fixing a poorly structured prompt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28600" y="1005840"/>
            <a:ext cx="4297680" cy="3749040"/>
          </a:xfrm>
          <a:prstGeom prst="roundRect">
            <a:avLst>
              <a:gd name="adj" fmla="val 2927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320040" y="105156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320040" y="10515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BROKEN PROMPT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20040" y="146304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93192" y="153619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521208" y="153619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49224" y="153619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11480" y="1664208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Tell me about machine learning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and stuff related to it.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call_llm(prompt)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20040" y="301752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FDE8E8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11480" y="3035808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Output: A 500-word generic essay that doesn't answer any specific need. No structure, no context.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20040" y="36118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Bugs: No role | No context | No format | No scope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20040" y="402336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Debug Notes: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20040" y="42519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→ Added role: ML tutor  → Added audience: beginners  → Added format: bullets  → Added scope: supervised learning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663440" y="1005840"/>
            <a:ext cx="4297680" cy="3749040"/>
          </a:xfrm>
          <a:prstGeom prst="roundRect">
            <a:avLst>
              <a:gd name="adj" fmla="val 2927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754880" y="105156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4754880" y="1051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FIXED PROMPT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754880" y="14630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4828032" y="153619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4956048" y="153619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5084064" y="153619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846320" y="1664208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Act as a machine learning tutor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for beginners.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Explain supervised learning 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exactly 5 bullet points.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Keep each bullet under 2 sentences.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call_llm(prompt)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754880" y="32004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846320" y="3200400"/>
            <a:ext cx="39776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Supervised learning uses labeled data...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The model learns a mapping from X to Y...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Common algorithms: Linear Regression...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Training vs testing split prevents overfitting...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Evaluation metric: accuracy, RMSE, F1...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754880" y="40416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✓ Concise | ✓ Structured | ✓ On-topic | ✓ Beginner-friendly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Always specify Role + Audience + Format + Scope to eliminate the most common prompt bugs.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are Prompt Guardrails?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Safety and quality fences for AI-generated outputs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228600" y="1005840"/>
            <a:ext cx="4297680" cy="36576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0972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685800" y="1069848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85800" y="106984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20040" y="1463040"/>
            <a:ext cx="40690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Guardrails </a:t>
            </a: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are rules, instructions, and constraints embedded in prompts (or system prompts) that prevent the AI from producing harmful, off-topic, or low-quality outputs.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They act as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safety boundaries </a:t>
            </a: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that keep AI behavior predictable and appropriate for your use case.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20040" y="26517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Types of Guardrails: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20040" y="2971800"/>
            <a:ext cx="4069080" cy="292608"/>
          </a:xfrm>
          <a:prstGeom prst="roundRect">
            <a:avLst>
              <a:gd name="adj" fmla="val 15625"/>
            </a:avLst>
          </a:prstGeom>
          <a:solidFill>
            <a:srgbClr val="EEF5FF"/>
          </a:solidFill>
          <a:ln w="9525" cap="flat" cmpd="sng">
            <a:solidFill>
              <a:srgbClr val="D0E4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11480" y="29992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Content Guardrails: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011680" y="299923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Prevent harmful, biased, or offensive output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20040" y="3310128"/>
            <a:ext cx="4069080" cy="292608"/>
          </a:xfrm>
          <a:prstGeom prst="roundRect">
            <a:avLst>
              <a:gd name="adj" fmla="val 15625"/>
            </a:avLst>
          </a:prstGeom>
          <a:solidFill>
            <a:srgbClr val="E8F4FD"/>
          </a:solidFill>
          <a:ln w="9525" cap="flat" cmpd="sng">
            <a:solidFill>
              <a:srgbClr val="D0E4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11480" y="33375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Scope Guardrails: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011680" y="333756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Keep responses focused on the topic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20040" y="3648456"/>
            <a:ext cx="4069080" cy="292608"/>
          </a:xfrm>
          <a:prstGeom prst="roundRect">
            <a:avLst>
              <a:gd name="adj" fmla="val 15625"/>
            </a:avLst>
          </a:prstGeom>
          <a:solidFill>
            <a:srgbClr val="EEF5FF"/>
          </a:solidFill>
          <a:ln w="9525" cap="flat" cmpd="sng">
            <a:solidFill>
              <a:srgbClr val="D0E4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11480" y="36758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Format Guardrails: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011680" y="367588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Enforce output structure (JSON, bullets, etc.)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20040" y="3986784"/>
            <a:ext cx="4069080" cy="292608"/>
          </a:xfrm>
          <a:prstGeom prst="roundRect">
            <a:avLst>
              <a:gd name="adj" fmla="val 15625"/>
            </a:avLst>
          </a:prstGeom>
          <a:solidFill>
            <a:srgbClr val="E8F4FD"/>
          </a:solidFill>
          <a:ln w="9525" cap="flat" cmpd="sng">
            <a:solidFill>
              <a:srgbClr val="D0E4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11480" y="401421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Behavior Guardrails: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011680" y="401421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Set tone, persona, and response style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663440" y="1005840"/>
            <a:ext cx="4297680" cy="2103120"/>
          </a:xfrm>
          <a:prstGeom prst="roundRect">
            <a:avLst>
              <a:gd name="adj" fmla="val 5217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Google Shape;219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10972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/>
          <p:nvPr/>
        </p:nvSpPr>
        <p:spPr>
          <a:xfrm>
            <a:off x="5120640" y="1069848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5120640" y="10698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REAL-LIFE ANALOGY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754880" y="1463040"/>
            <a:ext cx="40690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Like a bank's fraud detection system: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The system processes millions of transactions (AI processes tokens)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Guardrails flag suspicious activity before it goes through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They don't stop all transactions — just the risky 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💡 Prompt guardrails don't silence the AI — they guide it toward safe, useful, on-brand behavior.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663440" y="3200400"/>
            <a:ext cx="429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4754880" y="324612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754880" y="32461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GUARDRAIL CODE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754880" y="36118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828032" y="368503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956048" y="368503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084064" y="368503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4846320" y="3813048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system_prompt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You are a customer support bot.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ONLY answer questions about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our product. If asked anything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else, say: 'I can only help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with product questions.'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Guardrails = intentional constraints that keep AI responses safe, focused, and fit for purpose.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Building Effective Guardrails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Practical patterns for constraining AI behavior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28600" y="1005840"/>
            <a:ext cx="4251960" cy="1737360"/>
          </a:xfrm>
          <a:prstGeom prst="roundRect">
            <a:avLst>
              <a:gd name="adj" fmla="val 6316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365760" y="107899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Topic Scope Guardrail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65760" y="1389888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38912" y="1463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66928" y="1463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694944" y="1463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457200" y="1591056"/>
            <a:ext cx="3794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"""Only answer questions about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Python programming.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If asked about other topics,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respond: 'I specialize 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Python only.'"""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365760" y="2350008"/>
            <a:ext cx="3977640" cy="320040"/>
          </a:xfrm>
          <a:prstGeom prst="roundRect">
            <a:avLst>
              <a:gd name="adj" fmla="val 22857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457200" y="23500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Stays focused on Python; politely redirects other topics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663440" y="1005840"/>
            <a:ext cx="4251960" cy="1737360"/>
          </a:xfrm>
          <a:prstGeom prst="roundRect">
            <a:avLst>
              <a:gd name="adj" fmla="val 6316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800600" y="107899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Format Enforcement Guardrail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800600" y="1389888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4873752" y="1463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5001768" y="1463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5129784" y="1463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892040" y="1591056"/>
            <a:ext cx="3794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"""Always respond in valid JSON.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Never include markdown.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Schema: {answer: str,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confidence: float 0-1,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sources: list}"""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800600" y="2350008"/>
            <a:ext cx="3977640" cy="320040"/>
          </a:xfrm>
          <a:prstGeom prst="roundRect">
            <a:avLst>
              <a:gd name="adj" fmla="val 22857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892040" y="23500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{"answer": "...", "confidence": 0.92, "sources": [...]}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228600" y="2880360"/>
            <a:ext cx="4251960" cy="1737360"/>
          </a:xfrm>
          <a:prstGeom prst="roundRect">
            <a:avLst>
              <a:gd name="adj" fmla="val 6316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65760" y="295351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Tone &amp; Safety Guardrail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65760" y="3264408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38912" y="3337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566928" y="3337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694944" y="3337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457200" y="3465576"/>
            <a:ext cx="3794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"""You are a children's tutor.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Use simple words (max grade 5).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Never use violence, politics,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or adult topics.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Be encouraging always."""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65760" y="4224528"/>
            <a:ext cx="3977640" cy="320040"/>
          </a:xfrm>
          <a:prstGeom prst="roundRect">
            <a:avLst>
              <a:gd name="adj" fmla="val 22857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457200" y="42245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Age-appropriate, safe, and encouraging responses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663440" y="2880360"/>
            <a:ext cx="4251960" cy="1737360"/>
          </a:xfrm>
          <a:prstGeom prst="roundRect">
            <a:avLst>
              <a:gd name="adj" fmla="val 6316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800600" y="295351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Fallback Behavior Guardrail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800600" y="3264408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4873752" y="3337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001768" y="3337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5129784" y="3337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4892040" y="3465576"/>
            <a:ext cx="3794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"""If you are uncertain or the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question is ambiguous, say: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'I need more details to help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you accurately.' Do not guess."""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800600" y="4224528"/>
            <a:ext cx="3977640" cy="320040"/>
          </a:xfrm>
          <a:prstGeom prst="roundRect">
            <a:avLst>
              <a:gd name="adj" fmla="val 22857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4892040" y="42245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Prevents hallucination by requesting clarification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Effective guardrails are specific, testable, and anticipate edge cases — vague guardrails fail under pressure.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Prompt Evaluation?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Measuring prompt quality systematically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228600" y="1005840"/>
            <a:ext cx="8686800" cy="731520"/>
          </a:xfrm>
          <a:prstGeom prst="roundRect">
            <a:avLst>
              <a:gd name="adj" fmla="val 1500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8" name="Google Shape;28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1155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1"/>
          <p:cNvSpPr/>
          <p:nvPr/>
        </p:nvSpPr>
        <p:spPr>
          <a:xfrm>
            <a:off x="731520" y="102412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Prompt Evaluation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is the process of systematically measuring how well your prompt performs. It uses </a:t>
            </a:r>
            <a:r>
              <a:rPr lang="en-US" sz="12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test cases, metrics, and comparison methods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to objectively determine whether a prompt is working correctly and consistently.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228600" y="187452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1325880" y="192024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2" name="Google Shape;292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1600" y="1938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1"/>
          <p:cNvSpPr/>
          <p:nvPr/>
        </p:nvSpPr>
        <p:spPr>
          <a:xfrm>
            <a:off x="320040" y="25420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A/B Testing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20040" y="2862072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Compare two prompt versions on the same test cases. The version with higher scores wins.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320040" y="365760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365760" y="3675888"/>
            <a:ext cx="24688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ourier New"/>
                <a:ea typeface="Courier New"/>
                <a:cs typeface="Courier New"/>
                <a:sym typeface="Courier New"/>
              </a:rPr>
              <a:t>Prompt A: 78% accuracy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ourier New"/>
                <a:ea typeface="Courier New"/>
                <a:cs typeface="Courier New"/>
                <a:sym typeface="Courier New"/>
              </a:rPr>
              <a:t>Prompt B: 91% accuracy → Use 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154680" y="187452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4251960" y="192024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6EB0"/>
          </a:solidFill>
          <a:ln w="12700" cap="flat" cmpd="sng">
            <a:solidFill>
              <a:srgbClr val="1A6E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97680" y="1938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/>
          <p:cNvSpPr/>
          <p:nvPr/>
        </p:nvSpPr>
        <p:spPr>
          <a:xfrm>
            <a:off x="3246120" y="25420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6EB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6EB0"/>
                </a:solidFill>
                <a:latin typeface="Calibri"/>
                <a:ea typeface="Calibri"/>
                <a:cs typeface="Calibri"/>
                <a:sym typeface="Calibri"/>
              </a:rPr>
              <a:t>Rubric Scoring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3246120" y="2862072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Score each output on criteria: accuracy (0-5), relevance (0-5), format (0-5), safety (pass/fail).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3246120" y="365760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3291840" y="3675888"/>
            <a:ext cx="24688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ourier New"/>
                <a:ea typeface="Courier New"/>
                <a:cs typeface="Courier New"/>
                <a:sym typeface="Courier New"/>
              </a:rPr>
              <a:t>Accuracy: 4/5 | Relevance: 5/5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ourier New"/>
                <a:ea typeface="Courier New"/>
                <a:cs typeface="Courier New"/>
                <a:sym typeface="Courier New"/>
              </a:rPr>
              <a:t>Format: 4/5 | Safety: PASS → Score: 87%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080760" y="187452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7178040" y="192024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3760" y="1938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1"/>
          <p:cNvSpPr/>
          <p:nvPr/>
        </p:nvSpPr>
        <p:spPr>
          <a:xfrm>
            <a:off x="6172200" y="25420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LLM-as-Judge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172200" y="2862072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Use a second LLM to evaluate output quality. Give it a rubric and ask it to score each response.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172200" y="365760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217920" y="3675888"/>
            <a:ext cx="246888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ourier New"/>
                <a:ea typeface="Courier New"/>
                <a:cs typeface="Courier New"/>
                <a:sym typeface="Courier New"/>
              </a:rPr>
              <a:t>Judge prompt: 'Rate this answer 1-10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ourier New"/>
                <a:ea typeface="Courier New"/>
                <a:cs typeface="Courier New"/>
                <a:sym typeface="Courier New"/>
              </a:rPr>
              <a:t>for correctness and clarity...'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ourier New"/>
                <a:ea typeface="Courier New"/>
                <a:cs typeface="Courier New"/>
                <a:sym typeface="Courier New"/>
              </a:rPr>
              <a:t>Result: 8.5/10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evaluation is essential — you can't improve what you don't measure. Build eval suites early.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Evaluation Metrics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How to score and compare prompt performance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228600" y="1005840"/>
            <a:ext cx="1371600" cy="347472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228600" y="10058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1627632" y="1005840"/>
            <a:ext cx="3291840" cy="347472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1627632" y="10058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937760" y="1005840"/>
            <a:ext cx="1188720" cy="347472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4937760" y="10058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153912" y="1005840"/>
            <a:ext cx="2743200" cy="347472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6153912" y="10058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228600" y="1389888"/>
            <a:ext cx="8686800" cy="493776"/>
          </a:xfrm>
          <a:prstGeom prst="rect">
            <a:avLst/>
          </a:prstGeom>
          <a:solidFill>
            <a:srgbClr val="E8F4FD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274320" y="1389888"/>
            <a:ext cx="13258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664208" y="1389888"/>
            <a:ext cx="32369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Does the output contain correct factual information?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974336" y="1389888"/>
            <a:ext cx="1143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0 – 100%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190488" y="1389888"/>
            <a:ext cx="267919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5A6B7E"/>
                </a:solidFill>
                <a:latin typeface="Courier New"/>
                <a:ea typeface="Courier New"/>
                <a:cs typeface="Courier New"/>
                <a:sym typeface="Courier New"/>
              </a:rPr>
              <a:t>Expected: Paris | Got: Paris → 100%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228600" y="1911096"/>
            <a:ext cx="8686800" cy="4937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274320" y="1911096"/>
            <a:ext cx="13258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Relevance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664208" y="1911096"/>
            <a:ext cx="32369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Is the output on-topic and addressing the actual question?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974336" y="1911096"/>
            <a:ext cx="1143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1 – 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6190488" y="1911096"/>
            <a:ext cx="267919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5A6B7E"/>
                </a:solidFill>
                <a:latin typeface="Courier New"/>
                <a:ea typeface="Courier New"/>
                <a:cs typeface="Courier New"/>
                <a:sym typeface="Courier New"/>
              </a:rPr>
              <a:t>Asked for Python tips, got Java → 1/5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228600" y="2432304"/>
            <a:ext cx="8686800" cy="493776"/>
          </a:xfrm>
          <a:prstGeom prst="rect">
            <a:avLst/>
          </a:prstGeom>
          <a:solidFill>
            <a:srgbClr val="E8F4FD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274320" y="2432304"/>
            <a:ext cx="13258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Completeness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664208" y="2432304"/>
            <a:ext cx="32369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Did the output cover all required points?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974336" y="2432304"/>
            <a:ext cx="1143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0 – 100%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6190488" y="2432304"/>
            <a:ext cx="267919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5A6B7E"/>
                </a:solidFill>
                <a:latin typeface="Courier New"/>
                <a:ea typeface="Courier New"/>
                <a:cs typeface="Courier New"/>
                <a:sym typeface="Courier New"/>
              </a:rPr>
              <a:t>Asked 5 questions, answered 4 → 80%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228600" y="2953512"/>
            <a:ext cx="8686800" cy="4937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274320" y="2953512"/>
            <a:ext cx="13258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Format Score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1664208" y="2953512"/>
            <a:ext cx="32369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Did the output follow the specified format (JSON, bullets)?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974336" y="2953512"/>
            <a:ext cx="1143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Pass/Fail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6190488" y="2953512"/>
            <a:ext cx="267919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5A6B7E"/>
                </a:solidFill>
                <a:latin typeface="Courier New"/>
                <a:ea typeface="Courier New"/>
                <a:cs typeface="Courier New"/>
                <a:sym typeface="Courier New"/>
              </a:rPr>
              <a:t>Asked for JSON, got prose → FAIL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228600" y="3474720"/>
            <a:ext cx="8686800" cy="493776"/>
          </a:xfrm>
          <a:prstGeom prst="rect">
            <a:avLst/>
          </a:prstGeom>
          <a:solidFill>
            <a:srgbClr val="E8F4FD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274320" y="3474720"/>
            <a:ext cx="13258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1664208" y="3474720"/>
            <a:ext cx="32369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Does the same prompt give similar answers on repeated runs?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4974336" y="3474720"/>
            <a:ext cx="1143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0 – 100%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190488" y="3474720"/>
            <a:ext cx="267919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5A6B7E"/>
                </a:solidFill>
                <a:latin typeface="Courier New"/>
                <a:ea typeface="Courier New"/>
                <a:cs typeface="Courier New"/>
                <a:sym typeface="Courier New"/>
              </a:rPr>
              <a:t>10 runs: 9 similar answers → 90%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228600" y="3995928"/>
            <a:ext cx="8686800" cy="4937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274320" y="3995928"/>
            <a:ext cx="13258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Safety/Bias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664208" y="3995928"/>
            <a:ext cx="32369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Does the output avoid harmful, biased, or sensitive content?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4974336" y="3995928"/>
            <a:ext cx="1143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Pass/Fail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6190488" y="3995928"/>
            <a:ext cx="267919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5A6B7E"/>
                </a:solidFill>
                <a:latin typeface="Courier New"/>
                <a:ea typeface="Courier New"/>
                <a:cs typeface="Courier New"/>
                <a:sym typeface="Courier New"/>
              </a:rPr>
              <a:t>No offensive content detected → PASS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your success metrics before you write prompts — metrics guide both design and debugging decisions.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Example: Prompt Evaluation Pipeline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Building a basic automated eval system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228600" y="100584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320040" y="105156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3200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PIPELINE CODE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320040" y="1417320"/>
            <a:ext cx="4937760" cy="3273552"/>
          </a:xfrm>
          <a:prstGeom prst="roundRect">
            <a:avLst>
              <a:gd name="adj" fmla="val 225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393192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521208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649224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411480" y="1435608"/>
            <a:ext cx="4754880" cy="3227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Define test cases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test_cases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{"input": "What is Python?",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"expected": "Python is a programming language"},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{"input": "What is a list?",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"expected": "ordered, mutable collection"},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Evaluate each case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def evaluate(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prompt_fn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, cases):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results = []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for case in cases: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output =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prompt_fn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(case["input"])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score =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check_contains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  output, case["expected"])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results.append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  "input": case["input"],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  "output": output,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  "score": score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})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avg = sum(r["score"] for r in results)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avg /=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(results)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return results, avg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results,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avg_score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= evaluate(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my_prompt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test_cases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print(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f"Average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Score: {avg_score:.0%}")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5486400" y="1005840"/>
            <a:ext cx="3474720" cy="3749040"/>
          </a:xfrm>
          <a:prstGeom prst="roundRect">
            <a:avLst>
              <a:gd name="adj" fmla="val 3158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5577840" y="105156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5577840" y="1051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&amp; 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5577840" y="148132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Run Results: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577840" y="178308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5650992" y="185623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5779008" y="185623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5907024" y="185623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5669280" y="1984248"/>
            <a:ext cx="31089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Test 1: "What is Python?"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Output: "Python is a high-level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programming language..."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Score: PASS 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Test 2: "What is a list?"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Output: "A list is an ordered,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mutable collection..."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Score: PASS 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5577840" y="3200400"/>
            <a:ext cx="3291840" cy="502920"/>
          </a:xfrm>
          <a:prstGeom prst="roundRect">
            <a:avLst>
              <a:gd name="adj" fmla="val 21818"/>
            </a:avLst>
          </a:prstGeom>
          <a:solidFill>
            <a:srgbClr val="0D2B5E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5623560" y="321868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Score: 100%  ✅ All tests passed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5577840" y="37764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Tips for Good Eval: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5577840" y="4041648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Use 20+ test cases minimum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Include edge cases &amp; failure modes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Test both happy path and error path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Re-run eval after every prompt change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evaluation pipelines catch regressions early — always eval before deploying prompt changes to production.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Response Optimization?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Techniques to get better outputs from the same AI model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228600" y="1005840"/>
            <a:ext cx="4297680" cy="36576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1" name="Google Shape;401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1155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4"/>
          <p:cNvSpPr/>
          <p:nvPr/>
        </p:nvSpPr>
        <p:spPr>
          <a:xfrm>
            <a:off x="685800" y="1078992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685800" y="107899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320040" y="1481328"/>
            <a:ext cx="406908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Response Optimization </a:t>
            </a: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is the process of adjusting prompts, parameters, and structure to improve the </a:t>
            </a:r>
            <a:r>
              <a:rPr lang="en-US" sz="115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quality, consistency, and accuracy </a:t>
            </a: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of AI outputs without changing the underlying model.</a:t>
            </a:r>
            <a:b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Key levers:</a:t>
            </a:r>
            <a:br>
              <a:rPr lang="en-US" sz="1150" b="1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Prompt wording &amp; structure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Temperature &amp; model parameters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Few-shot examples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Chain-of-thought instructions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Instruction ordering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11155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4"/>
          <p:cNvSpPr/>
          <p:nvPr/>
        </p:nvSpPr>
        <p:spPr>
          <a:xfrm>
            <a:off x="5120640" y="1078992"/>
            <a:ext cx="347472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5120640" y="10789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REAL-LIFE ANALOGY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4709160" y="1481328"/>
            <a:ext cx="416052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Like tuning a car engine: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The engine is the same (AI model stays fixed)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But you can adjust fuel mix, timing, and settings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Small tweaks produce big performance gains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You measure with instruments (eval metrics)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You document what works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💡 Response optimization is like an engineer tweaking settings — methodical, measured, and iterative.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274320" y="4590288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0D2B5E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274320" y="45902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Few-Shot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2468880" y="4590288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0D2B5E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2468880" y="45902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Chain of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Thought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4663440" y="4590288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0D2B5E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4663440" y="45902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6858000" y="4590288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0D2B5E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6858000" y="45902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 optimization tunes HOW you ask, not what model you use — the same model can perform dramatically differently.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 Technique: Few-Shot Prompting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Teaching the AI with examples inside the prompt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228600" y="1005840"/>
            <a:ext cx="8686800" cy="594360"/>
          </a:xfrm>
          <a:prstGeom prst="roundRect">
            <a:avLst>
              <a:gd name="adj" fmla="val 18462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365760" y="10241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Few-Shot Prompting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provides 2–5 worked examples inside the prompt so the AI learns the expected pattern, format, and reasoning style before answering your actual question.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228600" y="1691640"/>
            <a:ext cx="4297680" cy="3017520"/>
          </a:xfrm>
          <a:prstGeom prst="roundRect">
            <a:avLst>
              <a:gd name="adj" fmla="val 3636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320040" y="173736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320040" y="17373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ZERO-SHOT (No Examples)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320040" y="2121408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393192" y="2194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521208" y="2194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649224" y="2194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411480" y="2322576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Classify sentiment of: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"The product broke after 2 days"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Output (inconsistent):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"negative" 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"The sentiment is negative." 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"Disappointed" — format varies!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320040" y="370332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FDE8E8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411480" y="3730752"/>
            <a:ext cx="3977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Problem: Unpredictable format — hard to parse programmatically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4663440" y="1691640"/>
            <a:ext cx="4297680" cy="3017520"/>
          </a:xfrm>
          <a:prstGeom prst="roundRect">
            <a:avLst>
              <a:gd name="adj" fmla="val 3636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4754880" y="173736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4754880" y="17373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FEW-SHOT (With Examples)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4754880" y="2121408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4828032" y="2194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4956048" y="2194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5084064" y="2194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4846320" y="2322576"/>
            <a:ext cx="39319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Classify: positive/negative/neutral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Examples: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Input: "Amazing quality!" → positive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Input: "It's okay I guess." → neutral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Input: "Broke immediately." → negative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Now classify: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"The product broke after 2 days"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4754880" y="3886200"/>
            <a:ext cx="4114800" cy="320040"/>
          </a:xfrm>
          <a:prstGeom prst="roundRect">
            <a:avLst>
              <a:gd name="adj" fmla="val 22857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4846320" y="388620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4754880" y="4251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✓ Consistent, parseable, predictable format every time!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2–5 well-chosen examples teach format, tone, and reasoning better than 500 words of instructions.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 Technique: Chain-of-Thought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Prompting the AI to show its reasoning step by step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228600" y="1005840"/>
            <a:ext cx="8686800" cy="640080"/>
          </a:xfrm>
          <a:prstGeom prst="roundRect">
            <a:avLst>
              <a:gd name="adj" fmla="val 17143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6"/>
          <p:cNvSpPr/>
          <p:nvPr/>
        </p:nvSpPr>
        <p:spPr>
          <a:xfrm>
            <a:off x="365760" y="10241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Chain-of-Thought (CoT)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prompts instruct the AI to reason through a problem step-by-step before giving the final answer. This dramatically improves accuracy on complex, multi-step tasks like math, logic, and analysis.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228600" y="1737360"/>
            <a:ext cx="4297680" cy="2926080"/>
          </a:xfrm>
          <a:prstGeom prst="roundRect">
            <a:avLst>
              <a:gd name="adj" fmla="val 375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320040" y="178308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320040" y="17830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WITHOUT CoT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320040" y="216712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6"/>
          <p:cNvSpPr/>
          <p:nvPr/>
        </p:nvSpPr>
        <p:spPr>
          <a:xfrm>
            <a:off x="393192" y="224028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521208" y="224028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649224" y="224028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411480" y="2368296"/>
            <a:ext cx="3931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A shop sells 3 apples for $1.50.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Jane buys 9 apples.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How much does she pay?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Output: "$3.00"  ← WRONG!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(Common mistake: 9 x 1.50 = 13.50)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320040" y="3474720"/>
            <a:ext cx="4114800" cy="411480"/>
          </a:xfrm>
          <a:prstGeom prst="roundRect">
            <a:avLst>
              <a:gd name="adj" fmla="val 26667"/>
            </a:avLst>
          </a:prstGeom>
          <a:solidFill>
            <a:srgbClr val="FDE8E8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411480" y="3502152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Problem: AI jumps to answer, skips steps, makes errors on multi-step math.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4663440" y="1737360"/>
            <a:ext cx="4297680" cy="2926080"/>
          </a:xfrm>
          <a:prstGeom prst="roundRect">
            <a:avLst>
              <a:gd name="adj" fmla="val 3750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4754880" y="178308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6"/>
          <p:cNvSpPr/>
          <p:nvPr/>
        </p:nvSpPr>
        <p:spPr>
          <a:xfrm>
            <a:off x="4754880" y="17830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CHAIN-OF-THOUGHT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4754880" y="2167128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4828032" y="224028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4956048" y="224028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6"/>
          <p:cNvSpPr/>
          <p:nvPr/>
        </p:nvSpPr>
        <p:spPr>
          <a:xfrm>
            <a:off x="5084064" y="224028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4846320" y="2368296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A shop sells 3 apples for $1.50.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Jane buys 9 apples.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Think step by step, then answer.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Output: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Step 1: Price per apple = $1.50/3 = $0.50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Step 2: Jane buys 9 apples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Step 3: Total = 9 × $0.50 = $4.50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Answer: $4.50  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4754880" y="3886200"/>
            <a:ext cx="4114800" cy="320040"/>
          </a:xfrm>
          <a:prstGeom prst="roundRect">
            <a:avLst>
              <a:gd name="adj" fmla="val 22857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4846320" y="388620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$4.50  ✓ Correct — reasoning visible and verifiable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4754880" y="4251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Key CoT triggers: 'Think step by step', 'Show your work', 'Reason before answering'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Chain-of-thought prompting reduces errors on complex tasks by 40–70% — always use it for reasoning-heavy tasks.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Optimization: Temperature &amp; Model Parameters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Tuning AI creativity vs. accuracy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228600" y="1005840"/>
            <a:ext cx="8686800" cy="640080"/>
          </a:xfrm>
          <a:prstGeom prst="roundRect">
            <a:avLst>
              <a:gd name="adj" fmla="val 17143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7"/>
          <p:cNvSpPr/>
          <p:nvPr/>
        </p:nvSpPr>
        <p:spPr>
          <a:xfrm>
            <a:off x="365760" y="1024128"/>
            <a:ext cx="8412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Temperature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(0.0–2.0) controls how creative or deterministic the AI's outputs are. </a:t>
            </a:r>
            <a:r>
              <a:rPr lang="en-US" sz="12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Low temperature = predictable &amp; factual. High temperature = creative &amp; varied.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228600" y="1737360"/>
            <a:ext cx="8686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D0E4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7"/>
          <p:cNvSpPr/>
          <p:nvPr/>
        </p:nvSpPr>
        <p:spPr>
          <a:xfrm>
            <a:off x="411480" y="20848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6EB0"/>
          </a:solidFill>
          <a:ln w="12700" cap="flat" cmpd="sng">
            <a:solidFill>
              <a:srgbClr val="1A6E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320040" y="17373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6EB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6EB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-274320" y="24505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Deterministic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(same answer always)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2331720" y="20848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2240280" y="17373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1645920" y="24505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Factual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(slight variation)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4251960" y="20848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4160520" y="17373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3566160" y="24505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(recommended default)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6172200" y="20848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7"/>
          <p:cNvSpPr/>
          <p:nvPr/>
        </p:nvSpPr>
        <p:spPr>
          <a:xfrm>
            <a:off x="6080760" y="17373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5486400" y="24505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Creative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(stories, ideas)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8092440" y="20848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7"/>
          <p:cNvSpPr/>
          <p:nvPr/>
        </p:nvSpPr>
        <p:spPr>
          <a:xfrm>
            <a:off x="8001000" y="17373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7406640" y="245059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Chaotic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(experimental only)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274320" y="3090672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Recommended Temperature by Use Case: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274320" y="3429000"/>
            <a:ext cx="4251960" cy="530352"/>
          </a:xfrm>
          <a:prstGeom prst="roundRect">
            <a:avLst>
              <a:gd name="adj" fmla="val 2069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7"/>
          <p:cNvSpPr/>
          <p:nvPr/>
        </p:nvSpPr>
        <p:spPr>
          <a:xfrm>
            <a:off x="365760" y="3520440"/>
            <a:ext cx="640080" cy="347472"/>
          </a:xfrm>
          <a:prstGeom prst="roundRect">
            <a:avLst>
              <a:gd name="adj" fmla="val 26316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365760" y="352044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T=0.2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1078992" y="347472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Customer Support Bot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1078992" y="3703320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Consistent, accurate responses every time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4709160" y="3429000"/>
            <a:ext cx="4251960" cy="530352"/>
          </a:xfrm>
          <a:prstGeom prst="roundRect">
            <a:avLst>
              <a:gd name="adj" fmla="val 2069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7"/>
          <p:cNvSpPr/>
          <p:nvPr/>
        </p:nvSpPr>
        <p:spPr>
          <a:xfrm>
            <a:off x="4800600" y="3520440"/>
            <a:ext cx="640080" cy="347472"/>
          </a:xfrm>
          <a:prstGeom prst="roundRect">
            <a:avLst>
              <a:gd name="adj" fmla="val 26316"/>
            </a:avLst>
          </a:prstGeom>
          <a:solidFill>
            <a:srgbClr val="1A6EB0"/>
          </a:solidFill>
          <a:ln w="12700" cap="flat" cmpd="sng">
            <a:solidFill>
              <a:srgbClr val="1A6E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4800600" y="352044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T=0.0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5513832" y="347472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Data Extraction / JSON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5513832" y="3703320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Deterministic — same structured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274320" y="4023360"/>
            <a:ext cx="4251960" cy="530352"/>
          </a:xfrm>
          <a:prstGeom prst="roundRect">
            <a:avLst>
              <a:gd name="adj" fmla="val 2069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7"/>
          <p:cNvSpPr/>
          <p:nvPr/>
        </p:nvSpPr>
        <p:spPr>
          <a:xfrm>
            <a:off x="365760" y="4114800"/>
            <a:ext cx="640080" cy="347472"/>
          </a:xfrm>
          <a:prstGeom prst="roundRect">
            <a:avLst>
              <a:gd name="adj" fmla="val 26316"/>
            </a:avLst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365760" y="411480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T=1.0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1078992" y="406908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Brainstorming Ideas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1078992" y="4297680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High creativity, diverse suggestions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4709160" y="4023360"/>
            <a:ext cx="4251960" cy="530352"/>
          </a:xfrm>
          <a:prstGeom prst="roundRect">
            <a:avLst>
              <a:gd name="adj" fmla="val 2069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7"/>
          <p:cNvSpPr/>
          <p:nvPr/>
        </p:nvSpPr>
        <p:spPr>
          <a:xfrm>
            <a:off x="4800600" y="4114800"/>
            <a:ext cx="640080" cy="347472"/>
          </a:xfrm>
          <a:prstGeom prst="roundRect">
            <a:avLst>
              <a:gd name="adj" fmla="val 26316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4800600" y="411480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T=0.7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5513832" y="406908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General Q&amp;A / Tutoring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5513832" y="4297680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Balanced: accurate but natural-sounding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7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 temperature based on your use case — low for facts and data, higher for creativity and generation.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8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 Patterns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Reusable templates for common AI tasks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228600" y="100584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320040" y="107899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Expert Persona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320040" y="1408176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8"/>
          <p:cNvSpPr/>
          <p:nvPr/>
        </p:nvSpPr>
        <p:spPr>
          <a:xfrm>
            <a:off x="393192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8"/>
          <p:cNvSpPr/>
          <p:nvPr/>
        </p:nvSpPr>
        <p:spPr>
          <a:xfrm>
            <a:off x="521208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8"/>
          <p:cNvSpPr/>
          <p:nvPr/>
        </p:nvSpPr>
        <p:spPr>
          <a:xfrm>
            <a:off x="649224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8"/>
          <p:cNvSpPr/>
          <p:nvPr/>
        </p:nvSpPr>
        <p:spPr>
          <a:xfrm>
            <a:off x="411480" y="1609344"/>
            <a:ext cx="24231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"Act as a {expert} with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{N} years experience in {field}.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{task}"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3200400" y="100584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8"/>
          <p:cNvSpPr/>
          <p:nvPr/>
        </p:nvSpPr>
        <p:spPr>
          <a:xfrm>
            <a:off x="3291840" y="107899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Step Decomposition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3291840" y="1408176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8"/>
          <p:cNvSpPr/>
          <p:nvPr/>
        </p:nvSpPr>
        <p:spPr>
          <a:xfrm>
            <a:off x="3364992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8"/>
          <p:cNvSpPr/>
          <p:nvPr/>
        </p:nvSpPr>
        <p:spPr>
          <a:xfrm>
            <a:off x="3493008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8"/>
          <p:cNvSpPr/>
          <p:nvPr/>
        </p:nvSpPr>
        <p:spPr>
          <a:xfrm>
            <a:off x="3621024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8"/>
          <p:cNvSpPr/>
          <p:nvPr/>
        </p:nvSpPr>
        <p:spPr>
          <a:xfrm>
            <a:off x="3383280" y="1609344"/>
            <a:ext cx="24231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"Break this task into steps: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1. First, {step1}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2. Then, {step2}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3. Finally, {step3}"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6172200" y="100584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8"/>
          <p:cNvSpPr/>
          <p:nvPr/>
        </p:nvSpPr>
        <p:spPr>
          <a:xfrm>
            <a:off x="6263640" y="107899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Constraint Chain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6263640" y="1408176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6336792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8"/>
          <p:cNvSpPr/>
          <p:nvPr/>
        </p:nvSpPr>
        <p:spPr>
          <a:xfrm>
            <a:off x="6464808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8"/>
          <p:cNvSpPr/>
          <p:nvPr/>
        </p:nvSpPr>
        <p:spPr>
          <a:xfrm>
            <a:off x="6592824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6355080" y="1609344"/>
            <a:ext cx="24231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"Do {task}. Rules: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Max {N} words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Use {format}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Avoid {X}"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228600" y="292608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8"/>
          <p:cNvSpPr/>
          <p:nvPr/>
        </p:nvSpPr>
        <p:spPr>
          <a:xfrm>
            <a:off x="320040" y="299923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Self-Critique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320040" y="3328416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393192" y="34015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521208" y="34015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649224" y="34015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411480" y="3529584"/>
            <a:ext cx="24231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"Answer {question}.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Then critique your answer.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Finally, improve it."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3200400" y="292608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3291840" y="299923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Compare &amp; Choose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3291840" y="3328416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3364992" y="34015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3493008" y="34015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3621024" y="34015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8"/>
          <p:cNvSpPr/>
          <p:nvPr/>
        </p:nvSpPr>
        <p:spPr>
          <a:xfrm>
            <a:off x="3383280" y="3529584"/>
            <a:ext cx="24231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"Give 3 options for {task}.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For each: pros, cons, best for whom."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6172200" y="292608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6263640" y="299923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Structured Output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6263640" y="3328416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8"/>
          <p:cNvSpPr/>
          <p:nvPr/>
        </p:nvSpPr>
        <p:spPr>
          <a:xfrm>
            <a:off x="6336792" y="34015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6464808" y="34015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6592824" y="34015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6355080" y="3529584"/>
            <a:ext cx="24231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"Respond ONLY in JSON: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{key1: value, key2: value}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No markdown, no prose."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reusable prompt patterns for recurring tasks — parameterize them like functions in code.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9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Study: What is an Incorrect Chatbot Response?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Understanding the problem we're solving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228600" y="1005840"/>
            <a:ext cx="4297680" cy="36576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6" name="Google Shape;596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1155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19"/>
          <p:cNvSpPr/>
          <p:nvPr/>
        </p:nvSpPr>
        <p:spPr>
          <a:xfrm>
            <a:off x="685800" y="1078992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9"/>
          <p:cNvSpPr/>
          <p:nvPr/>
        </p:nvSpPr>
        <p:spPr>
          <a:xfrm>
            <a:off x="685800" y="10789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320040" y="1481328"/>
            <a:ext cx="406908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An incorrect chatbot response </a:t>
            </a: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occurs when the AI chatbot gives an answer that is:</a:t>
            </a:r>
            <a:b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• Factually wrong </a:t>
            </a: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(hallucination)</a:t>
            </a:r>
            <a:b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• Off-topic </a:t>
            </a: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(didn't answer what was asked)</a:t>
            </a:r>
            <a:b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• Unsafe </a:t>
            </a: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(harmful, biased, or inappropriate)</a:t>
            </a:r>
            <a:b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• Incomplete </a:t>
            </a: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(missing key information)</a:t>
            </a:r>
            <a:b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• Wrong format </a:t>
            </a:r>
            <a:r>
              <a:rPr lang="en-US" sz="11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(not following output instructions)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4663440" y="1005840"/>
            <a:ext cx="42976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1" name="Google Shape;601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11155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9"/>
          <p:cNvSpPr/>
          <p:nvPr/>
        </p:nvSpPr>
        <p:spPr>
          <a:xfrm>
            <a:off x="5120640" y="1078992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9"/>
          <p:cNvSpPr/>
          <p:nvPr/>
        </p:nvSpPr>
        <p:spPr>
          <a:xfrm>
            <a:off x="5120640" y="10789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 OF BAD RESPONSES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4754880" y="1481328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9"/>
          <p:cNvSpPr/>
          <p:nvPr/>
        </p:nvSpPr>
        <p:spPr>
          <a:xfrm>
            <a:off x="4828032" y="152704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9"/>
          <p:cNvSpPr/>
          <p:nvPr/>
        </p:nvSpPr>
        <p:spPr>
          <a:xfrm>
            <a:off x="5102352" y="152704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Hallucination: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4828032" y="1792224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"Einstein won the Nobel Prize in 1950" (wrong year)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4754880" y="2084832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9"/>
          <p:cNvSpPr/>
          <p:nvPr/>
        </p:nvSpPr>
        <p:spPr>
          <a:xfrm>
            <a:off x="4828032" y="21305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5102352" y="213055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Scope Violation: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4828032" y="239572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Customer support bot gives investment advice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9"/>
          <p:cNvSpPr/>
          <p:nvPr/>
        </p:nvSpPr>
        <p:spPr>
          <a:xfrm>
            <a:off x="4754880" y="2688336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"/>
          <p:cNvSpPr/>
          <p:nvPr/>
        </p:nvSpPr>
        <p:spPr>
          <a:xfrm>
            <a:off x="4828032" y="27340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9"/>
          <p:cNvSpPr/>
          <p:nvPr/>
        </p:nvSpPr>
        <p:spPr>
          <a:xfrm>
            <a:off x="5102352" y="2734056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Format Failure: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4828032" y="299923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Asked for JSON but returned markdown prose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9"/>
          <p:cNvSpPr/>
          <p:nvPr/>
        </p:nvSpPr>
        <p:spPr>
          <a:xfrm>
            <a:off x="4754880" y="3291840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9"/>
          <p:cNvSpPr/>
          <p:nvPr/>
        </p:nvSpPr>
        <p:spPr>
          <a:xfrm>
            <a:off x="4828032" y="33375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9"/>
          <p:cNvSpPr/>
          <p:nvPr/>
        </p:nvSpPr>
        <p:spPr>
          <a:xfrm>
            <a:off x="5102352" y="33375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Contradition: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4828032" y="3602736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Says X is true, then X is false in same answer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9"/>
          <p:cNvSpPr/>
          <p:nvPr/>
        </p:nvSpPr>
        <p:spPr>
          <a:xfrm>
            <a:off x="4754880" y="3895344"/>
            <a:ext cx="4114800" cy="54864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9"/>
          <p:cNvSpPr/>
          <p:nvPr/>
        </p:nvSpPr>
        <p:spPr>
          <a:xfrm>
            <a:off x="4828032" y="394106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9"/>
          <p:cNvSpPr/>
          <p:nvPr/>
        </p:nvSpPr>
        <p:spPr>
          <a:xfrm>
            <a:off x="5102352" y="394106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Over-refusal: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4828032" y="4206240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Refuses a benign factual question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Incorrect chatbot responses cost trust, user satisfaction, and can cause real harm — fixing them is critical.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0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Study: TechHelp Support Chatbot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Scenario overview and initial problem statement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228600" y="1005840"/>
            <a:ext cx="8686800" cy="9144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5" name="Google Shape;635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1155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0"/>
          <p:cNvSpPr/>
          <p:nvPr/>
        </p:nvSpPr>
        <p:spPr>
          <a:xfrm>
            <a:off x="914400" y="10515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914400" y="1353312"/>
            <a:ext cx="7818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 software company built "TechHelp", a customer support chatbot powered by an LLM. Users report frequent wrong answers, off-topic responses, and formatting issues. Your job: diagnose and fix the chatbot using advanced prompting techniques.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228600" y="2057400"/>
            <a:ext cx="8686800" cy="804672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0"/>
          <p:cNvSpPr/>
          <p:nvPr/>
        </p:nvSpPr>
        <p:spPr>
          <a:xfrm>
            <a:off x="320040" y="2103120"/>
            <a:ext cx="594360" cy="320040"/>
          </a:xfrm>
          <a:prstGeom prst="roundRect">
            <a:avLst>
              <a:gd name="adj" fmla="val 34286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0"/>
          <p:cNvSpPr/>
          <p:nvPr/>
        </p:nvSpPr>
        <p:spPr>
          <a:xfrm>
            <a:off x="320040" y="210312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1005840" y="21031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Hallucination Problem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347472" y="245059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EB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A6EB0"/>
                </a:solidFill>
                <a:latin typeface="Calibri"/>
                <a:ea typeface="Calibri"/>
                <a:cs typeface="Calibri"/>
                <a:sym typeface="Calibri"/>
              </a:rPr>
              <a:t>👤 User: "What are the system requirements for TechHelp v3?"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3383280" y="245059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🤖 Bot: "TechHelp v3 requires Windows 11 with 16GB RAM and a GTX 3080."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6309360" y="2450592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8B4513"/>
                </a:solidFill>
                <a:latin typeface="Calibri"/>
                <a:ea typeface="Calibri"/>
                <a:cs typeface="Calibri"/>
                <a:sym typeface="Calibri"/>
              </a:rPr>
              <a:t>⚠ Issue: TechHelp v3 doesn't exist yet! The bot invented specs.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228600" y="2926080"/>
            <a:ext cx="8686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0"/>
          <p:cNvSpPr/>
          <p:nvPr/>
        </p:nvSpPr>
        <p:spPr>
          <a:xfrm>
            <a:off x="320040" y="2971800"/>
            <a:ext cx="594360" cy="320040"/>
          </a:xfrm>
          <a:prstGeom prst="roundRect">
            <a:avLst>
              <a:gd name="adj" fmla="val 34286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0"/>
          <p:cNvSpPr/>
          <p:nvPr/>
        </p:nvSpPr>
        <p:spPr>
          <a:xfrm>
            <a:off x="320040" y="297180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0"/>
          <p:cNvSpPr/>
          <p:nvPr/>
        </p:nvSpPr>
        <p:spPr>
          <a:xfrm>
            <a:off x="1005840" y="2971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Scope Violation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347472" y="331927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EB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A6EB0"/>
                </a:solidFill>
                <a:latin typeface="Calibri"/>
                <a:ea typeface="Calibri"/>
                <a:cs typeface="Calibri"/>
                <a:sym typeface="Calibri"/>
              </a:rPr>
              <a:t>👤 User: "What's the weather like in New York?"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3383280" y="331927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🤖 Bot: "New York is sunny today with a high of 75°F."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0"/>
          <p:cNvSpPr/>
          <p:nvPr/>
        </p:nvSpPr>
        <p:spPr>
          <a:xfrm>
            <a:off x="6309360" y="3319272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8B4513"/>
                </a:solidFill>
                <a:latin typeface="Calibri"/>
                <a:ea typeface="Calibri"/>
                <a:cs typeface="Calibri"/>
                <a:sym typeface="Calibri"/>
              </a:rPr>
              <a:t>⚠ Issue: This is a software support bot — weather is totally out of scope.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0"/>
          <p:cNvSpPr/>
          <p:nvPr/>
        </p:nvSpPr>
        <p:spPr>
          <a:xfrm>
            <a:off x="228600" y="3794760"/>
            <a:ext cx="8686800" cy="804672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0"/>
          <p:cNvSpPr/>
          <p:nvPr/>
        </p:nvSpPr>
        <p:spPr>
          <a:xfrm>
            <a:off x="320040" y="3840480"/>
            <a:ext cx="594360" cy="320040"/>
          </a:xfrm>
          <a:prstGeom prst="roundRect">
            <a:avLst>
              <a:gd name="adj" fmla="val 34286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0"/>
          <p:cNvSpPr/>
          <p:nvPr/>
        </p:nvSpPr>
        <p:spPr>
          <a:xfrm>
            <a:off x="320040" y="384048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1005840" y="38404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Format Failure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0"/>
          <p:cNvSpPr/>
          <p:nvPr/>
        </p:nvSpPr>
        <p:spPr>
          <a:xfrm>
            <a:off x="347472" y="418795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EB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A6EB0"/>
                </a:solidFill>
                <a:latin typeface="Calibri"/>
                <a:ea typeface="Calibri"/>
                <a:cs typeface="Calibri"/>
                <a:sym typeface="Calibri"/>
              </a:rPr>
              <a:t>👤 User: "List the top 5 features of TechHelp."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3383280" y="418795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🤖 Bot: "TechHelp has many features including real-time support and integrations and also AI-powered..."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0"/>
          <p:cNvSpPr/>
          <p:nvPr/>
        </p:nvSpPr>
        <p:spPr>
          <a:xfrm>
            <a:off x="6309360" y="4187952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451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8B4513"/>
                </a:solidFill>
                <a:latin typeface="Calibri"/>
                <a:ea typeface="Calibri"/>
                <a:cs typeface="Calibri"/>
                <a:sym typeface="Calibri"/>
              </a:rPr>
              <a:t>⚠ Issue: User asked for a numbered list — got unformatted prose.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chatbots face hallucination, scope, and format bugs — all three can be fixed with better prompting.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 Fix #1: Stopping Hallucination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1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Adding grounding and uncertainty guardrails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1"/>
          <p:cNvSpPr/>
          <p:nvPr/>
        </p:nvSpPr>
        <p:spPr>
          <a:xfrm>
            <a:off x="228600" y="1005840"/>
            <a:ext cx="4297680" cy="3749040"/>
          </a:xfrm>
          <a:prstGeom prst="roundRect">
            <a:avLst>
              <a:gd name="adj" fmla="val 2927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1"/>
          <p:cNvSpPr/>
          <p:nvPr/>
        </p:nvSpPr>
        <p:spPr>
          <a:xfrm>
            <a:off x="320040" y="105156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1"/>
          <p:cNvSpPr/>
          <p:nvPr/>
        </p:nvSpPr>
        <p:spPr>
          <a:xfrm>
            <a:off x="3200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ORIGINAL SYSTEM PROMPT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1"/>
          <p:cNvSpPr/>
          <p:nvPr/>
        </p:nvSpPr>
        <p:spPr>
          <a:xfrm>
            <a:off x="320040" y="1444752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1"/>
          <p:cNvSpPr/>
          <p:nvPr/>
        </p:nvSpPr>
        <p:spPr>
          <a:xfrm>
            <a:off x="393192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1"/>
          <p:cNvSpPr/>
          <p:nvPr/>
        </p:nvSpPr>
        <p:spPr>
          <a:xfrm>
            <a:off x="521208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1"/>
          <p:cNvSpPr/>
          <p:nvPr/>
        </p:nvSpPr>
        <p:spPr>
          <a:xfrm>
            <a:off x="649224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1"/>
          <p:cNvSpPr/>
          <p:nvPr/>
        </p:nvSpPr>
        <p:spPr>
          <a:xfrm>
            <a:off x="411480" y="16459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system_prompt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You are TechHelp, a customer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support assistant.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Answer user questions helpfully.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1"/>
          <p:cNvSpPr/>
          <p:nvPr/>
        </p:nvSpPr>
        <p:spPr>
          <a:xfrm>
            <a:off x="320040" y="278892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Why it fails: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1"/>
          <p:cNvSpPr/>
          <p:nvPr/>
        </p:nvSpPr>
        <p:spPr>
          <a:xfrm>
            <a:off x="320040" y="3063240"/>
            <a:ext cx="4114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No knowledge boundary defined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No instruction to acknowledge uncertainty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No grounding source specified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AI fills knowledge gaps with invented 'facts'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1"/>
          <p:cNvSpPr/>
          <p:nvPr/>
        </p:nvSpPr>
        <p:spPr>
          <a:xfrm>
            <a:off x="4663440" y="1005840"/>
            <a:ext cx="4297680" cy="3749040"/>
          </a:xfrm>
          <a:prstGeom prst="roundRect">
            <a:avLst>
              <a:gd name="adj" fmla="val 2927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1"/>
          <p:cNvSpPr/>
          <p:nvPr/>
        </p:nvSpPr>
        <p:spPr>
          <a:xfrm>
            <a:off x="4754880" y="105156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1"/>
          <p:cNvSpPr/>
          <p:nvPr/>
        </p:nvSpPr>
        <p:spPr>
          <a:xfrm>
            <a:off x="475488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FIXED SYSTEM PROMPT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4754880" y="1444752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1"/>
          <p:cNvSpPr/>
          <p:nvPr/>
        </p:nvSpPr>
        <p:spPr>
          <a:xfrm>
            <a:off x="4828032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1"/>
          <p:cNvSpPr/>
          <p:nvPr/>
        </p:nvSpPr>
        <p:spPr>
          <a:xfrm>
            <a:off x="4956048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1"/>
          <p:cNvSpPr/>
          <p:nvPr/>
        </p:nvSpPr>
        <p:spPr>
          <a:xfrm>
            <a:off x="5084064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1"/>
          <p:cNvSpPr/>
          <p:nvPr/>
        </p:nvSpPr>
        <p:spPr>
          <a:xfrm>
            <a:off x="4846320" y="1645920"/>
            <a:ext cx="39319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system_prompt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You are TechHelp, a customer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support assistant for TechHelp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software versions 1.0-2.5 only.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CRITICAL RULES: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Only answer questions about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TechHelp software.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If you are unsure or the info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isn't in your knowledge: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Say: "I don't have verified info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on that. Please check our docs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at docs.techhelp.com"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NEVER invent specifications,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version numbers, or features.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4754880" y="3438144"/>
            <a:ext cx="4114800" cy="886968"/>
          </a:xfrm>
          <a:prstGeom prst="roundRect">
            <a:avLst>
              <a:gd name="adj" fmla="val 12308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1"/>
          <p:cNvSpPr/>
          <p:nvPr/>
        </p:nvSpPr>
        <p:spPr>
          <a:xfrm>
            <a:off x="4846320" y="3438144"/>
            <a:ext cx="397764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 dirty="0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User: "What are the system requirements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950" b="0" i="0" u="none" strike="noStrike" cap="none" dirty="0" err="1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TechHelp</a:t>
            </a: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 v3?"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Bot: "</a:t>
            </a:r>
            <a:r>
              <a:rPr lang="en-US" sz="950" b="0" i="0" u="none" strike="noStrike" cap="none" dirty="0" err="1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TechHelp</a:t>
            </a: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 v3 is not in my knowledge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base. Please check docs.techhelp.com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for accurate information." ✓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Anti-hallucination guardrail: explicitly instruct the AI to say 'I don't know' rather than invent answers.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2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 Fix #2: Enforcing Topic Scope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2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Adding topic guardrails and graceful redirect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2"/>
          <p:cNvSpPr/>
          <p:nvPr/>
        </p:nvSpPr>
        <p:spPr>
          <a:xfrm>
            <a:off x="228600" y="1005840"/>
            <a:ext cx="4297680" cy="3749040"/>
          </a:xfrm>
          <a:prstGeom prst="roundRect">
            <a:avLst>
              <a:gd name="adj" fmla="val 2927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22"/>
          <p:cNvSpPr/>
          <p:nvPr/>
        </p:nvSpPr>
        <p:spPr>
          <a:xfrm>
            <a:off x="320040" y="105156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2"/>
          <p:cNvSpPr/>
          <p:nvPr/>
        </p:nvSpPr>
        <p:spPr>
          <a:xfrm>
            <a:off x="3200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BEFORE: No Scope Guardrail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2"/>
          <p:cNvSpPr/>
          <p:nvPr/>
        </p:nvSpPr>
        <p:spPr>
          <a:xfrm>
            <a:off x="320040" y="1444752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22"/>
          <p:cNvSpPr/>
          <p:nvPr/>
        </p:nvSpPr>
        <p:spPr>
          <a:xfrm>
            <a:off x="393192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2"/>
          <p:cNvSpPr/>
          <p:nvPr/>
        </p:nvSpPr>
        <p:spPr>
          <a:xfrm>
            <a:off x="521208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2"/>
          <p:cNvSpPr/>
          <p:nvPr/>
        </p:nvSpPr>
        <p:spPr>
          <a:xfrm>
            <a:off x="649224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22"/>
          <p:cNvSpPr/>
          <p:nvPr/>
        </p:nvSpPr>
        <p:spPr>
          <a:xfrm>
            <a:off x="411480" y="16459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System prompt says nothing about scope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AI will answer ANY question asked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Including: weather, recipes, news...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User asks: "What's the weather today?"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Bot answers: "It's sunny and 75°F!" ← WRONG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2"/>
          <p:cNvSpPr/>
          <p:nvPr/>
        </p:nvSpPr>
        <p:spPr>
          <a:xfrm>
            <a:off x="320040" y="26060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Problems: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320040" y="2880360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Bot answers off-topic questions confidently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Users think the bot is a general assistant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Bot may give wrong/outdated info on non-product topics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No clear brand boundary maintained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2"/>
          <p:cNvSpPr/>
          <p:nvPr/>
        </p:nvSpPr>
        <p:spPr>
          <a:xfrm>
            <a:off x="4663440" y="1005840"/>
            <a:ext cx="4297680" cy="3749040"/>
          </a:xfrm>
          <a:prstGeom prst="roundRect">
            <a:avLst>
              <a:gd name="adj" fmla="val 2927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2"/>
          <p:cNvSpPr/>
          <p:nvPr/>
        </p:nvSpPr>
        <p:spPr>
          <a:xfrm>
            <a:off x="4754880" y="105156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2"/>
          <p:cNvSpPr/>
          <p:nvPr/>
        </p:nvSpPr>
        <p:spPr>
          <a:xfrm>
            <a:off x="475488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AFTER: Scope Guardrail Added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2"/>
          <p:cNvSpPr/>
          <p:nvPr/>
        </p:nvSpPr>
        <p:spPr>
          <a:xfrm>
            <a:off x="4754880" y="1444752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2"/>
          <p:cNvSpPr/>
          <p:nvPr/>
        </p:nvSpPr>
        <p:spPr>
          <a:xfrm>
            <a:off x="4828032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22"/>
          <p:cNvSpPr/>
          <p:nvPr/>
        </p:nvSpPr>
        <p:spPr>
          <a:xfrm>
            <a:off x="4956048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2"/>
          <p:cNvSpPr/>
          <p:nvPr/>
        </p:nvSpPr>
        <p:spPr>
          <a:xfrm>
            <a:off x="5084064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22"/>
          <p:cNvSpPr/>
          <p:nvPr/>
        </p:nvSpPr>
        <p:spPr>
          <a:xfrm>
            <a:off x="4846320" y="1645920"/>
            <a:ext cx="393192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system_prompt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You are TechHelp support bot.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Your ONLY job is to answer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questions about TechHelp software.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SCOPE RULE: If a user asks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about anything outside TechHelp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(weather, news, other software,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general knowledge), respond: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"I'm specialized in TechHelp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support only. For [topic], please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use a general search engine.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Can I help you with TechHelp?"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4754880" y="3346704"/>
            <a:ext cx="4114800" cy="853554"/>
          </a:xfrm>
          <a:prstGeom prst="roundRect">
            <a:avLst>
              <a:gd name="adj" fmla="val 10667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2"/>
          <p:cNvSpPr/>
          <p:nvPr/>
        </p:nvSpPr>
        <p:spPr>
          <a:xfrm>
            <a:off x="4846320" y="3346704"/>
            <a:ext cx="3977640" cy="853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 dirty="0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User: "What's the weather today?"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Bot: "I'm specialized in </a:t>
            </a:r>
            <a:r>
              <a:rPr lang="en-US" sz="950" b="0" i="0" u="none" strike="noStrike" cap="none" dirty="0" err="1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TechHelp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support only. For weather info,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please check weather.com.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Can I help you with </a:t>
            </a:r>
            <a:r>
              <a:rPr lang="en-US" sz="950" b="0" i="0" u="none" strike="noStrike" cap="none" dirty="0" err="1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TechHelp</a:t>
            </a: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?" ✓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2"/>
          <p:cNvSpPr/>
          <p:nvPr/>
        </p:nvSpPr>
        <p:spPr>
          <a:xfrm>
            <a:off x="4754880" y="420025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000"/>
              <a:buFont typeface="Calibri"/>
              <a:buNone/>
            </a:pPr>
            <a:r>
              <a:rPr lang="en-US" sz="1000" b="1" i="0" u="none" strike="noStrike" cap="none" dirty="0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Key: Redirect gracefully — don't just refuse!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2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 guardrails + graceful redirects keep users satisfied while maintaining clear chatbot boundaries.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23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 Fix #3: Enforcing Output Format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3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Making the chatbot's output consistent and parseable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3"/>
          <p:cNvSpPr/>
          <p:nvPr/>
        </p:nvSpPr>
        <p:spPr>
          <a:xfrm>
            <a:off x="228600" y="1005840"/>
            <a:ext cx="4297680" cy="3749040"/>
          </a:xfrm>
          <a:prstGeom prst="roundRect">
            <a:avLst>
              <a:gd name="adj" fmla="val 2927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3"/>
          <p:cNvSpPr/>
          <p:nvPr/>
        </p:nvSpPr>
        <p:spPr>
          <a:xfrm>
            <a:off x="320040" y="105156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23"/>
          <p:cNvSpPr/>
          <p:nvPr/>
        </p:nvSpPr>
        <p:spPr>
          <a:xfrm>
            <a:off x="3200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BEFORE: No Format Rules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320040" y="1444752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23"/>
          <p:cNvSpPr/>
          <p:nvPr/>
        </p:nvSpPr>
        <p:spPr>
          <a:xfrm>
            <a:off x="393192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23"/>
          <p:cNvSpPr/>
          <p:nvPr/>
        </p:nvSpPr>
        <p:spPr>
          <a:xfrm>
            <a:off x="521208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3"/>
          <p:cNvSpPr/>
          <p:nvPr/>
        </p:nvSpPr>
        <p:spPr>
          <a:xfrm>
            <a:off x="649224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3"/>
          <p:cNvSpPr/>
          <p:nvPr/>
        </p:nvSpPr>
        <p:spPr>
          <a:xfrm>
            <a:off x="411480" y="1645920"/>
            <a:ext cx="39319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User: "List top 5 TechHelp features"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Bot output (actual):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 has many great features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including real-time support and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AI-powered search and integrations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with Slack and Jira and also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customizable dashboards and reporting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which are all very powerful features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that our customers love.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Problem: One long sentence, no list!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320040" y="2926080"/>
            <a:ext cx="41148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Impact of Format Failures: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Hard to read (poor UX)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Can't parse programmatically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Users miss key information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• Looks unprofessional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4663440" y="1005840"/>
            <a:ext cx="4297680" cy="3749040"/>
          </a:xfrm>
          <a:prstGeom prst="roundRect">
            <a:avLst>
              <a:gd name="adj" fmla="val 2927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23"/>
          <p:cNvSpPr/>
          <p:nvPr/>
        </p:nvSpPr>
        <p:spPr>
          <a:xfrm>
            <a:off x="4754880" y="105156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23"/>
          <p:cNvSpPr/>
          <p:nvPr/>
        </p:nvSpPr>
        <p:spPr>
          <a:xfrm>
            <a:off x="475488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AFTER: Format Guardrail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4754880" y="1444752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3"/>
          <p:cNvSpPr/>
          <p:nvPr/>
        </p:nvSpPr>
        <p:spPr>
          <a:xfrm>
            <a:off x="4828032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23"/>
          <p:cNvSpPr/>
          <p:nvPr/>
        </p:nvSpPr>
        <p:spPr>
          <a:xfrm>
            <a:off x="4956048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3"/>
          <p:cNvSpPr/>
          <p:nvPr/>
        </p:nvSpPr>
        <p:spPr>
          <a:xfrm>
            <a:off x="5084064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23"/>
          <p:cNvSpPr/>
          <p:nvPr/>
        </p:nvSpPr>
        <p:spPr>
          <a:xfrm>
            <a:off x="4846320" y="1645920"/>
            <a:ext cx="39319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system_prompt = 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When asked to list items: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ALWAYS use a numbered list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One item per line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Maximum 2 sentences per item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Bold the feature name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Never use run-on sentences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Format example: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1. **Feature Name**: Description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2. **Feature Name**: Description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4754880" y="2935224"/>
            <a:ext cx="4114800" cy="1156716"/>
          </a:xfrm>
          <a:prstGeom prst="roundRect">
            <a:avLst>
              <a:gd name="adj" fmla="val 8000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3"/>
          <p:cNvSpPr/>
          <p:nvPr/>
        </p:nvSpPr>
        <p:spPr>
          <a:xfrm>
            <a:off x="4846320" y="2935224"/>
            <a:ext cx="3977640" cy="115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 dirty="0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User: "List top 5 </a:t>
            </a:r>
            <a:r>
              <a:rPr lang="en-US" sz="950" b="0" i="0" u="none" strike="noStrike" cap="none" dirty="0" err="1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TechHelp</a:t>
            </a: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 features"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Bot: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1. **Real-time Support**: Connect with...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2. **AI Search**: Find answers instantly...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3. **Slack Integration**: Sync tickets...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4. **Custom Dashboards**: Track metrics...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5. **Smart Reports**: Export data... ✓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23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 guardrails with concrete examples produce consistent, readable, professional-looking chatbot outputs.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24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Study: Complete Fixed System Prompt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4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Combining all three fixes into one production-ready prompt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4"/>
          <p:cNvSpPr/>
          <p:nvPr/>
        </p:nvSpPr>
        <p:spPr>
          <a:xfrm>
            <a:off x="228600" y="1005840"/>
            <a:ext cx="8686800" cy="3749040"/>
          </a:xfrm>
          <a:prstGeom prst="roundRect">
            <a:avLst>
              <a:gd name="adj" fmla="val 2927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24"/>
          <p:cNvSpPr/>
          <p:nvPr/>
        </p:nvSpPr>
        <p:spPr>
          <a:xfrm>
            <a:off x="320040" y="1051560"/>
            <a:ext cx="320040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24"/>
          <p:cNvSpPr/>
          <p:nvPr/>
        </p:nvSpPr>
        <p:spPr>
          <a:xfrm>
            <a:off x="320040" y="10515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FINAL PRODUCTION SYSTEM PROMPT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4"/>
          <p:cNvSpPr/>
          <p:nvPr/>
        </p:nvSpPr>
        <p:spPr>
          <a:xfrm>
            <a:off x="320040" y="1444752"/>
            <a:ext cx="8503920" cy="3246120"/>
          </a:xfrm>
          <a:prstGeom prst="roundRect">
            <a:avLst>
              <a:gd name="adj" fmla="val 225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24"/>
          <p:cNvSpPr/>
          <p:nvPr/>
        </p:nvSpPr>
        <p:spPr>
          <a:xfrm>
            <a:off x="393192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4"/>
          <p:cNvSpPr/>
          <p:nvPr/>
        </p:nvSpPr>
        <p:spPr>
          <a:xfrm>
            <a:off x="521208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24"/>
          <p:cNvSpPr/>
          <p:nvPr/>
        </p:nvSpPr>
        <p:spPr>
          <a:xfrm>
            <a:off x="649224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24"/>
          <p:cNvSpPr/>
          <p:nvPr/>
        </p:nvSpPr>
        <p:spPr>
          <a:xfrm>
            <a:off x="429768" y="1517904"/>
            <a:ext cx="8321040" cy="314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system_prompt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= """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You are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, the official customer support assistant for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Software.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Your knowledge covers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versions 1.0 through 2.5.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━━━ SCOPE GUARDRAIL ━━━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ONLY answer questions about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software.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For off-topic questions, say: "I specialize in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support. For [topic],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please use a general resource. How can I help you with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today?"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━━━ HALLUCINATION GUARDRAIL ━━━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If you are uncertain about a fact, version, or specification: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ALWAYS say: "I want to make sure I give you accurate info. Please verify at docs.techhelp.com"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NEVER invent version numbers, specifications, dates, or feature details.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━━━ FORMAT GUARDRAIL ━━━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For lists: Use numbered format. One item per line. Bold the key term.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For troubleshooting: Use a numbered step-by-step process.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For comparisons: Use a two-column structure.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- Always end with: "Does this help? Is there anything else about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I can clarify?"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━━━ TONE ━━━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Professional, friendly, concise. Maximum 150 words per response unless code is needed.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2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production system prompt addresses scope, hallucination, format, and tone — all in one well-structured guardrail set.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5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Study: Evaluation Suite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5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Testing the fixed chatbot against all known failure modes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5"/>
          <p:cNvSpPr/>
          <p:nvPr/>
        </p:nvSpPr>
        <p:spPr>
          <a:xfrm>
            <a:off x="228600" y="1005840"/>
            <a:ext cx="8686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5"/>
          <p:cNvSpPr/>
          <p:nvPr/>
        </p:nvSpPr>
        <p:spPr>
          <a:xfrm>
            <a:off x="320040" y="105156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25"/>
          <p:cNvSpPr/>
          <p:nvPr/>
        </p:nvSpPr>
        <p:spPr>
          <a:xfrm>
            <a:off x="3200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 TEST SUITE CODE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5"/>
          <p:cNvSpPr/>
          <p:nvPr/>
        </p:nvSpPr>
        <p:spPr>
          <a:xfrm>
            <a:off x="320040" y="1444752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25"/>
          <p:cNvSpPr/>
          <p:nvPr/>
        </p:nvSpPr>
        <p:spPr>
          <a:xfrm>
            <a:off x="393192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25"/>
          <p:cNvSpPr/>
          <p:nvPr/>
        </p:nvSpPr>
        <p:spPr>
          <a:xfrm>
            <a:off x="521208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25"/>
          <p:cNvSpPr/>
          <p:nvPr/>
        </p:nvSpPr>
        <p:spPr>
          <a:xfrm>
            <a:off x="649224" y="15179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25"/>
          <p:cNvSpPr/>
          <p:nvPr/>
        </p:nvSpPr>
        <p:spPr>
          <a:xfrm>
            <a:off x="393192" y="1444752"/>
            <a:ext cx="4892040" cy="321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Chatbot Evaluation Suite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test_cases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# Hallucination tests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{ "input": "What are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v3 requirements?",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"check": "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should_mention_docs_link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should_not_contain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": ["v3", "GB RAM", "GHz"] },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# Scope tests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{ "input": "What's the weather in London?",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"check": "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should_redirect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should_contain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": ["specialize in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"] },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# Format tests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{ "input": "List top 5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TechHelp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features",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"check": "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should_be_numbered_list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min_items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": 5 },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# Correct answer tests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{ "input": "How do I reset my password?",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"check": "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should_contain_steps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should_contain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": ["Settings", "Account", "Reset"] },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# Edge case: ambiguous question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{ "input": "Can you help me?",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"check": "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should_ask_clarification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 },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results =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run_eval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(chatbot,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test_cases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print_report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(results)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5"/>
          <p:cNvSpPr/>
          <p:nvPr/>
        </p:nvSpPr>
        <p:spPr>
          <a:xfrm>
            <a:off x="5532120" y="100584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25"/>
          <p:cNvSpPr/>
          <p:nvPr/>
        </p:nvSpPr>
        <p:spPr>
          <a:xfrm>
            <a:off x="5623560" y="10789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Test Results (After Fix):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5"/>
          <p:cNvSpPr/>
          <p:nvPr/>
        </p:nvSpPr>
        <p:spPr>
          <a:xfrm>
            <a:off x="5623560" y="1417320"/>
            <a:ext cx="3200400" cy="512064"/>
          </a:xfrm>
          <a:prstGeom prst="roundRect">
            <a:avLst>
              <a:gd name="adj" fmla="val 21429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5"/>
          <p:cNvSpPr/>
          <p:nvPr/>
        </p:nvSpPr>
        <p:spPr>
          <a:xfrm>
            <a:off x="5715000" y="145389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Hallucination Guard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5"/>
          <p:cNvSpPr/>
          <p:nvPr/>
        </p:nvSpPr>
        <p:spPr>
          <a:xfrm>
            <a:off x="7772400" y="1472184"/>
            <a:ext cx="731520" cy="228600"/>
          </a:xfrm>
          <a:prstGeom prst="roundRect">
            <a:avLst>
              <a:gd name="adj" fmla="val 40000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25"/>
          <p:cNvSpPr/>
          <p:nvPr/>
        </p:nvSpPr>
        <p:spPr>
          <a:xfrm>
            <a:off x="7772400" y="1472184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5"/>
          <p:cNvSpPr/>
          <p:nvPr/>
        </p:nvSpPr>
        <p:spPr>
          <a:xfrm>
            <a:off x="5715000" y="169164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5"/>
          <p:cNvSpPr/>
          <p:nvPr/>
        </p:nvSpPr>
        <p:spPr>
          <a:xfrm>
            <a:off x="5623560" y="1984248"/>
            <a:ext cx="320040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25"/>
          <p:cNvSpPr/>
          <p:nvPr/>
        </p:nvSpPr>
        <p:spPr>
          <a:xfrm>
            <a:off x="5715000" y="2020824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Scope Redirect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5"/>
          <p:cNvSpPr/>
          <p:nvPr/>
        </p:nvSpPr>
        <p:spPr>
          <a:xfrm>
            <a:off x="7772400" y="2039112"/>
            <a:ext cx="731520" cy="228600"/>
          </a:xfrm>
          <a:prstGeom prst="roundRect">
            <a:avLst>
              <a:gd name="adj" fmla="val 40000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25"/>
          <p:cNvSpPr/>
          <p:nvPr/>
        </p:nvSpPr>
        <p:spPr>
          <a:xfrm>
            <a:off x="7772400" y="203911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5"/>
          <p:cNvSpPr/>
          <p:nvPr/>
        </p:nvSpPr>
        <p:spPr>
          <a:xfrm>
            <a:off x="5715000" y="22585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5"/>
          <p:cNvSpPr/>
          <p:nvPr/>
        </p:nvSpPr>
        <p:spPr>
          <a:xfrm>
            <a:off x="5623560" y="2551176"/>
            <a:ext cx="3200400" cy="512064"/>
          </a:xfrm>
          <a:prstGeom prst="roundRect">
            <a:avLst>
              <a:gd name="adj" fmla="val 21429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25"/>
          <p:cNvSpPr/>
          <p:nvPr/>
        </p:nvSpPr>
        <p:spPr>
          <a:xfrm>
            <a:off x="5715000" y="258775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Format Compliance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5"/>
          <p:cNvSpPr/>
          <p:nvPr/>
        </p:nvSpPr>
        <p:spPr>
          <a:xfrm>
            <a:off x="7772400" y="2606040"/>
            <a:ext cx="731520" cy="228600"/>
          </a:xfrm>
          <a:prstGeom prst="roundRect">
            <a:avLst>
              <a:gd name="adj" fmla="val 40000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25"/>
          <p:cNvSpPr/>
          <p:nvPr/>
        </p:nvSpPr>
        <p:spPr>
          <a:xfrm>
            <a:off x="7772400" y="26060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5"/>
          <p:cNvSpPr/>
          <p:nvPr/>
        </p:nvSpPr>
        <p:spPr>
          <a:xfrm>
            <a:off x="5715000" y="282549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5"/>
          <p:cNvSpPr/>
          <p:nvPr/>
        </p:nvSpPr>
        <p:spPr>
          <a:xfrm>
            <a:off x="5623560" y="3118104"/>
            <a:ext cx="320040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25"/>
          <p:cNvSpPr/>
          <p:nvPr/>
        </p:nvSpPr>
        <p:spPr>
          <a:xfrm>
            <a:off x="5715000" y="3154680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Correct Answers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7772400" y="3172968"/>
            <a:ext cx="731520" cy="228600"/>
          </a:xfrm>
          <a:prstGeom prst="roundRect">
            <a:avLst>
              <a:gd name="adj" fmla="val 40000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25"/>
          <p:cNvSpPr/>
          <p:nvPr/>
        </p:nvSpPr>
        <p:spPr>
          <a:xfrm>
            <a:off x="7772400" y="31729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5"/>
          <p:cNvSpPr/>
          <p:nvPr/>
        </p:nvSpPr>
        <p:spPr>
          <a:xfrm>
            <a:off x="5715000" y="339242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8/10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5"/>
          <p:cNvSpPr/>
          <p:nvPr/>
        </p:nvSpPr>
        <p:spPr>
          <a:xfrm>
            <a:off x="5623560" y="3685032"/>
            <a:ext cx="3200400" cy="512064"/>
          </a:xfrm>
          <a:prstGeom prst="roundRect">
            <a:avLst>
              <a:gd name="adj" fmla="val 21429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25"/>
          <p:cNvSpPr/>
          <p:nvPr/>
        </p:nvSpPr>
        <p:spPr>
          <a:xfrm>
            <a:off x="5715000" y="372160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Edge Cases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5"/>
          <p:cNvSpPr/>
          <p:nvPr/>
        </p:nvSpPr>
        <p:spPr>
          <a:xfrm>
            <a:off x="7772400" y="3739896"/>
            <a:ext cx="731520" cy="228600"/>
          </a:xfrm>
          <a:prstGeom prst="roundRect">
            <a:avLst>
              <a:gd name="adj" fmla="val 40000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25"/>
          <p:cNvSpPr/>
          <p:nvPr/>
        </p:nvSpPr>
        <p:spPr>
          <a:xfrm>
            <a:off x="7772400" y="3739896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5"/>
          <p:cNvSpPr/>
          <p:nvPr/>
        </p:nvSpPr>
        <p:spPr>
          <a:xfrm>
            <a:off x="5715000" y="39593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3/3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5"/>
          <p:cNvSpPr/>
          <p:nvPr/>
        </p:nvSpPr>
        <p:spPr>
          <a:xfrm>
            <a:off x="5623560" y="4251960"/>
            <a:ext cx="3200400" cy="411480"/>
          </a:xfrm>
          <a:prstGeom prst="roundRect">
            <a:avLst>
              <a:gd name="adj" fmla="val 26667"/>
            </a:avLst>
          </a:prstGeom>
          <a:solidFill>
            <a:srgbClr val="0D2B5E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5"/>
          <p:cNvSpPr/>
          <p:nvPr/>
        </p:nvSpPr>
        <p:spPr>
          <a:xfrm>
            <a:off x="5715000" y="427939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Overall: 25/27 (92.6%) ✅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2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comprehensive eval suite verifies all guardrails work together — 92.6% from ~40% is a major improvement.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26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Study: Before vs After Comparison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6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Measuring the full impact of our prompt improvements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6"/>
          <p:cNvSpPr/>
          <p:nvPr/>
        </p:nvSpPr>
        <p:spPr>
          <a:xfrm>
            <a:off x="228600" y="1005840"/>
            <a:ext cx="2286000" cy="384048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6"/>
          <p:cNvSpPr/>
          <p:nvPr/>
        </p:nvSpPr>
        <p:spPr>
          <a:xfrm>
            <a:off x="228600" y="10058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6"/>
          <p:cNvSpPr/>
          <p:nvPr/>
        </p:nvSpPr>
        <p:spPr>
          <a:xfrm>
            <a:off x="2542032" y="1005840"/>
            <a:ext cx="2011680" cy="384048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26"/>
          <p:cNvSpPr/>
          <p:nvPr/>
        </p:nvSpPr>
        <p:spPr>
          <a:xfrm>
            <a:off x="2542032" y="100584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Fix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6"/>
          <p:cNvSpPr/>
          <p:nvPr/>
        </p:nvSpPr>
        <p:spPr>
          <a:xfrm>
            <a:off x="4572000" y="1005840"/>
            <a:ext cx="2011680" cy="384048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26"/>
          <p:cNvSpPr/>
          <p:nvPr/>
        </p:nvSpPr>
        <p:spPr>
          <a:xfrm>
            <a:off x="4572000" y="100584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Fix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6"/>
          <p:cNvSpPr/>
          <p:nvPr/>
        </p:nvSpPr>
        <p:spPr>
          <a:xfrm>
            <a:off x="6601968" y="1005840"/>
            <a:ext cx="2377440" cy="384048"/>
          </a:xfrm>
          <a:prstGeom prst="rect">
            <a:avLst/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26"/>
          <p:cNvSpPr/>
          <p:nvPr/>
        </p:nvSpPr>
        <p:spPr>
          <a:xfrm>
            <a:off x="6601968" y="10058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6"/>
          <p:cNvSpPr/>
          <p:nvPr/>
        </p:nvSpPr>
        <p:spPr>
          <a:xfrm>
            <a:off x="228600" y="1426464"/>
            <a:ext cx="8686800" cy="493776"/>
          </a:xfrm>
          <a:prstGeom prst="rect">
            <a:avLst/>
          </a:prstGeom>
          <a:solidFill>
            <a:srgbClr val="E8F4FD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26"/>
          <p:cNvSpPr/>
          <p:nvPr/>
        </p:nvSpPr>
        <p:spPr>
          <a:xfrm>
            <a:off x="320040" y="1426464"/>
            <a:ext cx="2148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Hallucination Rate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6"/>
          <p:cNvSpPr/>
          <p:nvPr/>
        </p:nvSpPr>
        <p:spPr>
          <a:xfrm>
            <a:off x="2542032" y="1426464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34%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6"/>
          <p:cNvSpPr/>
          <p:nvPr/>
        </p:nvSpPr>
        <p:spPr>
          <a:xfrm>
            <a:off x="4572000" y="1426464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2%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6"/>
          <p:cNvSpPr/>
          <p:nvPr/>
        </p:nvSpPr>
        <p:spPr>
          <a:xfrm>
            <a:off x="6601968" y="1426464"/>
            <a:ext cx="2286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↓ 94% reduction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6"/>
          <p:cNvSpPr/>
          <p:nvPr/>
        </p:nvSpPr>
        <p:spPr>
          <a:xfrm>
            <a:off x="228600" y="1947672"/>
            <a:ext cx="8686800" cy="4937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26"/>
          <p:cNvSpPr/>
          <p:nvPr/>
        </p:nvSpPr>
        <p:spPr>
          <a:xfrm>
            <a:off x="320040" y="1947672"/>
            <a:ext cx="2148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Scope Compliance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6"/>
          <p:cNvSpPr/>
          <p:nvPr/>
        </p:nvSpPr>
        <p:spPr>
          <a:xfrm>
            <a:off x="2542032" y="1947672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41%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6"/>
          <p:cNvSpPr/>
          <p:nvPr/>
        </p:nvSpPr>
        <p:spPr>
          <a:xfrm>
            <a:off x="4572000" y="1947672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98%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6"/>
          <p:cNvSpPr/>
          <p:nvPr/>
        </p:nvSpPr>
        <p:spPr>
          <a:xfrm>
            <a:off x="6601968" y="1947672"/>
            <a:ext cx="2286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↑ +57pp increase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6"/>
          <p:cNvSpPr/>
          <p:nvPr/>
        </p:nvSpPr>
        <p:spPr>
          <a:xfrm>
            <a:off x="228600" y="2468880"/>
            <a:ext cx="8686800" cy="493776"/>
          </a:xfrm>
          <a:prstGeom prst="rect">
            <a:avLst/>
          </a:prstGeom>
          <a:solidFill>
            <a:srgbClr val="E8F4FD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26"/>
          <p:cNvSpPr/>
          <p:nvPr/>
        </p:nvSpPr>
        <p:spPr>
          <a:xfrm>
            <a:off x="320040" y="2468880"/>
            <a:ext cx="2148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Format Compliance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6"/>
          <p:cNvSpPr/>
          <p:nvPr/>
        </p:nvSpPr>
        <p:spPr>
          <a:xfrm>
            <a:off x="2542032" y="2468880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58%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6"/>
          <p:cNvSpPr/>
          <p:nvPr/>
        </p:nvSpPr>
        <p:spPr>
          <a:xfrm>
            <a:off x="4572000" y="2468880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96%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6"/>
          <p:cNvSpPr/>
          <p:nvPr/>
        </p:nvSpPr>
        <p:spPr>
          <a:xfrm>
            <a:off x="6601968" y="2468880"/>
            <a:ext cx="2286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↑ +38pp increase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6"/>
          <p:cNvSpPr/>
          <p:nvPr/>
        </p:nvSpPr>
        <p:spPr>
          <a:xfrm>
            <a:off x="228600" y="2990088"/>
            <a:ext cx="8686800" cy="4937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26"/>
          <p:cNvSpPr/>
          <p:nvPr/>
        </p:nvSpPr>
        <p:spPr>
          <a:xfrm>
            <a:off x="320040" y="2990088"/>
            <a:ext cx="2148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Overall Accuracy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6"/>
          <p:cNvSpPr/>
          <p:nvPr/>
        </p:nvSpPr>
        <p:spPr>
          <a:xfrm>
            <a:off x="2542032" y="2990088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47%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6"/>
          <p:cNvSpPr/>
          <p:nvPr/>
        </p:nvSpPr>
        <p:spPr>
          <a:xfrm>
            <a:off x="4572000" y="2990088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6"/>
          <p:cNvSpPr/>
          <p:nvPr/>
        </p:nvSpPr>
        <p:spPr>
          <a:xfrm>
            <a:off x="6601968" y="2990088"/>
            <a:ext cx="2286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↑ +45pp increase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6"/>
          <p:cNvSpPr/>
          <p:nvPr/>
        </p:nvSpPr>
        <p:spPr>
          <a:xfrm>
            <a:off x="228600" y="3511296"/>
            <a:ext cx="8686800" cy="493776"/>
          </a:xfrm>
          <a:prstGeom prst="rect">
            <a:avLst/>
          </a:prstGeom>
          <a:solidFill>
            <a:srgbClr val="E8F4FD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26"/>
          <p:cNvSpPr/>
          <p:nvPr/>
        </p:nvSpPr>
        <p:spPr>
          <a:xfrm>
            <a:off x="320040" y="3511296"/>
            <a:ext cx="2148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Avg Response Quality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6"/>
          <p:cNvSpPr/>
          <p:nvPr/>
        </p:nvSpPr>
        <p:spPr>
          <a:xfrm>
            <a:off x="2542032" y="3511296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2.1/5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6"/>
          <p:cNvSpPr/>
          <p:nvPr/>
        </p:nvSpPr>
        <p:spPr>
          <a:xfrm>
            <a:off x="4572000" y="3511296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4.6/5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6"/>
          <p:cNvSpPr/>
          <p:nvPr/>
        </p:nvSpPr>
        <p:spPr>
          <a:xfrm>
            <a:off x="6601968" y="3511296"/>
            <a:ext cx="2286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↑ 2.2x better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6"/>
          <p:cNvSpPr/>
          <p:nvPr/>
        </p:nvSpPr>
        <p:spPr>
          <a:xfrm>
            <a:off x="228600" y="4032504"/>
            <a:ext cx="8686800" cy="4937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26"/>
          <p:cNvSpPr/>
          <p:nvPr/>
        </p:nvSpPr>
        <p:spPr>
          <a:xfrm>
            <a:off x="320040" y="4032504"/>
            <a:ext cx="21488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User Satisfaction (NPS)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6"/>
          <p:cNvSpPr/>
          <p:nvPr/>
        </p:nvSpPr>
        <p:spPr>
          <a:xfrm>
            <a:off x="2542032" y="4032504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6"/>
          <p:cNvSpPr/>
          <p:nvPr/>
        </p:nvSpPr>
        <p:spPr>
          <a:xfrm>
            <a:off x="4572000" y="4032504"/>
            <a:ext cx="20116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6"/>
          <p:cNvSpPr/>
          <p:nvPr/>
        </p:nvSpPr>
        <p:spPr>
          <a:xfrm>
            <a:off x="6601968" y="4032504"/>
            <a:ext cx="22860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↑ +49 NPS points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prompting techniques transformed a 47% accuracy chatbot into a 92% production-ready system.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27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Optimization: Self-Consistency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7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Making AI vote on its own best answer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7"/>
          <p:cNvSpPr/>
          <p:nvPr/>
        </p:nvSpPr>
        <p:spPr>
          <a:xfrm>
            <a:off x="228600" y="1005840"/>
            <a:ext cx="8686800" cy="621792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27"/>
          <p:cNvSpPr/>
          <p:nvPr/>
        </p:nvSpPr>
        <p:spPr>
          <a:xfrm>
            <a:off x="365760" y="1024128"/>
            <a:ext cx="841248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Self-Consistency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runs the same prompt </a:t>
            </a:r>
            <a:r>
              <a:rPr lang="en-US" sz="12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N times (3–5), generates multiple reasoning paths, then takes a majority vote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on the final answer — dramatically improving accuracy on complex problems.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7"/>
          <p:cNvSpPr/>
          <p:nvPr/>
        </p:nvSpPr>
        <p:spPr>
          <a:xfrm>
            <a:off x="228600" y="1719072"/>
            <a:ext cx="8686800" cy="123444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27"/>
          <p:cNvSpPr/>
          <p:nvPr/>
        </p:nvSpPr>
        <p:spPr>
          <a:xfrm>
            <a:off x="411480" y="181051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Question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7"/>
          <p:cNvSpPr/>
          <p:nvPr/>
        </p:nvSpPr>
        <p:spPr>
          <a:xfrm>
            <a:off x="347472" y="1764792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27"/>
          <p:cNvSpPr/>
          <p:nvPr/>
        </p:nvSpPr>
        <p:spPr>
          <a:xfrm>
            <a:off x="347472" y="1764792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Question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7"/>
          <p:cNvSpPr/>
          <p:nvPr/>
        </p:nvSpPr>
        <p:spPr>
          <a:xfrm>
            <a:off x="2377440" y="1764792"/>
            <a:ext cx="1170432" cy="457200"/>
          </a:xfrm>
          <a:prstGeom prst="roundRect">
            <a:avLst>
              <a:gd name="adj" fmla="val 24000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27"/>
          <p:cNvSpPr/>
          <p:nvPr/>
        </p:nvSpPr>
        <p:spPr>
          <a:xfrm>
            <a:off x="2377440" y="176479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Run 1 → $4.50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7"/>
          <p:cNvSpPr/>
          <p:nvPr/>
        </p:nvSpPr>
        <p:spPr>
          <a:xfrm>
            <a:off x="3675888" y="1764792"/>
            <a:ext cx="1170432" cy="457200"/>
          </a:xfrm>
          <a:prstGeom prst="roundRect">
            <a:avLst>
              <a:gd name="adj" fmla="val 24000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7"/>
          <p:cNvSpPr/>
          <p:nvPr/>
        </p:nvSpPr>
        <p:spPr>
          <a:xfrm>
            <a:off x="3675888" y="176479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Run 2 → $4.50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7"/>
          <p:cNvSpPr/>
          <p:nvPr/>
        </p:nvSpPr>
        <p:spPr>
          <a:xfrm>
            <a:off x="4974336" y="1764792"/>
            <a:ext cx="1170432" cy="457200"/>
          </a:xfrm>
          <a:prstGeom prst="roundRect">
            <a:avLst>
              <a:gd name="adj" fmla="val 24000"/>
            </a:avLst>
          </a:prstGeom>
          <a:solidFill>
            <a:srgbClr val="FDE8E8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7"/>
          <p:cNvSpPr/>
          <p:nvPr/>
        </p:nvSpPr>
        <p:spPr>
          <a:xfrm>
            <a:off x="4974336" y="176479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Run 3 → $3.00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7"/>
          <p:cNvSpPr/>
          <p:nvPr/>
        </p:nvSpPr>
        <p:spPr>
          <a:xfrm>
            <a:off x="6272784" y="1764792"/>
            <a:ext cx="1170432" cy="457200"/>
          </a:xfrm>
          <a:prstGeom prst="roundRect">
            <a:avLst>
              <a:gd name="adj" fmla="val 24000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27"/>
          <p:cNvSpPr/>
          <p:nvPr/>
        </p:nvSpPr>
        <p:spPr>
          <a:xfrm>
            <a:off x="6272784" y="176479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Run 4 → $4.50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7"/>
          <p:cNvSpPr/>
          <p:nvPr/>
        </p:nvSpPr>
        <p:spPr>
          <a:xfrm>
            <a:off x="7571232" y="1764792"/>
            <a:ext cx="1170432" cy="457200"/>
          </a:xfrm>
          <a:prstGeom prst="roundRect">
            <a:avLst>
              <a:gd name="adj" fmla="val 24000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7"/>
          <p:cNvSpPr/>
          <p:nvPr/>
        </p:nvSpPr>
        <p:spPr>
          <a:xfrm>
            <a:off x="7571232" y="1764792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Run 5 → $4.50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7"/>
          <p:cNvSpPr/>
          <p:nvPr/>
        </p:nvSpPr>
        <p:spPr>
          <a:xfrm>
            <a:off x="3200400" y="2304288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0D2B5E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7"/>
          <p:cNvSpPr/>
          <p:nvPr/>
        </p:nvSpPr>
        <p:spPr>
          <a:xfrm>
            <a:off x="3200400" y="2304288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Majority Vote → $4.50 (4/5) ✅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7"/>
          <p:cNvSpPr/>
          <p:nvPr/>
        </p:nvSpPr>
        <p:spPr>
          <a:xfrm>
            <a:off x="320040" y="3072384"/>
            <a:ext cx="4114800" cy="1636776"/>
          </a:xfrm>
          <a:prstGeom prst="roundRect">
            <a:avLst>
              <a:gd name="adj" fmla="val 5926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27"/>
          <p:cNvSpPr/>
          <p:nvPr/>
        </p:nvSpPr>
        <p:spPr>
          <a:xfrm>
            <a:off x="393192" y="354787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7"/>
          <p:cNvSpPr/>
          <p:nvPr/>
        </p:nvSpPr>
        <p:spPr>
          <a:xfrm>
            <a:off x="521208" y="354787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27"/>
          <p:cNvSpPr/>
          <p:nvPr/>
        </p:nvSpPr>
        <p:spPr>
          <a:xfrm>
            <a:off x="649224" y="354787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27"/>
          <p:cNvSpPr/>
          <p:nvPr/>
        </p:nvSpPr>
        <p:spPr>
          <a:xfrm>
            <a:off x="411480" y="3194756"/>
            <a:ext cx="3931920" cy="144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# Self-consistency implementation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from collections import Counter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self_consistent_answer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(prompt, n=5):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answers = [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call_llm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(prompt) for _ in range(n)]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# Extract final answers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finals = [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extract_answer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(a) for a in answers]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# Majority vote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vote = Counter(finals).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most_common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(1)[0]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return vote[0], vote[1]/n  # answer, confidence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7"/>
          <p:cNvSpPr/>
          <p:nvPr/>
        </p:nvSpPr>
        <p:spPr>
          <a:xfrm>
            <a:off x="4572000" y="347472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8F8F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27"/>
          <p:cNvSpPr/>
          <p:nvPr/>
        </p:nvSpPr>
        <p:spPr>
          <a:xfrm>
            <a:off x="4663440" y="3474720"/>
            <a:ext cx="4251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95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answer='$4.50', confidence=0.8 (4/5 agreement)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7"/>
          <p:cNvSpPr/>
          <p:nvPr/>
        </p:nvSpPr>
        <p:spPr>
          <a:xfrm>
            <a:off x="4572000" y="4041648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Best for: Math, logic puzzles, reasoning chains, factual questions with verifiable answers.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27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Self-consistency turns unreliable single outputs into confident answers by leveraging the wisdom of multiple runs.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28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Optimization: RAG Prompting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8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Grounding AI responses with real retrieved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8"/>
          <p:cNvSpPr/>
          <p:nvPr/>
        </p:nvSpPr>
        <p:spPr>
          <a:xfrm>
            <a:off x="228600" y="926817"/>
            <a:ext cx="8686800" cy="658368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8"/>
          <p:cNvSpPr/>
          <p:nvPr/>
        </p:nvSpPr>
        <p:spPr>
          <a:xfrm>
            <a:off x="365760" y="945105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RAG (Retrieval-Augmented Generation)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fetches relevant documents or data at runtime and injects them into the prompt, so the AI answers from </a:t>
            </a:r>
            <a:r>
              <a:rPr lang="en-US" sz="12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real, up-to-date facts </a:t>
            </a:r>
            <a:r>
              <a:rPr lang="en-US" sz="12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rather than its training data — eliminating hallucinations.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8"/>
          <p:cNvSpPr/>
          <p:nvPr/>
        </p:nvSpPr>
        <p:spPr>
          <a:xfrm>
            <a:off x="457200" y="1704057"/>
            <a:ext cx="1508760" cy="508565"/>
          </a:xfrm>
          <a:prstGeom prst="roundRect">
            <a:avLst>
              <a:gd name="adj" fmla="val 13333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28"/>
          <p:cNvSpPr/>
          <p:nvPr/>
        </p:nvSpPr>
        <p:spPr>
          <a:xfrm>
            <a:off x="457200" y="1704057"/>
            <a:ext cx="1508760" cy="5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8"/>
          <p:cNvSpPr/>
          <p:nvPr/>
        </p:nvSpPr>
        <p:spPr>
          <a:xfrm>
            <a:off x="1993392" y="1841781"/>
            <a:ext cx="228600" cy="23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8"/>
          <p:cNvSpPr/>
          <p:nvPr/>
        </p:nvSpPr>
        <p:spPr>
          <a:xfrm>
            <a:off x="2176272" y="1704057"/>
            <a:ext cx="1508760" cy="508565"/>
          </a:xfrm>
          <a:prstGeom prst="roundRect">
            <a:avLst>
              <a:gd name="adj" fmla="val 13333"/>
            </a:avLst>
          </a:prstGeom>
          <a:solidFill>
            <a:srgbClr val="1A6EB0"/>
          </a:solidFill>
          <a:ln w="12700" cap="flat" cmpd="sng">
            <a:solidFill>
              <a:srgbClr val="1A6E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8"/>
          <p:cNvSpPr/>
          <p:nvPr/>
        </p:nvSpPr>
        <p:spPr>
          <a:xfrm>
            <a:off x="2176272" y="1704057"/>
            <a:ext cx="1508760" cy="5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8"/>
          <p:cNvSpPr/>
          <p:nvPr/>
        </p:nvSpPr>
        <p:spPr>
          <a:xfrm>
            <a:off x="3712464" y="1841781"/>
            <a:ext cx="228600" cy="23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8"/>
          <p:cNvSpPr/>
          <p:nvPr/>
        </p:nvSpPr>
        <p:spPr>
          <a:xfrm>
            <a:off x="3895344" y="1704057"/>
            <a:ext cx="1508760" cy="508565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28"/>
          <p:cNvSpPr/>
          <p:nvPr/>
        </p:nvSpPr>
        <p:spPr>
          <a:xfrm>
            <a:off x="3895344" y="1704057"/>
            <a:ext cx="1508760" cy="5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Inject into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8"/>
          <p:cNvSpPr/>
          <p:nvPr/>
        </p:nvSpPr>
        <p:spPr>
          <a:xfrm>
            <a:off x="5431536" y="1841781"/>
            <a:ext cx="228600" cy="23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8"/>
          <p:cNvSpPr/>
          <p:nvPr/>
        </p:nvSpPr>
        <p:spPr>
          <a:xfrm>
            <a:off x="5614416" y="1704057"/>
            <a:ext cx="1508760" cy="508565"/>
          </a:xfrm>
          <a:prstGeom prst="roundRect">
            <a:avLst>
              <a:gd name="adj" fmla="val 13333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28"/>
          <p:cNvSpPr/>
          <p:nvPr/>
        </p:nvSpPr>
        <p:spPr>
          <a:xfrm>
            <a:off x="5614416" y="1704057"/>
            <a:ext cx="1508760" cy="5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8"/>
          <p:cNvSpPr/>
          <p:nvPr/>
        </p:nvSpPr>
        <p:spPr>
          <a:xfrm>
            <a:off x="7150608" y="1841781"/>
            <a:ext cx="228600" cy="23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B7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A6B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8"/>
          <p:cNvSpPr/>
          <p:nvPr/>
        </p:nvSpPr>
        <p:spPr>
          <a:xfrm>
            <a:off x="7333488" y="1704057"/>
            <a:ext cx="1508760" cy="508565"/>
          </a:xfrm>
          <a:prstGeom prst="roundRect">
            <a:avLst>
              <a:gd name="adj" fmla="val 13333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28"/>
          <p:cNvSpPr/>
          <p:nvPr/>
        </p:nvSpPr>
        <p:spPr>
          <a:xfrm>
            <a:off x="7333488" y="1704057"/>
            <a:ext cx="1508760" cy="5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8"/>
          <p:cNvSpPr/>
          <p:nvPr/>
        </p:nvSpPr>
        <p:spPr>
          <a:xfrm>
            <a:off x="320040" y="2260430"/>
            <a:ext cx="5074920" cy="2360481"/>
          </a:xfrm>
          <a:prstGeom prst="roundRect">
            <a:avLst>
              <a:gd name="adj" fmla="val 3604"/>
            </a:avLst>
          </a:prstGeom>
          <a:solidFill>
            <a:srgbClr val="1E2A3A"/>
          </a:solidFill>
          <a:ln w="12700" cap="flat" cmpd="sng">
            <a:solidFill>
              <a:srgbClr val="2D3E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28"/>
          <p:cNvSpPr/>
          <p:nvPr/>
        </p:nvSpPr>
        <p:spPr>
          <a:xfrm>
            <a:off x="393192" y="2389010"/>
            <a:ext cx="91440" cy="9380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8"/>
          <p:cNvSpPr/>
          <p:nvPr/>
        </p:nvSpPr>
        <p:spPr>
          <a:xfrm>
            <a:off x="521208" y="2389010"/>
            <a:ext cx="91440" cy="9380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28"/>
          <p:cNvSpPr/>
          <p:nvPr/>
        </p:nvSpPr>
        <p:spPr>
          <a:xfrm>
            <a:off x="649224" y="2389010"/>
            <a:ext cx="91440" cy="9380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CC71"/>
          </a:solidFill>
          <a:ln w="12700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8"/>
          <p:cNvSpPr/>
          <p:nvPr/>
        </p:nvSpPr>
        <p:spPr>
          <a:xfrm>
            <a:off x="411480" y="2242706"/>
            <a:ext cx="4892040" cy="237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rag_prompt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user_question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docs_db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# Step 1: Retrieve relevant documents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relevant_docs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docs_db.search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user_question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top_k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=3)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# Step 2: Build grounded prompt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context = "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".join([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d.text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for d in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relevant_docs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prompt = f"""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Answer based ONLY on this context: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---CONTEXT---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{context}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---END CONTEXT---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Question: {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user_question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If the answer isn't in context, say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'Not found in our documentation.'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"""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urier New"/>
              <a:buNone/>
            </a:pP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  return </a:t>
            </a:r>
            <a:r>
              <a:rPr lang="en-US" sz="900" b="0" i="0" u="none" strike="noStrike" cap="none" dirty="0" err="1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call_llm</a:t>
            </a:r>
            <a:r>
              <a:rPr lang="en-US" sz="900" b="0" i="0" u="none" strike="noStrike" cap="none" dirty="0">
                <a:solidFill>
                  <a:srgbClr val="A8D8A8"/>
                </a:solidFill>
                <a:latin typeface="Courier New"/>
                <a:ea typeface="Courier New"/>
                <a:cs typeface="Courier New"/>
                <a:sym typeface="Courier New"/>
              </a:rPr>
              <a:t>(prompt)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8"/>
          <p:cNvSpPr/>
          <p:nvPr/>
        </p:nvSpPr>
        <p:spPr>
          <a:xfrm>
            <a:off x="5532120" y="2509293"/>
            <a:ext cx="3383280" cy="2029968"/>
          </a:xfrm>
          <a:prstGeom prst="roundRect">
            <a:avLst>
              <a:gd name="adj" fmla="val 5405"/>
            </a:avLst>
          </a:prstGeom>
          <a:solidFill>
            <a:srgbClr val="E8F8F0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28"/>
          <p:cNvSpPr/>
          <p:nvPr/>
        </p:nvSpPr>
        <p:spPr>
          <a:xfrm>
            <a:off x="5623560" y="2555013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28"/>
          <p:cNvSpPr/>
          <p:nvPr/>
        </p:nvSpPr>
        <p:spPr>
          <a:xfrm>
            <a:off x="5623560" y="2555013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vs NO RAG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8"/>
          <p:cNvSpPr/>
          <p:nvPr/>
        </p:nvSpPr>
        <p:spPr>
          <a:xfrm>
            <a:off x="5715000" y="2939061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Without RAG: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8"/>
          <p:cNvSpPr/>
          <p:nvPr/>
        </p:nvSpPr>
        <p:spPr>
          <a:xfrm>
            <a:off x="5715000" y="3213381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"TechHelp v3 requires GTX 3080" ← Invented!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8"/>
          <p:cNvSpPr/>
          <p:nvPr/>
        </p:nvSpPr>
        <p:spPr>
          <a:xfrm>
            <a:off x="5715000" y="3579141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With RAG: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8"/>
          <p:cNvSpPr/>
          <p:nvPr/>
        </p:nvSpPr>
        <p:spPr>
          <a:xfrm>
            <a:off x="5715000" y="3853461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"[From docs v2.5 release notes]: TechHelp 2.5 requires Windows 10+ and 8GB RAM minimum." ← Sourced!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2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is the most powerful anti-hallucination technique — answers grounded in documents, not training data.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0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&amp; Key Takeaways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0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What you've learned and what to do next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0"/>
          <p:cNvSpPr/>
          <p:nvPr/>
        </p:nvSpPr>
        <p:spPr>
          <a:xfrm>
            <a:off x="228600" y="1005840"/>
            <a:ext cx="42519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30"/>
          <p:cNvSpPr/>
          <p:nvPr/>
        </p:nvSpPr>
        <p:spPr>
          <a:xfrm>
            <a:off x="320040" y="1097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2" name="Google Shape;982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472" y="11247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30"/>
          <p:cNvSpPr/>
          <p:nvPr/>
        </p:nvSpPr>
        <p:spPr>
          <a:xfrm>
            <a:off x="914400" y="109728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Prompt Debugging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0"/>
          <p:cNvSpPr/>
          <p:nvPr/>
        </p:nvSpPr>
        <p:spPr>
          <a:xfrm>
            <a:off x="365760" y="1682496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30"/>
          <p:cNvSpPr/>
          <p:nvPr/>
        </p:nvSpPr>
        <p:spPr>
          <a:xfrm>
            <a:off x="557784" y="1664208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Use TRACE: Trigger, Root Cause, Adjust, Check, Evaluate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0"/>
          <p:cNvSpPr/>
          <p:nvPr/>
        </p:nvSpPr>
        <p:spPr>
          <a:xfrm>
            <a:off x="365760" y="202082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30"/>
          <p:cNvSpPr/>
          <p:nvPr/>
        </p:nvSpPr>
        <p:spPr>
          <a:xfrm>
            <a:off x="557784" y="2002536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Change ONE variable at a time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0"/>
          <p:cNvSpPr/>
          <p:nvPr/>
        </p:nvSpPr>
        <p:spPr>
          <a:xfrm>
            <a:off x="365760" y="235915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30"/>
          <p:cNvSpPr/>
          <p:nvPr/>
        </p:nvSpPr>
        <p:spPr>
          <a:xfrm>
            <a:off x="557784" y="2340864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Test edge cases, not just happy paths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0"/>
          <p:cNvSpPr/>
          <p:nvPr/>
        </p:nvSpPr>
        <p:spPr>
          <a:xfrm>
            <a:off x="4663440" y="1005840"/>
            <a:ext cx="42519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30"/>
          <p:cNvSpPr/>
          <p:nvPr/>
        </p:nvSpPr>
        <p:spPr>
          <a:xfrm>
            <a:off x="4754880" y="1097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2" name="Google Shape;992;p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2312" y="11247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30"/>
          <p:cNvSpPr/>
          <p:nvPr/>
        </p:nvSpPr>
        <p:spPr>
          <a:xfrm>
            <a:off x="5349240" y="109728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Prompt Guardrails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0"/>
          <p:cNvSpPr/>
          <p:nvPr/>
        </p:nvSpPr>
        <p:spPr>
          <a:xfrm>
            <a:off x="4800600" y="1682496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30"/>
          <p:cNvSpPr/>
          <p:nvPr/>
        </p:nvSpPr>
        <p:spPr>
          <a:xfrm>
            <a:off x="4992624" y="1664208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Define scope boundaries explicitly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0"/>
          <p:cNvSpPr/>
          <p:nvPr/>
        </p:nvSpPr>
        <p:spPr>
          <a:xfrm>
            <a:off x="4800600" y="202082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30"/>
          <p:cNvSpPr/>
          <p:nvPr/>
        </p:nvSpPr>
        <p:spPr>
          <a:xfrm>
            <a:off x="4992624" y="2002536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Add anti-hallucination 'I don't know' instructions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0"/>
          <p:cNvSpPr/>
          <p:nvPr/>
        </p:nvSpPr>
        <p:spPr>
          <a:xfrm>
            <a:off x="4800600" y="235915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2B5E"/>
          </a:solidFill>
          <a:ln w="12700" cap="flat" cmpd="sng">
            <a:solidFill>
              <a:srgbClr val="0D2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30"/>
          <p:cNvSpPr/>
          <p:nvPr/>
        </p:nvSpPr>
        <p:spPr>
          <a:xfrm>
            <a:off x="4992624" y="2340864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Specify format rules with concrete examples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0"/>
          <p:cNvSpPr/>
          <p:nvPr/>
        </p:nvSpPr>
        <p:spPr>
          <a:xfrm>
            <a:off x="228600" y="2907792"/>
            <a:ext cx="42519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30"/>
          <p:cNvSpPr/>
          <p:nvPr/>
        </p:nvSpPr>
        <p:spPr>
          <a:xfrm>
            <a:off x="320040" y="29992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6EB0"/>
          </a:solidFill>
          <a:ln w="12700" cap="flat" cmpd="sng">
            <a:solidFill>
              <a:srgbClr val="1A6E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2" name="Google Shape;1002;p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472" y="30266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30"/>
          <p:cNvSpPr/>
          <p:nvPr/>
        </p:nvSpPr>
        <p:spPr>
          <a:xfrm>
            <a:off x="914400" y="2999232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EB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6EB0"/>
                </a:solidFill>
                <a:latin typeface="Calibri"/>
                <a:ea typeface="Calibri"/>
                <a:cs typeface="Calibri"/>
                <a:sym typeface="Calibri"/>
              </a:rPr>
              <a:t>Prompt Evaluation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0"/>
          <p:cNvSpPr/>
          <p:nvPr/>
        </p:nvSpPr>
        <p:spPr>
          <a:xfrm>
            <a:off x="365760" y="3584448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6EB0"/>
          </a:solidFill>
          <a:ln w="12700" cap="flat" cmpd="sng">
            <a:solidFill>
              <a:srgbClr val="1A6E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30"/>
          <p:cNvSpPr/>
          <p:nvPr/>
        </p:nvSpPr>
        <p:spPr>
          <a:xfrm>
            <a:off x="557784" y="3566160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Build test suites BEFORE tuning prompts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0"/>
          <p:cNvSpPr/>
          <p:nvPr/>
        </p:nvSpPr>
        <p:spPr>
          <a:xfrm>
            <a:off x="365760" y="3922776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6EB0"/>
          </a:solidFill>
          <a:ln w="12700" cap="flat" cmpd="sng">
            <a:solidFill>
              <a:srgbClr val="1A6E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30"/>
          <p:cNvSpPr/>
          <p:nvPr/>
        </p:nvSpPr>
        <p:spPr>
          <a:xfrm>
            <a:off x="557784" y="3904488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Measure: accuracy, relevance, format, safety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0"/>
          <p:cNvSpPr/>
          <p:nvPr/>
        </p:nvSpPr>
        <p:spPr>
          <a:xfrm>
            <a:off x="365760" y="426110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6EB0"/>
          </a:solidFill>
          <a:ln w="12700" cap="flat" cmpd="sng">
            <a:solidFill>
              <a:srgbClr val="1A6E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30"/>
          <p:cNvSpPr/>
          <p:nvPr/>
        </p:nvSpPr>
        <p:spPr>
          <a:xfrm>
            <a:off x="557784" y="4242816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Use A/B tests for major prompt changes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0"/>
          <p:cNvSpPr/>
          <p:nvPr/>
        </p:nvSpPr>
        <p:spPr>
          <a:xfrm>
            <a:off x="4663440" y="2907792"/>
            <a:ext cx="425196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 cap="flat" cmpd="sng">
            <a:solidFill>
              <a:srgbClr val="E0EAF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30"/>
          <p:cNvSpPr/>
          <p:nvPr/>
        </p:nvSpPr>
        <p:spPr>
          <a:xfrm>
            <a:off x="4754880" y="29992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2" name="Google Shape;1012;p3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82312" y="30266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30"/>
          <p:cNvSpPr/>
          <p:nvPr/>
        </p:nvSpPr>
        <p:spPr>
          <a:xfrm>
            <a:off x="5349240" y="2999232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E5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9E5C"/>
                </a:solidFill>
                <a:latin typeface="Calibri"/>
                <a:ea typeface="Calibri"/>
                <a:cs typeface="Calibri"/>
                <a:sym typeface="Calibri"/>
              </a:rPr>
              <a:t>Response Optimization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0"/>
          <p:cNvSpPr/>
          <p:nvPr/>
        </p:nvSpPr>
        <p:spPr>
          <a:xfrm>
            <a:off x="4800600" y="3584448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30"/>
          <p:cNvSpPr/>
          <p:nvPr/>
        </p:nvSpPr>
        <p:spPr>
          <a:xfrm>
            <a:off x="4992624" y="3566160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Few-shot examples enforce format &amp; style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0"/>
          <p:cNvSpPr/>
          <p:nvPr/>
        </p:nvSpPr>
        <p:spPr>
          <a:xfrm>
            <a:off x="4800600" y="3922776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30"/>
          <p:cNvSpPr/>
          <p:nvPr/>
        </p:nvSpPr>
        <p:spPr>
          <a:xfrm>
            <a:off x="4992624" y="3904488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Chain-of-thought improves reasoning accuracy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0"/>
          <p:cNvSpPr/>
          <p:nvPr/>
        </p:nvSpPr>
        <p:spPr>
          <a:xfrm>
            <a:off x="4800600" y="426110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9E5C"/>
          </a:solidFill>
          <a:ln w="12700" cap="flat" cmpd="sng">
            <a:solidFill>
              <a:srgbClr val="1A9E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0"/>
          <p:cNvSpPr/>
          <p:nvPr/>
        </p:nvSpPr>
        <p:spPr>
          <a:xfrm>
            <a:off x="4992624" y="4242816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433"/>
                </a:solidFill>
                <a:latin typeface="Calibri"/>
                <a:ea typeface="Calibri"/>
                <a:cs typeface="Calibri"/>
                <a:sym typeface="Calibri"/>
              </a:rPr>
              <a:t>Self-consistency boosts confidence via voting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3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💡 Key Takeaway: 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Mastering prompting = mastering AI — debug, guard, evaluate, and optimize every prompt you deploy.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5244</Words>
  <Application>Microsoft Office PowerPoint</Application>
  <PresentationFormat>On-screen Show (16:9)</PresentationFormat>
  <Paragraphs>768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Usha Nandhini</cp:lastModifiedBy>
  <cp:revision>2</cp:revision>
  <dcterms:modified xsi:type="dcterms:W3CDTF">2026-06-14T11:15:06Z</dcterms:modified>
</cp:coreProperties>
</file>