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8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366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1A3558">
              <a:alpha val="70000"/>
            </a:srgbClr>
          </a:solidFill>
          <a:ln w="12700">
            <a:solidFill>
              <a:srgbClr val="1A35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3657600" cy="3657600"/>
          </a:xfrm>
          <a:prstGeom prst="ellipse">
            <a:avLst/>
          </a:prstGeom>
          <a:solidFill>
            <a:srgbClr val="102040">
              <a:alpha val="70000"/>
            </a:srgbClr>
          </a:solidFill>
          <a:ln w="12700">
            <a:solidFill>
              <a:srgbClr val="1020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1874520"/>
            <a:ext cx="9144000" cy="45720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6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· Few-shot · Role Prompting · Prompt Templates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51460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Marketing Content Generation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017520"/>
            <a:ext cx="3200400" cy="329184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005840" y="303580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What is Prompting?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3401568"/>
            <a:ext cx="3200400" cy="329184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005840" y="34198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Zero-Shot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3785616"/>
            <a:ext cx="3200400" cy="329184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005840" y="38039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Few-Shot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0" y="3017520"/>
            <a:ext cx="3200400" cy="329184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663440" y="303580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Role Prompting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3401568"/>
            <a:ext cx="3200400" cy="329184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663440" y="34198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Prompt Templates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0" y="3785616"/>
            <a:ext cx="3200400" cy="329184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63440" y="38039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Case Study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Overview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will learn in this session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28346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56032" y="1152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56032" y="1152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117043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Prompting?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definition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2608" y="20025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basics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2608" y="23042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172968" y="1078992"/>
            <a:ext cx="28346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3246120" y="1152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246120" y="1152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67328" y="117043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Prompting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82696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questions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82696" y="20025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82696" y="23042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63056" y="1078992"/>
            <a:ext cx="28346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236208" y="1152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36208" y="1152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57416" y="117043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72784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In-context learning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272784" y="20025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format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2784" y="23042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good examples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82880" y="2862072"/>
            <a:ext cx="28346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256032" y="293522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256032" y="2935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" y="295351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Prompting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92608" y="3483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assignment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92608" y="378561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92608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172968" y="2862072"/>
            <a:ext cx="28346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3246120" y="293522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246120" y="2935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67328" y="295351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Templates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82696" y="3483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structures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282696" y="378561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&amp; placeholders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282696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patterns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63056" y="2862072"/>
            <a:ext cx="28346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236208" y="293522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6236208" y="2935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757416" y="295351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272784" y="3483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content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72784" y="378561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Applying all techniques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272784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5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module builds on the last — master prompting by understanding how models respond to different input structures.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2 / 28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Large Language Model (LLM)?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behind prompt engineering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4114800" cy="1417320"/>
          </a:xfrm>
          <a:prstGeom prst="roundRect">
            <a:avLst>
              <a:gd name="adj" fmla="val 7742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393192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74320" y="11155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📖  DEFINITION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" y="141732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</a:t>
            </a:r>
            <a:r>
              <a:rPr lang="en-US" sz="10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AI models trained on massive text datasets. They predict the </a:t>
            </a:r>
            <a:r>
              <a:rPr lang="en-US" sz="105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most likely token </a:t>
            </a:r>
            <a:r>
              <a:rPr lang="en-US" sz="10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an input. Examples: GPT-4, Claude, Gemini, Llama.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0" y="1078992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663440" y="1115568"/>
            <a:ext cx="4160520" cy="25603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663440" y="111556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💡  ANALOGY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09160" y="14173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an LLM like a very well-read autocomplete. You start a sentence, and it predicts the most sensible continuation based on trillions of words it has read.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82880" y="2633472"/>
            <a:ext cx="87325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74320" y="2670048"/>
            <a:ext cx="854964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274320" y="2670048"/>
            <a:ext cx="854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⚙️  HOW IT WORKS — STEP BY STEP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999232"/>
            <a:ext cx="1554480" cy="1463040"/>
          </a:xfrm>
          <a:prstGeom prst="roundRect">
            <a:avLst>
              <a:gd name="adj" fmla="val 7500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68680" y="3035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686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93192" y="3547872"/>
            <a:ext cx="1408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 a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920240" y="35204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909C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057400" y="2999232"/>
            <a:ext cx="1554480" cy="1463040"/>
          </a:xfrm>
          <a:prstGeom prst="roundRect">
            <a:avLst>
              <a:gd name="adj" fmla="val 7500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606040" y="3035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8F00"/>
          </a:solidFill>
          <a:ln w="12700">
            <a:solidFill>
              <a:srgbClr val="FF8F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260604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130552" y="3547872"/>
            <a:ext cx="1408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TOKENIZED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657600" y="35204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909C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794760" y="2999232"/>
            <a:ext cx="1554480" cy="1463040"/>
          </a:xfrm>
          <a:prstGeom prst="roundRect">
            <a:avLst>
              <a:gd name="adj" fmla="val 7500"/>
            </a:avLst>
          </a:prstGeom>
          <a:solidFill>
            <a:srgbClr val="FFF3E0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343400" y="3035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34340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867912" y="3547872"/>
            <a:ext cx="1408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PROCESSES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394960" y="35204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909C"/>
                </a:solidFill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532120" y="2999232"/>
            <a:ext cx="1554480" cy="1463040"/>
          </a:xfrm>
          <a:prstGeom prst="roundRect">
            <a:avLst>
              <a:gd name="adj" fmla="val 7500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080760" y="3035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0807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605272" y="3547872"/>
            <a:ext cx="1408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132320" y="35204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909C"/>
                </a:solidFill>
              </a:rPr>
              <a:t>→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269480" y="2999232"/>
            <a:ext cx="1554480" cy="1463040"/>
          </a:xfrm>
          <a:prstGeom prst="roundRect">
            <a:avLst>
              <a:gd name="adj" fmla="val 7500"/>
            </a:avLst>
          </a:prstGeom>
          <a:solidFill>
            <a:srgbClr val="FCE4EC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7818120" y="3035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781812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42632" y="3547872"/>
            <a:ext cx="1408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are the instructions you give to an LLM — the quality of your prompt directly determines the quality of the output.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3 / 28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Prompt Engineering?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skill of communicating effectively with AI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1188720"/>
          </a:xfrm>
          <a:prstGeom prst="roundRect">
            <a:avLst>
              <a:gd name="adj" fmla="val 9231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70432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 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practice of crafting </a:t>
            </a:r>
            <a:r>
              <a:rPr lang="en-US" sz="12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precise, structured instructions 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guide an AI model toward producing the desired output — without retraining the model.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82880" y="2395728"/>
            <a:ext cx="2834640" cy="2377440"/>
          </a:xfrm>
          <a:prstGeom prst="roundRect">
            <a:avLst>
              <a:gd name="adj" fmla="val 4615"/>
            </a:avLst>
          </a:prstGeom>
          <a:solidFill>
            <a:srgbClr val="FFEBEE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82880" y="2395728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56032" y="2414016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WITHOUT good prompts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2608" y="2834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 or off-topic responses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2608" y="31821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format or length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92608" y="35295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Hallucinated facts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92608" y="387705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Repetitive or generic text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72968" y="2395728"/>
            <a:ext cx="2834640" cy="2377440"/>
          </a:xfrm>
          <a:prstGeom prst="roundRect">
            <a:avLst>
              <a:gd name="adj" fmla="val 4615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172968" y="2395728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246120" y="2414016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PROMPT ENGINEERING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82696" y="2834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task definition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82696" y="31821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&amp; constraints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82696" y="35295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specification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82696" y="387705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Example-driven guidance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63056" y="2395728"/>
            <a:ext cx="2834640" cy="2377440"/>
          </a:xfrm>
          <a:prstGeom prst="roundRect">
            <a:avLst>
              <a:gd name="adj" fmla="val 4615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6163056" y="2395728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236208" y="2414016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WITH good prompts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272784" y="2834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Accurate, relevant answers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2784" y="31821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format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72784" y="35295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creativity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72784" y="387705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Predictable, reusable outputs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well-engineered prompt is like a precise job description — the clearer your instructions, the better the result.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4 / 28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a Prompt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the building blocks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4297680" cy="1691640"/>
          </a:xfrm>
          <a:prstGeom prst="roundRect">
            <a:avLst>
              <a:gd name="adj" fmla="val 6486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74320" y="1170432"/>
            <a:ext cx="4114800" cy="274320"/>
          </a:xfrm>
          <a:prstGeom prst="roundRect">
            <a:avLst>
              <a:gd name="adj" fmla="val 2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20040" y="1170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◆  INSTRUCTION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" y="151790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task you want the AI to perform.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975104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20040" y="1975104"/>
            <a:ext cx="40233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11480" y="2029968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76072" y="2029968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740664" y="2029968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2002536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example.txt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93192" y="2203704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"Summarize the following article in 3 bullet points."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36008" y="1078992"/>
            <a:ext cx="4297680" cy="1691640"/>
          </a:xfrm>
          <a:prstGeom prst="roundRect">
            <a:avLst>
              <a:gd name="adj" fmla="val 6486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727448" y="1170432"/>
            <a:ext cx="4114800" cy="274320"/>
          </a:xfrm>
          <a:prstGeom prst="roundRect">
            <a:avLst>
              <a:gd name="adj" fmla="val 2666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773168" y="1170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◆  CONTEXT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73168" y="151790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info that helps the model understand the situation.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73168" y="1975104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773168" y="1975104"/>
            <a:ext cx="40233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864608" y="2029968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5029200" y="2029968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193792" y="2029968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367528" y="2002536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example.txt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46320" y="2203704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"You are an expert copywriter for a SaaS startup."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2880" y="2889504"/>
            <a:ext cx="4297680" cy="1691640"/>
          </a:xfrm>
          <a:prstGeom prst="roundRect">
            <a:avLst>
              <a:gd name="adj" fmla="val 6486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74320" y="2980944"/>
            <a:ext cx="4114800" cy="274320"/>
          </a:xfrm>
          <a:prstGeom prst="roundRect">
            <a:avLst>
              <a:gd name="adj" fmla="val 26667"/>
            </a:avLst>
          </a:prstGeom>
          <a:solidFill>
            <a:srgbClr val="FF8F00"/>
          </a:solidFill>
          <a:ln w="12700">
            <a:solidFill>
              <a:srgbClr val="FF8F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9809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◆  INPUT DATA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20040" y="332841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content or data the model should process.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" y="3785616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20040" y="3785616"/>
            <a:ext cx="40233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11480" y="384048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576072" y="384048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740664" y="384048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914400" y="381304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example.txt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3192" y="4014216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"Article: [paste article text here]"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636008" y="2889504"/>
            <a:ext cx="4297680" cy="1691640"/>
          </a:xfrm>
          <a:prstGeom prst="roundRect">
            <a:avLst>
              <a:gd name="adj" fmla="val 6486"/>
            </a:avLst>
          </a:prstGeom>
          <a:solidFill>
            <a:srgbClr val="FCE4EC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4727448" y="2980944"/>
            <a:ext cx="4114800" cy="274320"/>
          </a:xfrm>
          <a:prstGeom prst="roundRect">
            <a:avLst>
              <a:gd name="adj" fmla="val 26667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4773168" y="29809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◆  OUTPUT FORMAT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773168" y="332841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want the response structured.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773168" y="3785616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4773168" y="3785616"/>
            <a:ext cx="40233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4864608" y="384048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5029200" y="384048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5193792" y="384048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5367528" y="381304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example.txt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846320" y="4014216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"Respond in JSON with keys: title, summary, keywords."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prompt needs all 4 parts — start simple and add components as needed to improve the response.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5 / 28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Prompting — What Is It?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Asking without providing any examples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1143000"/>
          </a:xfrm>
          <a:prstGeom prst="roundRect">
            <a:avLst>
              <a:gd name="adj" fmla="val 9600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70432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Prompting 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giving the model a task with </a:t>
            </a: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examples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prompt. You rely entirely on the model's pre-trained knowledge to produce a correct response.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82880" y="2331720"/>
            <a:ext cx="4297680" cy="2423160"/>
          </a:xfrm>
          <a:prstGeom prst="roundRect">
            <a:avLst>
              <a:gd name="adj" fmla="val 4528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74320" y="2368296"/>
            <a:ext cx="4114800" cy="25603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74320" y="23682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👩‍🏫  REAL-LIFE ANALOGY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040" y="2688336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Imagine walking into an exam and answering questions you've never seen before — but you studied the subject well. You rely entirely on your existing knowledge.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3749040"/>
            <a:ext cx="4114800" cy="868680"/>
          </a:xfrm>
          <a:prstGeom prst="roundRect">
            <a:avLst>
              <a:gd name="adj" fmla="val 12632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11480" y="378561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Like the exam student, the LLM draws only on its training — zero additional examples. Works well when the model already 'knows' the task type.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54880" y="2331720"/>
            <a:ext cx="429768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4846320" y="2368296"/>
            <a:ext cx="411480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846320" y="23682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🎯  WHEN TO USE ZERO-SHOT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27432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Simple, well-defined tasks (translate, classify, summarize)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31272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Standard formats the model already knows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351129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Quick prototyping and exploration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9534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Novel task formats the model hasn't seen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92040" y="42793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When high precision/consistency is needed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is the simplest prompting strategy — great for quick tasks, but may need refinement for complex or specialized outputs.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6 / 28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Prompting — Examples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it in action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2834640" cy="3657600"/>
          </a:xfrm>
          <a:prstGeom prst="roundRect">
            <a:avLst>
              <a:gd name="adj" fmla="val 3871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56032" y="1115568"/>
            <a:ext cx="2688336" cy="292608"/>
          </a:xfrm>
          <a:prstGeom prst="roundRect">
            <a:avLst>
              <a:gd name="adj" fmla="val 3125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92608" y="113385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Sentiment Analysis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481328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74320" y="148132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65760" y="153619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530352" y="153619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94944" y="153619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68680" y="150876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prompt.txt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7472" y="1709928"/>
            <a:ext cx="2514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 the sentiment of this review: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"The product broke after 2 days. Very disappointing."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Sentiment: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338328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47472" y="341985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47472" y="3602736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172968" y="1078992"/>
            <a:ext cx="2834640" cy="3657600"/>
          </a:xfrm>
          <a:prstGeom prst="roundRect">
            <a:avLst>
              <a:gd name="adj" fmla="val 3871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246120" y="1115568"/>
            <a:ext cx="2688336" cy="292608"/>
          </a:xfrm>
          <a:prstGeom prst="roundRect">
            <a:avLst>
              <a:gd name="adj" fmla="val 3125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82696" y="113385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Translation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64408" y="1481328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264408" y="148132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3355848" y="153619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3520440" y="153619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3685032" y="153619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3858768" y="150876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prompt.txt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337560" y="1709928"/>
            <a:ext cx="2514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 to French: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"The weather is beautiful today."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64408" y="338328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337560" y="341985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337560" y="3602736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temps est magnifique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aujourd'hui.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163056" y="1078992"/>
            <a:ext cx="2834640" cy="3657600"/>
          </a:xfrm>
          <a:prstGeom prst="roundRect">
            <a:avLst>
              <a:gd name="adj" fmla="val 3871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236208" y="1115568"/>
            <a:ext cx="2688336" cy="292608"/>
          </a:xfrm>
          <a:prstGeom prst="roundRect">
            <a:avLst>
              <a:gd name="adj" fmla="val 3125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272784" y="113385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Summarization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254496" y="1481328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6254496" y="148132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345936" y="153619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510528" y="153619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6675120" y="153619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6848856" y="150876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prompt.txt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327648" y="1709928"/>
            <a:ext cx="2514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Summarize in one sentence: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"Python is a high-level, interpreted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programming language..."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254496" y="338328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6327648" y="341985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327648" y="3602736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is a beginner-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friendly, versatile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programming language.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works best when the task is clearly described and matches patterns the model encountered during training.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7 / 28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— Best Practices &amp; Tips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write better zero-shot prompts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4297680" cy="182880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Be Specific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92608" y="1572768"/>
            <a:ext cx="4078224" cy="512064"/>
          </a:xfrm>
          <a:prstGeom prst="roundRect">
            <a:avLst>
              <a:gd name="adj" fmla="val 14286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92608" y="1572768"/>
            <a:ext cx="4078224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84048" y="162763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48640" y="162763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713232" y="162763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86968" y="1600200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bad-prompt.txt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1801368"/>
            <a:ext cx="3941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❌  Write something about dogs.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92608" y="2139696"/>
            <a:ext cx="4078224" cy="658368"/>
          </a:xfrm>
          <a:prstGeom prst="roundRect">
            <a:avLst>
              <a:gd name="adj" fmla="val 11111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292608" y="2139696"/>
            <a:ext cx="4078224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84048" y="219456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548640" y="219456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713232" y="219456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886968" y="216712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good-prompt.txt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65760" y="2368296"/>
            <a:ext cx="3941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 Write a 2-sentence product description for a premium dog food brand targeting health-conscious pet owners.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36008" y="1078992"/>
            <a:ext cx="4297680" cy="182880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773168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Specify the Format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45736" y="1572768"/>
            <a:ext cx="4078224" cy="512064"/>
          </a:xfrm>
          <a:prstGeom prst="roundRect">
            <a:avLst>
              <a:gd name="adj" fmla="val 14286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745736" y="1572768"/>
            <a:ext cx="4078224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837176" y="162763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5001768" y="162763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166360" y="162763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340096" y="1600200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bad-prompt.txt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18888" y="1801368"/>
            <a:ext cx="3941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❌  List programming languages.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45736" y="2139696"/>
            <a:ext cx="4078224" cy="658368"/>
          </a:xfrm>
          <a:prstGeom prst="roundRect">
            <a:avLst>
              <a:gd name="adj" fmla="val 11111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4745736" y="2139696"/>
            <a:ext cx="4078224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4837176" y="219456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01768" y="219456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5166360" y="219456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5340096" y="216712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good-prompt.txt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18888" y="2368296"/>
            <a:ext cx="3941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 List the top 5 programming languages for data science. Format as a numbered list with a one-sentence explanation each.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82880" y="3017520"/>
            <a:ext cx="4297680" cy="18288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0040" y="31089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🧭  Define the Scope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92608" y="3511296"/>
            <a:ext cx="4078224" cy="512064"/>
          </a:xfrm>
          <a:prstGeom prst="roundRect">
            <a:avLst>
              <a:gd name="adj" fmla="val 14286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292608" y="3511296"/>
            <a:ext cx="4078224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384048" y="356616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548640" y="356616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713232" y="356616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886968" y="353872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bad-prompt.txt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65760" y="3739896"/>
            <a:ext cx="3941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❌  Explain machine learning.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92608" y="4078224"/>
            <a:ext cx="4078224" cy="658368"/>
          </a:xfrm>
          <a:prstGeom prst="roundRect">
            <a:avLst>
              <a:gd name="adj" fmla="val 11111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292608" y="4078224"/>
            <a:ext cx="4078224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384048" y="4133088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548640" y="4133088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713232" y="4133088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886968" y="4105656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good-prompt.txt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365760" y="4306824"/>
            <a:ext cx="3941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 Explain machine learning in 3 sentences suitable for a 10-year-old child.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36008" y="3017520"/>
            <a:ext cx="4297680" cy="1828800"/>
          </a:xfrm>
          <a:prstGeom prst="roundRect">
            <a:avLst>
              <a:gd name="adj" fmla="val 6000"/>
            </a:avLst>
          </a:prstGeom>
          <a:solidFill>
            <a:srgbClr val="FCE4EC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4773168" y="31089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State Success Criteria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45736" y="3511296"/>
            <a:ext cx="4078224" cy="512064"/>
          </a:xfrm>
          <a:prstGeom prst="roundRect">
            <a:avLst>
              <a:gd name="adj" fmla="val 14286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745736" y="3511296"/>
            <a:ext cx="4078224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4837176" y="356616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Shape 59"/>
          <p:cNvSpPr/>
          <p:nvPr/>
        </p:nvSpPr>
        <p:spPr>
          <a:xfrm>
            <a:off x="5001768" y="356616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60"/>
          <p:cNvSpPr/>
          <p:nvPr/>
        </p:nvSpPr>
        <p:spPr>
          <a:xfrm>
            <a:off x="5166360" y="356616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5340096" y="353872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bad-prompt.txt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818888" y="3739896"/>
            <a:ext cx="3941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❌  Improve this email.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745736" y="4078224"/>
            <a:ext cx="4078224" cy="658368"/>
          </a:xfrm>
          <a:prstGeom prst="roundRect">
            <a:avLst>
              <a:gd name="adj" fmla="val 11111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4745736" y="4078224"/>
            <a:ext cx="4078224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4837176" y="4133088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5001768" y="4133088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5166360" y="4133088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5340096" y="4105656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good-prompt.txt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818888" y="4306824"/>
            <a:ext cx="3941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 Rewrite this email to be more professional and concise. Keep it under 100 words and maintain a friendly tone.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Shape 71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golden rule: a zero-shot prompt should be so clear that a smart intern with no context could follow it perfectly.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8 / 28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 — What Is It?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by example inside the prompt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1188720"/>
          </a:xfrm>
          <a:prstGeom prst="roundRect">
            <a:avLst>
              <a:gd name="adj" fmla="val 9231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70432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 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involves providing the model with a small set of </a:t>
            </a:r>
            <a:r>
              <a:rPr lang="en-US" sz="12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input-output examples 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prompt, so the model learns the desired pattern before being given the actual task.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82880" y="2395728"/>
            <a:ext cx="4206240" cy="2377440"/>
          </a:xfrm>
          <a:prstGeom prst="roundRect">
            <a:avLst>
              <a:gd name="adj" fmla="val 4615"/>
            </a:avLst>
          </a:prstGeom>
          <a:solidFill>
            <a:srgbClr val="FFEBEE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82880" y="2395728"/>
            <a:ext cx="4206240" cy="292608"/>
          </a:xfrm>
          <a:prstGeom prst="roundRect">
            <a:avLst>
              <a:gd name="adj" fmla="val 31250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56032" y="2414016"/>
            <a:ext cx="4059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ZERO-SHOT (no examples)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761488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74320" y="2761488"/>
            <a:ext cx="40233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65760" y="281635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30352" y="281635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94944" y="281635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68680" y="2788920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zero-shot.txt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7472" y="2990088"/>
            <a:ext cx="38862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 the emotion: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can't believe they sold out!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was so looking forward to it."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Emotion: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395728"/>
            <a:ext cx="4206240" cy="2377440"/>
          </a:xfrm>
          <a:prstGeom prst="roundRect">
            <a:avLst>
              <a:gd name="adj" fmla="val 4615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4709160" y="2395728"/>
            <a:ext cx="4206240" cy="292608"/>
          </a:xfrm>
          <a:prstGeom prst="roundRect">
            <a:avLst>
              <a:gd name="adj" fmla="val 3125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782312" y="2414016"/>
            <a:ext cx="4059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FEW-SHOT (with examples)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2761488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800600" y="2761488"/>
            <a:ext cx="40233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892040" y="281635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5056632" y="281635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221224" y="281635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394960" y="2788920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few-shot.txt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73752" y="2990088"/>
            <a:ext cx="38862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won the lottery!" → Joy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"My dog ran away." → Sadness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"They cheated in the game." → Anger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can't believe they sold out!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was looking forward to it."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4572000"/>
            <a:ext cx="4023360" cy="228600"/>
          </a:xfrm>
          <a:prstGeom prst="roundRect">
            <a:avLst>
              <a:gd name="adj" fmla="val 32000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347472" y="4608576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47472" y="4791456"/>
            <a:ext cx="3886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Disappointment  ← model guesses a generic emotion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800600" y="4572000"/>
            <a:ext cx="4023360" cy="228600"/>
          </a:xfrm>
          <a:prstGeom prst="roundRect">
            <a:avLst>
              <a:gd name="adj" fmla="val 32000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873752" y="4608576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873752" y="4791456"/>
            <a:ext cx="3886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Disappointment  ← model correctly follows the format/pattern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 improves consistency and precision by showing the model exactly what kind of output you expect.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9 / 28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 — Structure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pattern for writing few-shot prompts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854964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74320" y="1115568"/>
            <a:ext cx="854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📋  STANDARD FEW-SHOT TEMPLATE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1463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" y="1472184"/>
            <a:ext cx="122529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INSTRUCTION (optional)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691640" y="1463040"/>
            <a:ext cx="7178040" cy="502920"/>
          </a:xfrm>
          <a:prstGeom prst="roundRect">
            <a:avLst>
              <a:gd name="adj" fmla="val 14545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1691640" y="1463040"/>
            <a:ext cx="717804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783080" y="1517904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1947672" y="1517904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112264" y="1517904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764792" y="1691640"/>
            <a:ext cx="7040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 the sentiment of each review as Positive, Negative, or Neutral.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2066544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47472" y="2075688"/>
            <a:ext cx="122529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EXAMPLE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691640" y="2066544"/>
            <a:ext cx="7178040" cy="502920"/>
          </a:xfrm>
          <a:prstGeom prst="roundRect">
            <a:avLst>
              <a:gd name="adj" fmla="val 14545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1691640" y="2066544"/>
            <a:ext cx="717804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1783080" y="2121408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1947672" y="2121408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112264" y="2121408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764792" y="2295144"/>
            <a:ext cx="7040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"This blender is amazing, so powerful!"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Sentiment: Positive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0040" y="2670048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47472" y="2679192"/>
            <a:ext cx="122529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EXAMPLE 2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691640" y="2670048"/>
            <a:ext cx="7178040" cy="502920"/>
          </a:xfrm>
          <a:prstGeom prst="roundRect">
            <a:avLst>
              <a:gd name="adj" fmla="val 14545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1691640" y="2670048"/>
            <a:ext cx="717804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1783080" y="272491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1947672" y="272491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2112264" y="272491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1764792" y="2898648"/>
            <a:ext cx="7040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"Delivery was late and packaging was damaged."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Sentiment: Negative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20040" y="3273552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347472" y="3282696"/>
            <a:ext cx="122529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EXAMPLE 3 (optional)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691640" y="3273552"/>
            <a:ext cx="7178040" cy="502920"/>
          </a:xfrm>
          <a:prstGeom prst="roundRect">
            <a:avLst>
              <a:gd name="adj" fmla="val 14545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1691640" y="3273552"/>
            <a:ext cx="717804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1783080" y="332841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1947672" y="332841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2112264" y="332841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1764792" y="3502152"/>
            <a:ext cx="7040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"The color is okay, nothing special."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Sentiment: Neutral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20040" y="3877056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FF8F00"/>
          </a:solidFill>
          <a:ln w="12700">
            <a:solidFill>
              <a:srgbClr val="FF8F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47472" y="3886200"/>
            <a:ext cx="122529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ACTUAL TASK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691640" y="3877056"/>
            <a:ext cx="7178040" cy="502920"/>
          </a:xfrm>
          <a:prstGeom prst="roundRect">
            <a:avLst>
              <a:gd name="adj" fmla="val 14545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1691640" y="3877056"/>
            <a:ext cx="717804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1783080" y="393192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1947672" y="393192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112264" y="393192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1764792" y="4105656"/>
            <a:ext cx="7040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"Battery life is shorter than expected but the design is sleek."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Sentiment: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 consistent formatting across all examples — the model will mimic your structure exactly.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10 / 28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 — Marketing Use Case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Generating consistent ad copy with examples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5029200" cy="3703320"/>
          </a:xfrm>
          <a:prstGeom prst="roundRect">
            <a:avLst>
              <a:gd name="adj" fmla="val 2963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484632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74320" y="1115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📝  THE PROMPT (Few-Shot)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426464"/>
            <a:ext cx="4892040" cy="3291840"/>
          </a:xfrm>
          <a:prstGeom prst="roundRect">
            <a:avLst>
              <a:gd name="adj" fmla="val 2222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74320" y="1426464"/>
            <a:ext cx="489204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65760" y="1481328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530352" y="1481328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94944" y="1481328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68680" y="145389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marketing-prompt.txt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7472" y="1655064"/>
            <a:ext cx="475488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a product tagline.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Product: "Eco Bamboo Toothbrush"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Tagline: "Brush clean. Think green."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Product: "Noise-Cancelling Headphones"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Tagline: "Your world. Your silence."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Product: "Portable Solar Charger"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Tagline: "Power from the sky, anywhere."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Product: "Smart Water Bottle"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Tagline: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349240" y="1078992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440680" y="1115568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440680" y="11155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✨  MODEL OUTPUT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40680" y="1444752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513832" y="148132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513832" y="1664208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"Stay hydrated.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Stay smart."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(Matches the learned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pattern: short, punchy,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product-relevant tagline)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3127248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5440680" y="3163824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FF8F00"/>
          </a:solidFill>
          <a:ln w="12700">
            <a:solidFill>
              <a:srgbClr val="FF8F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5440680" y="31638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💡  WHY IT WORKS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86400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E2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3 examples establish the pattern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7856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E2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Model infers: short, rhythmic, noun + verb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0" y="40782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E2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Consistent input/output format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E2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Model 'fills in' the blank correctly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few-shot prompting, the examples DO the teaching — choose examples that represent the exact pattern you want.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11 / 28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— Choosing the Right Examples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all examples are equal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2834640" cy="1719072"/>
          </a:xfrm>
          <a:prstGeom prst="roundRect">
            <a:avLst>
              <a:gd name="adj" fmla="val 6383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92608" y="118872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Diverse &amp; Representative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2608" y="1627632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 the range of inputs the model will see. Don't use only easy examples — include edge cases.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72968" y="1078992"/>
            <a:ext cx="2834640" cy="1719072"/>
          </a:xfrm>
          <a:prstGeom prst="roundRect">
            <a:avLst>
              <a:gd name="adj" fmla="val 6383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282696" y="118872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📐  Consistent Format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82696" y="1627632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example must follow the SAME structure. Inconsistent formatting confuses the model.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63056" y="1078992"/>
            <a:ext cx="2834640" cy="1719072"/>
          </a:xfrm>
          <a:prstGeom prst="roundRect">
            <a:avLst>
              <a:gd name="adj" fmla="val 6383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272784" y="118872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Correct &amp; High Quality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72784" y="1627632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examples teach wrong patterns. Always verify your examples before using them as few-shot demonstrations.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2880" y="2907792"/>
            <a:ext cx="2834640" cy="1719072"/>
          </a:xfrm>
          <a:prstGeom prst="roundRect">
            <a:avLst>
              <a:gd name="adj" fmla="val 6383"/>
            </a:avLst>
          </a:prstGeom>
          <a:solidFill>
            <a:srgbClr val="FCE4EC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292608" y="301752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🔢  Right Number (1-5)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2608" y="3456432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1-3 examples: good for simple tasks. 3-5: for nuanced patterns. Too many examples can dilute the signal.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72968" y="2907792"/>
            <a:ext cx="2834640" cy="1719072"/>
          </a:xfrm>
          <a:prstGeom prst="roundRect">
            <a:avLst>
              <a:gd name="adj" fmla="val 6383"/>
            </a:avLst>
          </a:prstGeom>
          <a:solidFill>
            <a:srgbClr val="F3E5F5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282696" y="301752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 Relevant to Task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82696" y="3456432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should closely match the domain. Marketing copy examples won't help with legal document drafting.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63056" y="2907792"/>
            <a:ext cx="2834640" cy="1719072"/>
          </a:xfrm>
          <a:prstGeom prst="roundRect">
            <a:avLst>
              <a:gd name="adj" fmla="val 6383"/>
            </a:avLst>
          </a:prstGeom>
          <a:solidFill>
            <a:srgbClr val="E8EAF6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72784" y="301752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Balanced Labels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272784" y="3456432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classification: don't use 4 positive examples and 1 negative — the model will be biased toward the majority class.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quality of few-shot examples directly determines the quality of few-shot outputs — garbage in, garbage out.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12 / 28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Prompting — What Is It?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Assigning a persona to unlock specialized knowledge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1143000"/>
          </a:xfrm>
          <a:prstGeom prst="roundRect">
            <a:avLst>
              <a:gd name="adj" fmla="val 9600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70432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Prompting 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assigns the AI a specific </a:t>
            </a:r>
            <a:r>
              <a:rPr lang="en-US" sz="12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or expert identity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("You are a...") to steer its tone, vocabulary, and reasoning approach toward a target domain.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82880" y="2331720"/>
            <a:ext cx="4297680" cy="1207008"/>
          </a:xfrm>
          <a:prstGeom prst="roundRect">
            <a:avLst>
              <a:gd name="adj" fmla="val 9091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423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👨‍⚕️ Medical Doctor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2788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Task: </a:t>
            </a: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symptoms in clinical terms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040" y="30815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style: </a:t>
            </a: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Professional, precise, evidence-based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36008" y="2331720"/>
            <a:ext cx="4297680" cy="1207008"/>
          </a:xfrm>
          <a:prstGeom prst="roundRect">
            <a:avLst>
              <a:gd name="adj" fmla="val 9091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773168" y="2423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👩‍🏫 5th Grade Teacher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73168" y="2788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Task: </a:t>
            </a: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same concept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73168" y="30815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style: </a:t>
            </a: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relatable, uses analogies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3657600"/>
            <a:ext cx="4297680" cy="1207008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20040" y="37490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✍️ Marketing Copywriter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4114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Task: </a:t>
            </a: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product descriptions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44074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style: </a:t>
            </a: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Persuasive, benefit-focused, emotional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36008" y="3657600"/>
            <a:ext cx="4297680" cy="1207008"/>
          </a:xfrm>
          <a:prstGeom prst="roundRect">
            <a:avLst>
              <a:gd name="adj" fmla="val 9091"/>
            </a:avLst>
          </a:prstGeom>
          <a:solidFill>
            <a:srgbClr val="FCE4EC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773168" y="37490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Lawyer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73168" y="4114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Task: </a:t>
            </a: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 contract clause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73168" y="44074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style: </a:t>
            </a:r>
            <a:r>
              <a:rPr lang="en-US" sz="9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Formal, risk-focused, precise language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question gets vastly different answers depending on the role assigned — use role prompting to target the expertise you need.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13 / 28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Prompting — How to Write It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and structure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1600200"/>
          </a:xfrm>
          <a:prstGeom prst="roundRect">
            <a:avLst>
              <a:gd name="adj" fmla="val 6857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854964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74320" y="1115568"/>
            <a:ext cx="854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🧩  THE ROLE PROMPT FORMULA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1444752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20040" y="1444752"/>
            <a:ext cx="841248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11480" y="149961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576072" y="149961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40664" y="149961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914400" y="1472184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role-template.txt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93192" y="1673352"/>
            <a:ext cx="8275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[ROLE/PERSONA]. You have [YEARS] of experience in [DOMAIN].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audience is [TARGET AUDIENCE]. Your tone is [TONE/STYLE].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[WHAT YOU WANT THE MODEL TO DO]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Context: [ANY RELEVANT BACKGROUND INFORMATION]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2880" y="2779776"/>
            <a:ext cx="4297680" cy="2011680"/>
          </a:xfrm>
          <a:prstGeom prst="roundRect">
            <a:avLst>
              <a:gd name="adj" fmla="val 5455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182880" y="2779776"/>
            <a:ext cx="4297680" cy="274320"/>
          </a:xfrm>
          <a:prstGeom prst="roundRect">
            <a:avLst>
              <a:gd name="adj" fmla="val 3333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56032" y="2798064"/>
            <a:ext cx="4151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Example: SEO Specialist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4114800" cy="1609344"/>
          </a:xfrm>
          <a:prstGeom prst="roundRect">
            <a:avLst>
              <a:gd name="adj" fmla="val 4545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74320" y="3108960"/>
            <a:ext cx="411480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5760" y="3163824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530352" y="3163824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694944" y="3163824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868680" y="3136392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role-prompt.txt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47472" y="3337560"/>
            <a:ext cx="3977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expert SEO specialist with 10 years of experience in e-commerce. Your audience is a small business owner with no technical background. Your tone is friendly and practical.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Suggest 5 SEO improvements for a product page selling handmade candles.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2779776"/>
            <a:ext cx="4297680" cy="2011680"/>
          </a:xfrm>
          <a:prstGeom prst="roundRect">
            <a:avLst>
              <a:gd name="adj" fmla="val 5455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663440" y="2779776"/>
            <a:ext cx="4297680" cy="274320"/>
          </a:xfrm>
          <a:prstGeom prst="roundRect">
            <a:avLst>
              <a:gd name="adj" fmla="val 33333"/>
            </a:avLst>
          </a:prstGeom>
          <a:solidFill>
            <a:srgbClr val="FF8F00"/>
          </a:solidFill>
          <a:ln w="12700">
            <a:solidFill>
              <a:srgbClr val="FF8F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736592" y="2798064"/>
            <a:ext cx="4151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Example: Python Tutor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3108960"/>
            <a:ext cx="4114800" cy="1609344"/>
          </a:xfrm>
          <a:prstGeom prst="roundRect">
            <a:avLst>
              <a:gd name="adj" fmla="val 4545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754880" y="3108960"/>
            <a:ext cx="411480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4846320" y="3163824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5010912" y="3163824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5175504" y="3163824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5349240" y="3136392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role-prompt.txt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828032" y="3337560"/>
            <a:ext cx="3977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patient Python tutor teaching beginners. Use simple language, avoid jargon, and always show working code examples. Explain concepts with real-world analogies.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Explain what a Python dictionary is.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specific your role definition — experience, audience, tone — the more precisely the model will calibrate its response.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14 / 28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Prompting — Same Question, Different Roles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outputs across personas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743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Question: "Explain why sleep is important."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2880" y="1554480"/>
            <a:ext cx="2834640" cy="3200400"/>
          </a:xfrm>
          <a:prstGeom prst="roundRect">
            <a:avLst>
              <a:gd name="adj" fmla="val 3871"/>
            </a:avLst>
          </a:prstGeom>
          <a:solidFill>
            <a:srgbClr val="F5F5F5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82880" y="1554480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78909C"/>
          </a:solidFill>
          <a:ln w="12700">
            <a:solidFill>
              <a:srgbClr val="78909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56032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No Role (Default)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901952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74320" y="1901952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65760" y="195681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30352" y="195681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94944" y="195681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68680" y="1929384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prompt.txt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7472" y="213055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 why sleep is important.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798064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47472" y="283464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47472" y="3017520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Sleep is essential for good health. During sleep, the body repairs tissues, consolidates memories, and regulates hormones. Adults need 7-9 hours per night.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172968" y="1554480"/>
            <a:ext cx="2834640" cy="3200400"/>
          </a:xfrm>
          <a:prstGeom prst="roundRect">
            <a:avLst>
              <a:gd name="adj" fmla="val 3871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172968" y="1554480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246120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Neurologist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64408" y="1901952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3264408" y="1901952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3355848" y="195681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3520440" y="195681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685032" y="195681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858768" y="1929384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prompt.txt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337560" y="213055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neurologist.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 why sleep is important.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64408" y="2798064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337560" y="283464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337560" y="3017520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Sleep enables synaptic homeostasis and glymphatic clearance of neurotoxic waste products including amyloid-beta. REM sleep is critical for hippocampal-neocortical memory consolidation.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63056" y="1554480"/>
            <a:ext cx="2834640" cy="3200400"/>
          </a:xfrm>
          <a:prstGeom prst="roundRect">
            <a:avLst>
              <a:gd name="adj" fmla="val 3871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6163056" y="1554480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FF8F00"/>
          </a:solidFill>
          <a:ln w="12700">
            <a:solidFill>
              <a:srgbClr val="FF8F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6236208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Children's Author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54496" y="1901952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254496" y="1901952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345936" y="195681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6510528" y="195681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6675120" y="195681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6848856" y="1929384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prompt.txt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327648" y="213055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children's book author.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 why sleep is important.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254496" y="2798064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327648" y="283464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327648" y="3017520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you sleep, tiny repair elves work inside your body! They fix your muscles, save your memories like a computer saving files, and recharge your brain battery for tomorrow.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prompting is a powerful technique for adapting the same information to different audiences without rewriting the task every time.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15 / 28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Prompts vs Role Prompts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where the role lives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4206240" cy="3657600"/>
          </a:xfrm>
          <a:prstGeom prst="roundRect">
            <a:avLst>
              <a:gd name="adj" fmla="val 3000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82880" y="1078992"/>
            <a:ext cx="4206240" cy="347472"/>
          </a:xfrm>
          <a:prstGeom prst="roundRect">
            <a:avLst>
              <a:gd name="adj" fmla="val 2631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56032" y="109728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⚙️  SYSTEM PROMPT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48132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at application level. Persistent across the conversation. Usually hidden from end users. Used by developers to configure AI assistants.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19456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74320" y="2194560"/>
            <a:ext cx="40233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65760" y="2249424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30352" y="2249424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94944" y="2249424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68680" y="2221992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system-prompt.txt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7472" y="2423160"/>
            <a:ext cx="388620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API call (developer sets this)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"system": "You are a helpful customer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support agent for TechCorp. Always be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polite. Never discuss competitor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products. Escalate billing issues.",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"messages": [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"user", "content": "..."}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63440" y="1078992"/>
            <a:ext cx="4251960" cy="3657600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663440" y="1078992"/>
            <a:ext cx="4251960" cy="347472"/>
          </a:xfrm>
          <a:prstGeom prst="roundRect">
            <a:avLst>
              <a:gd name="adj" fmla="val 26316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736592" y="1097280"/>
            <a:ext cx="4105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✍️  IN-PROMPT ROLE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0" y="1481328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2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inline in the user message. Per-request. Visible in the conversation. Used for one-off tasks in chat interfaces like Claude.ai.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19456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754880" y="2194560"/>
            <a:ext cx="40233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846320" y="2249424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5010912" y="2249424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175504" y="2249424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349240" y="2221992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inline-role.txt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28032" y="2423160"/>
            <a:ext cx="388620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User types this directly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"You are an expert data analyst.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specialize in e-commerce metrics.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tone is concise and data-driven.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 this sales CSV and identify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top 3 trends from Q4 2024: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[CSV data here]"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approaches work — system prompts are for applications, inline role prompts are for chat sessions.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16 / 28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Templates — What Are They?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Reusable, parameterized prompt structures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1188720"/>
          </a:xfrm>
          <a:prstGeom prst="roundRect">
            <a:avLst>
              <a:gd name="adj" fmla="val 9231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70432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Templates 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reusable prompt structures with </a:t>
            </a:r>
            <a:r>
              <a:rPr lang="en-US" sz="12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variables 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can be filled with different values to generate consistent, scalable outputs across many use cases.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82880" y="2395728"/>
            <a:ext cx="5029200" cy="2423160"/>
          </a:xfrm>
          <a:prstGeom prst="roundRect">
            <a:avLst>
              <a:gd name="adj" fmla="val 4528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74320" y="2432304"/>
            <a:ext cx="4846320" cy="25603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74320" y="24323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📋  REAL-LIFE ANALOGY 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040" y="276148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a prompt template like a recipe card. The recipe (template) stays the same — but you swap in different ingredients (variables) to bake different cakes. A baker doesn't rewrite the recipe from scratch every time — they just change the flavor.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3767328"/>
            <a:ext cx="4846320" cy="960120"/>
          </a:xfrm>
          <a:prstGeom prst="roundRect">
            <a:avLst>
              <a:gd name="adj" fmla="val 11429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65760" y="3803904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A prompt template = recipe card. Variables = ingredients. Consistent output = perfectly baked result every time.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94960" y="2395728"/>
            <a:ext cx="35204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5486400" y="2432304"/>
            <a:ext cx="333756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486400" y="243230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⭐  WHY TEMPLATES MATTER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532120" y="28346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🔁  Reusability — write once, use many times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532120" y="3182112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📏  Consistency — same structure, predictable outputs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532120" y="352958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Speed — fill variables, not full prompts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532120" y="387705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Team collaboration — shared prompt library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532120" y="42245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3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 Easy testing — change one variable at a time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templates turn one-off prompts into repeatable systems — a key skill for professional AI usage.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17 / 28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Templates — Anatomy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template components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854964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74320" y="1115568"/>
            <a:ext cx="854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🧩  TEMPLATE STRUCTURE WITH VARIABLES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1444752"/>
            <a:ext cx="8412480" cy="1508760"/>
          </a:xfrm>
          <a:prstGeom prst="roundRect">
            <a:avLst>
              <a:gd name="adj" fmla="val 4848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20040" y="1444752"/>
            <a:ext cx="841248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11480" y="149961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576072" y="149961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40664" y="149961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914400" y="1472184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master-template.txt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93192" y="1673352"/>
            <a:ext cx="827532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{{role}} specializing in {{domain}}. Your audience is {{audience}}.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Tone: {{tone}}. Format: {{format}}.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Write {{content_type}} about {{topic}}.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points to include: {{key_points}}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{{word_count}} words.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CTA: {{call_to_action}}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2880" y="3182112"/>
            <a:ext cx="8732520" cy="1572768"/>
          </a:xfrm>
          <a:prstGeom prst="roundRect">
            <a:avLst>
              <a:gd name="adj" fmla="val 6977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274320" y="3218688"/>
            <a:ext cx="8549640" cy="256032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74320" y="3218688"/>
            <a:ext cx="854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✅  FILLED TEMPLATE — EXAMPLE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3420279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565C0"/>
                </a:solidFill>
              </a:rPr>
              <a:t>Filled values →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20040" y="3584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{{role}}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40280" y="35844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"expert copywriter"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20040" y="378561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{{domain}}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240280" y="378561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"e-commerce"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20040" y="398678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{{audience}}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240280" y="39867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"health-conscious shoppers"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0040" y="4187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{{tone}}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240280" y="4187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"warm &amp; inspiring"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0040" y="4389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{{format}}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240280" y="43891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"2 short paragraphs"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617720" y="3584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{{content_type}}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37960" y="35844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"product description"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617720" y="378561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{{topic}}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537960" y="378561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"organic green tea"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617720" y="398678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{{key_points}}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37960" y="39867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"antioxidants, farm-sourced, relaxation"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617720" y="4187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{{word_count}}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537960" y="4187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"80"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617720" y="4389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8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{{call_to_action}}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537960" y="43891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"Shop Now"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in templates (shown as {{variable}}) act as fill-in-the-blank fields — change them to produce different content instantly.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18 / 28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Template Patterns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reusable patterns for every use case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2834640" cy="1792224"/>
          </a:xfrm>
          <a:prstGeom prst="roundRect">
            <a:avLst>
              <a:gd name="adj" fmla="val 6122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92608" y="11704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 EXPLAIN-TO-AUDIENCE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572768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65760" y="162763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30352" y="162763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94944" y="162763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" y="1801368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 {{concept}} to a {{audience}}.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{{analogy_type}} analogies.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 it under {{word_limit}} words.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172968" y="1078992"/>
            <a:ext cx="2834640" cy="1792224"/>
          </a:xfrm>
          <a:prstGeom prst="roundRect">
            <a:avLst>
              <a:gd name="adj" fmla="val 6122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282696" y="11704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TRANSFORM-CONTENT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64408" y="1572768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64408" y="157276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355848" y="162763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520440" y="162763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685032" y="162763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337560" y="1801368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 the following {{input_type}} into a {{output_type}}.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{{input_content}}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Style: {{style}}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63056" y="1078992"/>
            <a:ext cx="2834640" cy="1792224"/>
          </a:xfrm>
          <a:prstGeom prst="roundRect">
            <a:avLst>
              <a:gd name="adj" fmla="val 6122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272784" y="11704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EVALUATE-SCORE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54496" y="1572768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6254496" y="157276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6345936" y="162763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6510528" y="162763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6675120" y="162763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6327648" y="1801368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 this {{content_type}} on: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{{criterion_1}} (0-10)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{{criterion_2}} (0-10)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{{criterion_3}} (0-10)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Content: {{content}}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 score + justification.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82880" y="2980944"/>
            <a:ext cx="2834640" cy="1792224"/>
          </a:xfrm>
          <a:prstGeom prst="roundRect">
            <a:avLst>
              <a:gd name="adj" fmla="val 6122"/>
            </a:avLst>
          </a:prstGeom>
          <a:solidFill>
            <a:srgbClr val="FCE4EC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292608" y="30723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GENERATE-LIST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34747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274320" y="3474720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365760" y="3529584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530352" y="3529584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694944" y="3529584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47472" y="3703320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 {{count}} {{item_type}} for {{context}}.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Constraints: {{constraints}}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Format: {{format_type}}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Tone: {{tone}}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172968" y="2980944"/>
            <a:ext cx="2834640" cy="1792224"/>
          </a:xfrm>
          <a:prstGeom prst="roundRect">
            <a:avLst>
              <a:gd name="adj" fmla="val 6122"/>
            </a:avLst>
          </a:prstGeom>
          <a:solidFill>
            <a:srgbClr val="F3E5F5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82696" y="30723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COMPARE-CONTRAST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64408" y="34747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3264408" y="3474720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3355848" y="3529584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520440" y="3529584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3685032" y="3529584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337560" y="3703320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 {{option_a}} and {{option_b}} for the use case: {{use_case}}.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Focus on: {{dimensions}}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 as a {{output_format}}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Audience: {{audience}}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63056" y="2980944"/>
            <a:ext cx="2834640" cy="1792224"/>
          </a:xfrm>
          <a:prstGeom prst="roundRect">
            <a:avLst>
              <a:gd name="adj" fmla="val 6122"/>
            </a:avLst>
          </a:prstGeom>
          <a:solidFill>
            <a:srgbClr val="E8EAF6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6272784" y="30723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SUMMARIZE-EXTRACT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254496" y="34747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6254496" y="3474720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6345936" y="3529584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6510528" y="3529584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6675120" y="3529584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6327648" y="3703320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Summarize the following {{document_type}}: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{{content}}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Extract: {{extract_elements}}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{{length}}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Format: {{format}}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library of templates for your most common tasks is one of the highest-leverage investments in prompt engineering.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19 / 28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Templates — Prompt Chaining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complex tasks into sequential prompts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1188720"/>
          </a:xfrm>
          <a:prstGeom prst="roundRect">
            <a:avLst>
              <a:gd name="adj" fmla="val 9231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70432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Chaining 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technique of breaking a complex task into </a:t>
            </a:r>
            <a:r>
              <a:rPr lang="en-US" sz="12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sequence of simpler prompts</a:t>
            </a:r>
            <a:r>
              <a:rPr lang="en-US" sz="12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where the output of one prompt becomes the input of the next — like an assembly 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82880" y="2377440"/>
            <a:ext cx="2834640" cy="2377440"/>
          </a:xfrm>
          <a:prstGeom prst="roundRect">
            <a:avLst>
              <a:gd name="adj" fmla="val 4615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56032" y="2414016"/>
            <a:ext cx="2688336" cy="292608"/>
          </a:xfrm>
          <a:prstGeom prst="roundRect">
            <a:avLst>
              <a:gd name="adj" fmla="val 3125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92608" y="243230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STEP 1: Research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761488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74320" y="276148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65760" y="281635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30352" y="281635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94944" y="281635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68680" y="27889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template.txt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7472" y="2990088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 5 key facts about {{topic}} that resonate with {{audience}}.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4005072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47472" y="40416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47472" y="4224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"1. Organic tea has 40% more antioxidants..."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035808" y="336499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565C0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3182112" y="2377440"/>
            <a:ext cx="2834640" cy="2377440"/>
          </a:xfrm>
          <a:prstGeom prst="roundRect">
            <a:avLst>
              <a:gd name="adj" fmla="val 4615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255264" y="2414016"/>
            <a:ext cx="2688336" cy="292608"/>
          </a:xfrm>
          <a:prstGeom prst="roundRect">
            <a:avLst>
              <a:gd name="adj" fmla="val 3125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91840" y="243230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STEP 2: Draft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73552" y="2761488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3273552" y="276148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364992" y="281635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529584" y="281635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694176" y="281635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867912" y="27889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template.txt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346704" y="2990088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these facts: {{step1_output}}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a 100-word product description for {{product}}.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73552" y="4005072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346704" y="40416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346704" y="4224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"Discover the ancient secret of..."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035040" y="336499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565C0"/>
                </a:solidFill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6181344" y="2377440"/>
            <a:ext cx="2834640" cy="2377440"/>
          </a:xfrm>
          <a:prstGeom prst="roundRect">
            <a:avLst>
              <a:gd name="adj" fmla="val 4615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254496" y="2414016"/>
            <a:ext cx="2688336" cy="292608"/>
          </a:xfrm>
          <a:prstGeom prst="roundRect">
            <a:avLst>
              <a:gd name="adj" fmla="val 3125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291072" y="243230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STEP 3: Optimize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272784" y="2761488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6272784" y="276148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6364224" y="2816352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528816" y="2816352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693408" y="2816352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867144" y="27889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template.txt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345936" y="2990088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Optimize this copy for SEO: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{{step2_output}}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keyword: {{keyword}}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272784" y="4005072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6345936" y="40416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345936" y="4224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"Organic green tea antioxidants..."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Chaining prevents 'do-everything' prompts that overload the model — each step in a chain can be optimized independently.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20 / 28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914400"/>
            <a:ext cx="5486400" cy="5486400"/>
          </a:xfrm>
          <a:prstGeom prst="ellipse">
            <a:avLst/>
          </a:prstGeom>
          <a:solidFill>
            <a:srgbClr val="1A3558">
              <a:alpha val="60000"/>
            </a:srgbClr>
          </a:solidFill>
          <a:ln w="12700">
            <a:solidFill>
              <a:srgbClr val="1A35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1371600" y="2743200"/>
            <a:ext cx="4114800" cy="4114800"/>
          </a:xfrm>
          <a:prstGeom prst="ellipse">
            <a:avLst/>
          </a:prstGeom>
          <a:solidFill>
            <a:srgbClr val="102040">
              <a:alpha val="60000"/>
            </a:srgbClr>
          </a:solidFill>
          <a:ln w="12700">
            <a:solidFill>
              <a:srgbClr val="1020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6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Content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with Prompt Engineering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Applying Zero-Shot · Few-Shot · Role Prompting · Templates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371600" y="2834640"/>
            <a:ext cx="3200400" cy="329184"/>
          </a:xfrm>
          <a:prstGeom prst="roundRect">
            <a:avLst>
              <a:gd name="adj" fmla="val 22222"/>
            </a:avLst>
          </a:prstGeom>
          <a:solidFill>
            <a:srgbClr val="1A3558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463040" y="28529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Business Context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371600" y="3218688"/>
            <a:ext cx="3200400" cy="329184"/>
          </a:xfrm>
          <a:prstGeom prst="roundRect">
            <a:avLst>
              <a:gd name="adj" fmla="val 22222"/>
            </a:avLst>
          </a:prstGeom>
          <a:solidFill>
            <a:srgbClr val="1A3558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463040" y="3236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Zero-Shot Attempt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371600" y="3602736"/>
            <a:ext cx="3200400" cy="329184"/>
          </a:xfrm>
          <a:prstGeom prst="roundRect">
            <a:avLst>
              <a:gd name="adj" fmla="val 22222"/>
            </a:avLst>
          </a:prstGeom>
          <a:solidFill>
            <a:srgbClr val="1A3558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463040" y="36210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Few-Shot Improvement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834640"/>
            <a:ext cx="3200400" cy="329184"/>
          </a:xfrm>
          <a:prstGeom prst="roundRect">
            <a:avLst>
              <a:gd name="adj" fmla="val 22222"/>
            </a:avLst>
          </a:prstGeom>
          <a:solidFill>
            <a:srgbClr val="1A3558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120640" y="28529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Role Prompting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3218688"/>
            <a:ext cx="3200400" cy="329184"/>
          </a:xfrm>
          <a:prstGeom prst="roundRect">
            <a:avLst>
              <a:gd name="adj" fmla="val 22222"/>
            </a:avLst>
          </a:prstGeom>
          <a:solidFill>
            <a:srgbClr val="1A3558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120640" y="3236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Template Solution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3602736"/>
            <a:ext cx="3200400" cy="329184"/>
          </a:xfrm>
          <a:prstGeom prst="roundRect">
            <a:avLst>
              <a:gd name="adj" fmla="val 22222"/>
            </a:avLst>
          </a:prstGeom>
          <a:solidFill>
            <a:srgbClr val="1A3558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120640" y="36210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Evaluation &amp; Results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66AA"/>
                </a:solidFill>
              </a:rPr>
              <a:t>Slides 22–28  |  Prompt Engineering Fundamentals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Business Context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marketing team's challenge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1691640"/>
          </a:xfrm>
          <a:prstGeom prst="roundRect">
            <a:avLst>
              <a:gd name="adj" fmla="val 6486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33856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 THE SCENARIO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" y="1517904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GreenLeaf Co. is a small organic wellness brand. Their marketing team of 2 people needs to produce 50+ pieces of content per month: product descriptions, social media posts, email subject lines, and ad copy — all while maintaining brand voice. They decide to use AI with prompt engineering.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2907792"/>
            <a:ext cx="210312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286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56032" y="34564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Descriptions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6032" y="3877056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Volume: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20/month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56032" y="4169664"/>
            <a:ext cx="1956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Tone: </a:t>
            </a:r>
            <a:r>
              <a:rPr lang="en-US" sz="8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Informative, benefit-focused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423160" y="2907792"/>
            <a:ext cx="210312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246888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496312" y="34564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Posts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496312" y="3877056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Volume: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12/month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96312" y="4169664"/>
            <a:ext cx="1956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Tone: </a:t>
            </a:r>
            <a:r>
              <a:rPr lang="en-US" sz="8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Casual, engaging, emoji-friendly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2907792"/>
            <a:ext cx="210312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70916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📧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736592" y="34564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Subject Lines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36592" y="3877056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Volume: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8/month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36592" y="4169664"/>
            <a:ext cx="1956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Tone: </a:t>
            </a:r>
            <a:r>
              <a:rPr lang="en-US" sz="8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Curiosity-driving, action-oriented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03720" y="2907792"/>
            <a:ext cx="210312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94944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📣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976872" y="34564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Copy (Google/Meta)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76872" y="3877056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Volume: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10/month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76872" y="4169664"/>
            <a:ext cx="1956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Tone: </a:t>
            </a:r>
            <a:r>
              <a:rPr lang="en-US" sz="85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Urgent, conversion-focused, brief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GreenLeaf needs consistency, speed, and brand alignment — the perfect use case for prompt engineering.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22 / 28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Zero-Shot Attempt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try — what went wrong?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4297680" cy="3703320"/>
          </a:xfrm>
          <a:prstGeom prst="roundRect">
            <a:avLst>
              <a:gd name="adj" fmla="val 2963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411480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74320" y="11155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📝  ZERO-SHOT PROMPT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444752"/>
            <a:ext cx="4114800" cy="2331720"/>
          </a:xfrm>
          <a:prstGeom prst="roundRect">
            <a:avLst>
              <a:gd name="adj" fmla="val 3137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74320" y="1444752"/>
            <a:ext cx="411480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65760" y="149961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530352" y="149961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94944" y="149961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68680" y="1472184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attempt1.txt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7472" y="1673352"/>
            <a:ext cx="397764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a product description for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organic green tea.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3840480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FEBEE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65760" y="3877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62828"/>
                </a:solidFill>
              </a:rPr>
              <a:t>❌  Problems Found: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5760" y="4114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generic • Wrong length • No brand voice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key benefits • No CTA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63440" y="1078992"/>
            <a:ext cx="4251960" cy="3703320"/>
          </a:xfrm>
          <a:prstGeom prst="roundRect">
            <a:avLst>
              <a:gd name="adj" fmla="val 2963"/>
            </a:avLst>
          </a:prstGeom>
          <a:solidFill>
            <a:srgbClr val="FFEBEE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754880" y="1115568"/>
            <a:ext cx="4069080" cy="256032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754880" y="111556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⚠️  AI OUTPUT (Generic)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1444752"/>
            <a:ext cx="4069080" cy="2331720"/>
          </a:xfrm>
          <a:prstGeom prst="roundRect">
            <a:avLst>
              <a:gd name="adj" fmla="val 3137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828032" y="148132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828032" y="1664208"/>
            <a:ext cx="3931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 tea is a popular beverage enjoyed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around the world. It is known for its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 benefits and refreshing taste.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organic green tea is made from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high-quality leaves. It contains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antioxidants that may be beneficial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health.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our green tea today!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754880" y="384048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846320" y="3877056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E2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Root Cause: The zero-shot prompt gave the model zero context about brand, audience, tone, length, or unique selling points.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vague zero-shot prompt gets a vague answer — the model can only work with what you give it.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23 / 28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Few-Shot Improvement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examples to guide the output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4892040" cy="3703320"/>
          </a:xfrm>
          <a:prstGeom prst="roundRect">
            <a:avLst>
              <a:gd name="adj" fmla="val 2963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470916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74320" y="111556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📝  FEW-SHOT PROMPT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444752"/>
            <a:ext cx="4709160" cy="3273552"/>
          </a:xfrm>
          <a:prstGeom prst="roundRect">
            <a:avLst>
              <a:gd name="adj" fmla="val 2235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74320" y="1444752"/>
            <a:ext cx="47091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65760" y="149961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530352" y="149961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94944" y="149961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68680" y="147218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few-shot-prompt.txt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7472" y="1673352"/>
            <a:ext cx="45720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a product description in our brand style.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Product: Lavender Sleep Oil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"Drift into deep, restorative sleep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our pure lavender essential oil. Sourced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Provençal fields, this calming blend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relaxes your mind and body. Just 3 drops.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 our wellness collection."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Product: Turmeric Supplement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"Fight inflammation naturally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our potent turmeric capsules. 500mg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curcumin, 95% bioavailability. Your daily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dose of ancient healing. Order now."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Product: Organic Green Tea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230368" y="1078992"/>
            <a:ext cx="3685032" cy="3703320"/>
          </a:xfrm>
          <a:prstGeom prst="roundRect">
            <a:avLst>
              <a:gd name="adj" fmla="val 2978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321808" y="1115568"/>
            <a:ext cx="3502152" cy="25603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321808" y="1115568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✨  IMPROVED OUTPUT ✅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21808" y="1444752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394960" y="1481328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394960" y="1664208"/>
            <a:ext cx="336499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"Awaken your senses with every sip.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certified organic green tea is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harvested from misty mountain farms,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delivering pure, earthy flavour and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powerful antioxidant boost.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Calm your mind. Nourish your body.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 our tea collection."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21808" y="3474720"/>
            <a:ext cx="3502152" cy="1188720"/>
          </a:xfrm>
          <a:prstGeom prst="roundRect">
            <a:avLst>
              <a:gd name="adj" fmla="val 9231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5413248" y="3511296"/>
            <a:ext cx="331927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What improved: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Matches brand voice from examples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Correct length (~60 words)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Includes sensory language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3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Ends with CTA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examples were enough to teach the model GreenLeaf's brand voice — tone, structure, CTA style, and length.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24 / 28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Role Prompting for Social Media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Unlocking platform-native content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813816"/>
          </a:xfrm>
          <a:prstGeom prst="roundRect">
            <a:avLst>
              <a:gd name="adj" fmla="val 9231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70432"/>
            <a:ext cx="8412480" cy="657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Social media posts require a very different voice from product descriptions — casual, punchy, platform-specific. Role prompting gives the model a social media expert persona.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2038378"/>
            <a:ext cx="4297680" cy="2739362"/>
          </a:xfrm>
          <a:prstGeom prst="roundRect">
            <a:avLst>
              <a:gd name="adj" fmla="val 4615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82880" y="2038378"/>
            <a:ext cx="4297680" cy="274320"/>
          </a:xfrm>
          <a:prstGeom prst="roundRect">
            <a:avLst>
              <a:gd name="adj" fmla="val 33333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56032" y="2056666"/>
            <a:ext cx="4151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📱  Instagram Role Prompt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367562"/>
            <a:ext cx="4114800" cy="1536192"/>
          </a:xfrm>
          <a:prstGeom prst="roundRect">
            <a:avLst>
              <a:gd name="adj" fmla="val 4762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74320" y="2367562"/>
            <a:ext cx="411480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65760" y="242242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30352" y="242242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94944" y="242242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68680" y="2394994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instagram-prompt.txt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7472" y="2596162"/>
            <a:ext cx="39776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Gen Z social media strategist for a wellness brand. You specialize in Instagram content that drives saves and shares. Use emojis sparingly but effectively. Write an Instagram caption for: Organic Green Tea launch.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3958618"/>
            <a:ext cx="4114800" cy="662940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47472" y="3995194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47472" y="417807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✨ Your morning ritual just got an upgrade.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new Organic Green Tea is farm-so...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63440" y="2038378"/>
            <a:ext cx="4251960" cy="2739362"/>
          </a:xfrm>
          <a:prstGeom prst="roundRect">
            <a:avLst>
              <a:gd name="adj" fmla="val 4615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663440" y="2038378"/>
            <a:ext cx="4251960" cy="274320"/>
          </a:xfrm>
          <a:prstGeom prst="roundRect">
            <a:avLst>
              <a:gd name="adj" fmla="val 33333"/>
            </a:avLst>
          </a:prstGeom>
          <a:solidFill>
            <a:srgbClr val="FF8F00"/>
          </a:solidFill>
          <a:ln w="12700">
            <a:solidFill>
              <a:srgbClr val="FF8F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736592" y="2056666"/>
            <a:ext cx="4105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📧  Email Subject Role Prompt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2367562"/>
            <a:ext cx="4069080" cy="1536192"/>
          </a:xfrm>
          <a:prstGeom prst="roundRect">
            <a:avLst>
              <a:gd name="adj" fmla="val 4762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754880" y="2367562"/>
            <a:ext cx="406908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846320" y="242242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5010912" y="242242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175504" y="242242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349240" y="2394994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email-prompt.txt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28032" y="2596162"/>
            <a:ext cx="39319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email marketing specialist with a 10-year track record of 40%+ open rates. You write subject lines that create curiosity without being clickbait. Write 3 subject line options for a green tea launch email.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54880" y="3958618"/>
            <a:ext cx="4069080" cy="662940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828032" y="3995194"/>
            <a:ext cx="3931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E7D32"/>
                </a:solidFill>
              </a:rPr>
              <a:t>▶ OUTPUT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828032" y="4178073"/>
            <a:ext cx="3931920" cy="347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"Your morning routine is missing this 🍵"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"We grew your new obsession in a...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platform has its own content language — role prompting lets you deploy platform-specific expertise without being an expert yourself.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25 / 28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The GreenLeaf Master Template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template to generate all content types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87325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854964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74320" y="1115568"/>
            <a:ext cx="854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🏆  MASTER MARKETING CONTENT TEMPLATE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1444752"/>
            <a:ext cx="8412480" cy="1600200"/>
          </a:xfrm>
          <a:prstGeom prst="roundRect">
            <a:avLst>
              <a:gd name="adj" fmla="val 4571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20040" y="1444752"/>
            <a:ext cx="841248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11480" y="1499616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576072" y="1499616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40664" y="1499616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914400" y="1472184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greenleaf-master-template.txt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93192" y="1673352"/>
            <a:ext cx="82753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{{role}} for GreenLeaf Co., an organic wellness brand. Brand values: {{brand_values}}. Audience: {{target_audience}}.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{{content_type}} for the product: {{product_name}}.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benefits: {{benefits}}. Tone: {{tone}}. Length: {{length}}. CTA: {{cta}}.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{{additional_instructions}}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2880" y="3255264"/>
            <a:ext cx="2834640" cy="1508760"/>
          </a:xfrm>
          <a:prstGeom prst="roundRect">
            <a:avLst>
              <a:gd name="adj" fmla="val 7273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256032" y="3291840"/>
            <a:ext cx="2688336" cy="256032"/>
          </a:xfrm>
          <a:prstGeom prst="roundRect">
            <a:avLst>
              <a:gd name="adj" fmla="val 3571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92608" y="331012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Product Description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74320" y="3602736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74320" y="3602736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5760" y="365760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530352" y="365760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694944" y="365760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868680" y="3630168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variables.txt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47472" y="3831336"/>
            <a:ext cx="2514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role=copywriter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content_type=product description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product_name=Organic Green Tea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benefits=antioxidants, calming, farm-sourced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tone=warm, inspiring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length=60 words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cta=Shop Now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72968" y="3255264"/>
            <a:ext cx="2834640" cy="1508760"/>
          </a:xfrm>
          <a:prstGeom prst="roundRect">
            <a:avLst>
              <a:gd name="adj" fmla="val 7273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46120" y="3291840"/>
            <a:ext cx="2688336" cy="256032"/>
          </a:xfrm>
          <a:prstGeom prst="roundRect">
            <a:avLst>
              <a:gd name="adj" fmla="val 3571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282696" y="331012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Instagram Caption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64408" y="3602736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3264408" y="3602736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3355848" y="365760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3520440" y="365760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685032" y="365760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3858768" y="3630168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variables.txt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337560" y="3831336"/>
            <a:ext cx="2514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role=Gen Z social strategist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content_type=Instagram caption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product_name=Organic Green Tea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benefits=morning ritual, natural, antioxidants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tone=casual, emoji-friendly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length=3 lines + hashtags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cta=tag a tea lover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163056" y="3255264"/>
            <a:ext cx="2834640" cy="1508760"/>
          </a:xfrm>
          <a:prstGeom prst="roundRect">
            <a:avLst>
              <a:gd name="adj" fmla="val 7273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236208" y="3291840"/>
            <a:ext cx="2688336" cy="256032"/>
          </a:xfrm>
          <a:prstGeom prst="roundRect">
            <a:avLst>
              <a:gd name="adj" fmla="val 3571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272784" y="331012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Email Subject Line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54496" y="3602736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E2A3A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6254496" y="3602736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6345936" y="3657600"/>
            <a:ext cx="91440" cy="914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510528" y="3657600"/>
            <a:ext cx="91440" cy="914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675120" y="3657600"/>
            <a:ext cx="91440" cy="914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848856" y="3630168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</a:rPr>
              <a:t>variables.txt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327648" y="3831336"/>
            <a:ext cx="2514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role=email marketing specialist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content_type=3 subject line options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product_name=Organic Green Tea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benefits=new launch, farm-sourced, wellness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tone=curiosity-driven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length=max 50 chars each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cta=open the email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master template replaced 4 different ad-hoc prompts — the team now generates consistent content 5× faster.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26 / 28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Results &amp; Evaluation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Measuring the impact of prompt engineering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2103120" cy="2148840"/>
          </a:xfrm>
          <a:prstGeom prst="roundRect">
            <a:avLst>
              <a:gd name="adj" fmla="val 5217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74320" y="113385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Production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645920"/>
            <a:ext cx="1920240" cy="18288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74320" y="1700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62828"/>
                </a:solidFill>
              </a:rPr>
              <a:t>Before: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7432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pieces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days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4320" y="2304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7D32"/>
                </a:solidFill>
              </a:rPr>
              <a:t>After: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74320" y="25237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pieces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day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6032" y="3310128"/>
            <a:ext cx="1956816" cy="292608"/>
          </a:xfrm>
          <a:prstGeom prst="roundRect">
            <a:avLst>
              <a:gd name="adj" fmla="val 37500"/>
            </a:avLst>
          </a:prstGeom>
          <a:solidFill>
            <a:srgbClr val="0D1B2A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74320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📈  75% faster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423160" y="1078992"/>
            <a:ext cx="2103120" cy="2148840"/>
          </a:xfrm>
          <a:prstGeom prst="roundRect">
            <a:avLst>
              <a:gd name="adj" fmla="val 5217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2514600" y="113385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Consistency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14600" y="1645920"/>
            <a:ext cx="1920240" cy="18288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514600" y="1700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62828"/>
                </a:solidFill>
              </a:rPr>
              <a:t>Before: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51460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/ 10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14600" y="2304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7D32"/>
                </a:solidFill>
              </a:rPr>
              <a:t>After: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514600" y="25237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/ 10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96312" y="3310128"/>
            <a:ext cx="1956816" cy="292608"/>
          </a:xfrm>
          <a:prstGeom prst="roundRect">
            <a:avLst>
              <a:gd name="adj" fmla="val 37500"/>
            </a:avLst>
          </a:prstGeom>
          <a:solidFill>
            <a:srgbClr val="0D1B2A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2514600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📈  +47% consistency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1078992"/>
            <a:ext cx="2103120" cy="2148840"/>
          </a:xfrm>
          <a:prstGeom prst="roundRect">
            <a:avLst>
              <a:gd name="adj" fmla="val 5217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754880" y="113385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Rounds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(avg per piece)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1645920"/>
            <a:ext cx="1920240" cy="18288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754880" y="1700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62828"/>
                </a:solidFill>
              </a:rPr>
              <a:t>Before: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5488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rounds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304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7D32"/>
                </a:solidFill>
              </a:rPr>
              <a:t>After: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54880" y="25237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rounds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36592" y="3310128"/>
            <a:ext cx="1956816" cy="292608"/>
          </a:xfrm>
          <a:prstGeom prst="roundRect">
            <a:avLst>
              <a:gd name="adj" fmla="val 37500"/>
            </a:avLst>
          </a:prstGeom>
          <a:solidFill>
            <a:srgbClr val="0D1B2A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754880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📈  77% fewer edits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903720" y="1078992"/>
            <a:ext cx="2103120" cy="2148840"/>
          </a:xfrm>
          <a:prstGeom prst="roundRect">
            <a:avLst>
              <a:gd name="adj" fmla="val 5217"/>
            </a:avLst>
          </a:prstGeom>
          <a:solidFill>
            <a:srgbClr val="FCE4EC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995160" y="113385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Satisfaction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95160" y="1645920"/>
            <a:ext cx="1920240" cy="18288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995160" y="1700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62828"/>
                </a:solidFill>
              </a:rPr>
              <a:t>Before: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99516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😫 Stressful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95160" y="2304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7D32"/>
                </a:solidFill>
              </a:rPr>
              <a:t>After: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995160" y="25237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😊 Manageable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976872" y="3310128"/>
            <a:ext cx="1956816" cy="292608"/>
          </a:xfrm>
          <a:prstGeom prst="roundRect">
            <a:avLst>
              <a:gd name="adj" fmla="val 37500"/>
            </a:avLst>
          </a:prstGeom>
          <a:solidFill>
            <a:srgbClr val="0D1B2A"/>
          </a:solidFill>
          <a:ln w="12700">
            <a:solidFill>
              <a:srgbClr val="E0E7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6995160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📈  High morale gain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2880" y="3730752"/>
            <a:ext cx="87325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74320" y="3767328"/>
            <a:ext cx="8549640" cy="256032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74320" y="3767328"/>
            <a:ext cx="854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🏆  WHICH TECHNIQUE CONTRIBUTED MOST?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" y="4114800"/>
            <a:ext cx="1165860" cy="29260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44256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</a:rPr>
              <a:t>Zero-Shot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</a:rPr>
              <a:t>15%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531620" y="4114800"/>
            <a:ext cx="2720340" cy="292608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1531620" y="4425696"/>
            <a:ext cx="2720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</a:rPr>
              <a:t>Few-Shot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</a:rPr>
              <a:t>35%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297680" y="4114800"/>
            <a:ext cx="1943100" cy="292608"/>
          </a:xfrm>
          <a:prstGeom prst="rect">
            <a:avLst/>
          </a:prstGeom>
          <a:solidFill>
            <a:srgbClr val="FF8F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297680" y="4425696"/>
            <a:ext cx="19431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8F00"/>
                </a:solidFill>
              </a:rPr>
              <a:t>Role Prompting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8F00"/>
                </a:solidFill>
              </a:rPr>
              <a:t>25%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286500" y="4114800"/>
            <a:ext cx="1943100" cy="292608"/>
          </a:xfrm>
          <a:prstGeom prst="rect">
            <a:avLst/>
          </a:prstGeom>
          <a:solidFill>
            <a:srgbClr val="9C27B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6286500" y="4425696"/>
            <a:ext cx="19431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C27B0"/>
                </a:solidFill>
              </a:rPr>
              <a:t>Templates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9C27B0"/>
                </a:solidFill>
              </a:rPr>
              <a:t>25%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Combining all four techniques yielded the best results — each technique addressed a different aspect of the content challenge.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27 / 28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2286000" cy="2286000"/>
          </a:xfrm>
          <a:prstGeom prst="ellipse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011680" cy="2011680"/>
          </a:xfrm>
          <a:prstGeom prst="ellipse">
            <a:avLst/>
          </a:prstGeom>
          <a:solidFill>
            <a:srgbClr val="43A047">
              <a:alpha val="8000"/>
            </a:srgbClr>
          </a:solidFill>
          <a:ln w="12700">
            <a:solidFill>
              <a:srgbClr val="BBDD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— 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48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learned today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932688"/>
            <a:ext cx="914400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078992"/>
            <a:ext cx="2834640" cy="1773936"/>
          </a:xfrm>
          <a:prstGeom prst="roundRect">
            <a:avLst>
              <a:gd name="adj" fmla="val 6186"/>
            </a:avLst>
          </a:prstGeom>
          <a:solidFill>
            <a:srgbClr val="E3F2FD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56032" y="117043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56032" y="1170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120700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Prompting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" y="167335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task, no examples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608" y="202082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for common, simple tasks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2608" y="2368296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 — add examples if output is off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172968" y="1078992"/>
            <a:ext cx="2834640" cy="1773936"/>
          </a:xfrm>
          <a:prstGeom prst="roundRect">
            <a:avLst>
              <a:gd name="adj" fmla="val 6186"/>
            </a:avLst>
          </a:prstGeom>
          <a:solidFill>
            <a:srgbClr val="E8F5E9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3246120" y="117043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246120" y="1170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67328" y="120700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82696" y="167335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1–5 input→output examples in prompt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82696" y="202082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Teaches pattern, tone, format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82696" y="2368296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diverse, high-quality examples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63056" y="1078992"/>
            <a:ext cx="2834640" cy="1773936"/>
          </a:xfrm>
          <a:prstGeom prst="roundRect">
            <a:avLst>
              <a:gd name="adj" fmla="val 6186"/>
            </a:avLst>
          </a:prstGeom>
          <a:solidFill>
            <a:srgbClr val="FFF9C4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236208" y="117043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FF8F00"/>
          </a:solidFill>
          <a:ln w="12700">
            <a:solidFill>
              <a:srgbClr val="FF8F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36208" y="1170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757416" y="120700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Prompting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72784" y="167335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8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are a [expert]..."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72784" y="202082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8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Unlocks specialized tone &amp; vocabulary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72784" y="2368296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8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with system prompts for apps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82880" y="2962656"/>
            <a:ext cx="2834640" cy="1773936"/>
          </a:xfrm>
          <a:prstGeom prst="roundRect">
            <a:avLst>
              <a:gd name="adj" fmla="val 6186"/>
            </a:avLst>
          </a:prstGeom>
          <a:solidFill>
            <a:srgbClr val="FCE4EC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256032" y="305409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256032" y="30540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77240" y="30906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Templates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2608" y="3557016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structures with {{variables}}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92608" y="3904488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library for your use cases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2608" y="4251960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templates for complex tasks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172968" y="2962656"/>
            <a:ext cx="2834640" cy="1773936"/>
          </a:xfrm>
          <a:prstGeom prst="roundRect">
            <a:avLst>
              <a:gd name="adj" fmla="val 6186"/>
            </a:avLst>
          </a:prstGeom>
          <a:solidFill>
            <a:srgbClr val="F3E5F5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3246120" y="305409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246120" y="30540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767328" y="30906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 Lessons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282696" y="3557016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techniques for best results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282696" y="3904488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&amp; iterate — prompting is a skill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82696" y="4251960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= scalable content system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163056" y="2962656"/>
            <a:ext cx="2834640" cy="1773936"/>
          </a:xfrm>
          <a:prstGeom prst="roundRect">
            <a:avLst>
              <a:gd name="adj" fmla="val 6186"/>
            </a:avLst>
          </a:prstGeom>
          <a:solidFill>
            <a:srgbClr val="E8EAF6"/>
          </a:solidFill>
          <a:ln w="12700">
            <a:solidFill>
              <a:srgbClr val="E0E7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236208" y="305409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6236208" y="30540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06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757416" y="30906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Rules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72784" y="3557016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specific &amp; provide context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272784" y="3904488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format &amp; length clearly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272784" y="4251960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 </a:t>
            </a:r>
            <a:r>
              <a:rPr lang="en-US" sz="900" dirty="0">
                <a:solidFill>
                  <a:srgbClr val="334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Iterate: zero-shot → few-shot → template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137160" y="4873752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137160" y="4873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💡 Key Takeaway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23444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 is a learnable skill — start with zero-shot, add few-shot examples, assign roles, and build templates to scale.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686800" y="48646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5C8F0"/>
                </a:solidFill>
              </a:rPr>
              <a:t>28 / 28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4582</Words>
  <Application>Microsoft Office PowerPoint</Application>
  <PresentationFormat>On-screen Show (16:9)</PresentationFormat>
  <Paragraphs>747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Engineering Fundamentals</dc:title>
  <dc:subject>PptxGenJS Presentation</dc:subject>
  <dc:creator>PptxGenJS</dc:creator>
  <cp:lastModifiedBy>Usha Nandhini</cp:lastModifiedBy>
  <cp:revision>4</cp:revision>
  <dcterms:created xsi:type="dcterms:W3CDTF">2026-06-12T11:31:29Z</dcterms:created>
  <dcterms:modified xsi:type="dcterms:W3CDTF">2026-06-13T11:50:22Z</dcterms:modified>
</cp:coreProperties>
</file>