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46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A17"/>
                </a:solidFill>
              </a:rPr>
              <a:t>MASTERING GENAI &amp; AGENTIC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Multimodal RAG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Text + Image + Table Retrieval  ·  Vision Encoders  ·  Invoice &amp; Document Q&amp;A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Text-Only RAG → The Modality Gap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3358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What text RAG cannot do — and why multimodal retrieval fills that gap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81058"/>
            <a:ext cx="260604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8105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L07 RAG Handles Well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774250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79253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Dense text passages (policies, articles)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13162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23145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Semantic search over sentences/paragraphs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652074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67036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Cosine similarity over 1536-dim vectors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90986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10927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Grounded Q&amp;A with source citations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1381058"/>
            <a:ext cx="2606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154680" y="138105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It Cannot Handle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1774250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46120" y="179253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Charts, diagrams, infographics in PDFs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213162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46120" y="223145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Scanned invoices with no text layer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2652074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46120" y="267036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Tables with complex merged cells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090986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46120" y="310927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Images that carry the key information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1381058"/>
            <a:ext cx="2606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89320" y="138105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Multimodal RAG Adds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1774250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080760" y="179253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Vision encoders for image embedding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2213162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80760" y="223145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Table parsers + structural embeddings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89320" y="2652074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80760" y="267036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Cross-modal retrieval (query text → image)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3090986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80760" y="310927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Unified index across all content types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529898"/>
            <a:ext cx="850392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1480" y="354818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4A17"/>
                </a:solidFill>
              </a:rPr>
              <a:t>Real-world enterprise documents are 60–80% non-text (charts, tables, scans). Text-only RAG misses the majority of information in them.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Multimodal AI: Beyond Text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How AI models perceive and reason across text, images, audio, and structured data simultaneously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2314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2314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Multimodal AI?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966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Models that process and relate multiple data types — not just text in isolation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35268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4C"/>
                </a:solidFill>
              </a:rPr>
              <a:t>A multimodal AI model accepts and/or generates more than one data type. In RAG, multimodality means indexing and retrieving across modalities to answer a single query.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55604"/>
            <a:ext cx="548640" cy="10058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8556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" y="23128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8680" y="1855604"/>
            <a:ext cx="356616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19287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4C"/>
                </a:solidFill>
              </a:rPr>
              <a:t>Examples: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21116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Documents, policies, emails, transcripts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23859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Embedding: Transformer encoder (BERT, ada-002)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855604"/>
            <a:ext cx="548640" cy="10058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8556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23128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Images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1855604"/>
            <a:ext cx="356616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0" y="19287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4C"/>
                </a:solidFill>
              </a:rPr>
              <a:t>Examples: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0" y="21116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Diagrams, charts, photos, scanned pages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0" y="23859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A17"/>
                </a:solidFill>
              </a:rPr>
              <a:t>Embedding: Vision encoder (CLIP, ViT, ColPali)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044324"/>
            <a:ext cx="5486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30443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0040" y="35015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Tables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68680" y="3044324"/>
            <a:ext cx="356616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0120" y="31174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4C"/>
                </a:solidFill>
              </a:rPr>
              <a:t>Examples: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33003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Spreadsheets, HTML tables, CSV extracts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35746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</a:rPr>
              <a:t>Embedding: Structural parser + row/column encoding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044324"/>
            <a:ext cx="5486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63440" y="30443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35015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Audio / Video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12080" y="3044324"/>
            <a:ext cx="356616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303520" y="31174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4C"/>
                </a:solidFill>
              </a:rPr>
              <a:t>Examples: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03520" y="33003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Meeting recordings, training videos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35746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Embedding: ASR transcription → text embedding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9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9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Multimodal LLMs: Models That See and Read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7777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Key models powering multimodal RAG — from vision-language to document-native architectures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963809"/>
            <a:ext cx="14173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963809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0" y="963809"/>
            <a:ext cx="109728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45920" y="963809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963809"/>
            <a:ext cx="14173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0" y="963809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Modalities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60520" y="963809"/>
            <a:ext cx="11887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60520" y="963809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 Window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963809"/>
            <a:ext cx="192024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49240" y="963809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69480" y="963809"/>
            <a:ext cx="1645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269480" y="96380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329569"/>
            <a:ext cx="14173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65176" y="1347857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GPT-4o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5920" y="1329569"/>
            <a:ext cx="10972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682496" y="1347857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OpenAI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0" y="1329569"/>
            <a:ext cx="14173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79776" y="1347857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Text + Image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60520" y="1329569"/>
            <a:ext cx="11887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97096" y="1347857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128K tokens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49240" y="1329569"/>
            <a:ext cx="1920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85816" y="1347857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General vision Q&amp;A; doc analysis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69480" y="1329569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306056" y="1347857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Strong at charts &amp; diagrams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1713617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65176" y="1731905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Claude 3.5 Sonnet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645920" y="1713617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682496" y="1731905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Anthropic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0" y="1713617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779776" y="1731905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Text + Image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60520" y="1713617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97096" y="1731905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200K tokens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1713617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385816" y="1731905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Long doc analysis; multi-image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69480" y="1713617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306056" y="1731905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Best-in-class long context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" y="2097665"/>
            <a:ext cx="14173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65176" y="2115953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Gemini 1.5 Pro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097665"/>
            <a:ext cx="10972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682496" y="2115953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Google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0" y="2097665"/>
            <a:ext cx="14173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79776" y="2115953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Text+Image+Video+Audio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160520" y="2097665"/>
            <a:ext cx="11887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197096" y="2115953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1M tokens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9240" y="2097665"/>
            <a:ext cx="1920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385816" y="2115953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Video analysis; mixed-media docs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69480" y="2097665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306056" y="2115953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Native multi-frame video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28600" y="2481713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65176" y="2500001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LLaVA / LLaVA-1.6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645920" y="2481713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682496" y="2500001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Open-source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0" y="2481713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779776" y="2500001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Text + Image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160520" y="2481713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197096" y="2500001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4K–32K tokens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349240" y="2481713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385816" y="2500001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Self-hosted vision Q&amp;A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269480" y="2481713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306056" y="2500001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Free; needs GPU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28600" y="2865761"/>
            <a:ext cx="14173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265176" y="2884049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ColPali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645920" y="2865761"/>
            <a:ext cx="10972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682496" y="2884049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HuggingFace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43200" y="2865761"/>
            <a:ext cx="14173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779776" y="2884049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PDF page images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60520" y="2865761"/>
            <a:ext cx="11887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197096" y="2884049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Page-level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349240" y="2865761"/>
            <a:ext cx="1920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385816" y="2884049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Document retrieval (no OCR)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69480" y="2865761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306056" y="2884049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Retrieves by visual page layout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28600" y="3249809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5176" y="3268097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PaddleOCR + LLM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645920" y="3249809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1682496" y="3268097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Open-source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743200" y="3249809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2779776" y="3268097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Scanned images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160520" y="3249809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197096" y="3268097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Varies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349240" y="3249809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385816" y="3268097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OCR pipeline for invoices/forms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269480" y="3249809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7306056" y="3268097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Best for structured extraction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4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4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CLIP: Bridging Text and Image in Shared Vector Space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191247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How OpenAI's CLIP model enables text-to-image and image-to-image semantic search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447279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C"/>
                </a:solidFill>
              </a:rPr>
              <a:t>CLIP (Contrastive Language-Image Pre-training) trains a text encoder and an image encoder jointly so that matching text-image pairs end up near each other in the same vector space.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41639"/>
            <a:ext cx="1280160" cy="5486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07821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34339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(JPEG / PNG)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691640" y="2041639"/>
            <a:ext cx="1280160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691640" y="207821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Vision Encoder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91640" y="234339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ViT-B/32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37560" y="2041639"/>
            <a:ext cx="1280160" cy="5486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37560" y="207821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Image Vector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34339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512 dims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864599"/>
            <a:ext cx="12801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290117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16635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("a bar chart of revenue")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691640" y="2864599"/>
            <a:ext cx="1280160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91640" y="290117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Text Encoder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316635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Transformer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37560" y="2864599"/>
            <a:ext cx="12801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37560" y="290117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Text Vector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16635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512 dims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00200" y="2315959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971800" y="2315959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600200" y="3138919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971800" y="3138919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2041639"/>
            <a:ext cx="21031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2041639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C"/>
                </a:solidFill>
              </a:rPr>
              <a:t>Cosine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C"/>
                </a:solidFill>
              </a:rPr>
              <a:t>Similarity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2590279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High score (&gt;0.8):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image matches the text description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074911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Low score (&lt;0.3):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image and text are unrelated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40880" y="2041639"/>
            <a:ext cx="178308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040880" y="2041639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Text → Image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040880" y="2206231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Query: 'revenue growth chart' → retrieves the matching chart from a PDF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040880" y="2498839"/>
            <a:ext cx="1783080" cy="38404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040880" y="2498839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 → Text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40880" y="2663431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Upload a chart → retrieve relevant text analysis that describes it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040880" y="2956039"/>
            <a:ext cx="17830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40880" y="2956039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 → Image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40880" y="3120631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Find visually similar diagrams across a large document repository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Vision Encoders &amp; Image Embeddings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How AI converts pixels into semantically meaningful vectors for retrieval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2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Vision Encoder Pipeline: Pixels to Vectors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96651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How a vision transformer turns an image into a fixed-size embedding ready for cosine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52683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52683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1855603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1855603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Patch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39651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3192" y="2285371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Divide image into N×N patches (e.g. 16×16 pixels each). A 224×224 image → 196 patches.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0" y="1736731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020824" y="1352683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20824" y="1352683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020824" y="1855603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020824" y="1855603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Patch Embed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20824" y="2239651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93976" y="2285371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Flatten each patch into a vector, then linearly project to the model's hidden dimension (e.g. 768).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29584" y="1736731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21608" y="1352683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721608" y="1352683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721608" y="1855603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21608" y="1855603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Positional Encode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21608" y="2239651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94760" y="2285371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Add position tokens so the model knows the spatial location of each patch in the image.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30368" y="1736731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22392" y="1352683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22392" y="1352683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422392" y="1855603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22392" y="1855603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22392" y="2239651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95544" y="2285371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All patch embeddings pass through multi-head self-attention layers (ViT architecture).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31152" y="1736731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123176" y="1352683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123176" y="1352683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05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123176" y="1855603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123176" y="1855603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Pool &amp; Normalise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23176" y="2239651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196328" y="2285371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Extract [CLS] token or mean-pool all patch outputs → L2-normalise → final image vector.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3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3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ColPali: Retrieval Without OCR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212265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A breakthrough approach that embeds full PDF page images as patches — no text extraction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468297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C"/>
                </a:solidFill>
              </a:rPr>
              <a:t>ColPali (Contextual Late Interaction over PaliGemma) treats each PDF page as an image, divides it into patches, and generates a multi-vector embedding per page. Queries are matched at the patch level — far richer than single-vector retrieval.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62657"/>
            <a:ext cx="41148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062657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Traditional PDF RAG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46705"/>
            <a:ext cx="41148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464993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Extract text via OCR / PDF parser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794177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281246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Chunk text into passages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141649"/>
            <a:ext cx="41148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159937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Embed passages with text encoder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489121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507409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Single vector per chunk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836593"/>
            <a:ext cx="41148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3854881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✗ Fails: scanned, image-heavy PDFs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062657"/>
            <a:ext cx="411480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2062657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ColPali Approach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446705"/>
            <a:ext cx="41148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2464993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Render each page as a high-res image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794177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281246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Divide page into 16×16 patch grid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141649"/>
            <a:ext cx="41148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159937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Generate one vector per patch (~196 vectors/page)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489121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507409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Query matched at patch level (MaxSim scoring)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836593"/>
            <a:ext cx="4114800" cy="310896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854881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✓ Works on ANY PDF: text, charts, tables, scans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6828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682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Image Indexing Pipeline: PDF to Searchable Visual Store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23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The complete process for indexing image-rich PDFs into a multimodal vector database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24832"/>
            <a:ext cx="457200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24832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Render Pages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1324832"/>
            <a:ext cx="22860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1397984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Convert each PDF page to a high-res PNG (300 DPI). Use pdf2image or PyMuPDF. Store page-level metadata: doc name, page number, section.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324832"/>
            <a:ext cx="457200" cy="102412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1324832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Detect Regions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1324832"/>
            <a:ext cx="22860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49040" y="1397984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Run layout detection (e.g. DocLayNet, LayoutParser) to identify text blocks, figures, tables, headers — coordinates per region.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324832"/>
            <a:ext cx="457200" cy="10241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80760" y="1324832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 by Type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37960" y="1324832"/>
            <a:ext cx="22860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9400" y="1397984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Text blocks → text encoder. Image/figure regions → vision encoder. Tables → structural parser. Each type gets the right embedding model.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586704"/>
            <a:ext cx="45720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586704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Embed All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" y="2586704"/>
            <a:ext cx="22860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2659856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Generate vectors for each region. Tag each vector with modality, source page, bounding box coordinates, and content type.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2586704"/>
            <a:ext cx="45720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0" y="2586704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Upsert to DB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2586704"/>
            <a:ext cx="22860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49040" y="2659856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Store all vectors in a multimodal-capable vector DB (Qdrant, Weaviate). Use modality field for filtered retrieval.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2586704"/>
            <a:ext cx="457200" cy="10241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2586704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37960" y="2586704"/>
            <a:ext cx="22860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29400" y="2659856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Test cross-modal queries: a text question should retrieve relevant image regions and text passages from the same document.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Table &amp; Structured Data Retrieval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Indexing and querying tables, spreadsheets, and structured document elements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-10510" y="-1051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9530" y="-1051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Tables Break Standard RAG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9530" y="69357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The unique challenges that make tabular data retrieval fundamentally different from text retrieval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530" y="995330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9530" y="99533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 Loss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530" y="1342802"/>
            <a:ext cx="41148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0970" y="137937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Flattening a table to text destroys row/column relationships. A cell value is meaningless without its header context.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9530" y="2092610"/>
            <a:ext cx="411480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00970" y="211089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Fix: Serialise with headers: 'Revenue | Q1 | $2.3M'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52930" y="995330"/>
            <a:ext cx="411480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52930" y="99533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Sparse Vocabulary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52930" y="1342802"/>
            <a:ext cx="41148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44370" y="137937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Table cells often contain numbers, codes, or abbreviations with no natural language — text embeddings misrepresent them.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2930" y="2092610"/>
            <a:ext cx="411480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44370" y="211089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Fix: Use hybrid search: vector + BM25 for numerical cells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9530" y="2385218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09530" y="238521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Merged Cells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9530" y="2732690"/>
            <a:ext cx="41148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00970" y="276926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Multi-span headers and merged cells break sequential text extraction and confuse embedding boundaries.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9530" y="3482498"/>
            <a:ext cx="411480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00970" y="350078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Fix: Use structured parsers (Camelot, pdfplumber) before embedding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52930" y="2385218"/>
            <a:ext cx="411480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52930" y="238521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Mismatch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52930" y="2732690"/>
            <a:ext cx="41148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44370" y="276926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User asks 'Q3 revenue' but table header says 'Jul–Sep Net Sales' — text overlap is low despite semantic match.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52930" y="3482498"/>
            <a:ext cx="411480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44370" y="350078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Fix: Column description augmentation at index time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4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4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Table Serialisation Strategies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77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Four ways to convert a table into embeddable text — with trade-offs and recommendations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963804"/>
            <a:ext cx="8503920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96380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SAMPLE TABLE: Q3 Financial Summary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256412"/>
            <a:ext cx="2084832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27470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41448" y="1256412"/>
            <a:ext cx="2084832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87168" y="127470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Revenue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1256412"/>
            <a:ext cx="2084832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08576" y="127470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Expenses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84264" y="1256412"/>
            <a:ext cx="2084832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29984" y="127470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Net Profit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549020"/>
            <a:ext cx="2084832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156730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North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41448" y="1549020"/>
            <a:ext cx="2084832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87168" y="156730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$4.2M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62856" y="1549020"/>
            <a:ext cx="2084832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08576" y="156730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$2.8M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84264" y="1549020"/>
            <a:ext cx="2084832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29984" y="156730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$1.4M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1841628"/>
            <a:ext cx="2084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185991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South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41448" y="1841628"/>
            <a:ext cx="2084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87168" y="185991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$3.1M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62856" y="1841628"/>
            <a:ext cx="2084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08576" y="185991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$2.1M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84264" y="1841628"/>
            <a:ext cx="2084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729984" y="185991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$1.0M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170812"/>
            <a:ext cx="1828800" cy="31089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" y="21708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Row-by-Row Text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94560" y="21891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Region: North | Revenue: $4.2M | Expenses: $2.8M | Net Profit: $1.4M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00800" y="21891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</a:rPr>
              <a:t>+ Simple; preserves row context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680960" y="21891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Loses column-level patterns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2536572"/>
            <a:ext cx="1828800" cy="31089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253657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Column Description Augment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194560" y="25548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Revenue column shows quarterly net sales. North region revenue is $4.2M...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00800" y="25548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</a:rPr>
              <a:t>+ Rich vocabulary for embedding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680960" y="25548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Verbose; may exceed context window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0040" y="2902332"/>
            <a:ext cx="1828800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29023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Markdown Table + Caption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94560" y="29206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Region | Revenue | ... |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Financial Summary — North region leads with $4.2M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00800" y="29206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</a:rPr>
              <a:t>+ Compact; LLMs understand Markdown tables well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680960" y="29206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Markdown tokenisation varies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0040" y="3268092"/>
            <a:ext cx="1828800" cy="31089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32680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JSON Serialisation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194560" y="32863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{"table": "Q3 Summary", "row": {"Region":"North","Revenue":"$4.2M"}}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400800" y="32863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</a:rPr>
              <a:t>+ Structured; parseable downstream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680960" y="32863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High token cost; JSON brackets fragment similarity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2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End-to-End Table Retrieval Pipeline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777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From raw document to grounded numerical answers — a production-grade table Q&amp;A 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009522"/>
            <a:ext cx="47548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10096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148501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Detect Tables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95528" y="1009522"/>
            <a:ext cx="226771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86968" y="1082674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Layout model (DocLayNet) detects table bounding boxes in PDFs/images. Outputs table coordinates.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009522"/>
            <a:ext cx="475488" cy="102412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0" y="110096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148501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Extract Structure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75888" y="1009522"/>
            <a:ext cx="226771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767328" y="1082674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Camelot/pdfplumber for PDFs; HTML parser for web tables. Preserve headers, merged cells, footnotes.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1009522"/>
            <a:ext cx="47548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80760" y="110096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80760" y="148501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Serialise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556248" y="1009522"/>
            <a:ext cx="226771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47688" y="1082674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Convert each table to Markdown + caption string. Add column data-type annotations (currency, %, date).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271394"/>
            <a:ext cx="475488" cy="10241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36283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" y="274688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Embed + Store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95528" y="2271394"/>
            <a:ext cx="226771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86968" y="234454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Embed serialised table with text encoder. Store with metadata: table_id, page, source, col_names[].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2271394"/>
            <a:ext cx="475488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0" y="236283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274688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Retrieve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75888" y="2271394"/>
            <a:ext cx="226771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767328" y="234454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Query returns relevant table chunks. Re-ranker scores (query, table) pairs. Top tables go into prompt.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80760" y="2271394"/>
            <a:ext cx="475488" cy="10241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080760" y="236283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80760" y="274688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LLM Reason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556248" y="2271394"/>
            <a:ext cx="226771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647688" y="234454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LLM reads table in context. Prompted to reason step-by-step over numbers. Returns calculated answer + source.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Multimodal RAG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Bringing text, image, and table retrieval together into a unified pipeline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1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1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Multimodal RAG: Unified Architecture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8103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A single pipeline that routes each content type to its optimal encoder and returns a grounded cross-modal answer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237068"/>
            <a:ext cx="85039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2370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OFFLINE — MULTIMODAL INDEXING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57108"/>
            <a:ext cx="2606040" cy="3200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155710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Text Chunks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172170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Text Encoder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54680" y="1557108"/>
            <a:ext cx="2606040" cy="3200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54680" y="155710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 Regions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54680" y="172170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Vision Encoder (CLIP)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89320" y="1557108"/>
            <a:ext cx="2606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89320" y="155710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Table Rows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89320" y="1721700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Markdown Serialiser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1922868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9228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A17"/>
                </a:solidFill>
              </a:rPr>
              <a:t>↓  All vectors stored in Unified Vector DB with modality tag  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261196"/>
            <a:ext cx="8503920" cy="2743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226119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ONLINE — MULTIMODAL QUERY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581236"/>
            <a:ext cx="132588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5812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Query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28372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Text or Image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45920" y="2773260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737360" y="2581236"/>
            <a:ext cx="1325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737360" y="25812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Embed Query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37360" y="28372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CLIP or Text Encoder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063240" y="2773260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154680" y="2581236"/>
            <a:ext cx="1325880" cy="5029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154680" y="25812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Retrieve Top-k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54680" y="28372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All modalities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480560" y="2773260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572000" y="2581236"/>
            <a:ext cx="1325880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0" y="25812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Fuse Context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28372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Text + Image + Table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97880" y="2773260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989320" y="2581236"/>
            <a:ext cx="13258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989320" y="25812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Multimodal LLM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89320" y="28372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GPT-4o / Claude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315200" y="2773260"/>
            <a:ext cx="91440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406640" y="2581236"/>
            <a:ext cx="132588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406640" y="25812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Grounded Answer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406640" y="28372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With citations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0040" y="3230460"/>
            <a:ext cx="20116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84048" y="3248748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✓ Cross-modal retrieval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68880" y="3230460"/>
            <a:ext cx="20116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532888" y="3248748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✓ No modality silos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3230460"/>
            <a:ext cx="20116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681728" y="3248748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✓ Single query → all doc types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66560" y="3230460"/>
            <a:ext cx="20116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830568" y="3248748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✓ LLM sees full context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6826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6826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Retrieval Fusion Strategies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865427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Three approaches to combining text, image, and table results before sending to the LLM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167179"/>
            <a:ext cx="260604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167179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Late Fusion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514651"/>
            <a:ext cx="2606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542083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Run separate retrievers for each modality independently. Merge result lists by score normalisation before sending to LLM.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3585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3192" y="205414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Simple to implement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31017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3192" y="232846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Each modality uses its optimal retriever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8449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3192" y="260278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Easy to add/remove modalities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858819"/>
            <a:ext cx="260604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3192" y="287710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− Score scales differ between modalities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133139"/>
            <a:ext cx="260604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93192" y="315142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− No cross-modal interaction at retrieval time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453179"/>
            <a:ext cx="26060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3471467"/>
            <a:ext cx="2459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196D3"/>
                </a:solidFill>
              </a:rPr>
              <a:t>Use: Good default; use when modality-specific tuning is needed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54680" y="1167179"/>
            <a:ext cx="260604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54680" y="1167179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Early Fusion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4680" y="1514651"/>
            <a:ext cx="2606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46120" y="1542083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Encode all content types into a shared embedding space. Run a single retriever over the unified index.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54680" y="203585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27832" y="205414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Enables cross-modal similarity in one pass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54680" y="231017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27832" y="232846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Single retriever → simpler architecture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54680" y="2858819"/>
            <a:ext cx="260604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27832" y="287710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− Requires joint training or shared encoder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54680" y="3133139"/>
            <a:ext cx="260604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27832" y="315142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− Harder to debug per-modality quality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54680" y="3453179"/>
            <a:ext cx="26060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227832" y="3471467"/>
            <a:ext cx="2459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4A17"/>
                </a:solidFill>
              </a:rPr>
              <a:t>Use: Use when you have a shared embedding model like CLIP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89320" y="1167179"/>
            <a:ext cx="2606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89320" y="1167179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Hybrid Fusion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1514651"/>
            <a:ext cx="26060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080760" y="1542083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Use modality-specific retrievers + a cross-encoder re-ranker that scores (query, chunk) across all modality types together.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89320" y="203585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062472" y="205414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Best accuracy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231017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062472" y="232846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Re-ranker learns cross-modal relevance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89320" y="2584499"/>
            <a:ext cx="2606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62472" y="260278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+ Modality-specific + joint scoring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89320" y="2858819"/>
            <a:ext cx="260604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062472" y="287710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− Most complex; highest latency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89320" y="3133139"/>
            <a:ext cx="260604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062472" y="3151427"/>
            <a:ext cx="2459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− Re-ranker needs multimodal training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89320" y="3453179"/>
            <a:ext cx="26060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62472" y="3471467"/>
            <a:ext cx="2459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7A4A"/>
                </a:solidFill>
              </a:rPr>
              <a:t>Use: Production systems with strict accuracy requirements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84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84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Anatomy of a Multimodal RAG Prompt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77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What the LLM receives when context spans text, images, and tables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963804"/>
            <a:ext cx="1417320" cy="53035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963804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ROLE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83080" y="963804"/>
            <a:ext cx="70408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74520" y="1027812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document analyst. Answer using ONLY the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provided text passages, images, and tables. Cite each source.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1622172"/>
            <a:ext cx="1417320" cy="53035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6221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TEXT CONTEXT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1622172"/>
            <a:ext cx="70408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74520" y="168618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[Source: annual_report.pdf, p.4]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"Revenue increased 18% YoY driven by APAC expansion..."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280540"/>
            <a:ext cx="14173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22805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TABLE CONTEXT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2280540"/>
            <a:ext cx="70408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874520" y="2344548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[Source: annual_report.pdf, p.6 — Table: Regional Revenue]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Region | FY2023 | FY2024 | Growth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APAC   | $3.1M  | $4.8M  | +55%   |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938908"/>
            <a:ext cx="1417320" cy="5303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93890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IMAGE CONTEXT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83080" y="2938908"/>
            <a:ext cx="70408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74520" y="30029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[Source: annual_report.pdf, p.8 — Figure: Revenue Trend Chart]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 attached: revenue_trend_2024.png&gt;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597276"/>
            <a:ext cx="141732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597276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QUERY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83080" y="3597276"/>
            <a:ext cx="70408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874520" y="3661284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region drove the most revenue growth and by how much?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Invoice &amp; Scanned Document Q&amp;A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Applying multimodal RAG to the most common enterprise use case: processing financial and compliance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2785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2785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Invoice Processing: Why It's Hard for Standard RAG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7623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Five structural reasons invoice documents break text-only pipelines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977990"/>
            <a:ext cx="19202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97799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 Text Layer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977990"/>
            <a:ext cx="65379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7440" y="1014566"/>
            <a:ext cx="6355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Scanned invoices are pure image files. OCR is required — but OCR introduces errors on low-quality scans, handwritten notes, or non-Latin scripts.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471766"/>
            <a:ext cx="1920240" cy="38404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47176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Non-Standard Layouts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1471766"/>
            <a:ext cx="65379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77440" y="1508342"/>
            <a:ext cx="6355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Every vendor has a different invoice template. Fields like 'Invoice No.', 'Ref No.', 'Bill No.' all mean the same thing — text matching fails across templates.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965542"/>
            <a:ext cx="1920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196554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Tabular Line Items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1965542"/>
            <a:ext cx="65379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377440" y="2002118"/>
            <a:ext cx="6355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The key data lives in tables: item descriptions, quantities, unit prices, totals. Standard chunking destroys these relational structures.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459318"/>
            <a:ext cx="192024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45931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Mixed Modalities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2459318"/>
            <a:ext cx="65379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77440" y="2495894"/>
            <a:ext cx="6355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Company logos, signatures, stamps, and watermarks appear alongside structured text — vision is required to distinguish them from data fields.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953094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295309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Numerical Reasoning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0" y="2953094"/>
            <a:ext cx="65379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377440" y="2989670"/>
            <a:ext cx="6355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Questions like 'What is the total tax across all invoices in Q3?' require aggregation across multiple retrieved documents — beyond single-doc Q&amp;A.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17339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17339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Multimodal Invoice Processing Pipeline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6749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A production-grade pipeline that handles scanned, digital, and mixed-format invoices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988501"/>
            <a:ext cx="260604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988501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Ingest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308541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32682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Accept PDF, JPEG, TIFF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656013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1674301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Render to 300DPI PNG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003485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021773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Detect scan quality score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988501"/>
            <a:ext cx="2606040" cy="3200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0" y="988501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OCR + Layout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308541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91840" y="132682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PaddleOCR or Tesseract for text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1656013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91840" y="1674301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DocLayNet for region detection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003485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0" y="2021773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Identify: header, line items, totals, footer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988501"/>
            <a:ext cx="2606040" cy="3200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080760" y="988501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 Fields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1308541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72200" y="132682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Named entity extraction: vendor, date, amount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1656013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72200" y="1674301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Table extraction: line items + quantities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80760" y="2003485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72200" y="2021773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Signature / stamp → vision classifier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405821"/>
            <a:ext cx="2606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0040" y="2405821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Normalise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725861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11480" y="274414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Canonical field mapping (all → invoice_no, total_amount)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073333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1480" y="3091621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Currency + date normalisation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420805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1480" y="3439093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Confidence score per field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2405821"/>
            <a:ext cx="26060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200400" y="2405821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 + Index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2725861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91840" y="274414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Embed full invoice as CLIP image vector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0" y="3073333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91840" y="3091621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Embed line-item table (Markdown format)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3420805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91840" y="3439093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Embed text header metadata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0760" y="2405821"/>
            <a:ext cx="260604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080760" y="2405821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Q&amp;A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80760" y="2725861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72200" y="274414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Retrieve by vendor / date / amount filter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80760" y="3073333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172200" y="3091621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LLM reasons over retrieved invoices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3420805"/>
            <a:ext cx="260604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172200" y="3439093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Return answer + source invoice citations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17338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1733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Evaluating Multimodal RAG: Metrics &amp; Methods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675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How to measure quality at each layer of a multimodal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988502"/>
            <a:ext cx="1371600" cy="40233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98850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 Retrieval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37360" y="988502"/>
            <a:ext cx="1188720" cy="40233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37360" y="98850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A17"/>
                </a:solidFill>
              </a:rPr>
              <a:t>CLIP Score@k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99232" y="103422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Cosine similarity between query embedding and retrieved image embeddings. Threshold: &gt; 0.75 for relevance.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60920" y="988502"/>
            <a:ext cx="14630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06640" y="103422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torchmetrics / custom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518854"/>
            <a:ext cx="137160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151885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Table Retrieval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737360" y="1518854"/>
            <a:ext cx="1188720" cy="40233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737360" y="151885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A17"/>
                </a:solidFill>
              </a:rPr>
              <a:t>Precision@3 + MRR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99232" y="156457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Human-labelled relevant table set. Measure whether the correct table appears in top-3 and at what rank.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60920" y="1518854"/>
            <a:ext cx="14630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06640" y="156457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Manual + RAGAS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049206"/>
            <a:ext cx="1371600" cy="402336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04920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Text Retrieval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737360" y="2049206"/>
            <a:ext cx="1188720" cy="40233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737360" y="204920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A17"/>
                </a:solidFill>
              </a:rPr>
              <a:t>Faithfulness (RAGAS)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99232" y="209492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Are all factual claims in the answer grounded in retrieved text chunks? Target &gt; 0.85.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60920" y="2049206"/>
            <a:ext cx="14630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06640" y="209492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RAGAS framework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2579558"/>
            <a:ext cx="13716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57955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Cross-modal Answer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37360" y="2579558"/>
            <a:ext cx="1188720" cy="40233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737360" y="257955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A17"/>
                </a:solidFill>
              </a:rPr>
              <a:t>Human Eval (1–5)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99232" y="262527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Does the final answer correctly integrate information from all retrieved modalities? Expert judges rate.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60920" y="2579558"/>
            <a:ext cx="14630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406640" y="262527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Likert scale rubric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109910"/>
            <a:ext cx="137160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20040" y="310991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Field Extraction (Invoices)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737360" y="3109910"/>
            <a:ext cx="1188720" cy="40233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737360" y="310991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A17"/>
                </a:solidFill>
              </a:rPr>
              <a:t>F1 per field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99232" y="315563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For structured extraction: precision and recall per extracted field (vendor, total, date, line items).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60920" y="3109910"/>
            <a:ext cx="14630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406640" y="315563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Labelled ground truth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6829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6829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Case Study: Invoice &amp; Scanned Document Q&amp;A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97259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A logistics company automates accounts payable with a multimodal RAG pipeline processing 5,000+ invoices/month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953291"/>
            <a:ext cx="8503920" cy="30175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953291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BACKGROUND &amp;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300763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A logistics company processes 5,000+ vendor invoices per month across 200+ vendor templates. AP staff spend 60% of time on manual data entry and reconciliation. Key pain points: (1) 12% of invoices are scanned images with no text layer. (2) Line item table extraction fails in 35% of cases. (3) Cross-invoice queries ('total spend by vendor in Q3') require manual spreadsheet work taking 2–3 hrs/week.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32283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050571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B4C"/>
                </a:solidFill>
              </a:rPr>
              <a:t>5,000+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" y="2416331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Invoices/Month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2032283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68880" y="2050571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</a:rPr>
              <a:t>12%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468880" y="2416331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Scanned (No Text)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2032283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17720" y="2050571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</a:rPr>
              <a:t>35%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2416331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Table Extract Fail Rate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2032283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66560" y="2050571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A17"/>
                </a:solidFill>
              </a:rPr>
              <a:t>60%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66560" y="2416331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AP Time on Manual Entry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782091"/>
            <a:ext cx="8503920" cy="2743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2800379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ARCHITECTURE: OCR: PaddleOCR  |  Layout: DocLayNet  |  Image Embed: CLIP ViT-L/14  |  Table Embed: Markdown + ada-002  |  Vector DB: Qdrant  |  LLM: GPT-4o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147851"/>
            <a:ext cx="8503920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4048" y="3166139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A17"/>
                </a:solidFill>
              </a:rPr>
              <a:t>KEY INTERVENTIONS: ColPali for scanned invoices (no OCR needed)  ·  Camelot for digital PDF table extraction  ·  Vendor-canonical field normalisation layer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2756</Words>
  <Application>Microsoft Office PowerPoint</Application>
  <PresentationFormat>On-screen Show (16:9)</PresentationFormat>
  <Paragraphs>403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Lecture 08 – Multimodal RAG</dc:title>
  <dc:subject>PptxGenJS Presentation</dc:subject>
  <dc:creator>PptxGenJS</dc:creator>
  <cp:lastModifiedBy>Usha Nandhini</cp:lastModifiedBy>
  <cp:revision>18</cp:revision>
  <dcterms:created xsi:type="dcterms:W3CDTF">2026-05-15T04:14:35Z</dcterms:created>
  <dcterms:modified xsi:type="dcterms:W3CDTF">2026-06-21T07:35:54Z</dcterms:modified>
</cp:coreProperties>
</file>