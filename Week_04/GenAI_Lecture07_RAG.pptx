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1818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4A17"/>
                </a:solidFill>
              </a:rPr>
              <a:t>MASTERING GENAI &amp; AGENTIC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Retrieval-Augmented Generation (RAG)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E6EF"/>
                </a:solidFill>
              </a:rPr>
              <a:t>Embeddings · Vector Search · RAG Architecture · Grounded Generation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-4727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-4727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RAG?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054609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Bridging from prompting — the limitation that RAG solves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402081"/>
            <a:ext cx="2606040" cy="34747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402081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What We Built in with prompting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795273"/>
            <a:ext cx="26060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1813561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Debugging framework (5 root causes)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234185"/>
            <a:ext cx="2606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2252473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Guardrails: input + output layers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673097"/>
            <a:ext cx="26060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2691385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Evaluation: BLEU, ROUGE, LLM-as-Judge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112009"/>
            <a:ext cx="2606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" y="3130297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Response optimisation strategies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54680" y="1402081"/>
            <a:ext cx="26060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154680" y="1402081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The Remaining Problem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54680" y="1795273"/>
            <a:ext cx="26060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46120" y="1813561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LLMs are frozen at training cutoff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54680" y="2234185"/>
            <a:ext cx="2606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46120" y="2252473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Hallucinate facts not in training data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54680" y="2673097"/>
            <a:ext cx="26060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46120" y="2691385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Can't access private/proprietary docs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54680" y="3112009"/>
            <a:ext cx="2606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46120" y="3130297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No source citations by default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89320" y="1402081"/>
            <a:ext cx="260604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989320" y="1402081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What RAG Solves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89320" y="1795273"/>
            <a:ext cx="26060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080760" y="1813561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Retrieves fresh, relevant context at query time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89320" y="2234185"/>
            <a:ext cx="2606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080760" y="2252473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Grounds generation in real source documents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89320" y="2673097"/>
            <a:ext cx="2606040" cy="38404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080760" y="2691385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Enables citation and traceability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89320" y="3112009"/>
            <a:ext cx="2606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080760" y="3130297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Works without re-training the model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3550921"/>
            <a:ext cx="8503920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11480" y="3569209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E84A17"/>
                </a:solidFill>
              </a:rPr>
              <a:t>RAG = giving an LLM a library card — it looks up what it needs before answering, every single time.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Embeddings: Meaning as Numbers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E6EF"/>
                </a:solidFill>
              </a:rPr>
              <a:t>How language models convert text into dense vectors that capture semantic meaning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Are Embeddings? Intuition First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054609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Transforming words, sentences, and documents into points in high-dimensional space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1310641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B4C"/>
                </a:solidFill>
              </a:rPr>
              <a:t>An embedding is a dense numerical vector that represents the meaning of text. Similar meanings → nearby points in vector space.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1905001"/>
            <a:ext cx="1737360" cy="1417320"/>
          </a:xfrm>
          <a:prstGeom prst="roundRect">
            <a:avLst>
              <a:gd name="adj" fmla="val 6452"/>
            </a:avLst>
          </a:prstGeom>
          <a:solidFill>
            <a:srgbClr val="EFF6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5800" y="3121153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</a:rPr>
              <a:t>Royalty cluster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0" y="1950721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FF3E0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703320" y="3029713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</a:rPr>
              <a:t>Animals cluster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126480" y="1905001"/>
            <a:ext cx="1645920" cy="1234440"/>
          </a:xfrm>
          <a:prstGeom prst="roundRect">
            <a:avLst>
              <a:gd name="adj" fmla="val 7407"/>
            </a:avLst>
          </a:prstGeom>
          <a:solidFill>
            <a:srgbClr val="F3E8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72200" y="2938273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</a:rPr>
              <a:t>Finance cluster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024128" y="2060449"/>
            <a:ext cx="146304" cy="146304"/>
          </a:xfrm>
          <a:prstGeom prst="ellipse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005840" y="2225041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96D3"/>
                </a:solidFill>
              </a:rPr>
              <a:t>King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572768" y="2380489"/>
            <a:ext cx="146304" cy="146304"/>
          </a:xfrm>
          <a:prstGeom prst="ellipse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554480" y="2545081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96D3"/>
                </a:solidFill>
              </a:rPr>
              <a:t>Queen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41248" y="2609089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22960" y="2773681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8090"/>
                </a:solidFill>
              </a:rPr>
              <a:t>Man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389888" y="2929129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371600" y="3093721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8090"/>
                </a:solidFill>
              </a:rPr>
              <a:t>Woman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041648" y="2151889"/>
            <a:ext cx="146304" cy="146304"/>
          </a:xfrm>
          <a:prstGeom prst="ellipse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023360" y="2316481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4A17"/>
                </a:solidFill>
              </a:rPr>
              <a:t>Cat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407408" y="2517649"/>
            <a:ext cx="146304" cy="146304"/>
          </a:xfrm>
          <a:prstGeom prst="ellipse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389120" y="2682241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4A17"/>
                </a:solidFill>
              </a:rPr>
              <a:t>Dog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58768" y="2791969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840480" y="2956561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</a:rPr>
              <a:t>Puppy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510528" y="2060449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92240" y="2225041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</a:rPr>
              <a:t>Invoice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76288" y="2380489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858000" y="2545081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</a:rPr>
              <a:t>Receipt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327648" y="2700529"/>
            <a:ext cx="146304" cy="14630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309360" y="2865121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</a:rPr>
              <a:t>Payment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0040" y="3505201"/>
            <a:ext cx="850392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11480" y="3523489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196D3"/>
                </a:solidFill>
              </a:rPr>
              <a:t>Key insight: "Cat" and "Kitten" are closer in vector space than "Cat" and "Invoice" — even though none share the same characters.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Embeddings Are Generated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84124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The pipeline from raw text to a fixed-size dense vector representation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506656"/>
            <a:ext cx="1508760" cy="5029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50665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A17"/>
                </a:solidFill>
              </a:rPr>
              <a:t>01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0040" y="2009576"/>
            <a:ext cx="1508760" cy="38404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0040" y="20095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Tokenise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393624"/>
            <a:ext cx="1508760" cy="12618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93192" y="2439344"/>
            <a:ext cx="13716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Split text into tokens (words or sub-words). "machine learning" → ["machine", "learn", "##ing"]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0" y="1890704"/>
            <a:ext cx="192024" cy="7315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020824" y="1506656"/>
            <a:ext cx="1508760" cy="5029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020824" y="150665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A17"/>
                </a:solidFill>
              </a:rPr>
              <a:t>02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020824" y="2009576"/>
            <a:ext cx="1508760" cy="38404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020824" y="20095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Encode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20824" y="2393624"/>
            <a:ext cx="1508760" cy="12618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093976" y="2439344"/>
            <a:ext cx="13716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Feed tokens through a transformer encoder (e.g. BERT, text-embedding-ada-002). Each token gets a contextual vector.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529584" y="1890704"/>
            <a:ext cx="192024" cy="7315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721608" y="1506656"/>
            <a:ext cx="1508760" cy="5029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721608" y="150665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A17"/>
                </a:solidFill>
              </a:rPr>
              <a:t>03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3721608" y="2009576"/>
            <a:ext cx="1508760" cy="38404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721608" y="20095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Pool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21608" y="2393624"/>
            <a:ext cx="1508760" cy="12618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794760" y="2439344"/>
            <a:ext cx="13716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Aggregate token vectors into a single sentence vector (mean pooling or [CLS] token extraction).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230368" y="1890704"/>
            <a:ext cx="192024" cy="7315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422392" y="1506656"/>
            <a:ext cx="1508760" cy="5029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422392" y="150665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A17"/>
                </a:solidFill>
              </a:rPr>
              <a:t>04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5422392" y="2009576"/>
            <a:ext cx="1508760" cy="38404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422392" y="20095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Normalise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22392" y="2393624"/>
            <a:ext cx="1508760" cy="12618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495544" y="2439344"/>
            <a:ext cx="13716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L2-normalise the vector so its magnitude = 1. Enables cosine similarity to be computed as a dot product.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931152" y="1890704"/>
            <a:ext cx="192024" cy="7315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123176" y="1506656"/>
            <a:ext cx="1508760" cy="5029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7123176" y="150665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A17"/>
                </a:solidFill>
              </a:rPr>
              <a:t>05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7123176" y="2009576"/>
            <a:ext cx="1508760" cy="38404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123176" y="20095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123176" y="2393624"/>
            <a:ext cx="1508760" cy="12618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196328" y="2439344"/>
            <a:ext cx="13716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Write the resulting float vector (e.g. 1536 dims for ada-002) to a vector database with its source metadata.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Embedding Models: Choosing the Right One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5446" y="7556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Key models, their dimensions, strengths, and when to use each in production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456" y="1401552"/>
            <a:ext cx="2011680" cy="347472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1456" y="1401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Model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93136" y="1401552"/>
            <a:ext cx="1554480" cy="347472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093136" y="14015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Provider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47616" y="1401552"/>
            <a:ext cx="502920" cy="347472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47616" y="14015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Dims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50536" y="1401552"/>
            <a:ext cx="2377440" cy="347472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50536" y="14015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Best For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527976" y="1401552"/>
            <a:ext cx="1463040" cy="347472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27976" y="14015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Limitation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991016" y="1401552"/>
            <a:ext cx="1005840" cy="347472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991016" y="14015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Cost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1456" y="1785600"/>
            <a:ext cx="201168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27176" y="180388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96D3"/>
                </a:solidFill>
              </a:rPr>
              <a:t>text-embedding-ada-002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093136" y="1785600"/>
            <a:ext cx="155448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138856" y="1803888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OpenAI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47616" y="1785600"/>
            <a:ext cx="50292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693336" y="1803888"/>
            <a:ext cx="411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1536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50536" y="1785600"/>
            <a:ext cx="237744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196256" y="1803888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General-purpose; strong cross-domain semantic search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527976" y="1785600"/>
            <a:ext cx="146304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573696" y="1803888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API only; cost per token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991016" y="1785600"/>
            <a:ext cx="100584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036736" y="1803888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~$0.10/M tokens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1456" y="2197080"/>
            <a:ext cx="20116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27176" y="221536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96D3"/>
                </a:solidFill>
              </a:rPr>
              <a:t>text-embedding-3-large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093136" y="2197080"/>
            <a:ext cx="1554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138856" y="2215368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OpenAI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47616" y="2197080"/>
            <a:ext cx="502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693336" y="2215368"/>
            <a:ext cx="411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3072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150536" y="2197080"/>
            <a:ext cx="23774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196256" y="2215368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High-accuracy retrieval; supports dimension reduction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527976" y="2197080"/>
            <a:ext cx="14630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573696" y="2215368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2× cost vs ada-002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991016" y="2197080"/>
            <a:ext cx="10058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036736" y="2215368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~$0.13/M tokens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81456" y="2608560"/>
            <a:ext cx="201168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127176" y="262684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96D3"/>
                </a:solidFill>
              </a:rPr>
              <a:t>all-MiniLM-L6-v2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093136" y="2608560"/>
            <a:ext cx="155448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2138856" y="2626848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SentenceTransformers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647616" y="2608560"/>
            <a:ext cx="50292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693336" y="2626848"/>
            <a:ext cx="411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384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150536" y="2608560"/>
            <a:ext cx="237744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196256" y="2626848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Fast local inference; lightweight deployments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527976" y="2608560"/>
            <a:ext cx="146304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573696" y="2626848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Lower quality on technical text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991016" y="2608560"/>
            <a:ext cx="100584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8036736" y="2626848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Free / self-hosted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1456" y="3020040"/>
            <a:ext cx="20116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127176" y="303832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96D3"/>
                </a:solidFill>
              </a:rPr>
              <a:t>BAAI/bge-large-en-v1.5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093136" y="3020040"/>
            <a:ext cx="15544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2138856" y="3038328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HuggingFace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647616" y="3020040"/>
            <a:ext cx="502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3693336" y="3038328"/>
            <a:ext cx="411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1024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150536" y="3020040"/>
            <a:ext cx="23774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196256" y="3038328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Top-tier open-source; strong MTEB benchmarks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527976" y="3020040"/>
            <a:ext cx="14630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6573696" y="3038328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Larger model size (1.3GB)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991016" y="3020040"/>
            <a:ext cx="10058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8036736" y="3038328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Free / self-hosted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1456" y="3431520"/>
            <a:ext cx="201168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127176" y="344980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96D3"/>
                </a:solidFill>
              </a:rPr>
              <a:t>embed-english-v3.0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093136" y="3431520"/>
            <a:ext cx="155448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2138856" y="3449808"/>
            <a:ext cx="14630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Cohere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647616" y="3431520"/>
            <a:ext cx="50292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3693336" y="3449808"/>
            <a:ext cx="411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1024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150536" y="3431520"/>
            <a:ext cx="237744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4196256" y="3449808"/>
            <a:ext cx="2286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Enterprise search; multilingual variant available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527976" y="3431520"/>
            <a:ext cx="146304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6573696" y="3449808"/>
            <a:ext cx="1371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Vendor lock-in risk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991016" y="3431520"/>
            <a:ext cx="1005840" cy="374904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8036736" y="3449808"/>
            <a:ext cx="914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~$0.10/M tokens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Cosine Similarity: The Core Retrieval Signal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70408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Why angle beats distance for comparing text embeddings — and how to interpret the scores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1068266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B4C"/>
                </a:solidFill>
              </a:rPr>
              <a:t>Cosine similarity measures the angle between two vectors — not their magnitude. Two semantically similar texts point in the same direction regardless of length.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543754"/>
            <a:ext cx="850392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159861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cos(θ)  =  (A · B) / (‖A‖ × ‖B‖)    where A·B = Σ(Aᵢ × Bᵢ)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2211266"/>
            <a:ext cx="1371600" cy="2926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" y="221126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0.95 – 1.00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55648" y="221126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Near-duplicate or paraphrase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0" y="221126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"Car" vs "Automobile"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558738"/>
            <a:ext cx="13716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040" y="255873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0.80 – 0.94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55648" y="255873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Highly relevant; strong semantic match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3520" y="255873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"Revenue decline" vs "Sales dropped"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2906210"/>
            <a:ext cx="1371600" cy="29260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290621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0.60 – 0.79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55648" y="290621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Topically related; may be useful context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03520" y="290621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"Q3 report" vs "Annual financials"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253682"/>
            <a:ext cx="1371600" cy="292608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325368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0.40 – 0.59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55648" y="325368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Loosely related; risky for retrieval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0" y="325368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"Invoice" vs "Employee contract"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601154"/>
            <a:ext cx="137160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20040" y="360115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&lt; 0.40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755648" y="360115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Unrelated — should not be retrieved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03520" y="360115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"Revenue" vs "Mountain hiking"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369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369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Chunking Strategy: Preparing Documents for Embedding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49515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How you split documents before embedding significantly affects retrieval quality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251267"/>
            <a:ext cx="4114800" cy="34747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251267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Fixed-Size Chunks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598739"/>
            <a:ext cx="4114800" cy="9875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1635315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Split by token count (e.g. 512 tokens). Simple and fast. Best for uniform documents.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1909635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7A4A"/>
                </a:solidFill>
              </a:rPr>
              <a:t>✓ Predictable; easy to implement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2092515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392B"/>
                </a:solidFill>
              </a:rPr>
              <a:t>✗ May cut mid-sentence; loses semantic boundary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2293683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196D3"/>
                </a:solidFill>
              </a:rPr>
              <a:t>Use: Logs, transcripts, raw text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1251267"/>
            <a:ext cx="41148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63440" y="1251267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Sentence Splitting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598739"/>
            <a:ext cx="4114800" cy="9875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54880" y="1635315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Use NLP sentence boundaries. Each sentence or group of N sentences becomes a chunk.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0" y="1909635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7A4A"/>
                </a:solidFill>
              </a:rPr>
              <a:t>✓ Preserves semantic units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2092515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392B"/>
                </a:solidFill>
              </a:rPr>
              <a:t>✗ Variable chunk sizes; harder to size correctly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2293683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28090"/>
                </a:solidFill>
              </a:rPr>
              <a:t>Use: Articles, reports, policies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2696019"/>
            <a:ext cx="4114800" cy="34747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696019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Recursive Character Split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043491"/>
            <a:ext cx="4114800" cy="9875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11480" y="3080067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Try paragraph → sentence → word splits hierarchically. LangChain default strategy.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1480" y="3354387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7A4A"/>
                </a:solidFill>
              </a:rPr>
              <a:t>✓ Balanced; preserves structure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11480" y="3537267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392B"/>
                </a:solidFill>
              </a:rPr>
              <a:t>✗ More complex to configure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1480" y="3738435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4A17"/>
                </a:solidFill>
              </a:rPr>
              <a:t>Use: General-purpose RAG (recommended)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63440" y="2696019"/>
            <a:ext cx="41148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663440" y="2696019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Semantic Chunking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043491"/>
            <a:ext cx="4114800" cy="9875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54880" y="3080067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Embed each sentence; split when cosine similarity drops between adjacent sentences.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0" y="3354387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7A4A"/>
                </a:solidFill>
              </a:rPr>
              <a:t>✓ Topic-aware boundaries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4880" y="3537267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392B"/>
                </a:solidFill>
              </a:rPr>
              <a:t>✗ Slower; requires embedding at chunk time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54880" y="3738435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</a:rPr>
              <a:t>Use: Long-form documents, books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Vector Databases &amp; Similarity Search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E6EF"/>
                </a:solidFill>
              </a:rPr>
              <a:t>Storing, indexing, and retrieving embeddings at scale — the engine behind RAG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a Vector Database?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99020" y="800467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Why traditional databases fail for embedding search — and what vector DBs do differently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99020" y="1415743"/>
            <a:ext cx="411480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99020" y="1415743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Traditional Database  (SQL / NoSQL)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9020" y="1845511"/>
            <a:ext cx="411480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90460" y="1863799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Stores rows of structured data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9020" y="2229559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90460" y="2247847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Queries by exact match or range filter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9020" y="2613607"/>
            <a:ext cx="411480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90460" y="2631895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Index: B-tree, hash index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9020" y="2997655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90460" y="3015943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Lookup: WHERE name = 'invoice'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9020" y="3381703"/>
            <a:ext cx="411480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90460" y="3399991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Fails on: 'find documents similar to this query'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33860" y="1415743"/>
            <a:ext cx="4114800" cy="38404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33860" y="1415743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Vector Database  (ANN Index)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33860" y="1845511"/>
            <a:ext cx="411480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25300" y="1863799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Stores high-dimensional float vectors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33860" y="2229559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25300" y="2247847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Queries by semantic proximity (cosine / dot product)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33860" y="2613607"/>
            <a:ext cx="411480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25300" y="2631895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Index: HNSW, IVF, LSH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33860" y="2997655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25300" y="3015943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Lookup: top-k nearest vectors to query vector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33860" y="3381703"/>
            <a:ext cx="411480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25300" y="3399991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C"/>
                </a:solidFill>
              </a:rPr>
              <a:t>Enables: semantic search, RAG, recommendation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99020" y="4030927"/>
            <a:ext cx="850392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90460" y="4049215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196D3"/>
                </a:solidFill>
              </a:rPr>
              <a:t>Vector DBs are purpose-built for ANN (Approximate Nearest Neighbour) search — trading tiny accuracy losses for massive speed gains at scale.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Vector Database Landscape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70408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Comparing leading vector stores — purpose-built vs integrated options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" y="960120"/>
            <a:ext cx="118872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" y="9601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Database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44752" y="960120"/>
            <a:ext cx="132588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444752" y="9601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Type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70632" y="960120"/>
            <a:ext cx="96012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70632" y="96012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Index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30752" y="960120"/>
            <a:ext cx="128016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730752" y="9601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Deployment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10912" y="960120"/>
            <a:ext cx="173736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10912" y="9601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Best For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48272" y="960120"/>
            <a:ext cx="2057400" cy="329184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748272" y="960120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Notable Feature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1325880"/>
            <a:ext cx="11887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92608" y="1344168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D3"/>
                </a:solidFill>
              </a:rPr>
              <a:t>Pinecone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444752" y="1325880"/>
            <a:ext cx="132588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481328" y="1344168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Managed cloud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70632" y="1325880"/>
            <a:ext cx="9601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807208" y="1344168"/>
            <a:ext cx="886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HNSW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730752" y="1325880"/>
            <a:ext cx="12801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767328" y="134416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SaaS only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10912" y="1325880"/>
            <a:ext cx="1737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47488" y="1344168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Production RAG; fast start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748272" y="1325880"/>
            <a:ext cx="205740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784848" y="1344168"/>
            <a:ext cx="1984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Serverless tier; namespaces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56032" y="1709928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92608" y="1728216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D3"/>
                </a:solidFill>
              </a:rPr>
              <a:t>Weaviate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444752" y="1709928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481328" y="1728216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Open-source / cloud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70632" y="1709928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807208" y="1728216"/>
            <a:ext cx="886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HNSW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730752" y="1709928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767328" y="1728216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Self-host / cloud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010912" y="1709928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047488" y="1728216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Multi-modal; hybrid search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748272" y="1709928"/>
            <a:ext cx="2057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784848" y="1728216"/>
            <a:ext cx="1984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Built-in vectoriser modules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56032" y="2093976"/>
            <a:ext cx="11887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92608" y="2112264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D3"/>
                </a:solidFill>
              </a:rPr>
              <a:t>Qdrant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444752" y="2093976"/>
            <a:ext cx="132588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481328" y="2112264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Open-source / cloud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770632" y="2093976"/>
            <a:ext cx="9601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2807208" y="2112264"/>
            <a:ext cx="886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HNSW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730752" y="2093976"/>
            <a:ext cx="12801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767328" y="2112264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Self-host / cloud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010912" y="2093976"/>
            <a:ext cx="1737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047488" y="2112264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High-accuracy filtering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748272" y="2093976"/>
            <a:ext cx="205740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784848" y="2112264"/>
            <a:ext cx="1984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Payload filtering + ANN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56032" y="2478024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292608" y="2496312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D3"/>
                </a:solidFill>
              </a:rPr>
              <a:t>ChromaDB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444752" y="2478024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1481328" y="2496312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Open-source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770632" y="2478024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2807208" y="2496312"/>
            <a:ext cx="886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HNSW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730752" y="2478024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3767328" y="2496312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Embedded / local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010912" y="2478024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5047488" y="2496312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Prototyping &amp; learning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748272" y="2478024"/>
            <a:ext cx="2057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6784848" y="2496312"/>
            <a:ext cx="1984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Zero-config; Python-native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56032" y="2862072"/>
            <a:ext cx="11887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292608" y="2880360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D3"/>
                </a:solidFill>
              </a:rPr>
              <a:t>pgvector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1444752" y="2862072"/>
            <a:ext cx="132588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1481328" y="2880360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PostgreSQL ext.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770632" y="2862072"/>
            <a:ext cx="9601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2807208" y="2880360"/>
            <a:ext cx="886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IVFFlat / HNSW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730752" y="2862072"/>
            <a:ext cx="12801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767328" y="2880360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Self-host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010912" y="2862072"/>
            <a:ext cx="17373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5047488" y="2880360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Existing Postgres stacks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748272" y="2862072"/>
            <a:ext cx="205740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6784848" y="2880360"/>
            <a:ext cx="1984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SQL + vector in one DB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56032" y="3246120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292608" y="3264408"/>
            <a:ext cx="1115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D3"/>
                </a:solidFill>
              </a:rPr>
              <a:t>FAISS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1444752" y="3246120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1481328" y="3264408"/>
            <a:ext cx="12527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Library (Meta)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770632" y="3246120"/>
            <a:ext cx="960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2807208" y="3264408"/>
            <a:ext cx="886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IVF + PQ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730752" y="3246120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3767328" y="3264408"/>
            <a:ext cx="12070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Local / custom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5010912" y="3246120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5047488" y="3264408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Research; large-scale batch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6748272" y="3246120"/>
            <a:ext cx="2057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6784848" y="3264408"/>
            <a:ext cx="1984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C"/>
                </a:solidFill>
              </a:rPr>
              <a:t>Fastest raw throughput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HNSW: How Vector Search Actually Works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70408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Hierarchical Navigable Small World — the dominant ANN index behind most vector databases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1138796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B4C"/>
                </a:solidFill>
              </a:rPr>
              <a:t>HNSW builds a multi-layer graph of vectors. Searches start at the top (sparse, long connections) and navigate down to the bottom (dense, precise neighbours) in milliseconds.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733156"/>
            <a:ext cx="201168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" y="173315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2 (Top)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77440" y="1733156"/>
            <a:ext cx="644652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468880" y="1751444"/>
            <a:ext cx="6263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C"/>
                </a:solidFill>
              </a:rPr>
              <a:t>Sparse graph — few nodes, long-range connections. Entry point for every search.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391524"/>
            <a:ext cx="2011680" cy="53035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239152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1 (Mid)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77440" y="2391524"/>
            <a:ext cx="644652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468880" y="2409812"/>
            <a:ext cx="6263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C"/>
                </a:solidFill>
              </a:rPr>
              <a:t>Medium density — narrows the search region quickly using approximate links.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049892"/>
            <a:ext cx="201168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0040" y="304989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0 (Base)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77440" y="3049892"/>
            <a:ext cx="644652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468880" y="3068180"/>
            <a:ext cx="6263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C"/>
                </a:solidFill>
              </a:rPr>
              <a:t>Full graph — every vector stored here. Final nearest neighbours found at this layer.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744836"/>
            <a:ext cx="8503920" cy="256032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0040" y="374483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KEY PARAMETERS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4028300"/>
            <a:ext cx="8503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M: Max connections per node. Higher M → better recall, more memory (typical: 16–64)   |   ef_construction: Search width during index build. Higher → better index quality, slower build   |   ef_search: Search width at query time. Higher → better recall, higher latency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Metadata Filtering: Hybrid Search Power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798521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Combining semantic similarity with structured filters for precise, production-grade retrieval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1370021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B4C"/>
                </a:solidFill>
              </a:rPr>
              <a:t>Pure vector search retrieves semantically similar documents — but often the wrong ones from the wrong source. Metadata filters narrow the search space before ANN runs.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845509"/>
            <a:ext cx="850392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1900373"/>
            <a:ext cx="832104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Pinecone / Qdrant style — metadata filter + vector search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vector_db.query(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 = embed("What are the refund policy changes in Q3?"),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top_k  = 5,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filter =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"department": "finance",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"doc_type":   "policy",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"year":       { "$gte": 2024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3335981"/>
            <a:ext cx="2606040" cy="3200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" y="3335981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Precision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656021"/>
            <a:ext cx="260604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93192" y="3683453"/>
            <a:ext cx="2459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Eliminates irrelevant documents from different departments or time periods before scoring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54680" y="3335981"/>
            <a:ext cx="2606040" cy="32004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154680" y="3335981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Speed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3656021"/>
            <a:ext cx="260604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27832" y="3683453"/>
            <a:ext cx="2459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Smaller candidate set → faster ANN search; latency drops by 40–70% in large collections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89320" y="3335981"/>
            <a:ext cx="2606040" cy="32004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989320" y="3335981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Safety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3656021"/>
            <a:ext cx="2606040" cy="53035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062472" y="3683453"/>
            <a:ext cx="2459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Enforces access control — retrieve only docs the user is authorised to see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Building the Indexing Pipeline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56335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The offline process that transforms raw documents into a searchable vector store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258087"/>
            <a:ext cx="457200" cy="10058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258087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Load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1258087"/>
            <a:ext cx="228600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8680" y="1331239"/>
            <a:ext cx="21031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Read raw documents (PDF, DOCX, HTML, DB, API). Extract plain text and preserve source metadata.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0" y="1258087"/>
            <a:ext cx="457200" cy="100584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0" y="1258087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Clean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0" y="1258087"/>
            <a:ext cx="228600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749040" y="1331239"/>
            <a:ext cx="21031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Remove boilerplate, headers/footers, special characters. Normalise whitespace and encoding.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80760" y="1258087"/>
            <a:ext cx="4572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080760" y="1258087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Chunk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37960" y="1258087"/>
            <a:ext cx="228600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29400" y="1331239"/>
            <a:ext cx="21031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Split into retrieval-sized chunks (target: 256–512 tokens). Add overlap (20–50 tokens) to preserve context at boundaries.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492527"/>
            <a:ext cx="457200" cy="100584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0040" y="2492527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Embed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77240" y="2492527"/>
            <a:ext cx="228600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68680" y="2565679"/>
            <a:ext cx="21031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Call embedding model API for each chunk. Batch calls to reduce latency and cost. Cache results.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0" y="2492527"/>
            <a:ext cx="4572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00400" y="2492527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Index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0" y="2492527"/>
            <a:ext cx="228600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749040" y="2565679"/>
            <a:ext cx="21031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Upsert vectors + metadata into vector DB. Assign unique chunk IDs. Tag with source, page, timestamp.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80760" y="2492527"/>
            <a:ext cx="457200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080760" y="2492527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537960" y="2492527"/>
            <a:ext cx="228600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629400" y="2565679"/>
            <a:ext cx="21031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Run test queries. Check top-5 results for relevance. Verify metadata filters return correct subsets.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RAG Architecture: Retriever + Generator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E6EF"/>
                </a:solidFill>
              </a:rPr>
              <a:t>Combining a vector search engine with an LLM to produce grounded, cited answers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Naive RAG: End-to-End Architecture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815825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The foundational pipeline — understanding each component before optimising it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27988"/>
            <a:ext cx="393192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3279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OFFLINE: INDEXING PHASE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666316"/>
            <a:ext cx="868680" cy="5029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0040" y="1666316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Documents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188720" y="1858340"/>
            <a:ext cx="100584" cy="82296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289304" y="1666316"/>
            <a:ext cx="868680" cy="5029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289304" y="1666316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Chunking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157984" y="1858340"/>
            <a:ext cx="100584" cy="82296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258568" y="1666316"/>
            <a:ext cx="868680" cy="5029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258568" y="1666316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Embedding Model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127248" y="1858340"/>
            <a:ext cx="100584" cy="82296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27832" y="1666316"/>
            <a:ext cx="868680" cy="5029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27832" y="1666316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Vector Store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0" y="1327988"/>
            <a:ext cx="4251960" cy="29260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0" y="1327988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ONLINE: QUERY PHASE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1666316"/>
            <a:ext cx="621792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0" y="1666316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User Query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193792" y="1849196"/>
            <a:ext cx="82296" cy="82296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276088" y="1666316"/>
            <a:ext cx="621792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276088" y="1666316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Embed Query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897880" y="1849196"/>
            <a:ext cx="82296" cy="82296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980176" y="1666316"/>
            <a:ext cx="621792" cy="502920"/>
          </a:xfrm>
          <a:prstGeom prst="rect">
            <a:avLst/>
          </a:prstGeom>
          <a:solidFill>
            <a:srgbClr val="2196D3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980176" y="1666316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Retrieve Top-k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601968" y="1849196"/>
            <a:ext cx="82296" cy="82296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684264" y="1666316"/>
            <a:ext cx="621792" cy="502920"/>
          </a:xfrm>
          <a:prstGeom prst="rect">
            <a:avLst/>
          </a:prstGeom>
          <a:solidFill>
            <a:srgbClr val="2196D3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684264" y="1666316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Augment Prompt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306056" y="1849196"/>
            <a:ext cx="82296" cy="82296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388352" y="1666316"/>
            <a:ext cx="621792" cy="502920"/>
          </a:xfrm>
          <a:prstGeom prst="rect">
            <a:avLst/>
          </a:prstGeom>
          <a:solidFill>
            <a:srgbClr val="E84A17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388352" y="1666316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LLM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8010144" y="1849196"/>
            <a:ext cx="82296" cy="82296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092440" y="1666316"/>
            <a:ext cx="621792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092440" y="1666316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Answer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20040" y="2333828"/>
            <a:ext cx="164592" cy="59436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84632" y="2333828"/>
            <a:ext cx="3950208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76072" y="23795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C"/>
                </a:solidFill>
              </a:rPr>
              <a:t>Retriever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76072" y="26081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Embeds the user query and searches the vector store for the top-k most similar chunks. Returns raw text passages + metadata.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2333828"/>
            <a:ext cx="164592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828032" y="2333828"/>
            <a:ext cx="3950208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919472" y="237954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C"/>
                </a:solidFill>
              </a:rPr>
              <a:t>Context Augmentation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919472" y="26081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Injects retrieved passages into the LLM prompt as grounding context. The prompt says: 'Answer using only the following documents.'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0040" y="3047060"/>
            <a:ext cx="164592" cy="59436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84632" y="3047060"/>
            <a:ext cx="3950208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76072" y="30927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C"/>
                </a:solidFill>
              </a:rPr>
              <a:t>Generator (LLM)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76072" y="33213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Reads the augmented prompt and produces a grounded answer. Can cite specific chunks by ID or position in the context window.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63440" y="3047060"/>
            <a:ext cx="164592" cy="5943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828032" y="3047060"/>
            <a:ext cx="3950208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919472" y="30927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C"/>
                </a:solidFill>
              </a:rPr>
              <a:t>Answer + Citations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919472" y="33213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Final response with source references. User can verify claims against the original documents — a key trust advantage over pure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Anatomy of a RAG Augmented Prompt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67488" y="818756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What the LLM actually receives — and why each section matters for grounded generation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91991"/>
            <a:ext cx="1463040" cy="56692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391991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SYSTEM ROLE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0" y="1391991"/>
            <a:ext cx="699516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901952" y="1437711"/>
            <a:ext cx="68488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precise document Q&amp;A assistant. Answer using ONLY the context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provided. If the answer is not in the context, say "Not found in documents."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2105223"/>
            <a:ext cx="1463040" cy="80614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2105223"/>
            <a:ext cx="1463040" cy="806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RETRIEVED CONTEXT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0" y="2105222"/>
            <a:ext cx="6995160" cy="806143"/>
          </a:xfrm>
          <a:prstGeom prst="rect">
            <a:avLst/>
          </a:prstGeom>
          <a:solidFill>
            <a:srgbClr val="0F172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901952" y="2150943"/>
            <a:ext cx="6848856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[Document 1 — Source: policy_handbook.pdf, p.12]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"Employees are entitled to 21 days of annual leave per calendar year..."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[Document 2 — Source: hr_update_2024.pdf, p.3]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"Carry-over limit increased to 5 days effective January 2024..."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3249378"/>
            <a:ext cx="146304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" y="324937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USER QUERY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0" y="3249378"/>
            <a:ext cx="699516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901952" y="3295098"/>
            <a:ext cx="68488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many annual leave days can I carry over to next year?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3962610"/>
            <a:ext cx="1463040" cy="5669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0040" y="396261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EXPECTED OUTPUT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28800" y="3962610"/>
            <a:ext cx="699516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901952" y="4008330"/>
            <a:ext cx="68488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According to the HR Update 2024 (p.3), you may carry over up to 5 days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unused annual leave to the following year (effective Jan 2024).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Measuring Retrieval Quality: Precision@k &amp; Recall@k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70408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Before optimising generation, ensure your retriever is actually fetching the right chunks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1128284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B4C"/>
                </a:solidFill>
              </a:rPr>
              <a:t>Retrieval quality is the most overlooked factor in RAG performance. A perfect LLM cannot compensate for a retriever that fetches the wrong context.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603772"/>
            <a:ext cx="1508760" cy="74980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" y="1603772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Precision@k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74520" y="1603772"/>
            <a:ext cx="310896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947672" y="1768364"/>
            <a:ext cx="2962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Precision@k = (# relevant in top-k) / 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0" y="1603772"/>
            <a:ext cx="379476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120640" y="1676924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Of the k documents retrieved, what fraction are actually relevant? High precision = less noise in the LLM context.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2499884"/>
            <a:ext cx="150876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040" y="2499884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Recall@k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874520" y="2499884"/>
            <a:ext cx="310896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947672" y="2664476"/>
            <a:ext cx="2962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Recall@k = (# relevant in top-k) / (total relevant)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0" y="2499884"/>
            <a:ext cx="379476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120640" y="2573036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Of all relevant documents in the corpus, what fraction did we retrieve? High recall = we didn't miss key facts.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395996"/>
            <a:ext cx="1508760" cy="749808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0040" y="3395996"/>
            <a:ext cx="1508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MRR (Mean Reciprocal Rank)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74520" y="3395996"/>
            <a:ext cx="310896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947672" y="3560588"/>
            <a:ext cx="29626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MRR = mean(1 / rank of first relevant result)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0" y="3395996"/>
            <a:ext cx="379476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120640" y="3469148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Measures where the first correct document appears. MRR=1.0 means the correct doc is always #1.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57200" y="1143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Advanced RAG Patterns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E6EF"/>
                </a:solidFill>
              </a:rPr>
              <a:t>Beyond naive RAG — techniques that dramatically improve retrieval precision and answer quality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Naive RAG vs Advanced RAG: Key Differences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70408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Why naive RAG fails in production — and what advanced patterns add to each pipeline stage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174000"/>
            <a:ext cx="1325880" cy="45720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1740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Query Processing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691640" y="1174000"/>
            <a:ext cx="32461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755648" y="122886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✗ Raw user query sent directly to vector search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83480" y="1174000"/>
            <a:ext cx="384048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47488" y="1228864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4A"/>
                </a:solidFill>
              </a:rPr>
              <a:t>✓ Query rewriting, HyDE (hypothetical doc embedding), query expansion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1740928"/>
            <a:ext cx="132588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0040" y="17409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Retrieval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691640" y="1740928"/>
            <a:ext cx="32461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755648" y="179579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✗ Single-pass top-k similarity search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83480" y="1740928"/>
            <a:ext cx="384048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47488" y="1795792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4A"/>
                </a:solidFill>
              </a:rPr>
              <a:t>✓ Multi-query, hybrid (dense + sparse), re-ranking (cross-encoder)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307856"/>
            <a:ext cx="1325880" cy="457200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0040" y="2307856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Context Building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691640" y="2307856"/>
            <a:ext cx="32461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755648" y="236272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✗ Concatenate raw chunks as-is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983480" y="2307856"/>
            <a:ext cx="384048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47488" y="2362720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4A"/>
                </a:solidFill>
              </a:rPr>
              <a:t>✓ Context compression, parent-child chunking, lost-in-the-middle mitigation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2874784"/>
            <a:ext cx="13258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0040" y="287478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Generation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691640" y="2874784"/>
            <a:ext cx="32461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755648" y="2929648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✗ Single LLM call with context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83480" y="2874784"/>
            <a:ext cx="384048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047488" y="2929648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4A"/>
                </a:solidFill>
              </a:rPr>
              <a:t>✓ Step-back prompting, Self-RAG (iterative retrieval), citations enforcement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3441712"/>
            <a:ext cx="1325880" cy="457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20040" y="34417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Evaluation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691640" y="3441712"/>
            <a:ext cx="32461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755648" y="3496576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✗ Manual spot-check or BLEU score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983480" y="3441712"/>
            <a:ext cx="384048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047488" y="3496576"/>
            <a:ext cx="3712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4A"/>
                </a:solidFill>
              </a:rPr>
              <a:t>✓ RAGAS framework: faithfulness + relevance + context precision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Query Enhancement: HyDE &amp; Query Rewriting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082459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Two powerful pre-retrieval techniques that dramatically improve what gets retrieved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338491"/>
            <a:ext cx="4114800" cy="34747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338491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HyDE — Hypothetical Document Embedding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722539"/>
            <a:ext cx="4114800" cy="1600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1768259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C"/>
                </a:solidFill>
              </a:rPr>
              <a:t>How it works: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1996859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1. User asks: "What is the refund policy?"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2243747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2. LLM generates a hypothetical answer: "The refund policy states customers may return items within 30 days..."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2490635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3. Embed the hypothetical answer (not the query)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2737523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4. Use that embedding to search the vector store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298441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Why: The hypothetical answer shares vocabulary with real docs → better retrieval signal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1338491"/>
            <a:ext cx="4114800" cy="347472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09160" y="1338491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Query Rewriting &amp; Decomposition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722539"/>
            <a:ext cx="4114800" cy="160020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00600" y="1768259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C"/>
                </a:solidFill>
              </a:rPr>
              <a:t>Techniques: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1996859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Step-back: Rewrite to a more general version first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00600" y="2243747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Multi-query: Generate 3 variants of the same question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00600" y="2490635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Sub-query: Break compound questions into parts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00600" y="2737523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→ Contextual: Add conversation history to resolve pronouns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00600" y="298441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4A"/>
                </a:solidFill>
              </a:rPr>
              <a:t>★ Result: Retrieve with all variants; deduplicate; merge top-k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423323"/>
            <a:ext cx="850392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11480" y="3441611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196D3"/>
                </a:solidFill>
              </a:rPr>
              <a:t>Combined impact: HyDE + Multi-query retrieval has been shown to improve Precision@5 by 15–25% over naive single-query retrieval on enterprise document corpora.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-1366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914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Re-Ranking: Cross-Encoder Precision Boost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99701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A two-stage retrieval approach that combines recall speed with precision accuracy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125304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2B4C"/>
                </a:solidFill>
              </a:rPr>
              <a:t>Bi-encoder retrieval is fast but imprecise. Cross-encoder re-ranking is slow but highly accurate. Combine both: bi-encoder fetches top-50; cross-encoder re-ranks to top-5.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7793" y="1728530"/>
            <a:ext cx="21945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7793" y="172853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Query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793" y="2112578"/>
            <a:ext cx="219456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31801" y="2140010"/>
            <a:ext cx="207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User question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343810" y="1728530"/>
            <a:ext cx="2194560" cy="384048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343810" y="172853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Bi-Encoder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43810" y="2112578"/>
            <a:ext cx="219456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407818" y="2140010"/>
            <a:ext cx="207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Embed query → cosine search → top-50 candidates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85513" y="1883978"/>
            <a:ext cx="164592" cy="82296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14113" y="172853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50 Chunks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78121" y="2140010"/>
            <a:ext cx="207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Fast recall; some irrelevant chunks included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89868" y="1728530"/>
            <a:ext cx="2194560" cy="384048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89868" y="172853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Cross-Encoder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89868" y="2112578"/>
            <a:ext cx="219456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653876" y="2140010"/>
            <a:ext cx="207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Score each (query, chunk) pair jointly. More accurate — sees full interaction.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5753" y="1883978"/>
            <a:ext cx="164592" cy="82296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834353" y="1728530"/>
            <a:ext cx="219456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834353" y="172853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Re-Ranked Top-5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34353" y="2112578"/>
            <a:ext cx="219456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898361" y="2140010"/>
            <a:ext cx="20756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Highest-scoring 5 chunks forwarded to the LLM context window.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2670362"/>
            <a:ext cx="8503920" cy="2743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20040" y="267036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POPULAR RE-RANKING MODELS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2990402"/>
            <a:ext cx="850392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11480" y="300869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cross-encoder/ms-marco-MiniLM-L-6-v2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37760" y="300869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Open-source (HF)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675120" y="300869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4A"/>
                </a:solidFill>
              </a:rPr>
              <a:t>Fast; good for most tasks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3328730"/>
            <a:ext cx="8503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11480" y="334701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Cohere Rerank v3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37760" y="334701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API (Cohere)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675120" y="334701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4A"/>
                </a:solidFill>
              </a:rPr>
              <a:t>State-of-the-art; multilingual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3667058"/>
            <a:ext cx="850392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11480" y="368534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196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BAAI/bge-reranker-large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37760" y="368534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Open-source (HF)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675120" y="368534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4A"/>
                </a:solidFill>
              </a:rPr>
              <a:t>Top BEIR scores; self-hosted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Case Study: Chat with Company Policy Documents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70408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Building a production RAG system for a 500-employee company's HR &amp; compliance knowledge base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0550" y="1252728"/>
            <a:ext cx="8503920" cy="3200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0550" y="12527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BACKGROUND &amp; PROBLEM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0550" y="1618488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C"/>
                </a:solidFill>
              </a:rPr>
              <a:t>A 500-employee company has 200+ policy documents (PDFs): HR policies, compliance guidelines, IT security standards, leave policies — updated quarterly. HR receives 150+ repetitive questions per week. Answer accuracy by HR staff: 73% (conflicting doc versions). Goal: deploy a self-service RAG Q&amp;A bot with verifiable citations.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0550" y="2368296"/>
            <a:ext cx="201168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30550" y="23957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B4C"/>
                </a:solidFill>
              </a:rPr>
              <a:t>200+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30550" y="27340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Policy Documents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79390" y="2368296"/>
            <a:ext cx="201168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479390" y="23957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196D3"/>
                </a:solidFill>
              </a:rPr>
              <a:t>~85K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479390" y="27340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Text Chunks (512 tok)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28230" y="2368296"/>
            <a:ext cx="201168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28230" y="23957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4A17"/>
                </a:solidFill>
              </a:rPr>
              <a:t>150/wk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28230" y="27340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HR Questions Received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77070" y="2368296"/>
            <a:ext cx="201168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777070" y="23957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392B"/>
                </a:solidFill>
              </a:rPr>
              <a:t>73%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777070" y="27340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Baseline Answer Accuracy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0550" y="3127248"/>
            <a:ext cx="8503920" cy="274320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30550" y="312724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 CHOSEN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0550" y="344728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B4C"/>
                </a:solidFill>
              </a:rPr>
              <a:t>Embedding: text-embedding-3-large  |  Vector DB: Qdrant (with doc_type + year metadata filters)  |  Re-ranker: Cohere Rerank v3  |  Generator: GPT-4o  |  top_k=20 → re-rank → top_5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0" y="-22860"/>
            <a:ext cx="9144000" cy="658368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-2286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Case Study: Results &amp; Lessons Learned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1752" y="847134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2196D3"/>
                </a:solidFill>
              </a:rPr>
              <a:t>Measured outcomes after 8-week deployment — and the three most impactful design decisions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1752" y="1103166"/>
            <a:ext cx="8503920" cy="32004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01752" y="1103166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MEASURED OUTCOMES (8-week post-deployment)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1752" y="1468926"/>
            <a:ext cx="246888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1505502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C"/>
                </a:solidFill>
              </a:rPr>
              <a:t>Answer Accuracy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16352" y="1468926"/>
            <a:ext cx="16459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862072" y="150550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Before: 73%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07992" y="1468926"/>
            <a:ext cx="1645920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53712" y="150550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A4A"/>
                </a:solidFill>
              </a:rPr>
              <a:t>After: 94%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99632" y="1468926"/>
            <a:ext cx="260604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45352" y="150550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+21pp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1752" y="1880406"/>
            <a:ext cx="246888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1916982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C"/>
                </a:solidFill>
              </a:rPr>
              <a:t>HR Question Volume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816352" y="1880406"/>
            <a:ext cx="16459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862072" y="191698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Before: 150/wk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07992" y="1880406"/>
            <a:ext cx="1645920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53712" y="191698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A4A"/>
                </a:solidFill>
              </a:rPr>
              <a:t>After: 38/wk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99632" y="1880406"/>
            <a:ext cx="260604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45352" y="191698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−75%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1752" y="2291886"/>
            <a:ext cx="246888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65760" y="2328462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C"/>
                </a:solidFill>
              </a:rPr>
              <a:t>Avg Response Time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816352" y="2291886"/>
            <a:ext cx="16459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862072" y="232846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Before: 24 hrs (email)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07992" y="2291886"/>
            <a:ext cx="1645920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553712" y="232846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A4A"/>
                </a:solidFill>
              </a:rPr>
              <a:t>After: 4 sec (bot)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99632" y="2291886"/>
            <a:ext cx="2606040" cy="347472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245352" y="232846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−99.9%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01752" y="2703366"/>
            <a:ext cx="246888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65760" y="2739942"/>
            <a:ext cx="23408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4C"/>
                </a:solidFill>
              </a:rPr>
              <a:t>Hallucination Rate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816352" y="2703366"/>
            <a:ext cx="164592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E0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862072" y="273994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Before: N/A (human)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07992" y="2703366"/>
            <a:ext cx="1645920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553712" y="273994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7A4A"/>
                </a:solidFill>
              </a:rPr>
              <a:t>After: 3.2%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99632" y="2703366"/>
            <a:ext cx="26060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245352" y="273994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Established baseline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01752" y="3133134"/>
            <a:ext cx="8503920" cy="274320"/>
          </a:xfrm>
          <a:prstGeom prst="rect">
            <a:avLst/>
          </a:prstGeom>
          <a:solidFill>
            <a:srgbClr val="1A2B4C"/>
          </a:solidFill>
          <a:ln w="12700">
            <a:solidFill>
              <a:srgbClr val="1A2B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01752" y="313313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KEY DESIGN LESSONS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01752" y="3453174"/>
            <a:ext cx="411480" cy="237744"/>
          </a:xfrm>
          <a:prstGeom prst="rect">
            <a:avLst/>
          </a:prstGeom>
          <a:solidFill>
            <a:srgbClr val="E84A17"/>
          </a:solidFill>
          <a:ln w="12700">
            <a:solidFill>
              <a:srgbClr val="E84A1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01752" y="345317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L1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86384" y="3471462"/>
            <a:ext cx="8001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Metadata filtering was the single biggest accuracy boost — wrong-year policy docs caused most early failures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01752" y="3727494"/>
            <a:ext cx="411480" cy="237744"/>
          </a:xfrm>
          <a:prstGeom prst="rect">
            <a:avLst/>
          </a:prstGeom>
          <a:solidFill>
            <a:srgbClr val="2196D3"/>
          </a:solidFill>
          <a:ln w="12700">
            <a:solidFill>
              <a:srgbClr val="2196D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01752" y="372749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L2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86384" y="3745782"/>
            <a:ext cx="8001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Re-ranking reduced hallucinations from 11% to 3.2% by removing semantically close but factually wrong chunks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01752" y="4001814"/>
            <a:ext cx="41148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01752" y="400181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L3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86384" y="4020102"/>
            <a:ext cx="8001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B4C"/>
                </a:solidFill>
              </a:rPr>
              <a:t>Chunk overlap (50 tokens) solved the majority of "cut-off answer" complaints from early users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2802</Words>
  <Application>Microsoft Office PowerPoint</Application>
  <PresentationFormat>On-screen Show (16:9)</PresentationFormat>
  <Paragraphs>416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Lecture 07 – RAG: Embeddings, Vector Search &amp; RAG Architecture</dc:title>
  <dc:subject>PptxGenJS Presentation</dc:subject>
  <dc:creator>PptxGenJS</dc:creator>
  <cp:lastModifiedBy>Usha Nandhini</cp:lastModifiedBy>
  <cp:revision>14</cp:revision>
  <dcterms:created xsi:type="dcterms:W3CDTF">2026-05-14T08:30:16Z</dcterms:created>
  <dcterms:modified xsi:type="dcterms:W3CDTF">2026-06-20T14:45:36Z</dcterms:modified>
</cp:coreProperties>
</file>