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6" r:id="rId27"/>
    <p:sldId id="287" r:id="rId28"/>
    <p:sldId id="288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44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037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57200" y="13716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Generative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Works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54864" cy="82296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Intuition  |  Tokens &amp; Embeddings  |  Context Window  |  Capabilities &amp; Limitations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Recap — Where We Left Off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3035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key ideas to carry into today's technical session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86386"/>
            <a:ext cx="2743200" cy="2834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86386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325880" y="1277826"/>
            <a:ext cx="731520" cy="731520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325880" y="127782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213736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predict the next 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9768" y="2594562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do not retrieve stored facts — they generate statistically likely continuations based on patterns learned during training on massive text corpora.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186386"/>
            <a:ext cx="2743200" cy="2834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0" y="1186386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206240" y="1277826"/>
            <a:ext cx="731520" cy="731520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06240" y="127782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310128" y="213736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is structural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310128" y="2594562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LLMs generate plausible text (not verified facts), they can confidently produce wrong content. Understanding why requires understanding tokens and inference.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080760" y="1186386"/>
            <a:ext cx="2743200" cy="2834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80760" y="1186386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086600" y="1277826"/>
            <a:ext cx="731520" cy="731520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086600" y="127782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90488" y="213736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creates, it does not know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190488" y="2594562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'magic' of GPT-4, Claude, and Gemini is mathematical — embeddings, attention, and probability distributions. Today we demystify the mechanism.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4112466"/>
            <a:ext cx="8503920" cy="27432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7200" y="411246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Today's focus: Open the hood — understand HOW the mechanism actually works at a conceptual level.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&amp;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Tokenisation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language is converted into numbers that a model can process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"Everything an LLM reads, thinks about, and writes is a sequence of tokens — not words, not characters, not sentences."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Token?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1339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atomic unit of language in any LLM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89359"/>
            <a:ext cx="8503920" cy="3657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18935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 A token is a chunk of text — typically a word, sub-word, or character — that a model processes as a single unit.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63741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words split into tokens (GPT-4 tokeniser):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2003175"/>
            <a:ext cx="429768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1480" y="204889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"Hello"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67236" y="2048895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932996" y="2048895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932996" y="2048895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022297" y="2058039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2378079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11480" y="242379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"Tokenisation"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567236" y="2423799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932996" y="2423799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932996" y="2423799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591364" y="2423799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591364" y="2423799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022297" y="2432943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2752983"/>
            <a:ext cx="429768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11480" y="279870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"ChatGPT"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567236" y="2798703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932996" y="2798703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932996" y="2798703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591364" y="2798703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591364" y="2798703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49732" y="2798703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249732" y="2798703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022297" y="2807847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20040" y="3127887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11480" y="317360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"Unbelievably"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567236" y="3173607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1932996" y="3173607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932996" y="3173607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2591364" y="3173607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591364" y="3173607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believe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3249732" y="3173607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249732" y="3173607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022297" y="3182751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320040" y="3502791"/>
            <a:ext cx="429768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11480" y="354851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"🚀"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1567236" y="3548511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932996" y="3548511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1932996" y="3548511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🚀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022297" y="3557655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320040" y="3877695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11480" y="392341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"2024"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567236" y="3923415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1932996" y="3923415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1932996" y="3923415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4022297" y="3932559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4846320" y="163741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Token Facts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4846320" y="2003175"/>
            <a:ext cx="397764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4919472" y="207632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5376672" y="2058039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 token ≈ 0.75 words in English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5376672" y="2332359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Roughly 4 characters per token on average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846320" y="2679831"/>
            <a:ext cx="397764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4919472" y="275298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5376672" y="2734695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 has ~100,000 tokens in vocabulary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5376672" y="3009015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maps every possible input to a known token ID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4846320" y="3356487"/>
            <a:ext cx="397764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4919472" y="342963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5376672" y="3411351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is per 1,000 tokens (input + output)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5376672" y="3685671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tokens = higher API cost — affects architecture decisions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4846320" y="4033143"/>
            <a:ext cx="397764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4919472" y="410629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🌍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5376672" y="408800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Non-English text uses more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5376672" y="4362327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Asian scripts, Arabic, etc. often require 2–4× more tokens for same content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Tokenisation Works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9845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BPE algorithm — turning raw text into token IDs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154487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Byte Pair Encoding (BPE) — the most common tokenisation method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556823"/>
            <a:ext cx="4160520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56823"/>
            <a:ext cx="4160520" cy="54864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11480" y="1684839"/>
            <a:ext cx="347472" cy="347472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1480" y="16848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68680" y="1684839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characters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9768" y="2087175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"learning"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Split: l | e | a | r | n | i | n | 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63440" y="1556823"/>
            <a:ext cx="4160520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63440" y="1556823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54880" y="1684839"/>
            <a:ext cx="347472" cy="347472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54880" y="16848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212080" y="1684839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frequent pairs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73168" y="2087175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Count: (l,e)=1, (e,a)=1, (a,r)=1, (r,n)=1...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most frequent pair first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791263"/>
            <a:ext cx="4160520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2791263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11480" y="2919279"/>
            <a:ext cx="347472" cy="347472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11480" y="29192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68680" y="2919279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until vocabulary size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29768" y="3321615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merges: "learn" + "ing"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tokens: [learn] [ing]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63440" y="2791263"/>
            <a:ext cx="4160520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63440" y="2791263"/>
            <a:ext cx="416052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754880" y="2919279"/>
            <a:ext cx="347472" cy="347472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754880" y="29192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212080" y="2919279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integer IDs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773168" y="3321615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"learn" → token ID 4321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"ing" → token ID 278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" y="4080567"/>
            <a:ext cx="85039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57200" y="408056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IDs are what the model actually processes — the neural network never sees raw text, only sequences of integers.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Tokens: Practical Implications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19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tokenisation decisions matter for developers and prompt writers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75752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75752"/>
            <a:ext cx="4160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9768" y="1267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 Token Count Affects Cost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768" y="1651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pricing is per token (input + output). A verbose system prompt costs more per call. Developers must balance quality vs cost — shorter prompts = cheaper at scale.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9768" y="2163304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4632" y="2181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A 500-token system prompt at $0.01/1K tokens × 1M calls = $5,000 just for the system prompt.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175752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63440" y="1175752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73168" y="1267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🔤  Spelling &amp; Tokenisation Interact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73168" y="1651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 split unexpectedly across token boundaries can confuse models. Unusual spellings, names, or typos consume more tokens and may degrade quality.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73168" y="2163304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28032" y="2181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"Usha" → 2 tokens: ["Us","ha"]. Rare names get split, which can affect named entity handling.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84512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684512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9768" y="27759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📐  Token Limits Gate What Fits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29768" y="3160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your document exceeds the context window token limit, it gets truncated. RAG and chunking strategies exist specifically to work around this constraint.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29768" y="3672064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84632" y="36903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GPT-4 128K context ≈ 96,000 words ≈ a full novel. Sounds large — but enterprise codebases can exceed this.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663440" y="2684512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63440" y="2684512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73168" y="27759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🧮  Counting Tokens Is Non-Trivial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73168" y="3160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cannot count tokens by counting words. Developers use tokeniser libraries (tiktoken for OpenAI, tokenizers for HuggingFace) to get accurate counts before sending requests.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773168" y="3672064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828032" y="36903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Rule of thumb: 1,000 tokens ≈ 750 words in English (varies by language and content type).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meaning becomes mathematics — vectors in high-dimensional space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"Two words that appear in similar contexts will have similar vector representations — that's how AI learns that 'king' and 'queen' are semantically related."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-45509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-45509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Embeddings?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1041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meaning as points in mathematical space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70121" y="1048158"/>
            <a:ext cx="8750595" cy="3657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23284" y="1048158"/>
            <a:ext cx="8697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 An embedding is a dense vector of numbers (e.g. 1,536 numbers) that captures the semantic meaning of a token or piece of 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50535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Intuition: Words with similar meanings cluster together in vector space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73046" y="3868341"/>
            <a:ext cx="4114800" cy="0"/>
          </a:xfrm>
          <a:prstGeom prst="line">
            <a:avLst/>
          </a:prstGeom>
          <a:noFill/>
          <a:ln w="1905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73047" y="1846030"/>
            <a:ext cx="0" cy="2011680"/>
          </a:xfrm>
          <a:prstGeom prst="line">
            <a:avLst/>
          </a:prstGeom>
          <a:noFill/>
          <a:ln w="1905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97280" y="3959781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dimension 1 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8252" y="2679621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 2 ↑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97280" y="2222421"/>
            <a:ext cx="219456" cy="219456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68680" y="246016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554480" y="2588181"/>
            <a:ext cx="219456" cy="219456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325880" y="282592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" y="2862501"/>
            <a:ext cx="219456" cy="219456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85800" y="310024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743200" y="1948101"/>
            <a:ext cx="219456" cy="219456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514600" y="218584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0" y="2313861"/>
            <a:ext cx="219456" cy="219456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971800" y="255160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Nurse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560320" y="2679621"/>
            <a:ext cx="219456" cy="219456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331720" y="291736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931920" y="3045381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703320" y="328312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297680" y="2588181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069080" y="282592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London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840480" y="2222421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611880" y="2460165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Berlin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43219" y="3520869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43219" y="352086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Royalty cluster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194560" y="3520869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194560" y="352086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cluster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528950" y="3520869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3528950" y="352086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Cities cluster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892040" y="150535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Properties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892040" y="1861974"/>
            <a:ext cx="3931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983480" y="186516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983480" y="213629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text-embedding-3-large = 3,072 dimensions per token. Each dimension captures a different latent feature of meaning.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892040" y="2456334"/>
            <a:ext cx="3931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983480" y="245952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= Distance: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983480" y="273065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measures how close two vectors are. Closer = more semantically similar.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92040" y="3050694"/>
            <a:ext cx="3931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4983480" y="305388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Arithmetic: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983480" y="332501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"King" − "Man" + "Woman" ≈ "Queen". Mathematical relationships encode real-world analogies.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4892040" y="3645054"/>
            <a:ext cx="3931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983480" y="364824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Meaning ≈ Same Region: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4983480" y="391937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"Happy", "Joyful", "Elated" cluster near each other regardless of exact word form.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 in the LLM Pipeline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1972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raw text to vector representation — step by step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94041"/>
            <a:ext cx="1298448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94041"/>
            <a:ext cx="1298448" cy="54864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285481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📝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5760" y="170610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74904" y="2090153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"The patient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surgery"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618488" y="2199881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746504" y="1194041"/>
            <a:ext cx="1298448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746504" y="1194041"/>
            <a:ext cx="1298448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746504" y="1285481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✂️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792224" y="170610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801368" y="2090153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['The','patient','needs','surgery']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[464, 5827, 2476, 9939]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044952" y="2199881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172968" y="1194041"/>
            <a:ext cx="1298448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172968" y="1194041"/>
            <a:ext cx="1298448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172968" y="1285481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218688" y="170610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Embeddings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227832" y="2090153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ID → 1,536-dim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of floats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471416" y="2199881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599432" y="1194041"/>
            <a:ext cx="1298448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599432" y="1194041"/>
            <a:ext cx="129844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599432" y="1285481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📍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45152" y="170610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654296" y="2090153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position signal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model knows order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897880" y="2199881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025896" y="1194041"/>
            <a:ext cx="1298448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25896" y="1194041"/>
            <a:ext cx="1298448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25896" y="1285481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071616" y="170610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Layers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080760" y="2090153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updates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vector using context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324344" y="2199881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452360" y="1194041"/>
            <a:ext cx="1298448" cy="2377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7452360" y="1194041"/>
            <a:ext cx="129844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452360" y="1285481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498080" y="170610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Logits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507224" y="2090153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over 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vocab tokens → sample next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320040" y="3681209"/>
            <a:ext cx="85039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57200" y="3708641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🔑  The Attention Mechanism: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331720" y="3708641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 innovation in Transformers. Each token's embedding is updated by attending to all other tokens — weighted by relevance. 'The doctor prescribed medicine' — the model learns that 'doctor' and 'prescribed' are more related than 'doctor' and 'the'.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Embeddings Matter for Applications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09087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Powering semantic search, RAG, and recommendation systems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65119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65119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9768" y="1256559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Semantic Search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768" y="1622319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keyword matching, embed the query and all documents. Return documents whose embeddings are most similar (cosine similarity).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9768" y="2116095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4632" y="2134383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Finds 'heart attack' results when user searches 'cardiac event' — no keyword overlap needed.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165119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63440" y="1165119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73168" y="1256559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  Retrieval-Augmented Generation (RAG)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73168" y="1622319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 a knowledge base into a vector store. At query time, embed the question, retrieve similar chunks, inject them into the LLM prompt as context.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73168" y="2116095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28032" y="2134383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Grounds LLM answers in real documents — dramatically reduces hallucination for enterprise use cases.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73879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673879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9768" y="2765319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 Recommendation Systems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29768" y="3131079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 product descriptions and user interaction history. Recommend items whose embeddings are close to the user's preference vector.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29768" y="3624855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84632" y="3643143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Explains why Netflix suggests similar films — or why an e-commerce site shows related products.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663440" y="2673879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63440" y="2673879"/>
            <a:ext cx="4160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73168" y="2765319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🔔  Anomaly &amp; Duplicate Detection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73168" y="3131079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 customer support tickets or fraud reports. Flag new items that cluster too close to known fraudulent or problematic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773168" y="3624855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828032" y="3643143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Detects fraud patterns and duplicate bug reports even when the exact wording differs.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Context Window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memory of an LLM — and its hard limits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"Think of the context window as a whiteboard. Everything the model can see is on the whiteboard. Once the whiteboard is full — the oldest content is erased."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-19353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-19353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Context Window?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05985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amount of text an LLM can 'see' at one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97598"/>
            <a:ext cx="8503920" cy="3657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29759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 The context window is the maximum number of tokens the model can process in a single interaction — including the system prompt, conversation history, and output.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75479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Window Sizes Across Major Models (2024)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2102270"/>
            <a:ext cx="1554480" cy="2926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74904" y="210227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920240" y="2102270"/>
            <a:ext cx="1371600" cy="2926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975104" y="210227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337560" y="2102270"/>
            <a:ext cx="1188720" cy="2926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392424" y="210227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572000" y="2102270"/>
            <a:ext cx="1325880" cy="2926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626864" y="210227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0" y="2102270"/>
            <a:ext cx="1600200" cy="2926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998464" y="210227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 to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431454"/>
            <a:ext cx="15544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74904" y="2468030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920240" y="2431454"/>
            <a:ext cx="13716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975104" y="246803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337560" y="2431454"/>
            <a:ext cx="118872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392424" y="246803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128,000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572000" y="2431454"/>
            <a:ext cx="13258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626864" y="246803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~96,000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943600" y="2431454"/>
            <a:ext cx="16002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998464" y="246803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 novel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20040" y="2760638"/>
            <a:ext cx="1554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74904" y="2797214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3.5 Sonnet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920240" y="2760638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975104" y="2797214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Anthropic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337560" y="276063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392424" y="2797214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200,000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572000" y="2760638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626864" y="279721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~150,000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943600" y="2760638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998464" y="279721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full novels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20040" y="3089822"/>
            <a:ext cx="15544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74904" y="3126398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1.5 Pro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1920240" y="3089822"/>
            <a:ext cx="13716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975104" y="3126398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3337560" y="3089822"/>
            <a:ext cx="118872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392424" y="312639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1,000,000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572000" y="3089822"/>
            <a:ext cx="13258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626864" y="312639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~750,000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5943600" y="3089822"/>
            <a:ext cx="16002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998464" y="312639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~11 full novels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320040" y="3419006"/>
            <a:ext cx="1554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74904" y="345558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GPT-3.5 Turbo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1920240" y="3419006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975104" y="345558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3337560" y="3419006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3392424" y="345558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16,385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4572000" y="3419006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4626864" y="345558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~12,000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943600" y="3419006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5998464" y="345558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~50 pages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320040" y="3748190"/>
            <a:ext cx="15544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374904" y="378476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 3 (70B)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1920240" y="3748190"/>
            <a:ext cx="13716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975104" y="3784766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 (open source)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3337560" y="3748190"/>
            <a:ext cx="118872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3392424" y="378476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8,192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4572000" y="3748190"/>
            <a:ext cx="13258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4626864" y="378476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~6,000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5943600" y="3748190"/>
            <a:ext cx="16002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5998464" y="378476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~24 pages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320040" y="4241966"/>
            <a:ext cx="85039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457200" y="424196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Longer context ≠ always better — large contexts increase cost, latency, and the risk of 'lost in the middle' attention degradation.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 the Context Window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19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occupies the tokens — and what gets cut off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157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Anatomy of a Typical Context Window in Production: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504936"/>
            <a:ext cx="102047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504936"/>
            <a:ext cx="10204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340510" y="1504936"/>
            <a:ext cx="2551176" cy="502920"/>
          </a:xfrm>
          <a:prstGeom prst="rect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40510" y="1504936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891686" y="1504936"/>
            <a:ext cx="2381098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91686" y="1504936"/>
            <a:ext cx="2381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72784" y="1504936"/>
            <a:ext cx="85039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72784" y="1504936"/>
            <a:ext cx="85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123176" y="1504936"/>
            <a:ext cx="1700784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123176" y="15049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163304"/>
            <a:ext cx="228600" cy="2286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0936" y="21084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Prompt (12%) — Instructions, persona, rules, guardrails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0" y="2163304"/>
            <a:ext cx="228600" cy="2286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511296" y="21084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Retrieved Context (RAG) (30%) — Relevant document chunks fetched from vector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080760" y="2163304"/>
            <a:ext cx="228600" cy="22860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391656" y="21084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History (28%) — Previous turns — compressed or summarised over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2804237"/>
            <a:ext cx="228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0936" y="2749373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User Input (10%) — The actual message being processed now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00400" y="2804237"/>
            <a:ext cx="228600" cy="2286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511296" y="2749373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Reserved for Output (20%) — Space allocated for the model's response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3548516"/>
            <a:ext cx="8503920" cy="396000"/>
          </a:xfrm>
          <a:prstGeom prst="rect">
            <a:avLst/>
          </a:prstGeom>
          <a:solidFill>
            <a:srgbClr val="FFF4F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11480" y="3594236"/>
            <a:ext cx="230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Lost in the Middle: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771911" y="3594236"/>
            <a:ext cx="59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 LLMs pay less attention to content in the middle of very long contexts - beginning and end get more weight.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" y="3932564"/>
            <a:ext cx="850392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11480" y="3978284"/>
            <a:ext cx="230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Truncation = Lost Memory: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771911" y="3978284"/>
            <a:ext cx="59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context is full, oldest messages are dropped. Conversation history must be managed (summarised or pruned) explicitly.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20040" y="4316612"/>
            <a:ext cx="8503920" cy="396000"/>
          </a:xfrm>
          <a:prstGeom prst="rect">
            <a:avLst/>
          </a:prstGeom>
          <a:solidFill>
            <a:srgbClr val="FFF4F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11480" y="4362332"/>
            <a:ext cx="230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Needle-in-Haystack Challenge: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2771911" y="4362332"/>
            <a:ext cx="59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a specific fact buried in a 100K-token document is hard — even large-context models can miss 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Inference Process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prompt becomes a response — token by token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"Inference is the moment where all the training pays off — the model predicts, samples, and generates — one token at a time, every single time."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Inference: Step-by-Step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592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from the moment you hit 'Send'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11955"/>
            <a:ext cx="850392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7472" y="1148531"/>
            <a:ext cx="301752" cy="301752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7472" y="1148531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49808" y="1166819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Tokenise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944368" y="1166819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prompt is split into tokens. Each token is converted to its integer ID from the model's vocabulary.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532579"/>
            <a:ext cx="8503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47472" y="1569155"/>
            <a:ext cx="301752" cy="301752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7472" y="1569155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49808" y="1587443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944368" y="1587443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token ID is looked up in the embedding table → becomes a high-dimensional vector (e.g. 1,536 floats).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1953203"/>
            <a:ext cx="850392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7472" y="1989779"/>
            <a:ext cx="301752" cy="301752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47472" y="1989779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49808" y="2008067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Positional Encoding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944368" y="2008067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information is added to each vector so the model knows 'token 1 came before token 2'.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373827"/>
            <a:ext cx="8503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47472" y="2410403"/>
            <a:ext cx="301752" cy="301752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47472" y="2410403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49808" y="242869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Through Transformer Layers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944368" y="2428691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layers update each vector using context from ALL other tokens. This happens across many layers (GPT-4 has 96 layers).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2794451"/>
            <a:ext cx="850392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47472" y="2831027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47472" y="2831027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49808" y="284931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Logits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944368" y="2849315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final layer outputs a score (logit) for every token in the vocabulary — 100,000+ scores.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" y="3215075"/>
            <a:ext cx="8503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47472" y="3251651"/>
            <a:ext cx="301752" cy="3017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47472" y="3251651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49808" y="3269939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Next 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2944368" y="3269939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softmax → probability distribution → sample based on temperature setting → output one token.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20040" y="3635699"/>
            <a:ext cx="850392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47472" y="3672275"/>
            <a:ext cx="301752" cy="30175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347472" y="3672275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49808" y="3690563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944368" y="3690563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new token is appended to the context. Steps 1–6 repeat until the model generates a stop token or hits max length.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&amp; Sampling Strategies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592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randomness is controlled in LLM 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093667"/>
            <a:ext cx="85039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093667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controls the 'creativity' of the model — it scales the probability distribution before sampling the next token.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7200" y="1532579"/>
            <a:ext cx="8229600" cy="146304"/>
          </a:xfrm>
          <a:prstGeom prst="rect">
            <a:avLst/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1532579"/>
            <a:ext cx="2057400" cy="14630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514600" y="1532579"/>
            <a:ext cx="2057400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0" y="1532579"/>
            <a:ext cx="2057400" cy="14630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629400" y="1532579"/>
            <a:ext cx="2057400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170631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 More Deterministic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26480" y="1706315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Creative 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1953203"/>
            <a:ext cx="201168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1953203"/>
            <a:ext cx="201168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93192" y="2044643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0.0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93192" y="2428691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93192" y="2703011"/>
            <a:ext cx="18653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picks the single highest-probability token. Fully reproducible output. Best for: factual Q&amp;A, code generation, structured data extraction.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468880" y="1953203"/>
            <a:ext cx="201168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468880" y="1953203"/>
            <a:ext cx="20116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542032" y="2044643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0.5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542032" y="2428691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542032" y="2703011"/>
            <a:ext cx="18653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of predictability and variety. Good for: business writing, customer support responses, professional summaries.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17720" y="1953203"/>
            <a:ext cx="201168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17720" y="1953203"/>
            <a:ext cx="201168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90872" y="2044643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1.0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690872" y="2428691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/ Creative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690872" y="2703011"/>
            <a:ext cx="18653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setting. Diverse and natural-sounding responses. Good for: general conversation, content drafting, brainstorming.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766560" y="1953203"/>
            <a:ext cx="201168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766560" y="1953203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839712" y="2044643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1.5–2.0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839712" y="2428691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Creative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839712" y="2703011"/>
            <a:ext cx="18653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diverse — sometimes incoherent. Best for: creative writing, poetry, ideation. Risk: quality degrades with very high values.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Sampling: Top-P &amp; Top-K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59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more levers for controlling output diversity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11956"/>
            <a:ext cx="420624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11956"/>
            <a:ext cx="420624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9768" y="116682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 Top-K Sampling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29768" y="1569156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15691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top_k = 40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9768" y="191662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9768" y="2154372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each step, keep only the K highest-probability tokens. Sample from those K tokens only. All others are set to probability zero.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9768" y="27030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9768" y="294075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top_k=1 → greedy (same as temp=0). top_k=50 → choose from 50 most likely next tokens.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9768" y="3453671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for:  Use when you want to hard-limit vocabulary diversity. Common in code generation.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09160" y="1111956"/>
            <a:ext cx="420624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709160" y="1111956"/>
            <a:ext cx="420624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18888" y="116682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🎪  Top-P (Nucleus) Sampling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818888" y="1569156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18888" y="15691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top_p = 0.9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818888" y="191662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818888" y="2154372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smallest set of tokens whose cumulative probability ≥ P. The set size adapts — small when one token dominates, large when many tokens are equally likely.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818888" y="27030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818888" y="294075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top_p=0.9 → include tokens until their combined probability reaches 90%. More flexible than top_k.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818888" y="3453671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for:  Default in most production APIs. Better than top_k for natural language tasks.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4038036"/>
            <a:ext cx="85039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57200" y="40380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production APIs: temperature + top_p are the most commonly tuned parameters. Top_k is often fixed at the model level.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Capabilities &amp;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technical lens on what models genuinely can and cannot do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that we understand tokens, embeddings, context, and inference — we can explain capabilities and limitations with precision.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LLMs Are Genuinely Good At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4098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Capabilities grounded in the architecture and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97017"/>
            <a:ext cx="2743200" cy="13533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97017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1480" y="1288457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✍️  Text Generation &amp; Rewriting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1690793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on massive diverse text — can generate fluent, coherent content across styles, tones, and formats with high consistency.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0" y="1197017"/>
            <a:ext cx="2743200" cy="13533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0" y="1197017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291840" y="1288457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  Summarisation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91840" y="1690793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mechanisms let the model identify salient tokens globally — finds key information across long documents efficiently.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080760" y="1197017"/>
            <a:ext cx="2743200" cy="13533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080760" y="1197017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172200" y="1288457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🌐  Translation &amp; Paraphrasing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172200" y="1690793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Multi-lingual training creates cross-lingual embedding spaces — the model maps meaning across languages, not just words.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41769"/>
            <a:ext cx="2743200" cy="13533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641769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11480" y="273320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💻  Code Generation &amp; Debugging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11480" y="3135545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is structured text with predictable patterns — LLMs trained on GitHub repos learn syntax, idioms, and common patterns deeply.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0" y="2641769"/>
            <a:ext cx="2743200" cy="13533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0" y="2641769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291840" y="273320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❓  Question Answering (In-Context)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291840" y="3135545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relevant context, attention focuses the model on the specific passage needed — very effective when grounded in documents.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080760" y="2641769"/>
            <a:ext cx="2743200" cy="13533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080760" y="2641769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172200" y="273320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🏷️  Classification &amp; Sentiment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172200" y="3135545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space encodes sentiment polarity and category boundaries — few-shot examples guide the model effectively.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Hallucination: The Technical Root Cause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3465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LLMs generate false information — explained by the architecture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072402"/>
            <a:ext cx="85039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07240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cause: LLMs are trained to minimise prediction loss — not to distinguish true from false. They optimise for plausibility, not accuracy.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474738"/>
            <a:ext cx="8503920" cy="6126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474738"/>
            <a:ext cx="54864" cy="6126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5488" y="152960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Ground Truth Mechanism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154680" y="154789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has no internal truth-checker. It computes probabilities over tokens — 'Paris is the capital of Germany' and 'Paris is the capital of France' are both valid token sequences that scored high in some training context.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142250"/>
            <a:ext cx="85039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142250"/>
            <a:ext cx="54864" cy="61264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5488" y="219711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Stored as Weights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154680" y="221540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Facts are not stored in a lookup table — they are implicitly encoded in billions of weight values. Rare or ambiguous facts are stored imprecisely and can blend together, producing hybrid hallucinations.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809762"/>
            <a:ext cx="8503920" cy="6126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809762"/>
            <a:ext cx="54864" cy="61264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5488" y="286462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Overconfidence from RLHF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154680" y="288291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raters in RLHF training tend to prefer confident-sounding answers. This incentivises the model to generate authoritative-sounding text even when uncertainty would be more appropriate.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3477274"/>
            <a:ext cx="85039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477274"/>
            <a:ext cx="54864" cy="6126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5488" y="353213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Window Drift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154680" y="355042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long prompts, the model's attention may drift away from key constraints. Earlier instructions can be 'forgotten' mid-generation, leading to contradictions within a single response.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4186897"/>
            <a:ext cx="8503920" cy="4320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7200" y="4186897"/>
            <a:ext cx="82296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strategies: RAG grounds answers in documents, system prompts add constraints, self-consistency sampling cross-checks output — none eliminate hallucination entirely.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Bias: Technical Origins &amp; Manifestations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4884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bias is a structural feature, not a configuration error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86590"/>
            <a:ext cx="8503920" cy="32918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18659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enters LLMs through training data, the RLHF process, and embedding geometry — it cannot be removed with a settings toggle.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607214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607214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169865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Bias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9768" y="199126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text over-represents English, Western, younger demographics. Underrepresented groups have less training signal → worse performance for those groups.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485038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485038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9768" y="257647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Geometry Bias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9768" y="286908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'nurse' co-occurs with 'she' and 'engineer' co-occurs with 'he' in training data, this is encoded in embedding directions. The model inherits occupational gender stereotypes.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3362862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3362862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29768" y="345430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RLHF Preference Bias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9768" y="374691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raters have their own cultural biases. If raters consistently prefer responses that reflect their own worldview, those preferences are learned and amplified.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63440" y="1607214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663440" y="1607214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73168" y="169865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Amplification Effect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73168" y="199126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do not just reflect training bias — they amplify it. A 10% skew in data may produce a 30–40% skew in outputs because the model interpolates toward the dominant pattern.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663440" y="2485038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63440" y="2485038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73168" y="257647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Prompt-Induced Bias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73168" y="286908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framing of a prompt can trigger different biases. 'A nurse walked in, then __' vs 'A surgeon walked in, then __' produce systematically different pronoun predictions.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663440" y="3362862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663440" y="3362862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773168" y="345430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Approaches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773168" y="374691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 data curation, constitutional AI constraints, bias benchmarks (StereoSet, WinoBias), output post-processing, and regular model audits all partially help.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&amp; Latency: Practical Constraints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424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production GenAI deployments require careful engineering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091989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Pricing — Major Models (2024 indicative rates):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439461"/>
            <a:ext cx="1645920" cy="30175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74904" y="1476037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011680" y="1439461"/>
            <a:ext cx="1874520" cy="30175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66544" y="1476037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(per 1M tokens)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931920" y="1439461"/>
            <a:ext cx="1874520" cy="30175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986784" y="1476037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(per 1M tokens)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852160" y="1439461"/>
            <a:ext cx="1965960" cy="30175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907024" y="147603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Use Case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1777789"/>
            <a:ext cx="1645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74904" y="1814365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011680" y="1777789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066544" y="1814365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$5.00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931920" y="1777789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986784" y="1814365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$15.00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852160" y="1777789"/>
            <a:ext cx="1965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907024" y="1814365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reasoning, multimodal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2116117"/>
            <a:ext cx="164592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74904" y="2152693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 mini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011680" y="2116117"/>
            <a:ext cx="187452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066544" y="2152693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$0.15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931920" y="2116117"/>
            <a:ext cx="187452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986784" y="2152693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$0.60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852160" y="2116117"/>
            <a:ext cx="196596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907024" y="2152693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High-volume, simple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" y="2454445"/>
            <a:ext cx="1645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74904" y="2491021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3.5 Sonnet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011680" y="2454445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066544" y="2491021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$3.00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931920" y="2454445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3986784" y="2491021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$15.00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852160" y="2454445"/>
            <a:ext cx="1965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907024" y="2491021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context, coding,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20040" y="2792773"/>
            <a:ext cx="164592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74904" y="2829349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1.5 Flash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2011680" y="2792773"/>
            <a:ext cx="187452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066544" y="2829349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$0.075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3931920" y="2792773"/>
            <a:ext cx="187452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986784" y="2829349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$0.30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5852160" y="2792773"/>
            <a:ext cx="1965960" cy="3017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5907024" y="2829349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Speed-critical applications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320040" y="3131101"/>
            <a:ext cx="1645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374904" y="3167677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(self-hosted)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2011680" y="3131101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066544" y="3167677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cost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3931920" y="3131101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3986784" y="3167677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cost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5852160" y="3131101"/>
            <a:ext cx="1965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5907024" y="316767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Data-sensitive, high volume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320040" y="353343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Latency Factors: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320040" y="3949731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Model Size: Larger models (GPT-4) are slower than smaller ones (GPT-4o mini). Trade quality for speed.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3200400" y="3949731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Context Length: Longer context = more computation per forward pass = higher latency.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080760" y="3949731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Output Length: Streaming mitigates perceived latency — first token appears quickly, rest follows token by token.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LLMs Cannot Do (Today)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66277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technical limitations — not just product gaps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04021"/>
            <a:ext cx="850392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04021"/>
            <a:ext cx="54864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5488" y="1134821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🕐  True Real-Time Knowledge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7560" y="1158885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RAG or tool use, LLMs are frozen at training cutoff. They cannot access live data, current prices, today's news, or real-time APIs.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5488" y="1433685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Workaround: Web search tools, RAG pipelines, function calling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762389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1762389"/>
            <a:ext cx="54864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5488" y="179318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🧮  Guaranteed Mathematical 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337560" y="1817253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predict token sequences — they do not compute. Multi-step arithmetic often fails. Even simple calculations can be wrong without a code interpreter.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5488" y="2092053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Workaround: Code interpreter (run Python in sandbox for maths)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420757"/>
            <a:ext cx="850392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420757"/>
            <a:ext cx="54864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5488" y="245155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  True Multi-Step Logical Reasoning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337560" y="2475621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 prompting helps but does not guarantee logical correctness. LLMs can write valid-looking proofs that contain subtle errors.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5488" y="2750421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Workaround: Tool use + external verifiers for critical logic chains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079125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3079125"/>
            <a:ext cx="54864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5488" y="310992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🗃️  Persistent Long-Term Memory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337560" y="3133989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conversation starts fresh. The model has no memory of previous sessions by default. Context is stateless across API calls.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75488" y="3408789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Workaround: External memory stores (vector DBs, databases, file systems)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3737493"/>
            <a:ext cx="850392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3737493"/>
            <a:ext cx="54864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75488" y="3768293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🪪  Consistent Factual Identity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337560" y="3792357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the same factual question multiple times — the model may give different answers due to temperature and sampling. There is no single 'canonical answer' it will always produce.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75488" y="4067157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Workaround: Temperature=0 for factual tasks, RAG grounding for critical use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Putting It All Together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1440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tokens → embeddings → context → inference form the complete picture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70435"/>
            <a:ext cx="8503920" cy="35661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7472" y="1225299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7472" y="12252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94944" y="1234443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type a prompt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017520" y="1234443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text → tokeniser → integer IDs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572771"/>
            <a:ext cx="85039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47472" y="1627635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7472" y="16276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4944" y="1636779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 become vectors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017520" y="1636779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IDs → embedding table → high-dim vectors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1975107"/>
            <a:ext cx="8503920" cy="35661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7472" y="2029971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47472" y="20299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4944" y="2039115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added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017520" y="2039115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 added to each vector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377443"/>
            <a:ext cx="85039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47472" y="2432307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47472" y="24323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94944" y="2441451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runs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017520" y="2441451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 transformer layers update each vector using ALL other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2779779"/>
            <a:ext cx="8503920" cy="35661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47472" y="2834643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47472" y="28346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94944" y="2843787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probabilities computed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017520" y="2843787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layer → logit scores over all 100K vocabulary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" y="3182115"/>
            <a:ext cx="85039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47472" y="3236979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47472" y="32369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94944" y="3246123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applied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017520" y="3246123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 + temperature → probability distribution → sample 1 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20040" y="3584451"/>
            <a:ext cx="8503920" cy="35661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47472" y="3639315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347472" y="36393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94944" y="3648459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decoded &amp; appended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017520" y="3648459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token added to context → repeat from step 1 until done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320040" y="4023363"/>
            <a:ext cx="850392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57200" y="4023363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 This loop runs thousands of times to generate a single response. For a 500-token answer, steps 1–7 execute 500 times sequentially.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47885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Theory to Reality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210377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what you just learned to these scenarios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1731585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1877889"/>
            <a:ext cx="8229600" cy="521208"/>
          </a:xfrm>
          <a:prstGeom prst="rect">
            <a:avLst/>
          </a:prstGeom>
          <a:solidFill>
            <a:schemeClr val="bg1">
              <a:lumMod val="75000"/>
              <a:alpha val="12000"/>
            </a:scheme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8640" y="1941897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8640" y="1941897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5840" y="1932753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support chatbot gives confidently wrong answers 5% of the time. Based on what you now know about inference, why does this happen — and what architectural fix would help most?</a:t>
            </a:r>
          </a:p>
        </p:txBody>
      </p:sp>
      <p:sp>
        <p:nvSpPr>
          <p:cNvPr id="15" name="Shape 12"/>
          <p:cNvSpPr/>
          <p:nvPr/>
        </p:nvSpPr>
        <p:spPr>
          <a:xfrm>
            <a:off x="457200" y="2453961"/>
            <a:ext cx="8229600" cy="521208"/>
          </a:xfrm>
          <a:prstGeom prst="rect">
            <a:avLst/>
          </a:prstGeom>
          <a:solidFill>
            <a:schemeClr val="bg1">
              <a:lumMod val="75000"/>
              <a:alpha val="12000"/>
            </a:scheme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8640" y="2517969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8640" y="2517969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05840" y="250882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legal team wants to use an LLM to review contracts up to 800 pages long. What context window and tokenisation challenges would you anticipate? How would you architect around them?</a:t>
            </a:r>
          </a:p>
        </p:txBody>
      </p:sp>
      <p:sp>
        <p:nvSpPr>
          <p:cNvPr id="19" name="Shape 16"/>
          <p:cNvSpPr/>
          <p:nvPr/>
        </p:nvSpPr>
        <p:spPr>
          <a:xfrm>
            <a:off x="457200" y="3030033"/>
            <a:ext cx="8229600" cy="521208"/>
          </a:xfrm>
          <a:prstGeom prst="rect">
            <a:avLst/>
          </a:prstGeom>
          <a:solidFill>
            <a:schemeClr val="bg1">
              <a:lumMod val="75000"/>
              <a:alpha val="12000"/>
            </a:scheme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8640" y="3094041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8640" y="3094041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05840" y="3084897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set temperature=1.8 to generate creative marketing copy. The outputs are wild and inconsistent. What is happening mathematically, and what setting would give better results?</a:t>
            </a:r>
          </a:p>
        </p:txBody>
      </p:sp>
      <p:sp>
        <p:nvSpPr>
          <p:cNvPr id="23" name="Shape 20"/>
          <p:cNvSpPr/>
          <p:nvPr/>
        </p:nvSpPr>
        <p:spPr>
          <a:xfrm>
            <a:off x="457200" y="3606105"/>
            <a:ext cx="8229600" cy="521208"/>
          </a:xfrm>
          <a:prstGeom prst="rect">
            <a:avLst/>
          </a:prstGeom>
          <a:solidFill>
            <a:schemeClr val="bg1">
              <a:lumMod val="75000"/>
              <a:alpha val="12000"/>
            </a:scheme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48640" y="3670113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3670113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05840" y="3660969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LLM is trained on data from 2023. A user asks about this week's stock prices. Walk through exactly why the model will either hallucinate or say it doesn't know — what determines which?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-11552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-115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Visualiser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6675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tokenisation exploration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04499"/>
            <a:ext cx="85039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104499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Tool: platform.openai.com/tokenizer  (no login required)  |  Alternative: tiktokenizer.vercel.app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06835"/>
            <a:ext cx="8503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4048" y="1589131"/>
            <a:ext cx="1645920" cy="432000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4048" y="1589131"/>
            <a:ext cx="164592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A — English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148840" y="1561699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Paste: 'The quick brown fox jumps over the lazy dog'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Record: total token count, note where splits occur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080760" y="1616563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Expected: ~9–10 tokens. Observe that common short words = 1 token each.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201779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4048" y="2284075"/>
            <a:ext cx="1645920" cy="432000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2284075"/>
            <a:ext cx="164592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B — Code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148840" y="2256643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 a 10-line Python function from your notes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Record: tokens per line, identify costly patterns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080760" y="2311507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Code is token-efficient — identifiers like 'print', 'def', 'return' are single tokens.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896723"/>
            <a:ext cx="8503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84048" y="2979019"/>
            <a:ext cx="1645920" cy="43200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84048" y="2979019"/>
            <a:ext cx="164592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C — Multilingual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148840" y="2951587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 the same sentence in English, French, and Arabic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Record: token count for each language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080760" y="3006451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Arabic/Chinese use 2–4× more tokens. This directly affects API cost for non-English apps.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3591667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84048" y="3673963"/>
            <a:ext cx="1645920" cy="432000"/>
          </a:xfrm>
          <a:prstGeom prst="roundRect">
            <a:avLst>
              <a:gd name="adj" fmla="val 15385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" y="3673963"/>
            <a:ext cx="164592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D — Special Characters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148840" y="3646531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Paste: emojis (🎉🔥💡), URLs, and a UUID string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Record: how many tokens each type uses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080760" y="370139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Emojis = 1–3 tokens. Random strings are costly — one UUID can use 5–8 tokens.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Experiments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1440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 how sampling changes output character in real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52146"/>
            <a:ext cx="85039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15214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Tool: OpenAI Playground (platform.openai.com/playground)  |  Groq.com (fast &amp; free)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54482"/>
            <a:ext cx="7315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74904" y="155448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97280" y="1554482"/>
            <a:ext cx="269748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52144" y="155448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840480" y="1554482"/>
            <a:ext cx="283464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95344" y="155448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3× — Record What Changes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1883666"/>
            <a:ext cx="73152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97280" y="1883666"/>
            <a:ext cx="269748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840480" y="1883666"/>
            <a:ext cx="498348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47472" y="19751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0.0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52144" y="195681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"List the 5 most common programming languages in 2024"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95344" y="1956818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3 times. Is the output identical? In what order? Does it change at all?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2377442"/>
            <a:ext cx="731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97280" y="2377442"/>
            <a:ext cx="26974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840480" y="2377442"/>
            <a:ext cx="49834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47472" y="246888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0.7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152144" y="245059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"Write a one-sentence tagline for an AI productivity tool"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95344" y="2450594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much does the tagline vary across 3 runs? Are all versions professionally usable?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2871218"/>
            <a:ext cx="73152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097280" y="2871218"/>
            <a:ext cx="269748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840480" y="2871218"/>
            <a:ext cx="498348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47472" y="296265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1.2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152144" y="294437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"Write the opening line of a short story about a robot"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895344" y="2944370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creativity range. Are all 3 outputs coherent? Which temperature gave the best opening?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20040" y="3364994"/>
            <a:ext cx="731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097280" y="3364994"/>
            <a:ext cx="26974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840480" y="3364994"/>
            <a:ext cx="49834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47472" y="345643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1.8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152144" y="343814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"Describe the colour blue in three words"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895344" y="3438146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output stay on topic? Does it become nonsensical? What breaks first — coherence or relevance?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20040" y="3886202"/>
            <a:ext cx="850392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57200" y="391363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 Debrief question: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1920240" y="3913634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temperature setting would you choose for: (a) a medical information chatbot, (b) a creative ad copy generator, (c) a code autocomplete tool? Why?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02 — Key Takeaways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783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technical foundations to carry into every future lecture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16052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16052"/>
            <a:ext cx="530352" cy="56692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116052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60120" y="1113644"/>
            <a:ext cx="349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is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60120" y="14086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never see words — only integer IDs from tokenisation. Token count drives cost, context limits, and quality. Non-English text uses more tokens.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73784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1737844"/>
            <a:ext cx="530352" cy="5669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0040" y="1737844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0120" y="1735436"/>
            <a:ext cx="349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 encode meaning as geometry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60120" y="203045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= vector proximity. This powers search, RAG, recommendations, and anomaly detection — the most useful LLM applications in production.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359636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359636"/>
            <a:ext cx="530352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20040" y="2359636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60120" y="2357228"/>
            <a:ext cx="349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context window is the model's working memory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60120" y="26522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in the window is 'known'. Everything outside it is invisible. Context management is a critical engineering skill for production AI systems.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98142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2981428"/>
            <a:ext cx="5303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20040" y="2981428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60120" y="2979020"/>
            <a:ext cx="349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is probabilistic, not deterministic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60120" y="32740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samples from a probability distribution at every step. Temperature controls creativity vs consistency — and must be tuned for each use case.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3603220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3603220"/>
            <a:ext cx="530352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20040" y="36032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960120" y="3600812"/>
            <a:ext cx="349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have technical root causes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60120" y="38958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= optimising for plausibility not truth. Bias = training data distribution. Memory loss = context truncation. Knowing the cause informs the fix.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4174</Words>
  <Application>Microsoft Office PowerPoint</Application>
  <PresentationFormat>On-screen Show (16:9)</PresentationFormat>
  <Paragraphs>505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 – How Generative AI Works</dc:title>
  <dc:subject>PptxGenJS Presentation</dc:subject>
  <dc:creator>PptxGenJS</dc:creator>
  <cp:lastModifiedBy>EduTech</cp:lastModifiedBy>
  <cp:revision>29</cp:revision>
  <dcterms:created xsi:type="dcterms:W3CDTF">2026-05-12T03:27:02Z</dcterms:created>
  <dcterms:modified xsi:type="dcterms:W3CDTF">2026-05-31T11:24:06Z</dcterms:modified>
</cp:coreProperties>
</file>