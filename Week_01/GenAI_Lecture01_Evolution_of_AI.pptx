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6" r:id="rId26"/>
    <p:sldId id="287" r:id="rId27"/>
    <p:sldId id="288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4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74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5720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01  —  FOUNDATIONS OF GENERATIVE AI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54864" cy="82296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01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AI  |  Hype vs Reality  |  Industry Adoption  |  Ethical &amp; Responsible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14189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14189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 Moment We Are In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topic matters right now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0" y="1874520"/>
            <a:ext cx="2743200" cy="13716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0" y="1874520"/>
            <a:ext cx="27432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00400" y="1965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Million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200400" y="25786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ChatGPT users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2 months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743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Fastest ever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74320" y="25054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tech adoption in history — faster than smartphones, internet, social media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08076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$200B+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080760" y="25054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invested in GenAI startups and products in 2023–2024 alone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0040" y="3456432"/>
            <a:ext cx="201168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1148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🏥  Healthcare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11480" y="3767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reads scans faster than specialists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468880" y="3456432"/>
            <a:ext cx="201168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56032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📖  Education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560320" y="3767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Personalised tutors at scale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617720" y="3456432"/>
            <a:ext cx="201168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70916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⚖️  Legal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709160" y="3767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 review in seconds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766560" y="3456432"/>
            <a:ext cx="201168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85800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💻  Software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858000" y="3767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writes 50% of new code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1419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1419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Changed With Generative AI?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94281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fundamental shift in what computers can do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345326"/>
            <a:ext cx="3977640" cy="36576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434840" y="1345326"/>
            <a:ext cx="4389120" cy="36576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0040" y="134532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GenAI  — Computers Could...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434840" y="134532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GenAI  — Computers Can Now...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0040" y="1775094"/>
            <a:ext cx="3977640" cy="393192"/>
          </a:xfrm>
          <a:prstGeom prst="rect">
            <a:avLst/>
          </a:prstGeom>
          <a:solidFill>
            <a:srgbClr val="EEF3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434840" y="1775094"/>
            <a:ext cx="4389120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7200" y="182995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 and classify data with labels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0" y="182995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 Create original content from a prompt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0040" y="2214006"/>
            <a:ext cx="3977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434840" y="2214006"/>
            <a:ext cx="4389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57200" y="226887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 only if the exact answer exists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572000" y="226887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 Synthesise answers from patterns learned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652918"/>
            <a:ext cx="3977640" cy="393192"/>
          </a:xfrm>
          <a:prstGeom prst="rect">
            <a:avLst/>
          </a:prstGeom>
          <a:solidFill>
            <a:srgbClr val="EEF3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434840" y="2652918"/>
            <a:ext cx="4389120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7200" y="270778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for information (retrieve)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572000" y="270778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 Generate explanations, summaries, stories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0040" y="3091830"/>
            <a:ext cx="3977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434840" y="3091830"/>
            <a:ext cx="4389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57200" y="314669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Recognise images with training labels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572000" y="314669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 Generate images from text descriptions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" y="3530742"/>
            <a:ext cx="3977640" cy="393192"/>
          </a:xfrm>
          <a:prstGeom prst="rect">
            <a:avLst/>
          </a:prstGeom>
          <a:solidFill>
            <a:srgbClr val="EEF3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434840" y="3530742"/>
            <a:ext cx="4389120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57200" y="358560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Translate between pre-trained language pairs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572000" y="358560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 Translate, rephrase, adapt tone on the fly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20040" y="3969654"/>
            <a:ext cx="3977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434840" y="3969654"/>
            <a:ext cx="4389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57200" y="402451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 code written by humans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572000" y="402451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 Write, debug, and explain code itself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1419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5760" y="1419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The AI Evolution Journey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365760" y="1466141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hand-coded rules to autonomous agents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65760" y="2926080"/>
            <a:ext cx="8412480" cy="6400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170432" y="2807208"/>
            <a:ext cx="237744" cy="237744"/>
          </a:xfrm>
          <a:prstGeom prst="ellipse">
            <a:avLst/>
          </a:prstGeom>
          <a:solidFill>
            <a:srgbClr val="5B7F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5760" y="1828800"/>
            <a:ext cx="2011680" cy="91440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38912" y="186537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Rule-Based AI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38912" y="219456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1950s–1980s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319272" y="2807208"/>
            <a:ext cx="237744" cy="237744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514600" y="1828800"/>
            <a:ext cx="2011680" cy="91440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587752" y="186537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587752" y="219456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1990s–2010s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468112" y="2807208"/>
            <a:ext cx="237744" cy="23774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663440" y="1828800"/>
            <a:ext cx="2011680" cy="91440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36592" y="186537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736592" y="219456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2010s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616952" y="2807208"/>
            <a:ext cx="237744" cy="237744"/>
          </a:xfrm>
          <a:prstGeom prst="ellipse">
            <a:avLst/>
          </a:prstGeom>
          <a:solidFill>
            <a:srgbClr val="1A2B4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812280" y="1828800"/>
            <a:ext cx="2011680" cy="9144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885432" y="186537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885432" y="219456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E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2020–Now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65760" y="3108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 &amp; logic trees. Hard-coded if-then rules. No learning from experience.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514600" y="3108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learn from labelled data. Humans still engineer features manually.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663440" y="3108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with many layers learn features automatically. Image &amp; speech breakthroughs.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812280" y="3108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create new text, images, code. Trained on vast data. Human-like language output.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00400" y="4343400"/>
            <a:ext cx="2743200" cy="438912"/>
          </a:xfrm>
          <a:prstGeom prst="roundRect">
            <a:avLst>
              <a:gd name="adj" fmla="val 20833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200400" y="43434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 Next Frontier: Agentic AI (Autonomous Action)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Era 1: Rule-Based AI (1950s–1980s)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522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Logic, expert systems, and the limits of hand-crafted rules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407968"/>
            <a:ext cx="4023360" cy="2743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4719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84048" y="1837736"/>
            <a:ext cx="3840480" cy="329184"/>
          </a:xfrm>
          <a:prstGeom prst="rect">
            <a:avLst/>
          </a:prstGeom>
          <a:solidFill>
            <a:srgbClr val="E8EFF8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2920" y="185602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Programmers wrote every rule explicitly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84048" y="2203496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" y="22217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patient has fever AND cough THEN diagnose flu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84048" y="2569256"/>
            <a:ext cx="3840480" cy="329184"/>
          </a:xfrm>
          <a:prstGeom prst="rect">
            <a:avLst/>
          </a:prstGeom>
          <a:solidFill>
            <a:srgbClr val="E8EFF8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02920" y="25875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stock drops 5% THEN send alert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84048" y="2935016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02920" y="29533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ELIZA (1966) — first chatbot using pattern rules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84048" y="3300776"/>
            <a:ext cx="3840480" cy="329184"/>
          </a:xfrm>
          <a:prstGeom prst="rect">
            <a:avLst/>
          </a:prstGeom>
          <a:solidFill>
            <a:srgbClr val="E8EFF8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2920" y="331906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MYCIN (1972) — medical diagnosis via rule tree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84048" y="3666536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02920" y="368482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learning — adding knowledge = rewriting code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526280" y="1407968"/>
            <a:ext cx="4297680" cy="1298448"/>
          </a:xfrm>
          <a:prstGeom prst="rect">
            <a:avLst/>
          </a:prstGeom>
          <a:solidFill>
            <a:srgbClr val="EDF7ED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526280" y="1407968"/>
            <a:ext cx="42976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617720" y="14719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Strengths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663440" y="17920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44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Fully explainable — every decision is traceable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663440" y="20937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44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Reliable within narrow, well-defined domains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663440" y="23955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44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 training data required to get started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526280" y="2797856"/>
            <a:ext cx="4297680" cy="1371600"/>
          </a:xfrm>
          <a:prstGeom prst="rect">
            <a:avLst/>
          </a:prstGeom>
          <a:solidFill>
            <a:srgbClr val="FFF4F0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526280" y="2797856"/>
            <a:ext cx="4297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617720" y="28618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Limitations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663440" y="318190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Cannot handle exceptions or edge cases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4663440" y="34287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Fails completely outside defined rule set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663440" y="367568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Maintenance nightmare as complexity grows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663440" y="392256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Cannot improve or learn from new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Era 2: Machine Learning (1990s–2010s)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53965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that learn patterns from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0040" y="1109997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Instead of programming rules, give the system data and let it find the rules itself.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603773"/>
            <a:ext cx="850392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603773"/>
            <a:ext cx="54864" cy="82296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2920" y="165863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🏷️  Supervised Learning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02920" y="1969533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on labelled examples (input → correct answer). Learns to predict labels for new inputs.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892040" y="1768365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892040" y="1768365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486400" y="1750077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Spam filter, loan default prediction, image 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0040" y="2518173"/>
            <a:ext cx="850392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0040" y="2518173"/>
            <a:ext cx="54864" cy="82296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02920" y="257303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  Unsupervised Learning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2920" y="2883933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hidden patterns in unlabelled data. Groups similar data points together.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892040" y="2682765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892040" y="2682765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486400" y="2664477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segmentation, anomaly detection, topic modelling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3432573"/>
            <a:ext cx="850392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0040" y="3432573"/>
            <a:ext cx="54864" cy="82296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02920" y="348743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🎮  Reinforcement Learning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02920" y="3798333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learns by trial and error — gets rewards for good actions, penalties for bad.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892040" y="3597165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892040" y="3597165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486400" y="3578877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Game-playing AI, robotics control, recommendation tuning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Era 3: Deep Learning (2010s)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590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that learn layered representations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-64635" y="11785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F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29725" y="1507708"/>
            <a:ext cx="292608" cy="292608"/>
          </a:xfrm>
          <a:prstGeom prst="ellipse">
            <a:avLst/>
          </a:prstGeom>
          <a:solidFill>
            <a:srgbClr val="5B7F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29725" y="1891756"/>
            <a:ext cx="292608" cy="292608"/>
          </a:xfrm>
          <a:prstGeom prst="ellipse">
            <a:avLst/>
          </a:prstGeom>
          <a:solidFill>
            <a:srgbClr val="5B7F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29725" y="2275804"/>
            <a:ext cx="292608" cy="292608"/>
          </a:xfrm>
          <a:prstGeom prst="ellipse">
            <a:avLst/>
          </a:prstGeom>
          <a:solidFill>
            <a:srgbClr val="5B7F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29725" y="2659852"/>
            <a:ext cx="292608" cy="292608"/>
          </a:xfrm>
          <a:prstGeom prst="ellipse">
            <a:avLst/>
          </a:prstGeom>
          <a:solidFill>
            <a:srgbClr val="5B7F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81285" y="11785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Layer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175645" y="1507708"/>
            <a:ext cx="292608" cy="292608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175645" y="1891756"/>
            <a:ext cx="292608" cy="292608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175645" y="2275804"/>
            <a:ext cx="292608" cy="292608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175645" y="2659852"/>
            <a:ext cx="292608" cy="292608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175645" y="3043900"/>
            <a:ext cx="292608" cy="292608"/>
          </a:xfrm>
          <a:prstGeom prst="ellipse">
            <a:avLst/>
          </a:prstGeom>
          <a:solidFill>
            <a:srgbClr val="2196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227205" y="11785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Layer 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821565" y="1507708"/>
            <a:ext cx="292608" cy="292608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821565" y="1891756"/>
            <a:ext cx="292608" cy="292608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821565" y="2275804"/>
            <a:ext cx="292608" cy="292608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821565" y="2659852"/>
            <a:ext cx="292608" cy="292608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821565" y="3043900"/>
            <a:ext cx="292608" cy="292608"/>
          </a:xfrm>
          <a:prstGeom prst="ellipse">
            <a:avLst/>
          </a:prstGeom>
          <a:solidFill>
            <a:srgbClr val="E84A1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873125" y="11785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467485" y="1507708"/>
            <a:ext cx="292608" cy="292608"/>
          </a:xfrm>
          <a:prstGeom prst="ellipse">
            <a:avLst/>
          </a:prstGeom>
          <a:solidFill>
            <a:srgbClr val="1A2B4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467485" y="1891756"/>
            <a:ext cx="292608" cy="292608"/>
          </a:xfrm>
          <a:prstGeom prst="ellipse">
            <a:avLst/>
          </a:prstGeom>
          <a:solidFill>
            <a:srgbClr val="1A2B4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467485" y="2275804"/>
            <a:ext cx="292608" cy="292608"/>
          </a:xfrm>
          <a:prstGeom prst="ellipse">
            <a:avLst/>
          </a:prstGeom>
          <a:solidFill>
            <a:srgbClr val="1A2B4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 flipV="1">
            <a:off x="876197" y="2234601"/>
            <a:ext cx="1220567" cy="10510"/>
          </a:xfrm>
          <a:prstGeom prst="line">
            <a:avLst/>
          </a:prstGeom>
          <a:noFill/>
          <a:ln w="1905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369795" y="11876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Breakthroughs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001934" y="1507708"/>
            <a:ext cx="475488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001934" y="150770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555303" y="1594418"/>
            <a:ext cx="2304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AlexNet wins ImageNet — deep CNN achieves human-level image recognition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001934" y="2007367"/>
            <a:ext cx="475488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001934" y="2007367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519044" y="2052142"/>
            <a:ext cx="2377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GANs invented — two networks compete to generate realistic images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001934" y="2464991"/>
            <a:ext cx="475488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001934" y="2464991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519043" y="2488743"/>
            <a:ext cx="2377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AlphaGo defeats world champion at Go — game-tree DL mastery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001934" y="2901591"/>
            <a:ext cx="475488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001934" y="2901591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6519043" y="2925343"/>
            <a:ext cx="2278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 by Google — pre-trained transformer for NLP tasks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6001934" y="3390742"/>
            <a:ext cx="475488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6001934" y="339074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519044" y="3393474"/>
            <a:ext cx="2377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GPT-3 — 175B parameter language model with few-shot capability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320040" y="4205290"/>
            <a:ext cx="8503920" cy="59436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457200" y="422357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 Deep Learning unlocked: Natural Language Processing, Computer Vision, Speech Recognition — making human-computer interaction feel natural for the first time.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31">
            <a:extLst>
              <a:ext uri="{FF2B5EF4-FFF2-40B4-BE49-F238E27FC236}">
                <a16:creationId xmlns:a16="http://schemas.microsoft.com/office/drawing/2014/main" id="{9E2C8431-2B9B-D349-4ED6-12499CF9D7B2}"/>
              </a:ext>
            </a:extLst>
          </p:cNvPr>
          <p:cNvSpPr/>
          <p:nvPr/>
        </p:nvSpPr>
        <p:spPr>
          <a:xfrm flipV="1">
            <a:off x="2543295" y="2250895"/>
            <a:ext cx="1220567" cy="10510"/>
          </a:xfrm>
          <a:prstGeom prst="line">
            <a:avLst/>
          </a:prstGeom>
          <a:noFill/>
          <a:ln w="1905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7D2C3CAC-80C2-F4B9-AD33-8CC77CCD9B14}"/>
              </a:ext>
            </a:extLst>
          </p:cNvPr>
          <p:cNvSpPr/>
          <p:nvPr/>
        </p:nvSpPr>
        <p:spPr>
          <a:xfrm flipV="1">
            <a:off x="4210393" y="2246169"/>
            <a:ext cx="1220567" cy="10510"/>
          </a:xfrm>
          <a:prstGeom prst="line">
            <a:avLst/>
          </a:prstGeom>
          <a:noFill/>
          <a:ln w="1905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Era 4: Generative AI (2020–Present)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6957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era of creation, not just 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0040" y="120732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Transformer architecture (2017, Google) unlocked everything that followed.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655378"/>
            <a:ext cx="42519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93192" y="1765106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93192" y="176510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33272" y="171024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Paper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33272" y="198456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"Attention Is All You Need" — Google introduces self-attention mechanism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2460050"/>
            <a:ext cx="42519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93192" y="2569778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93192" y="256977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33272" y="251491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GPT-1 &amp; BERT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33272" y="278923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 and Google pre-train large language models on internet 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3264722"/>
            <a:ext cx="42519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93192" y="3374450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93192" y="337445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33272" y="331958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033272" y="359390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175B parameters — few-shot prompting changes everything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754880" y="1655378"/>
            <a:ext cx="42519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828032" y="1765106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828032" y="176510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468112" y="171024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468112" y="198456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RLHF fine-tuning makes LLMs conversational — 100M users in 2 months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754880" y="2460050"/>
            <a:ext cx="42519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828032" y="2569778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828032" y="256977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468112" y="251491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GPT-4, Claude, Gemini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468112" y="278923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models handling text + images + documents together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754880" y="3264722"/>
            <a:ext cx="425196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4828032" y="3374450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828032" y="337445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468112" y="331958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Agents &amp; RAG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5468112" y="359390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gain tools, memory, and the ability to act autonomously in workflows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Large Language Models Work?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011619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intuition behind GenAI — no maths required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267651"/>
            <a:ext cx="2743200" cy="2834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267651"/>
            <a:ext cx="27432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11480" y="1349947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50392" y="1377379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📚  Pre-Training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29768" y="1852867"/>
            <a:ext cx="25237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reads billions of text documents from the internet, books, and code. It learns to predict the next word/token in a sequence over and over — trillions of times.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108960" y="2520379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0" y="1267651"/>
            <a:ext cx="2743200" cy="2834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0" y="1267651"/>
            <a:ext cx="27432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291840" y="1349947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730752" y="1377379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  Fine-Tuning (RLHF)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310128" y="1852867"/>
            <a:ext cx="25237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trainers rate responses. The model is adjusted to produce answers that are helpful, harmless, and honest. This creates the 'assistant' personality.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989320" y="2520379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6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080760" y="1267651"/>
            <a:ext cx="2743200" cy="2834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080760" y="1267651"/>
            <a:ext cx="274320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172200" y="1349947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611112" y="1377379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💬  Inference (Talking to You)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190488" y="1852867"/>
            <a:ext cx="25237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type a prompt. The model predicts the most likely next token, then the next, then the next — generating output token by token until the answer is complete.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0040" y="4193731"/>
            <a:ext cx="8503920" cy="25603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57200" y="419373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fact: LLMs do not 'know' things — they predict statistically likely continuations based on patterns learned during training.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Generative AI?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148253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that creates new content — text, images, audio, code, and more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422573"/>
            <a:ext cx="274320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422573"/>
            <a:ext cx="27432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11480" y="1514013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✍️  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1480" y="1898061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Tools: ChatGPT, Claude, Gemini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11480" y="2172381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Emails, reports, summaries, Q&amp;A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0" y="1422573"/>
            <a:ext cx="274320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0" y="1422573"/>
            <a:ext cx="27432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291840" y="1514013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🖼️  Images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291840" y="1898061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Tools: DALL-E, Midjourney, Stable Diffusion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291840" y="2172381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visuals, art, design mockups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080760" y="1422573"/>
            <a:ext cx="274320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080760" y="1422573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172200" y="1514013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🎵  Audio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172200" y="1898061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Tools: ElevenLabs, Suno, Udio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172200" y="2172381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Voiceovers, music, speech synthesis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2794173"/>
            <a:ext cx="274320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0040" y="2794173"/>
            <a:ext cx="274320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11480" y="2885613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🎬  Video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11480" y="3269661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Tools: Sora, Runway, Pika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11480" y="3543981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clips, training videos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0" y="2794173"/>
            <a:ext cx="274320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00400" y="2794173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291840" y="2885613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💻  Code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291840" y="3269661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Tools: GitHub Copilot, Cursor, Claude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291840" y="3543981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Autocomplete, debugging, generation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080760" y="2794173"/>
            <a:ext cx="274320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080760" y="2794173"/>
            <a:ext cx="27432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172200" y="2885613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 Structured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172200" y="3269661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Tools: GPT-4, Gemini Pro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172200" y="3543981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extraction, form filling,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AI vs Generative AI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7498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fundamental difference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96812"/>
            <a:ext cx="1828800" cy="347472"/>
          </a:xfrm>
          <a:prstGeom prst="rect">
            <a:avLst/>
          </a:prstGeom>
          <a:solidFill>
            <a:srgbClr val="1A2B4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176272" y="1196812"/>
            <a:ext cx="3154680" cy="347472"/>
          </a:xfrm>
          <a:prstGeom prst="rect">
            <a:avLst/>
          </a:prstGeom>
          <a:solidFill>
            <a:srgbClr val="2B4B7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367528" y="1196812"/>
            <a:ext cx="3456432" cy="347472"/>
          </a:xfrm>
          <a:prstGeom prst="rect">
            <a:avLst/>
          </a:prstGeom>
          <a:solidFill>
            <a:srgbClr val="E84A17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84048" y="12425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Aspect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240280" y="12425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/ Discriminative AI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431536" y="12425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1580860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176272" y="1580860"/>
            <a:ext cx="3154680" cy="347472"/>
          </a:xfrm>
          <a:prstGeom prst="rect">
            <a:avLst/>
          </a:prstGeom>
          <a:solidFill>
            <a:srgbClr val="F8F0E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367528" y="1580860"/>
            <a:ext cx="3456432" cy="347472"/>
          </a:xfrm>
          <a:prstGeom prst="rect">
            <a:avLst/>
          </a:prstGeom>
          <a:solidFill>
            <a:srgbClr val="F8F0E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84048" y="16265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Goal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240280" y="16265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Classify, predict, or recommend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431536" y="16265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new original content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1964908"/>
            <a:ext cx="182880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176272" y="1964908"/>
            <a:ext cx="3154680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367528" y="1964908"/>
            <a:ext cx="3456432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84048" y="20106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Type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240280" y="20106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Label, score, or ranked list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431536" y="20106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Text, image, audio, code, video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20040" y="2348956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2176272" y="2348956"/>
            <a:ext cx="3154680" cy="347472"/>
          </a:xfrm>
          <a:prstGeom prst="rect">
            <a:avLst/>
          </a:prstGeom>
          <a:solidFill>
            <a:srgbClr val="F8F0E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367528" y="2348956"/>
            <a:ext cx="3456432" cy="347472"/>
          </a:xfrm>
          <a:prstGeom prst="rect">
            <a:avLst/>
          </a:prstGeom>
          <a:solidFill>
            <a:srgbClr val="F8F0E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84048" y="23946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240280" y="23946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Labelled datasets (supervised)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431536" y="23946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Vast unlabelled raw text / images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20040" y="2733004"/>
            <a:ext cx="182880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2176272" y="2733004"/>
            <a:ext cx="3154680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367528" y="2733004"/>
            <a:ext cx="3456432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84048" y="27787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Strength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2240280" y="27787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within narrow task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431536" y="277872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Flexibility across many tasks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20040" y="311705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2176272" y="3117052"/>
            <a:ext cx="3154680" cy="347472"/>
          </a:xfrm>
          <a:prstGeom prst="rect">
            <a:avLst/>
          </a:prstGeom>
          <a:solidFill>
            <a:srgbClr val="F8F0E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5367528" y="3117052"/>
            <a:ext cx="3456432" cy="347472"/>
          </a:xfrm>
          <a:prstGeom prst="rect">
            <a:avLst/>
          </a:prstGeom>
          <a:solidFill>
            <a:srgbClr val="F8F0E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384048" y="31627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Weakness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2240280" y="31627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generalise outside task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431536" y="31627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Hallucination, inconsistency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320040" y="3501100"/>
            <a:ext cx="182880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2176272" y="3501100"/>
            <a:ext cx="3154680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5367528" y="3501100"/>
            <a:ext cx="3456432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384048" y="35468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2240280" y="35468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 interpretable (decision trees, regression)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5431536" y="35468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Black-box — hard to explain why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320040" y="3885148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2176272" y="3885148"/>
            <a:ext cx="3154680" cy="347472"/>
          </a:xfrm>
          <a:prstGeom prst="rect">
            <a:avLst/>
          </a:prstGeom>
          <a:solidFill>
            <a:srgbClr val="F8F0E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5367528" y="3885148"/>
            <a:ext cx="3456432" cy="347472"/>
          </a:xfrm>
          <a:prstGeom prst="rect">
            <a:avLst/>
          </a:prstGeom>
          <a:solidFill>
            <a:srgbClr val="F8F0EC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384048" y="39308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2240280" y="39308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Spam classifier, fraud detector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5431536" y="39308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GPT-4 writing a business email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-44354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-4435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 Hype vs Reality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7267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 accurate expectations before we go further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223719"/>
            <a:ext cx="4114800" cy="36576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53712" y="1223719"/>
            <a:ext cx="4270248" cy="36576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0040" y="122371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🔥  HYPE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53712" y="1223719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REALITY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0040" y="1653487"/>
            <a:ext cx="4114800" cy="484632"/>
          </a:xfrm>
          <a:prstGeom prst="rect">
            <a:avLst/>
          </a:prstGeom>
          <a:solidFill>
            <a:srgbClr val="FFF4F1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53712" y="1653487"/>
            <a:ext cx="4270248" cy="484632"/>
          </a:xfrm>
          <a:prstGeom prst="rect">
            <a:avLst/>
          </a:prstGeom>
          <a:solidFill>
            <a:srgbClr val="F0F7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38912" y="1726639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 knows everything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663440" y="1708351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predicts likely text — it does not 'know'. It has no awareness or true understanding.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0040" y="2183839"/>
            <a:ext cx="4114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553712" y="2183839"/>
            <a:ext cx="4270248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38912" y="2256991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will replace all jobs immediately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663440" y="2238703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automates tasks, not professions. Many new roles are emerging around AI.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714191"/>
            <a:ext cx="4114800" cy="484632"/>
          </a:xfrm>
          <a:prstGeom prst="rect">
            <a:avLst/>
          </a:prstGeom>
          <a:solidFill>
            <a:srgbClr val="FFF4F1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553712" y="2714191"/>
            <a:ext cx="4270248" cy="484632"/>
          </a:xfrm>
          <a:prstGeom prst="rect">
            <a:avLst/>
          </a:prstGeom>
          <a:solidFill>
            <a:srgbClr val="F0F7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38912" y="2787343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 is always accurate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663440" y="2769055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quality depends on prompts, model choice, and grounding. Errors are common.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0040" y="3244543"/>
            <a:ext cx="4114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553712" y="3244543"/>
            <a:ext cx="4270248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38912" y="3317695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Anyone can deploy GenAI instantly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663440" y="3299407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needs data privacy controls, cost management, monitoring, and governance.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" y="3774895"/>
            <a:ext cx="4114800" cy="484632"/>
          </a:xfrm>
          <a:prstGeom prst="rect">
            <a:avLst/>
          </a:prstGeom>
          <a:solidFill>
            <a:srgbClr val="FFF4F1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553712" y="3774895"/>
            <a:ext cx="4270248" cy="484632"/>
          </a:xfrm>
          <a:prstGeom prst="rect">
            <a:avLst/>
          </a:prstGeom>
          <a:solidFill>
            <a:srgbClr val="F0F7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38912" y="3848047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 understands your intent perfectly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663440" y="3829759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plausible-sounding responses — understanding must be verified by humans.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Hallucination Problem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539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GenAI's most important limitation — explained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259873"/>
            <a:ext cx="8503920" cy="384048"/>
          </a:xfrm>
          <a:prstGeom prst="rect">
            <a:avLst/>
          </a:prstGeom>
          <a:solidFill>
            <a:srgbClr val="FFF4F0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278161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 Hallucination = when a GenAI model generates content that is confident, fluent, and completely incorrect.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753649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" y="1753649"/>
            <a:ext cx="54864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5488" y="1799369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📄  Factual Hallucination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154680" y="1826801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invents a fictional research paper with a real-sounding title, journal, and authors — all fake.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2357153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2357153"/>
            <a:ext cx="54864" cy="54864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5488" y="2402873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🕐  Temporal Hallucination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154680" y="2430305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states outdated facts as current — e.g. incorrect CEO names or prices from training data cutoff.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2960657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2960657"/>
            <a:ext cx="54864" cy="5486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75488" y="3006377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🧮  Reasoning Hallucination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154680" y="3033809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performs multi-step maths or logic and arrives at a confident but incorrect answer.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0040" y="3564161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3564161"/>
            <a:ext cx="54864" cy="54864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75488" y="3609881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🧩  Confabulation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154680" y="3637313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fills in gaps by generating plausible-sounding details rather than admitting uncertainty.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20040" y="4195097"/>
            <a:ext cx="8503920" cy="39792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57200" y="4195097"/>
            <a:ext cx="8229600" cy="397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Mitigation: Retrieval-Augmented Generation (RAG), prompt engineering, output verification, human-in-the-loop review  →  we will cover all of these in later lectures.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 in Generative AI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01161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bias comes from and why it matters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0040" y="124936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 models are trained on human-generated data — so they inherit human biases at scale.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697418"/>
            <a:ext cx="41605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697418"/>
            <a:ext cx="41605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29768" y="178885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Bias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29768" y="211804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under-represents certain groups, cultures, or languages — leading to worse performance for those groups.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63440" y="1697418"/>
            <a:ext cx="41605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63440" y="1697418"/>
            <a:ext cx="416052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73168" y="178885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Confirmation Bias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73168" y="211804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reinforces popular narratives from the internet, which skews toward dominant cultural viewpoints.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0040" y="2931858"/>
            <a:ext cx="41605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2931858"/>
            <a:ext cx="416052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29768" y="302329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Stereotyping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29768" y="335248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associate certain professions, traits, or attributes with specific gender, ethnicity, or nationality patterns.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663440" y="2931858"/>
            <a:ext cx="41605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663440" y="2931858"/>
            <a:ext cx="416052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773168" y="302329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 Bias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773168" y="335248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historical data encoded past discrimination (e.g. loan data), the model learns and perpetuates those patterns.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0040" y="4193730"/>
            <a:ext cx="8503920" cy="2743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57200" y="419373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path: Diverse training data, bias audits, red-teaming, diverse development teams, and user feedback loops.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Limitations of GenAI Today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011619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constraints that shape deployment decisions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267651"/>
            <a:ext cx="274320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267651"/>
            <a:ext cx="27432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11480" y="1359091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📏  Context Window Limits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1480" y="1779715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model can only process a fixed amount of text at once (e.g. 128K tokens = ~300 pages). Beyond that, information is lost.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00400" y="1267651"/>
            <a:ext cx="274320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0" y="1267651"/>
            <a:ext cx="27432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291840" y="1359091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📅  Training Data Cutoff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291840" y="1779715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don't know about events after their training cutoff. Real-time data requires RAG or API integration.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080760" y="1267651"/>
            <a:ext cx="274320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080760" y="1267651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172200" y="1359091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💰  Computational Cost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172200" y="1779715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Running large models at scale is expensive. GPT-4 costs significantly more per call than smaller models.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684971"/>
            <a:ext cx="274320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0040" y="2684971"/>
            <a:ext cx="274320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11480" y="2776411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🧠  Lack of True Reasoning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11480" y="3197035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models do not reason — they pattern-match. Complex multi-step logic often produces errors.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00400" y="2684971"/>
            <a:ext cx="274320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00400" y="2684971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291840" y="2776411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🗑️  No Persistent Memory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291840" y="3197035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default, LLMs forget each conversation. Memory must be explicitly built using external storage or vector databases.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080760" y="2684971"/>
            <a:ext cx="274320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080760" y="2684971"/>
            <a:ext cx="27432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172200" y="2776411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⚙️  Prompt Sensitivity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172200" y="3197035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changes in wording can produce dramatically different outputs — making reliability a real engineering challenge.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11704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Adoption of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901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real organisations are deploying GenAI across sectors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82296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2999232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3C4B67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29992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874520" y="2999232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3C4B67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874520" y="29992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 &amp; Banking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91840" y="2999232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3C4B67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291840" y="29992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 &amp; E-Commerce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709160" y="2999232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3C4B67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09160" y="29992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126480" y="2999232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3C4B67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126480" y="29992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543800" y="2999232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3C4B67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543800" y="29992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 &amp; Compliance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Adoption: Healthcare &amp; Finance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9600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high-stakes, document-heavy industries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217832"/>
            <a:ext cx="41605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11480" y="12178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620168"/>
            <a:ext cx="416052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29768" y="1665888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Medical Imaging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29768" y="191277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reads X-rays, MRIs, CT scans faster than radiologists — flags anomalies for review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" y="2296824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29768" y="2342544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Clinical Documentation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29768" y="25894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Ambient AI listens to patient-doctor conversations and auto-fills EHR records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0040" y="2973480"/>
            <a:ext cx="416052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29768" y="3019200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Drug Discovery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29768" y="326608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 generates candidate molecules and predicts protein structures (AlphaFold)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3650136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29768" y="3695856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Patient Q&amp;A Chatbots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29768" y="39427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24/7 symptom checking, appointment scheduling, medication reminders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617720" y="1217832"/>
            <a:ext cx="4160520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709160" y="12178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 &amp; Banking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617720" y="1620168"/>
            <a:ext cx="416052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727448" y="1665888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Fraud Detection &amp; Alerts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727448" y="191277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analyses transaction patterns and generates real-time fraud alerts with explanations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617720" y="2296824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727448" y="2342544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Report Generation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727448" y="25894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financial summaries, earnings reports, and regulatory filings from raw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617720" y="2973480"/>
            <a:ext cx="416052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727448" y="3019200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Customer Service Bots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4727448" y="326608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LLM-powered agents handle account queries, loan FAQs, and dispute resolution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617720" y="3650136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727448" y="3695856"/>
            <a:ext cx="3959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 Contract Intelligence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727448" y="394274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reviews and summarises thousands of pages of loan agreements and compliance documents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Adoption: Retail, Manufacturing &amp; Education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96005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 reshaping operations, supply chain, and learning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33749"/>
            <a:ext cx="2743200" cy="34747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93192" y="1133749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 &amp; E-Commerce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536085"/>
            <a:ext cx="27432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" y="1536085"/>
            <a:ext cx="45720" cy="56692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48056" y="1627525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product descriptions at scale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" y="2157877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2157877"/>
            <a:ext cx="45720" cy="56692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48056" y="2249317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Personalised recommendations from browsing history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0040" y="2779669"/>
            <a:ext cx="27432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0040" y="2779669"/>
            <a:ext cx="45720" cy="56692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48056" y="2871109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try-on using image generation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3401461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3401461"/>
            <a:ext cx="45720" cy="56692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48056" y="3492901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customer support via LLM agents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00400" y="1133749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273552" y="1133749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00400" y="1536085"/>
            <a:ext cx="27432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00400" y="1536085"/>
            <a:ext cx="45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328416" y="1627525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from sensor data + LLM reports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200400" y="2157877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0" y="2157877"/>
            <a:ext cx="45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328416" y="2249317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GenAI-generated inspection checklists and SOPs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200400" y="2779669"/>
            <a:ext cx="27432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200400" y="2779669"/>
            <a:ext cx="45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328416" y="2871109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document summarisation for engineers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200400" y="3401461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200400" y="3401461"/>
            <a:ext cx="45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328416" y="3492901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disruption alerts with AI-generated action plans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080760" y="1133749"/>
            <a:ext cx="2743200" cy="34747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153912" y="1133749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 &amp; Training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080760" y="1536085"/>
            <a:ext cx="27432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080760" y="1536085"/>
            <a:ext cx="45720" cy="56692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208776" y="1627525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Personalised learning paths and adaptive quizzes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080760" y="2157877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080760" y="2157877"/>
            <a:ext cx="45720" cy="56692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208776" y="2249317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tutor chatbots for 24/7 student support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6080760" y="2779669"/>
            <a:ext cx="27432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6080760" y="2779669"/>
            <a:ext cx="45720" cy="56692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6208776" y="2871109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grading and feedback generation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6080760" y="3401461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6080760" y="3401461"/>
            <a:ext cx="45720" cy="56692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6208776" y="3492901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creation: slides, lesson plans, assessments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-9144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-914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 Adoption by the Numbers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012985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scale of transformation underway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65760" y="1269017"/>
            <a:ext cx="1993392" cy="1691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5760" y="1269017"/>
            <a:ext cx="1993392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38912" y="1378745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$1.3T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38912" y="2082833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Projected GenAI market by 2032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38912" y="2549177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Goldman Sachs Research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496312" y="1269017"/>
            <a:ext cx="1993392" cy="1691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496312" y="1269017"/>
            <a:ext cx="1993392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569464" y="1378745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569464" y="2082833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workers using GenAI tools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569464" y="2549177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Work Trend Index 2024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626864" y="1269017"/>
            <a:ext cx="1993392" cy="1691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626864" y="1269017"/>
            <a:ext cx="1993392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700016" y="1378745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10×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700016" y="2082833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document processing vs manual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700016" y="2549177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 sector benchmark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757416" y="1269017"/>
            <a:ext cx="1993392" cy="1691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757416" y="1269017"/>
            <a:ext cx="199339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830568" y="1378745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830568" y="2082833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gain in coding tasks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830568" y="2549177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78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Copilot research study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20040" y="311610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Adoption Stage by Industry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20040" y="3463577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Software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2423160" y="3481865"/>
            <a:ext cx="5943600" cy="1463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2423160" y="3481865"/>
            <a:ext cx="5230368" cy="14630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699248" y="3463577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20040" y="3664745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Services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2423160" y="3683033"/>
            <a:ext cx="5943600" cy="1463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2423160" y="3683033"/>
            <a:ext cx="4279392" cy="14630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748272" y="3664745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20040" y="3865913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2423160" y="3884201"/>
            <a:ext cx="5943600" cy="1463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2423160" y="3884201"/>
            <a:ext cx="3447288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916168" y="3865913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320040" y="4067081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2423160" y="4085369"/>
            <a:ext cx="5943600" cy="1463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2423160" y="4085369"/>
            <a:ext cx="3209544" cy="1463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5678424" y="4067081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320040" y="4268249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2423160" y="4286537"/>
            <a:ext cx="5943600" cy="1463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2423160" y="4286537"/>
            <a:ext cx="2496312" cy="14630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4965192" y="4268249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457200" y="11704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&amp; Responsible AI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901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that must guide every GenAI deployment</a:t>
            </a:r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82296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30175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"With great power comes great responsibility — AI systems that affect millions of people must be built with care, transparency, and accountability."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 Pillars of Ethical AI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11672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for responsible AI development and deployment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491100"/>
            <a:ext cx="274320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491100"/>
            <a:ext cx="2743200" cy="5486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11480" y="15825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⚖️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14400" y="16008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29768" y="2058028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systems must treat all individuals and groups equitably. Bias in training data leads to discriminatory outputs.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0" y="1491100"/>
            <a:ext cx="274320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0" y="1491100"/>
            <a:ext cx="2743200" cy="5486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291840" y="15825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794760" y="16008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310128" y="2058028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Decisions made by AI should be explainable to users and stakeholders — especially in high-stakes contexts.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080760" y="1491100"/>
            <a:ext cx="274320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080760" y="14911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172200" y="15825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🔒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675120" y="16008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190488" y="2058028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data used to train or run AI systems must be protected, anonymised, and handled lawfully.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2908420"/>
            <a:ext cx="274320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0040" y="2908420"/>
            <a:ext cx="2743200" cy="5486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11480" y="29998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📋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914400" y="30181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Accountability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29768" y="3475348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ownership of AI outcomes. When AI fails, humans must be responsible — not the algorithm.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00400" y="2908420"/>
            <a:ext cx="274320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00400" y="290842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291840" y="29998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🛡️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794760" y="30181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310128" y="3475348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Guardrails, red-teaming, and human-in-the-loop systems prevent harmful or dangerous AI outputs.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080760" y="2908420"/>
            <a:ext cx="2743200" cy="12984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080760" y="2908420"/>
            <a:ext cx="27432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172200" y="29998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🌱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675120" y="30181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190488" y="3475348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large models consumes significant energy and water. Green AI practices are a growing priority.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Ethical Risks in Real AI Deployments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064171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goes wrong — and documented examples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320203"/>
            <a:ext cx="8503920" cy="69494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320203"/>
            <a:ext cx="54864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5488" y="1365923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Biased Hiring Tool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5488" y="1649387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E0E6E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5488" y="1649387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(2018)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697480" y="1375067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recruiter trained on 10 years of CVs penalised applications containing the word 'women's' — reflecting historical male-dominated hiring patterns.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995160" y="1484795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039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Historical data encodes past discrimination.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2070011"/>
            <a:ext cx="8503920" cy="69494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0040" y="2070011"/>
            <a:ext cx="54864" cy="69494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75488" y="211573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Facial Recognition Misidentification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5488" y="2399195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E0E6E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5488" y="2399195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studies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697480" y="2124875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Commercial facial recognition systems showed significantly higher error rates for darker skin tones — leading to wrongful flagging in law enforcement contexts.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995160" y="2234603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Uneven training data creates uneven accuracy.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0040" y="2819819"/>
            <a:ext cx="8503920" cy="69494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2819819"/>
            <a:ext cx="54864" cy="69494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75488" y="2865539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 Misinformation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75488" y="3149003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E0E6E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75488" y="3149003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sector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697480" y="2874683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AI health chatbots gave medically dangerous advice for overdose situations due to insufficient guardrails and content filtering.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995160" y="2984411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High-stakes domains need strict output controls.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0040" y="3569627"/>
            <a:ext cx="8503920" cy="69494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20040" y="3569627"/>
            <a:ext cx="54864" cy="69494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75488" y="3615347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Leak from Prompts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75488" y="3898811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E0E6E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75488" y="3898811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Samsung (2023)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697480" y="3624491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Engineers accidentally pasted confidential source code into ChatGPT — the data was then potentially used in training. Samsung banned GenAI tools company-wide.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995160" y="3734219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Enterprise data governance is critical.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AI: From Principles to Practice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990599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 steps for ethical AI deployment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228343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228343"/>
            <a:ext cx="1508760" cy="54864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0040" y="1228343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Phase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920240" y="1319783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the use case and potential harms before building   Assemble diverse teams to catch blind spots early   Identify which regulatory frameworks apply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0040" y="1831847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" y="1831847"/>
            <a:ext cx="1508760" cy="54864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20040" y="1831847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Phase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920240" y="1923287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training data for representation gaps and bias   Anonymise or exclude personally identifiable information   Document data sources and provenance clearly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20040" y="2435351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0040" y="2435351"/>
            <a:ext cx="1508760" cy="5486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20040" y="2435351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Phase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920240" y="2526791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content filters and output guardrails   Test with adversarial prompts (red-teaming)   Set confidence thresholds and fallback responses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3038855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0040" y="3038855"/>
            <a:ext cx="15087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20040" y="3038855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Phase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920240" y="3130295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a human in the loop for high-stakes decisions   Log all AI outputs for auditing and monitoring   Provide users with transparency notices and opt-outs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0040" y="3642359"/>
            <a:ext cx="8503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0040" y="3642359"/>
            <a:ext cx="1508760" cy="5486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20040" y="3642359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Phase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920240" y="3733799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drift, errors, and user-reported issues over time   Conduct regular bias re-audits as new data arrives   Establish an incident response plan for AI failures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4572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45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Governance: Global Frameworks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4802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Regulations shaping responsible AI deployment worldwide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253935"/>
            <a:ext cx="85039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1253935"/>
            <a:ext cx="54864" cy="71323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02920" y="1436815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2920" y="1436815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847088" y="1308799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 AI Act (2024)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847088" y="1601407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Risk-based classification: Unacceptable risk (banned), High risk (regulated), Limited/Minimal risk. Applies to any company serving EU users.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20040" y="2022031"/>
            <a:ext cx="85039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2022031"/>
            <a:ext cx="54864" cy="71323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2920" y="2204911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02920" y="2204911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847088" y="2076895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A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NIST AI Risk Management Framework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847088" y="236950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 framework with four functions: Govern, Map, Measure, Manage. Voluntary but widely adopted by enterprises and government agencies.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790127"/>
            <a:ext cx="85039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0040" y="2790127"/>
            <a:ext cx="54864" cy="71323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02920" y="2973007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02920" y="2973007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847088" y="2844991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UNESCO Recommendation on AI Ethics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847088" y="3137599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140 countries adopted 2021 principles covering human rights, transparency, sustainability, and peaceful use of AI technology.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20040" y="3558223"/>
            <a:ext cx="850392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20040" y="3558223"/>
            <a:ext cx="54864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02920" y="3741103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02920" y="3741103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847088" y="3613087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G7 Hiroshima AI Principles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847088" y="3905695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principles for advanced AI: transparency, risk identification, security, human oversight, and responsible disclosure of AI-generated content.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Prompting Comparison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89600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these prompts — observe and discuss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33750"/>
            <a:ext cx="85039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13375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🔗  Tools: chatgpt.com  |  claude.ai  |  gemini.google.com   (open all three)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536086"/>
            <a:ext cx="850392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3028" y="1627526"/>
            <a:ext cx="1463040" cy="324000"/>
          </a:xfrm>
          <a:prstGeom prst="roundRect">
            <a:avLst>
              <a:gd name="adj" fmla="val 15385"/>
            </a:avLst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63028" y="1627526"/>
            <a:ext cx="146304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A - Vague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965960" y="159095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"Tell me about AI"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965960" y="199328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👁  Observe: How long is the response? What aspects did it choose? Is it helpful without context?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2468774"/>
            <a:ext cx="850392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63028" y="2560214"/>
            <a:ext cx="1463040" cy="324000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63028" y="2560214"/>
            <a:ext cx="146304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B - Specific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965960" y="252363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"In 3 bullet points, explain what generative AI is to a non-technical HR manager considering using it for job descriptions."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965960" y="2925974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👁  Observe: How does specificity change the output? Compare the three models.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3401462"/>
            <a:ext cx="850392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84048" y="3492902"/>
            <a:ext cx="1463040" cy="324000"/>
          </a:xfrm>
          <a:prstGeom prst="roundRect">
            <a:avLst>
              <a:gd name="adj" fmla="val 15385"/>
            </a:avLst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63028" y="3492902"/>
            <a:ext cx="146304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C - Role Prompt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965960" y="345632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"You are a friendly AI ethics professor. Explain hallucination to a first-year student using a simple analogy."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965960" y="385866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👁  Observe: Does persona change the language? Is the analogy clear?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-1366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5760" y="-136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</a:rPr>
              <a:t>The Hallucination Test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365760" y="936681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Catching GenAI in the act — and learning from 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174425"/>
            <a:ext cx="85039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1174425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 Goal: Deliberately trigger hallucination to understand how and why it happens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0040" y="1576761"/>
            <a:ext cx="850392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84048" y="1649913"/>
            <a:ext cx="1600200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84048" y="1649913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Fictional Event Test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084832" y="1631625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"What happened at the 2019 Global AI Safety Summit in Geneva?"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084832" y="1924233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This event does not exist. Did the model fabricate details? Did it admit uncertainty?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2253417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84048" y="2326569"/>
            <a:ext cx="1600200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84048" y="2326569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 Events Test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084832" y="2308281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"Who won the FIFA World Cup in 2030?"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084832" y="2600889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This is beyond training data. Does the model admit it doesn't know, or does it guess?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20040" y="2930073"/>
            <a:ext cx="850392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84048" y="3003225"/>
            <a:ext cx="1600200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84048" y="3003225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Citation Test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084832" y="2984937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"Cite three peer-reviewed papers from 2024 on GenAI and workplace productivity."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084832" y="3277545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Verify the paper titles and authors actually exist. Many will be invented.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0040" y="3606729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84048" y="3679881"/>
            <a:ext cx="1600200" cy="237744"/>
          </a:xfrm>
          <a:prstGeom prst="roundRect">
            <a:avLst>
              <a:gd name="adj" fmla="val 15385"/>
            </a:avLst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4048" y="3679881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Maths Reasoning Test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084832" y="3661593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"If I invest $5,000 at 7.5% compound interest for 23 years, what is the exact final value?"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084832" y="3954201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Ask the model to show working. Check the maths manually — errors are common.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29129" y="98009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6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things to carry forward into every future lecture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83409" y="1217834"/>
            <a:ext cx="87840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83409" y="1217834"/>
            <a:ext cx="530352" cy="56692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83409" y="1217834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3489" y="1263554"/>
            <a:ext cx="342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has evolved through distinct eras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23489" y="1510442"/>
            <a:ext cx="81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generation — Rule-based, ML, Deep Learning, GenAI — solves a different class of problems. We are now in the creation era.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83409" y="1839626"/>
            <a:ext cx="8784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83409" y="1839626"/>
            <a:ext cx="530352" cy="56692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83409" y="1839626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23489" y="1885346"/>
            <a:ext cx="342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 generates — it does not know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23489" y="2132234"/>
            <a:ext cx="81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predict statistically likely tokens. They are not databases of facts. Hallucination is a structural feature, not a bug to be patched.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83409" y="2461418"/>
            <a:ext cx="87840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183409" y="2461418"/>
            <a:ext cx="530352" cy="56692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83409" y="2461418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23489" y="2507138"/>
            <a:ext cx="342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Adoption is real and accelerating across all sectors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23489" y="275402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Healthcare, finance, retail, manufacturing, and education are all deploying GenAI today — with real ROI and real risks.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83409" y="3083210"/>
            <a:ext cx="8784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83409" y="3083210"/>
            <a:ext cx="530352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83409" y="308321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23489" y="3128930"/>
            <a:ext cx="342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 hides important limitations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23489" y="3375818"/>
            <a:ext cx="81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window limits, training cutoffs, cost, and reasoning failures are real constraints that shape what GenAI can and cannot do.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83409" y="3705002"/>
            <a:ext cx="87840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183409" y="3705002"/>
            <a:ext cx="530352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83409" y="3705002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823489" y="3750722"/>
            <a:ext cx="342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Ethical AI is a design responsibility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23489" y="3997610"/>
            <a:ext cx="81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Fairness, transparency, privacy, and accountability must be designed in from the start — not retrofitted after deployment.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3117</Words>
  <Application>Microsoft Office PowerPoint</Application>
  <PresentationFormat>On-screen Show (16:9)</PresentationFormat>
  <Paragraphs>446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 – Evolution of AI &amp; Foundations of GenAI</dc:title>
  <dc:subject>PptxGenJS Presentation</dc:subject>
  <dc:creator>PptxGenJS</dc:creator>
  <cp:lastModifiedBy>EduTech</cp:lastModifiedBy>
  <cp:revision>14</cp:revision>
  <dcterms:created xsi:type="dcterms:W3CDTF">2026-05-11T11:45:35Z</dcterms:created>
  <dcterms:modified xsi:type="dcterms:W3CDTF">2026-05-30T14:08:19Z</dcterms:modified>
</cp:coreProperties>
</file>