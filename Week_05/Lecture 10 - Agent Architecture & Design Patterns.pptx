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embeddedFontLst>
    <p:embeddedFont>
      <p:font typeface="Inter" panose="020B0604020202020204" charset="0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19A3F0-5ABA-4CC1-BD5D-519394B5A342}">
  <a:tblStyle styleId="{5619A3F0-5ABA-4CC1-BD5D-519394B5A34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4953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6923" y="214312"/>
            <a:ext cx="1898153" cy="333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3"/>
          <p:cNvGrpSpPr/>
          <p:nvPr/>
        </p:nvGrpSpPr>
        <p:grpSpPr>
          <a:xfrm>
            <a:off x="762000" y="2000250"/>
            <a:ext cx="5143500" cy="2000100"/>
            <a:chOff x="0" y="0"/>
            <a:chExt cx="5143500" cy="200010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5143500" cy="20001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90500" y="190500"/>
              <a:ext cx="857400" cy="2286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190500" y="190500"/>
              <a:ext cx="857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DEFINITION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190500" y="57150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Agent Architecture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is the software design framework that dictates how a </a:t>
              </a:r>
              <a:r>
                <a:rPr lang="en-US" sz="11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Large Language Model (LLM)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integrates with </a:t>
              </a:r>
              <a:r>
                <a:rPr lang="en-US" sz="11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Memory, Tools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and </a:t>
              </a:r>
              <a:r>
                <a:rPr lang="en-US" sz="115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Planning modules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to autonomously solve multi-step problems.</a:t>
              </a:r>
              <a:endParaRPr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" name="Google Shape;92;p13"/>
            <p:cNvGrpSpPr/>
            <p:nvPr/>
          </p:nvGrpSpPr>
          <p:grpSpPr>
            <a:xfrm>
              <a:off x="190500" y="1524000"/>
              <a:ext cx="857400" cy="247800"/>
              <a:chOff x="0" y="0"/>
              <a:chExt cx="857400" cy="247800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0" y="0"/>
                <a:ext cx="857400" cy="247800"/>
              </a:xfrm>
              <a:prstGeom prst="roundRect">
                <a:avLst>
                  <a:gd name="adj" fmla="val 50000"/>
                </a:avLst>
              </a:prstGeom>
              <a:solidFill>
                <a:srgbClr val="EFF6FF"/>
              </a:solidFill>
              <a:ln w="9525" cap="flat" cmpd="sng">
                <a:solidFill>
                  <a:srgbClr val="DBEA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0" y="0"/>
                <a:ext cx="857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Framework</a:t>
                </a:r>
                <a:endParaRPr sz="850" b="1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13"/>
            <p:cNvGrpSpPr/>
            <p:nvPr/>
          </p:nvGrpSpPr>
          <p:grpSpPr>
            <a:xfrm>
              <a:off x="1143000" y="1524000"/>
              <a:ext cx="857400" cy="247800"/>
              <a:chOff x="0" y="0"/>
              <a:chExt cx="857400" cy="247800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0" y="0"/>
                <a:ext cx="857400" cy="247800"/>
              </a:xfrm>
              <a:prstGeom prst="roundRect">
                <a:avLst>
                  <a:gd name="adj" fmla="val 50000"/>
                </a:avLst>
              </a:prstGeom>
              <a:solidFill>
                <a:srgbClr val="ECFDF5"/>
              </a:solidFill>
              <a:ln w="9525" cap="flat" cmpd="sng">
                <a:solidFill>
                  <a:srgbClr val="D1FA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3"/>
              <p:cNvSpPr txBox="1"/>
              <p:nvPr/>
            </p:nvSpPr>
            <p:spPr>
              <a:xfrm>
                <a:off x="0" y="0"/>
                <a:ext cx="857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>
                    <a:solidFill>
                      <a:srgbClr val="059669"/>
                    </a:solidFill>
                    <a:latin typeface="Arial"/>
                    <a:ea typeface="Arial"/>
                    <a:cs typeface="Arial"/>
                    <a:sym typeface="Arial"/>
                  </a:rPr>
                  <a:t>Integration</a:t>
                </a:r>
                <a:endParaRPr sz="850" b="1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13"/>
            <p:cNvGrpSpPr/>
            <p:nvPr/>
          </p:nvGrpSpPr>
          <p:grpSpPr>
            <a:xfrm>
              <a:off x="2095500" y="1524000"/>
              <a:ext cx="857400" cy="247800"/>
              <a:chOff x="0" y="0"/>
              <a:chExt cx="857400" cy="247800"/>
            </a:xfrm>
          </p:grpSpPr>
          <p:sp>
            <p:nvSpPr>
              <p:cNvPr id="99" name="Google Shape;99;p13"/>
              <p:cNvSpPr/>
              <p:nvPr/>
            </p:nvSpPr>
            <p:spPr>
              <a:xfrm>
                <a:off x="0" y="0"/>
                <a:ext cx="857400" cy="247800"/>
              </a:xfrm>
              <a:prstGeom prst="roundRect">
                <a:avLst>
                  <a:gd name="adj" fmla="val 50000"/>
                </a:avLst>
              </a:prstGeom>
              <a:solidFill>
                <a:srgbClr val="F5F3FF"/>
              </a:solidFill>
              <a:ln w="9525" cap="flat" cmpd="sng">
                <a:solidFill>
                  <a:srgbClr val="EDE9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0" y="0"/>
                <a:ext cx="857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>
                    <a:solidFill>
                      <a:srgbClr val="7C3AED"/>
                    </a:solidFill>
                    <a:latin typeface="Arial"/>
                    <a:ea typeface="Arial"/>
                    <a:cs typeface="Arial"/>
                    <a:sym typeface="Arial"/>
                  </a:rPr>
                  <a:t>Autonomy</a:t>
                </a:r>
                <a:endParaRPr sz="850" b="1">
                  <a:solidFill>
                    <a:srgbClr val="7C3AE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1" name="Google Shape;101;p13"/>
          <p:cNvGrpSpPr/>
          <p:nvPr/>
        </p:nvGrpSpPr>
        <p:grpSpPr>
          <a:xfrm>
            <a:off x="6286500" y="2000250"/>
            <a:ext cx="5143500" cy="2000100"/>
            <a:chOff x="0" y="0"/>
            <a:chExt cx="5143500" cy="2000100"/>
          </a:xfrm>
        </p:grpSpPr>
        <p:sp>
          <p:nvSpPr>
            <p:cNvPr id="102" name="Google Shape;102;p13"/>
            <p:cNvSpPr/>
            <p:nvPr/>
          </p:nvSpPr>
          <p:spPr>
            <a:xfrm>
              <a:off x="0" y="0"/>
              <a:ext cx="5143500" cy="20001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190500" y="190500"/>
              <a:ext cx="1238400" cy="228600"/>
            </a:xfrm>
            <a:prstGeom prst="roundRect">
              <a:avLst>
                <a:gd name="adj" fmla="val 50000"/>
              </a:avLst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190500" y="190500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REAL-LIFE ANALOGY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4286250" y="142875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50"/>
                <a:t>🏢</a:t>
              </a:r>
              <a:endParaRPr sz="1850"/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190500" y="571500"/>
              <a:ext cx="4762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Think of a corporate office.</a:t>
              </a: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To run efficiently, you need more than just raw intelligence; you need a structured operational blueprint: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• LLM (CEO / Brain):</a:t>
              </a: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Makes the high-level decisions.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• Managers (Planners):</a:t>
              </a: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Sequence tasks and manage timelines.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• Workers &amp; File Cabinets (Tools &amp; Memory):</a:t>
              </a: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Execute and retrieve data.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762000" y="4191000"/>
            <a:ext cx="5143500" cy="1905000"/>
            <a:chOff x="0" y="0"/>
            <a:chExt cx="5143500" cy="1905000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5143500" cy="1905000"/>
            </a:xfrm>
            <a:prstGeom prst="roundRect">
              <a:avLst>
                <a:gd name="adj" fmla="val 6000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90500" y="190500"/>
              <a:ext cx="857400" cy="2286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190500" y="190500"/>
              <a:ext cx="857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SYSTEM FLOW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" name="Google Shape;111;p13"/>
            <p:cNvGrpSpPr/>
            <p:nvPr/>
          </p:nvGrpSpPr>
          <p:grpSpPr>
            <a:xfrm>
              <a:off x="190500" y="714375"/>
              <a:ext cx="4572150" cy="381000"/>
              <a:chOff x="0" y="0"/>
              <a:chExt cx="4572150" cy="381000"/>
            </a:xfrm>
          </p:grpSpPr>
          <p:sp>
            <p:nvSpPr>
              <p:cNvPr id="112" name="Google Shape;112;p13"/>
              <p:cNvSpPr/>
              <p:nvPr/>
            </p:nvSpPr>
            <p:spPr>
              <a:xfrm>
                <a:off x="0" y="0"/>
                <a:ext cx="6192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3"/>
              <p:cNvSpPr txBox="1"/>
              <p:nvPr/>
            </p:nvSpPr>
            <p:spPr>
              <a:xfrm>
                <a:off x="0" y="0"/>
                <a:ext cx="619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Input</a:t>
                </a:r>
                <a:endParaRPr sz="10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714375" y="142875"/>
                <a:ext cx="1428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80000" y="0"/>
                    </a:moveTo>
                    <a:lnTo>
                      <a:pt x="120000" y="60000"/>
                    </a:lnTo>
                    <a:lnTo>
                      <a:pt x="8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64748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" name="Google Shape;115;p13"/>
              <p:cNvGrpSpPr/>
              <p:nvPr/>
            </p:nvGrpSpPr>
            <p:grpSpPr>
              <a:xfrm>
                <a:off x="952500" y="0"/>
                <a:ext cx="619200" cy="381000"/>
                <a:chOff x="0" y="0"/>
                <a:chExt cx="619200" cy="381000"/>
              </a:xfrm>
            </p:grpSpPr>
            <p:sp>
              <p:nvSpPr>
                <p:cNvPr id="116" name="Google Shape;116;p13"/>
                <p:cNvSpPr/>
                <p:nvPr/>
              </p:nvSpPr>
              <p:spPr>
                <a:xfrm>
                  <a:off x="0" y="0"/>
                  <a:ext cx="6192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DBEAFE"/>
                </a:solidFill>
                <a:ln w="14300" cap="flat" cmpd="sng">
                  <a:solidFill>
                    <a:srgbClr val="3B82F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13"/>
                <p:cNvSpPr txBox="1"/>
                <p:nvPr/>
              </p:nvSpPr>
              <p:spPr>
                <a:xfrm>
                  <a:off x="0" y="0"/>
                  <a:ext cx="6192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1E40A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Brain</a:t>
                  </a:r>
                  <a:endParaRPr sz="1000" b="1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8" name="Google Shape;118;p13"/>
              <p:cNvSpPr/>
              <p:nvPr/>
            </p:nvSpPr>
            <p:spPr>
              <a:xfrm>
                <a:off x="1666875" y="142875"/>
                <a:ext cx="1428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80000" y="0"/>
                    </a:moveTo>
                    <a:lnTo>
                      <a:pt x="120000" y="60000"/>
                    </a:lnTo>
                    <a:lnTo>
                      <a:pt x="8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64748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9" name="Google Shape;119;p13"/>
              <p:cNvGrpSpPr/>
              <p:nvPr/>
            </p:nvGrpSpPr>
            <p:grpSpPr>
              <a:xfrm>
                <a:off x="1905000" y="0"/>
                <a:ext cx="714300" cy="381000"/>
                <a:chOff x="0" y="0"/>
                <a:chExt cx="714300" cy="381000"/>
              </a:xfrm>
            </p:grpSpPr>
            <p:sp>
              <p:nvSpPr>
                <p:cNvPr id="120" name="Google Shape;120;p13"/>
                <p:cNvSpPr/>
                <p:nvPr/>
              </p:nvSpPr>
              <p:spPr>
                <a:xfrm>
                  <a:off x="0" y="0"/>
                  <a:ext cx="7143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EE2E2"/>
                </a:solidFill>
                <a:ln w="14300" cap="flat" cmpd="sng">
                  <a:solidFill>
                    <a:srgbClr val="EF444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13"/>
                <p:cNvSpPr txBox="1"/>
                <p:nvPr/>
              </p:nvSpPr>
              <p:spPr>
                <a:xfrm>
                  <a:off x="0" y="0"/>
                  <a:ext cx="7143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991B1B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Planner</a:t>
                  </a:r>
                  <a:endParaRPr sz="1000" b="1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2" name="Google Shape;122;p13"/>
              <p:cNvSpPr/>
              <p:nvPr/>
            </p:nvSpPr>
            <p:spPr>
              <a:xfrm>
                <a:off x="2714625" y="142875"/>
                <a:ext cx="1428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80000" y="0"/>
                    </a:moveTo>
                    <a:lnTo>
                      <a:pt x="120000" y="60000"/>
                    </a:lnTo>
                    <a:lnTo>
                      <a:pt x="8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64748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3" name="Google Shape;123;p13"/>
              <p:cNvGrpSpPr/>
              <p:nvPr/>
            </p:nvGrpSpPr>
            <p:grpSpPr>
              <a:xfrm>
                <a:off x="2952750" y="0"/>
                <a:ext cx="619200" cy="381000"/>
                <a:chOff x="0" y="0"/>
                <a:chExt cx="619200" cy="381000"/>
              </a:xfrm>
            </p:grpSpPr>
            <p:sp>
              <p:nvSpPr>
                <p:cNvPr id="124" name="Google Shape;124;p13"/>
                <p:cNvSpPr/>
                <p:nvPr/>
              </p:nvSpPr>
              <p:spPr>
                <a:xfrm>
                  <a:off x="0" y="0"/>
                  <a:ext cx="6192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EF3C7"/>
                </a:solidFill>
                <a:ln w="14300" cap="flat" cmpd="sng">
                  <a:solidFill>
                    <a:srgbClr val="F59E0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13"/>
                <p:cNvSpPr txBox="1"/>
                <p:nvPr/>
              </p:nvSpPr>
              <p:spPr>
                <a:xfrm>
                  <a:off x="0" y="0"/>
                  <a:ext cx="6192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92400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Tools</a:t>
                  </a:r>
                  <a:endParaRPr sz="1000" b="1">
                    <a:solidFill>
                      <a:srgbClr val="92400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6" name="Google Shape;126;p13"/>
              <p:cNvSpPr/>
              <p:nvPr/>
            </p:nvSpPr>
            <p:spPr>
              <a:xfrm>
                <a:off x="3667125" y="142875"/>
                <a:ext cx="1428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80000" y="0"/>
                    </a:moveTo>
                    <a:lnTo>
                      <a:pt x="120000" y="60000"/>
                    </a:lnTo>
                    <a:lnTo>
                      <a:pt x="8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64748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7" name="Google Shape;127;p13"/>
              <p:cNvGrpSpPr/>
              <p:nvPr/>
            </p:nvGrpSpPr>
            <p:grpSpPr>
              <a:xfrm>
                <a:off x="3905250" y="0"/>
                <a:ext cx="666900" cy="381000"/>
                <a:chOff x="0" y="0"/>
                <a:chExt cx="666900" cy="381000"/>
              </a:xfrm>
            </p:grpSpPr>
            <p:sp>
              <p:nvSpPr>
                <p:cNvPr id="128" name="Google Shape;128;p13"/>
                <p:cNvSpPr/>
                <p:nvPr/>
              </p:nvSpPr>
              <p:spPr>
                <a:xfrm>
                  <a:off x="0" y="0"/>
                  <a:ext cx="6669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D1FAE5"/>
                </a:solidFill>
                <a:ln w="14300" cap="flat" cmpd="sng">
                  <a:solidFill>
                    <a:srgbClr val="10B98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13"/>
                <p:cNvSpPr txBox="1"/>
                <p:nvPr/>
              </p:nvSpPr>
              <p:spPr>
                <a:xfrm>
                  <a:off x="0" y="0"/>
                  <a:ext cx="666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065F46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Output</a:t>
                  </a:r>
                  <a:endParaRPr sz="1000" b="1">
                    <a:solidFill>
                      <a:srgbClr val="065F46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30" name="Google Shape;130;p13"/>
            <p:cNvSpPr txBox="1"/>
            <p:nvPr/>
          </p:nvSpPr>
          <p:spPr>
            <a:xfrm>
              <a:off x="190500" y="1333500"/>
              <a:ext cx="4762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Flow dynamic:</a:t>
              </a:r>
              <a:r>
                <a:rPr lang="en-US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The brain decides objectives, the planner sequences execution paths, and specialized tools execute the final steps to produce output.</a:t>
              </a:r>
              <a:endParaRPr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6286500" y="4191000"/>
            <a:ext cx="5143500" cy="1905000"/>
            <a:chOff x="0" y="0"/>
            <a:chExt cx="5143500" cy="1905000"/>
          </a:xfrm>
        </p:grpSpPr>
        <p:sp>
          <p:nvSpPr>
            <p:cNvPr id="132" name="Google Shape;132;p13"/>
            <p:cNvSpPr/>
            <p:nvPr/>
          </p:nvSpPr>
          <p:spPr>
            <a:xfrm>
              <a:off x="0" y="0"/>
              <a:ext cx="5143500" cy="1905000"/>
            </a:xfrm>
            <a:prstGeom prst="roundRect">
              <a:avLst>
                <a:gd name="adj" fmla="val 6000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190500" y="190500"/>
              <a:ext cx="1524000" cy="2286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190500" y="19050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MONOLITHIC VS. AGENTIC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" name="Google Shape;135;p13"/>
            <p:cNvGrpSpPr/>
            <p:nvPr/>
          </p:nvGrpSpPr>
          <p:grpSpPr>
            <a:xfrm>
              <a:off x="190500" y="571500"/>
              <a:ext cx="4715025" cy="771525"/>
              <a:chOff x="0" y="0"/>
              <a:chExt cx="4715025" cy="771525"/>
            </a:xfrm>
          </p:grpSpPr>
          <p:sp>
            <p:nvSpPr>
              <p:cNvPr id="136" name="Google Shape;136;p13"/>
              <p:cNvSpPr/>
              <p:nvPr/>
            </p:nvSpPr>
            <p:spPr>
              <a:xfrm>
                <a:off x="0" y="47625"/>
                <a:ext cx="171600" cy="171600"/>
              </a:xfrm>
              <a:prstGeom prst="roundRect">
                <a:avLst>
                  <a:gd name="adj" fmla="val 22222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3"/>
              <p:cNvSpPr txBox="1"/>
              <p:nvPr/>
            </p:nvSpPr>
            <p:spPr>
              <a:xfrm>
                <a:off x="238125" y="0"/>
                <a:ext cx="4476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Monolithic (Chat):</a:t>
                </a:r>
                <a:r>
                  <a:rPr lang="en-US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Direct single-turn text output. Fast but constrained to training data and simple reasoning paths.</a:t>
                </a:r>
                <a:endParaRPr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0" y="476250"/>
                <a:ext cx="171600" cy="171600"/>
              </a:xfrm>
              <a:prstGeom prst="roundRect">
                <a:avLst>
                  <a:gd name="adj" fmla="val 22222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3"/>
              <p:cNvSpPr txBox="1"/>
              <p:nvPr/>
            </p:nvSpPr>
            <p:spPr>
              <a:xfrm>
                <a:off x="238125" y="428625"/>
                <a:ext cx="4476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Architected (Agent):</a:t>
                </a:r>
                <a:r>
                  <a:rPr lang="en-US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Multi-step, iterative loops utilizing active memory, self-correction, and API tool integrations.</a:t>
                </a:r>
                <a:endParaRPr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" name="Google Shape;140;p13"/>
            <p:cNvSpPr/>
            <p:nvPr/>
          </p:nvSpPr>
          <p:spPr>
            <a:xfrm>
              <a:off x="190500" y="1428750"/>
              <a:ext cx="4762500" cy="28590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285750" y="142875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Upgrades an LLM from a text generator to an autonomous system.</a:t>
              </a:r>
              <a:endParaRPr sz="95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2" name="Google Shape;142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0" y="5847719"/>
            <a:ext cx="4762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7045076" y="295275"/>
            <a:ext cx="476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01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0" y="85725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Agent Architecture?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0" y="1428750"/>
            <a:ext cx="12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Structural Blueprint Behind Autonomous Systems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5810250" y="1790700"/>
            <a:ext cx="571500" cy="381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809625" y="7086600"/>
            <a:ext cx="47625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Structuring the flow: The brain decides, the planner sequences, the tools execute.</a:t>
            </a:r>
            <a:endParaRPr/>
          </a:p>
        </p:txBody>
      </p:sp>
      <p:pic>
        <p:nvPicPr>
          <p:cNvPr id="149" name="Google Shape;14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39550" y="15335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06212" y="26765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06212" y="38195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620500" y="4962525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361950" y="64827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upgrades an LLM from a text generator to an automated problem-solving system.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6923" y="214312"/>
            <a:ext cx="18981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 txBox="1"/>
          <p:nvPr/>
        </p:nvSpPr>
        <p:spPr>
          <a:xfrm>
            <a:off x="7045076" y="295275"/>
            <a:ext cx="476592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02</a:t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714827" y="2819400"/>
            <a:ext cx="8762345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Agent Architecture Overview</a:t>
            </a: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5524500" y="371475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4062710" y="3962400"/>
            <a:ext cx="406657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the structural foundation.</a:t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exploring patterns, we must define the standard components of an agent.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6923" y="214312"/>
            <a:ext cx="18981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21458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21458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0025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010025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119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75" y="28119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200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4200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 txBox="1"/>
          <p:nvPr/>
        </p:nvSpPr>
        <p:spPr>
          <a:xfrm>
            <a:off x="7045076" y="295275"/>
            <a:ext cx="476592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03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Core Components of an Agent</a:t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1333500" y="2811958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Profile / Persona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333500" y="3107233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system prompt defining the agent's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Backstory</a:t>
            </a: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(e.g., "You are an expert Data Analyst").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7000875" y="2811958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Reasoning Engine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7000875" y="3107233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core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responsible for processing inputs, evaluating states, and generating logical next steps.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333500" y="4200525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Memory Module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1333500" y="4495800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Storage for past context. Includes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Short-term</a:t>
            </a: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(current conversation) and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Long-term</a:t>
            </a: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(vector databases).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7000875" y="4200525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Tool Integration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7000875" y="4495800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standardized interfaces allowing the LLM to trigger external APIs, run code, or query databases.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agent is simply an LLM wrapped in structured memory and actionable tools.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6923" y="214312"/>
            <a:ext cx="18981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7326" y="2405062"/>
            <a:ext cx="3537346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71862"/>
            <a:ext cx="2547937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05187" y="3471862"/>
            <a:ext cx="2547937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3471862"/>
            <a:ext cx="2547937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72562" y="3471862"/>
            <a:ext cx="2547937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/>
          <p:nvPr/>
        </p:nvSpPr>
        <p:spPr>
          <a:xfrm>
            <a:off x="7045076" y="295275"/>
            <a:ext cx="476592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04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Architecture Landscape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59718" y="37195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 txBox="1"/>
          <p:nvPr/>
        </p:nvSpPr>
        <p:spPr>
          <a:xfrm>
            <a:off x="767834" y="4367212"/>
            <a:ext cx="21552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Frameworks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819150" y="4681537"/>
            <a:ext cx="20526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LangChain, CrewAI, AutoGen orchestrate the flow.</a:t>
            </a:r>
            <a:endParaRPr/>
          </a:p>
        </p:txBody>
      </p:sp>
      <p:pic>
        <p:nvPicPr>
          <p:cNvPr id="212" name="Google Shape;21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50556" y="37195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6"/>
          <p:cNvSpPr txBox="1"/>
          <p:nvPr/>
        </p:nvSpPr>
        <p:spPr>
          <a:xfrm>
            <a:off x="3601521" y="4367212"/>
            <a:ext cx="21552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3652837" y="4681537"/>
            <a:ext cx="20526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Search, Calculators, Custom APIs.</a:t>
            </a:r>
            <a:endParaRPr/>
          </a:p>
        </p:txBody>
      </p:sp>
      <p:pic>
        <p:nvPicPr>
          <p:cNvPr id="215" name="Google Shape;21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12818" y="37195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6"/>
          <p:cNvSpPr txBox="1"/>
          <p:nvPr/>
        </p:nvSpPr>
        <p:spPr>
          <a:xfrm>
            <a:off x="6435209" y="4367212"/>
            <a:ext cx="21552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6486525" y="4681537"/>
            <a:ext cx="20526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Redis, Pinecone, local JSON histories.</a:t>
            </a:r>
            <a:endParaRPr/>
          </a:p>
        </p:txBody>
      </p:sp>
      <p:pic>
        <p:nvPicPr>
          <p:cNvPr id="218" name="Google Shape;218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089356" y="371951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6"/>
          <p:cNvSpPr txBox="1"/>
          <p:nvPr/>
        </p:nvSpPr>
        <p:spPr>
          <a:xfrm>
            <a:off x="9268896" y="4367212"/>
            <a:ext cx="21552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320212" y="4681537"/>
            <a:ext cx="20526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ReAct, Plan-and-Solve, Tree of Thoughts.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Modern architecture requires assembling discrete, modular components around the LLM.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6923" y="214312"/>
            <a:ext cx="18981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7"/>
          <p:cNvSpPr txBox="1"/>
          <p:nvPr/>
        </p:nvSpPr>
        <p:spPr>
          <a:xfrm>
            <a:off x="7045076" y="295275"/>
            <a:ext cx="476592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05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Monolithic vs. Agentic Architecture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571500" y="1638300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shifting to modular design changes system capabilities.</a:t>
            </a:r>
            <a:endParaRPr/>
          </a:p>
        </p:txBody>
      </p:sp>
      <p:graphicFrame>
        <p:nvGraphicFramePr>
          <p:cNvPr id="232" name="Google Shape;232;p17"/>
          <p:cNvGraphicFramePr/>
          <p:nvPr/>
        </p:nvGraphicFramePr>
        <p:xfrm>
          <a:off x="571500" y="2076450"/>
          <a:ext cx="11049000" cy="2352625"/>
        </p:xfrm>
        <a:graphic>
          <a:graphicData uri="http://schemas.openxmlformats.org/drawingml/2006/table">
            <a:tbl>
              <a:tblPr firstRow="1" bandRow="1">
                <a:noFill/>
                <a:tableStyleId>{5619A3F0-5ABA-4CC1-BD5D-519394B5A342}</a:tableStyleId>
              </a:tblPr>
              <a:tblGrid>
                <a:gridCol w="294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Monolithic LLM (ChatGPT)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Agentic 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Information 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Static Training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Live API / Database Tools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 Completion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turn response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Iterative, multi-step execution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 Handling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Hallucinates confidently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Self-corrects via Evaluators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Assistant / Oracle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Autonomous Worker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3" name="Google Shape;233;p1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571500" y="3014662"/>
            <a:ext cx="2943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3515022" y="3014662"/>
            <a:ext cx="4193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7708552" y="3014662"/>
            <a:ext cx="39119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571500" y="3481387"/>
            <a:ext cx="2943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515022" y="3481387"/>
            <a:ext cx="4193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7708552" y="3481387"/>
            <a:ext cx="39119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571500" y="3948112"/>
            <a:ext cx="2943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3515022" y="3948112"/>
            <a:ext cx="4193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7708552" y="3948112"/>
            <a:ext cx="39119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571500" y="4414837"/>
            <a:ext cx="2943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3515022" y="4414837"/>
            <a:ext cx="4193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7708552" y="4414837"/>
            <a:ext cx="39119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 systems trade speed for accuracy, reliability, and real-world impact.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6923" y="214312"/>
            <a:ext cx="18981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571500" y="1714500"/>
            <a:ext cx="5238900" cy="4191000"/>
          </a:xfrm>
          <a:prstGeom prst="roundRect">
            <a:avLst>
              <a:gd name="adj" fmla="val 2727"/>
            </a:avLst>
          </a:prstGeom>
          <a:solidFill>
            <a:srgbClr val="FEF2F2"/>
          </a:solidFill>
          <a:ln w="9525" cap="flat" cmpd="sng">
            <a:solidFill>
              <a:srgbClr val="FC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6381750" y="1714500"/>
            <a:ext cx="5238900" cy="41910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857250" y="2000250"/>
            <a:ext cx="46674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DC262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warning_amber</a:t>
            </a:r>
            <a:r>
              <a:rPr lang="en-US" sz="2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Problem with Prompts</a:t>
            </a:r>
            <a:endParaRPr sz="22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Relying solely on "Mega-Prompts" (huge blocks of text telling the AI what to do) creates fragile systems.</a:t>
            </a:r>
            <a:endParaRPr sz="14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the task requires logic, math, and coding, a single prompt forces the LLM to juggle too much context, leading to </a:t>
            </a:r>
            <a:r>
              <a:rPr lang="en-US" sz="14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context degradation</a:t>
            </a:r>
            <a:r>
              <a:rPr lang="en-US" sz="14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errors.</a:t>
            </a:r>
            <a:endParaRPr sz="14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6667500" y="2000250"/>
            <a:ext cx="46674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schema</a:t>
            </a:r>
            <a:r>
              <a:rPr lang="en-US" sz="2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Architectural Solution</a:t>
            </a:r>
            <a:endParaRPr sz="22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splitting logic into discrete components (Planner, Executor), we isolate context.</a:t>
            </a:r>
            <a:endParaRPr sz="14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Planner only sees the goal. The Executor only sees the specific sub-task. This </a:t>
            </a:r>
            <a:r>
              <a:rPr lang="en-US" sz="14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Separation of Concerns</a:t>
            </a:r>
            <a:r>
              <a:rPr lang="en-US" sz="14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drastically improves LLM accuracy.</a:t>
            </a:r>
            <a:endParaRPr sz="145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7045076" y="295275"/>
            <a:ext cx="476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06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Architecture Matters</a:t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Good architecture reduces the cognitive load on the LLM at any given step.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6923" y="214312"/>
            <a:ext cx="1898153" cy="333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19"/>
          <p:cNvGrpSpPr/>
          <p:nvPr/>
        </p:nvGrpSpPr>
        <p:grpSpPr>
          <a:xfrm>
            <a:off x="571500" y="2000250"/>
            <a:ext cx="5334000" cy="3619500"/>
            <a:chOff x="571500" y="2000250"/>
            <a:chExt cx="5334000" cy="3619500"/>
          </a:xfrm>
        </p:grpSpPr>
        <p:sp>
          <p:nvSpPr>
            <p:cNvPr id="269" name="Google Shape;269;p19"/>
            <p:cNvSpPr/>
            <p:nvPr/>
          </p:nvSpPr>
          <p:spPr>
            <a:xfrm>
              <a:off x="571500" y="2000250"/>
              <a:ext cx="5334000" cy="3619500"/>
            </a:xfrm>
            <a:prstGeom prst="roundRect">
              <a:avLst>
                <a:gd name="adj" fmla="val 3157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571500" y="2000250"/>
              <a:ext cx="5334000" cy="428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2000"/>
                  </a:moveTo>
                  <a:cubicBezTo>
                    <a:pt x="0" y="23513"/>
                    <a:pt x="271" y="15374"/>
                    <a:pt x="753" y="9373"/>
                  </a:cubicBezTo>
                  <a:cubicBezTo>
                    <a:pt x="1235" y="3371"/>
                    <a:pt x="1889" y="0"/>
                    <a:pt x="2571" y="0"/>
                  </a:cubicBezTo>
                  <a:lnTo>
                    <a:pt x="117429" y="0"/>
                  </a:lnTo>
                  <a:cubicBezTo>
                    <a:pt x="118849" y="3"/>
                    <a:pt x="120000" y="14329"/>
                    <a:pt x="120000" y="3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752475" y="21526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942975" y="21526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133475" y="21526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1428750" y="2000250"/>
              <a:ext cx="2857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BaseAgent Class Structure (Python)</a:t>
              </a:r>
              <a:endParaRPr sz="1100" b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5" name="Google Shape;2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19"/>
          <p:cNvGrpSpPr/>
          <p:nvPr/>
        </p:nvGrpSpPr>
        <p:grpSpPr>
          <a:xfrm>
            <a:off x="6286500" y="2000250"/>
            <a:ext cx="5334000" cy="2190900"/>
            <a:chOff x="0" y="0"/>
            <a:chExt cx="5334000" cy="2190900"/>
          </a:xfrm>
        </p:grpSpPr>
        <p:sp>
          <p:nvSpPr>
            <p:cNvPr id="277" name="Google Shape;277;p19"/>
            <p:cNvSpPr/>
            <p:nvPr/>
          </p:nvSpPr>
          <p:spPr>
            <a:xfrm>
              <a:off x="0" y="0"/>
              <a:ext cx="5334000" cy="2190900"/>
            </a:xfrm>
            <a:prstGeom prst="roundRect">
              <a:avLst>
                <a:gd name="adj" fmla="val 5217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9"/>
            <p:cNvSpPr txBox="1"/>
            <p:nvPr/>
          </p:nvSpPr>
          <p:spPr>
            <a:xfrm>
              <a:off x="238125" y="238125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The Core State Container</a:t>
              </a:r>
              <a:endParaRPr sz="15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At its core, an Agent is essentially a class instance that manages context between LLM calls, holding three vital properties:</a:t>
              </a:r>
              <a:endParaRPr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Char char="●"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LLM Reference:</a:t>
              </a:r>
              <a:r>
                <a:rPr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The cognitive brain powering decisions.</a:t>
              </a:r>
              <a:endParaRPr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Char char="●"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Allowed Tools:</a:t>
              </a:r>
              <a:r>
                <a:rPr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The specific APIs and capabilities enabled.</a:t>
              </a:r>
              <a:endParaRPr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Arial"/>
                <a:buChar char="●"/>
              </a:pP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Conversation History:</a:t>
              </a:r>
              <a:r>
                <a:rPr lang="en-US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The memory context of the interaction.</a:t>
              </a:r>
              <a:endParaRPr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9" name="Google Shape;279;p19"/>
          <p:cNvPicPr preferRelativeResize="0"/>
          <p:nvPr/>
        </p:nvPicPr>
        <p:blipFill rotWithShape="1">
          <a:blip r:embed="rId5">
            <a:alphaModFix/>
          </a:blip>
          <a:srcRect l="100" r="110"/>
          <a:stretch/>
        </p:blipFill>
        <p:spPr>
          <a:xfrm>
            <a:off x="714375" y="2762250"/>
            <a:ext cx="5048400" cy="223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19"/>
          <p:cNvGrpSpPr/>
          <p:nvPr/>
        </p:nvGrpSpPr>
        <p:grpSpPr>
          <a:xfrm>
            <a:off x="6286500" y="4381500"/>
            <a:ext cx="5334000" cy="1238400"/>
            <a:chOff x="0" y="0"/>
            <a:chExt cx="5334000" cy="1238400"/>
          </a:xfrm>
        </p:grpSpPr>
        <p:sp>
          <p:nvSpPr>
            <p:cNvPr id="281" name="Google Shape;281;p19"/>
            <p:cNvSpPr/>
            <p:nvPr/>
          </p:nvSpPr>
          <p:spPr>
            <a:xfrm>
              <a:off x="0" y="0"/>
              <a:ext cx="5334000" cy="1238400"/>
            </a:xfrm>
            <a:prstGeom prst="roundRect">
              <a:avLst>
                <a:gd name="adj" fmla="val 9230"/>
              </a:avLst>
            </a:prstGeom>
            <a:solidFill>
              <a:srgbClr val="F0FDF4"/>
            </a:solidFill>
            <a:ln w="9525" cap="flat" cmpd="sng">
              <a:solidFill>
                <a:srgbClr val="86EF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9"/>
            <p:cNvSpPr txBox="1"/>
            <p:nvPr/>
          </p:nvSpPr>
          <p:spPr>
            <a:xfrm>
              <a:off x="238125" y="19050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6653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r>
                <a:rPr lang="en-US" sz="1250" b="1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Framework Abstraction Note</a:t>
              </a:r>
              <a:endParaRPr sz="1250" b="1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E3A20"/>
                  </a:solidFill>
                  <a:latin typeface="Arial"/>
                  <a:ea typeface="Arial"/>
                  <a:cs typeface="Arial"/>
                  <a:sym typeface="Arial"/>
                </a:rPr>
                <a:t>Production frameworks like </a:t>
              </a:r>
              <a:r>
                <a:rPr lang="en-US" sz="1100" b="1">
                  <a:solidFill>
                    <a:srgbClr val="1E3A20"/>
                  </a:solidFill>
                  <a:latin typeface="Arial"/>
                  <a:ea typeface="Arial"/>
                  <a:cs typeface="Arial"/>
                  <a:sym typeface="Arial"/>
                </a:rPr>
                <a:t>LangChain</a:t>
              </a:r>
              <a:r>
                <a:rPr lang="en-US" sz="1100">
                  <a:solidFill>
                    <a:srgbClr val="1E3A20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-US" sz="1100" b="1">
                  <a:solidFill>
                    <a:srgbClr val="1E3A20"/>
                  </a:solidFill>
                  <a:latin typeface="Arial"/>
                  <a:ea typeface="Arial"/>
                  <a:cs typeface="Arial"/>
                  <a:sym typeface="Arial"/>
                </a:rPr>
                <a:t>CrewAI</a:t>
              </a:r>
              <a:r>
                <a:rPr lang="en-US" sz="1100">
                  <a:solidFill>
                    <a:srgbClr val="1E3A20"/>
                  </a:solidFill>
                  <a:latin typeface="Arial"/>
                  <a:ea typeface="Arial"/>
                  <a:cs typeface="Arial"/>
                  <a:sym typeface="Arial"/>
                </a:rPr>
                <a:t> abstract this class boilerplate away from you, allowing you to focus purely on prompt strategy and tool definition.</a:t>
              </a:r>
              <a:endParaRPr sz="1100">
                <a:solidFill>
                  <a:srgbClr val="1E3A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p19"/>
          <p:cNvSpPr txBox="1"/>
          <p:nvPr/>
        </p:nvSpPr>
        <p:spPr>
          <a:xfrm>
            <a:off x="7045076" y="295275"/>
            <a:ext cx="476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07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Basic Agent Class Structure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571500" y="1638300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Understanding the object-oriented approach to building agents.</a:t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code level, agents are classes that manage the state between LLM calls.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6935" y="214312"/>
            <a:ext cx="169798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 txBox="1"/>
          <p:nvPr/>
        </p:nvSpPr>
        <p:spPr>
          <a:xfrm>
            <a:off x="6944915" y="295275"/>
            <a:ext cx="48660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08</a:t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1525272" y="2466975"/>
            <a:ext cx="9141455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Pattern 1: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Planner - Executor - Evaluator</a:t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5524500" y="40671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3522612" y="4314825"/>
            <a:ext cx="5146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foundational triad of robust autonomous tasks.</a:t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Splitting execution into three distinct phases guarantees higher quality outputs.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6935" y="214312"/>
            <a:ext cx="169798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8462"/>
            <a:ext cx="35242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938462"/>
            <a:ext cx="35242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938462"/>
            <a:ext cx="352425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 txBox="1"/>
          <p:nvPr/>
        </p:nvSpPr>
        <p:spPr>
          <a:xfrm>
            <a:off x="6944915" y="295275"/>
            <a:ext cx="48660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09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P-E-E Triad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5025" y="31861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 txBox="1"/>
          <p:nvPr/>
        </p:nvSpPr>
        <p:spPr>
          <a:xfrm>
            <a:off x="743426" y="3833812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Planner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819150" y="4148137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Decomposes the main user goal into a sequential list of smaller, achievable sub-tasks.</a:t>
            </a:r>
            <a:endParaRPr/>
          </a:p>
        </p:txBody>
      </p:sp>
      <p:pic>
        <p:nvPicPr>
          <p:cNvPr id="317" name="Google Shape;31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31861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1"/>
          <p:cNvSpPr txBox="1"/>
          <p:nvPr/>
        </p:nvSpPr>
        <p:spPr>
          <a:xfrm>
            <a:off x="4505801" y="3833812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Executor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4581525" y="4148137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Takes one sub-task at a time, uses tools to perform the work, and returns raw results.</a:t>
            </a:r>
            <a:endParaRPr/>
          </a:p>
        </p:txBody>
      </p:sp>
      <p:pic>
        <p:nvPicPr>
          <p:cNvPr id="320" name="Google Shape;32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8350" y="31861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1"/>
          <p:cNvSpPr txBox="1"/>
          <p:nvPr/>
        </p:nvSpPr>
        <p:spPr>
          <a:xfrm>
            <a:off x="8268176" y="3833812"/>
            <a:ext cx="31803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Evaluator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8343900" y="4148137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Reviews the Executor's output against the original sub-task goal to ensure accuracy.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pattern separates strategy (planning) from tactical labor (execution) and QA (evaluation).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6935" y="214312"/>
            <a:ext cx="169798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2"/>
          <p:cNvSpPr txBox="1"/>
          <p:nvPr/>
        </p:nvSpPr>
        <p:spPr>
          <a:xfrm>
            <a:off x="6944915" y="295275"/>
            <a:ext cx="48660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10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Zoom In: The Planner</a:t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571500" y="2436614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Planner is usually a highly capable LLM (like GPT-4) prompted specifically to </a:t>
            </a: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think abstractly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571500" y="4749105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it's needed: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LLMs get confused if asked to write code, test it, and deploy it all in one prompt.</a:t>
            </a:r>
            <a:endParaRPr/>
          </a:p>
        </p:txBody>
      </p:sp>
      <p:pic>
        <p:nvPicPr>
          <p:cNvPr id="337" name="Google Shape;33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 txBox="1"/>
          <p:nvPr/>
        </p:nvSpPr>
        <p:spPr>
          <a:xfrm>
            <a:off x="704850" y="317474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762000" y="3175694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High-level user prompt.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704850" y="354428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762000" y="3545234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Process: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Creates a Directed Acyclic Graph (DAG) or a simple linear list of steps.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704850" y="418811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762000" y="4189065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JSON array of sub-tasks.</a:t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Planner creates the map; it does not walk the path.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6935" y="214312"/>
            <a:ext cx="169798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21458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21458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0025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010025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119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75" y="28119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200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4200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3"/>
          <p:cNvSpPr txBox="1"/>
          <p:nvPr/>
        </p:nvSpPr>
        <p:spPr>
          <a:xfrm>
            <a:off x="6944915" y="295275"/>
            <a:ext cx="48660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11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Zoom In: The Executor</a:t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1333500" y="2811958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Receive Task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1333500" y="3107233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Accepts a strictly defined sub-task from the Planner (e.g., "Search Wikipedia for Python").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7000875" y="2811958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Select Tool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7000875" y="3107233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Reviews available tools and determines which API or script is required.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1333500" y="4200525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1333500" y="4495800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Generates the required JSON payload and triggers the external tool system.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7000875" y="4200525"/>
            <a:ext cx="45363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Return Data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7000875" y="4495800"/>
            <a:ext cx="4320331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Passes the raw output back to the central system for evaluation.</a:t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Executors are tactical; they focus entirely on the mechanics of tool usage.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6935" y="214312"/>
            <a:ext cx="169798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4"/>
          <p:cNvSpPr txBox="1"/>
          <p:nvPr/>
        </p:nvSpPr>
        <p:spPr>
          <a:xfrm>
            <a:off x="6944915" y="295275"/>
            <a:ext cx="48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12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Zoom In: The Evaluator</a:t>
            </a:r>
            <a:endParaRPr/>
          </a:p>
        </p:txBody>
      </p:sp>
      <p:sp>
        <p:nvSpPr>
          <p:cNvPr id="381" name="Google Shape;381;p24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24"/>
          <p:cNvGrpSpPr/>
          <p:nvPr/>
        </p:nvGrpSpPr>
        <p:grpSpPr>
          <a:xfrm>
            <a:off x="571500" y="1619250"/>
            <a:ext cx="11049000" cy="571500"/>
            <a:chOff x="0" y="0"/>
            <a:chExt cx="11049000" cy="571500"/>
          </a:xfrm>
        </p:grpSpPr>
        <p:sp>
          <p:nvSpPr>
            <p:cNvPr id="383" name="Google Shape;383;p24"/>
            <p:cNvSpPr/>
            <p:nvPr/>
          </p:nvSpPr>
          <p:spPr>
            <a:xfrm>
              <a:off x="0" y="0"/>
              <a:ext cx="11049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4"/>
            <p:cNvSpPr txBox="1"/>
            <p:nvPr/>
          </p:nvSpPr>
          <p:spPr>
            <a:xfrm>
              <a:off x="0" y="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Evaluator acts as the </a:t>
              </a:r>
              <a:r>
                <a:rPr lang="en-US" sz="15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Quality Assurance (QA)</a:t>
              </a:r>
              <a:r>
                <a:rPr lang="en-US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gate. This prevents cascading errors where one bad API call ruins the entire agent run.</a:t>
              </a:r>
              <a:endParaRPr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24"/>
          <p:cNvGrpSpPr/>
          <p:nvPr/>
        </p:nvGrpSpPr>
        <p:grpSpPr>
          <a:xfrm>
            <a:off x="571500" y="2381250"/>
            <a:ext cx="3429000" cy="3333900"/>
            <a:chOff x="0" y="0"/>
            <a:chExt cx="3429000" cy="3333900"/>
          </a:xfrm>
        </p:grpSpPr>
        <p:sp>
          <p:nvSpPr>
            <p:cNvPr id="386" name="Google Shape;386;p24"/>
            <p:cNvSpPr/>
            <p:nvPr/>
          </p:nvSpPr>
          <p:spPr>
            <a:xfrm>
              <a:off x="0" y="0"/>
              <a:ext cx="3429000" cy="3333900"/>
            </a:xfrm>
            <a:prstGeom prst="roundRect">
              <a:avLst>
                <a:gd name="adj" fmla="val 4571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285750" y="285750"/>
              <a:ext cx="381000" cy="3810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285750" y="285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4"/>
            <p:cNvSpPr txBox="1"/>
            <p:nvPr/>
          </p:nvSpPr>
          <p:spPr>
            <a:xfrm>
              <a:off x="285750" y="95250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Checks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Did the Executor actually fulfill the Planner's sub-task?</a:t>
              </a:r>
              <a:endParaRPr sz="135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0" name="Google Shape;390;p24"/>
          <p:cNvGrpSpPr/>
          <p:nvPr/>
        </p:nvGrpSpPr>
        <p:grpSpPr>
          <a:xfrm>
            <a:off x="4381500" y="2381250"/>
            <a:ext cx="3429000" cy="3333900"/>
            <a:chOff x="0" y="0"/>
            <a:chExt cx="3429000" cy="3333900"/>
          </a:xfrm>
        </p:grpSpPr>
        <p:sp>
          <p:nvSpPr>
            <p:cNvPr id="391" name="Google Shape;391;p24"/>
            <p:cNvSpPr/>
            <p:nvPr/>
          </p:nvSpPr>
          <p:spPr>
            <a:xfrm>
              <a:off x="0" y="0"/>
              <a:ext cx="3429000" cy="3333900"/>
            </a:xfrm>
            <a:prstGeom prst="roundRect">
              <a:avLst>
                <a:gd name="adj" fmla="val 4571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285750" y="285750"/>
              <a:ext cx="381000" cy="3810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4"/>
            <p:cNvSpPr txBox="1"/>
            <p:nvPr/>
          </p:nvSpPr>
          <p:spPr>
            <a:xfrm>
              <a:off x="285750" y="285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285750" y="95250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Handles Errors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If an API failed, it commands the Executor to retry.</a:t>
              </a:r>
              <a:endParaRPr sz="135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24"/>
          <p:cNvGrpSpPr/>
          <p:nvPr/>
        </p:nvGrpSpPr>
        <p:grpSpPr>
          <a:xfrm>
            <a:off x="8191500" y="2381250"/>
            <a:ext cx="3429000" cy="3333900"/>
            <a:chOff x="0" y="0"/>
            <a:chExt cx="3429000" cy="3333900"/>
          </a:xfrm>
        </p:grpSpPr>
        <p:sp>
          <p:nvSpPr>
            <p:cNvPr id="396" name="Google Shape;396;p24"/>
            <p:cNvSpPr/>
            <p:nvPr/>
          </p:nvSpPr>
          <p:spPr>
            <a:xfrm>
              <a:off x="0" y="0"/>
              <a:ext cx="3429000" cy="3333900"/>
            </a:xfrm>
            <a:prstGeom prst="roundRect">
              <a:avLst>
                <a:gd name="adj" fmla="val 4571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285750" y="285750"/>
              <a:ext cx="381000" cy="381000"/>
            </a:xfrm>
            <a:prstGeom prst="ellipse">
              <a:avLst/>
            </a:prstGeom>
            <a:solidFill>
              <a:srgbClr val="16653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4"/>
            <p:cNvSpPr txBox="1"/>
            <p:nvPr/>
          </p:nvSpPr>
          <p:spPr>
            <a:xfrm>
              <a:off x="285750" y="28575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4"/>
            <p:cNvSpPr txBox="1"/>
            <p:nvPr/>
          </p:nvSpPr>
          <p:spPr>
            <a:xfrm>
              <a:off x="285750" y="95250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Approval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Only upon approval does the system move to the next planned step.</a:t>
              </a:r>
              <a:endParaRPr sz="135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2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Evaluators are the safety net that makes autonomous loops reliable for enterprise use.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3284" y="214312"/>
            <a:ext cx="154543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5"/>
          <p:cNvSpPr txBox="1"/>
          <p:nvPr/>
        </p:nvSpPr>
        <p:spPr>
          <a:xfrm>
            <a:off x="6868715" y="295275"/>
            <a:ext cx="49422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13</a:t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 txBox="1"/>
          <p:nvPr/>
        </p:nvSpPr>
        <p:spPr>
          <a:xfrm>
            <a:off x="3321747" y="2466975"/>
            <a:ext cx="5548505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Pattern 2: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The ReAct Pattern</a:t>
            </a:r>
            <a:endParaRPr/>
          </a:p>
        </p:txBody>
      </p:sp>
      <p:sp>
        <p:nvSpPr>
          <p:cNvPr id="411" name="Google Shape;411;p25"/>
          <p:cNvSpPr/>
          <p:nvPr/>
        </p:nvSpPr>
        <p:spPr>
          <a:xfrm>
            <a:off x="5524500" y="40671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 txBox="1"/>
          <p:nvPr/>
        </p:nvSpPr>
        <p:spPr>
          <a:xfrm>
            <a:off x="4361110" y="4314825"/>
            <a:ext cx="346963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Reasoning and Acting interleaved.</a:t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is the most famous prompting strategy for giving LLMs agency.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3284" y="214312"/>
            <a:ext cx="154543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21458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21458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0025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010025"/>
            <a:ext cx="5381625" cy="110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8119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29375" y="281195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200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4200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6"/>
          <p:cNvSpPr txBox="1"/>
          <p:nvPr/>
        </p:nvSpPr>
        <p:spPr>
          <a:xfrm>
            <a:off x="6868715" y="295275"/>
            <a:ext cx="49422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14</a:t>
            </a:r>
            <a:endParaRPr/>
          </a:p>
        </p:txBody>
      </p:sp>
      <p:sp>
        <p:nvSpPr>
          <p:cNvPr id="430" name="Google Shape;430;p26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ReAct Loop Elements</a:t>
            </a:r>
            <a:endParaRPr/>
          </a:p>
        </p:txBody>
      </p:sp>
      <p:sp>
        <p:nvSpPr>
          <p:cNvPr id="431" name="Google Shape;431;p2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 txBox="1"/>
          <p:nvPr/>
        </p:nvSpPr>
        <p:spPr>
          <a:xfrm>
            <a:off x="1333500" y="2811958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Thought</a:t>
            </a:r>
            <a:endParaRPr/>
          </a:p>
        </p:txBody>
      </p:sp>
      <p:sp>
        <p:nvSpPr>
          <p:cNvPr id="433" name="Google Shape;433;p26"/>
          <p:cNvSpPr txBox="1"/>
          <p:nvPr/>
        </p:nvSpPr>
        <p:spPr>
          <a:xfrm>
            <a:off x="1333500" y="3107233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LLM verbalizes its reasoning (e.g., "I need to find the current CEO of Apple.")</a:t>
            </a:r>
            <a:endParaRPr/>
          </a:p>
        </p:txBody>
      </p:sp>
      <p:sp>
        <p:nvSpPr>
          <p:cNvPr id="434" name="Google Shape;434;p26"/>
          <p:cNvSpPr txBox="1"/>
          <p:nvPr/>
        </p:nvSpPr>
        <p:spPr>
          <a:xfrm>
            <a:off x="7000875" y="2811958"/>
            <a:ext cx="40198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7000875" y="3107233"/>
            <a:ext cx="3828454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LLM calls a specific tool (e.g., `Search[Apple CEO]`)</a:t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1333500" y="4200525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/>
          </a:p>
        </p:txBody>
      </p:sp>
      <p:sp>
        <p:nvSpPr>
          <p:cNvPr id="437" name="Google Shape;437;p26"/>
          <p:cNvSpPr txBox="1"/>
          <p:nvPr/>
        </p:nvSpPr>
        <p:spPr>
          <a:xfrm>
            <a:off x="1333500" y="4495800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external tool returns the result (e.g., "Tim Cook") back into the prompt context.</a:t>
            </a:r>
            <a:endParaRPr/>
          </a:p>
        </p:txBody>
      </p:sp>
      <p:sp>
        <p:nvSpPr>
          <p:cNvPr id="438" name="Google Shape;438;p26"/>
          <p:cNvSpPr txBox="1"/>
          <p:nvPr/>
        </p:nvSpPr>
        <p:spPr>
          <a:xfrm>
            <a:off x="7000875" y="4200525"/>
            <a:ext cx="46505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Repeat or Conclude</a:t>
            </a:r>
            <a:endParaRPr/>
          </a:p>
        </p:txBody>
      </p:sp>
      <p:sp>
        <p:nvSpPr>
          <p:cNvPr id="439" name="Google Shape;439;p26"/>
          <p:cNvSpPr txBox="1"/>
          <p:nvPr/>
        </p:nvSpPr>
        <p:spPr>
          <a:xfrm>
            <a:off x="7000875" y="4495800"/>
            <a:ext cx="4429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LLM repeats the Thought/Action process until it can generate a Final Answer.</a:t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Forcing the LLM to output a "Thought" before taking an "Action" vastly improves tool selection accuracy.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3284" y="214312"/>
            <a:ext cx="154543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8" name="Google Shape;448;p27"/>
          <p:cNvGrpSpPr/>
          <p:nvPr/>
        </p:nvGrpSpPr>
        <p:grpSpPr>
          <a:xfrm>
            <a:off x="571500" y="2095500"/>
            <a:ext cx="5334000" cy="3714900"/>
            <a:chOff x="0" y="0"/>
            <a:chExt cx="5334000" cy="3714900"/>
          </a:xfrm>
        </p:grpSpPr>
        <p:sp>
          <p:nvSpPr>
            <p:cNvPr id="449" name="Google Shape;449;p27"/>
            <p:cNvSpPr/>
            <p:nvPr/>
          </p:nvSpPr>
          <p:spPr>
            <a:xfrm>
              <a:off x="0" y="0"/>
              <a:ext cx="5334000" cy="3714900"/>
            </a:xfrm>
            <a:prstGeom prst="roundRect">
              <a:avLst>
                <a:gd name="adj" fmla="val 3076"/>
              </a:avLst>
            </a:prstGeom>
            <a:solidFill>
              <a:srgbClr val="0F172A"/>
            </a:solidFill>
            <a:ln w="19050" cap="flat" cmpd="sng">
              <a:solidFill>
                <a:srgbClr val="1E29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180975" y="133350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371475" y="13335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561975" y="133350"/>
              <a:ext cx="114300" cy="114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3810000" y="95250"/>
              <a:ext cx="1333500" cy="209700"/>
            </a:xfrm>
            <a:prstGeom prst="roundRect">
              <a:avLst>
                <a:gd name="adj" fmla="val 18181"/>
              </a:avLst>
            </a:prstGeom>
            <a:solidFill>
              <a:srgbClr val="1580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7"/>
            <p:cNvSpPr txBox="1"/>
            <p:nvPr/>
          </p:nvSpPr>
          <p:spPr>
            <a:xfrm>
              <a:off x="3810000" y="95250"/>
              <a:ext cx="1333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System Prompt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7"/>
            <p:cNvSpPr txBox="1"/>
            <p:nvPr/>
          </p:nvSpPr>
          <p:spPr>
            <a:xfrm>
              <a:off x="190500" y="428625"/>
              <a:ext cx="49530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Answer the question as best you can.</a:t>
              </a:r>
              <a:b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You have access to: [Search, Calc]</a:t>
              </a:r>
              <a:endParaRPr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 the following format:</a:t>
              </a:r>
              <a:endParaRPr sz="1150" b="1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Question:</a:t>
              </a: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5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{input}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Thought:</a:t>
              </a: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you should always think about what to do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Action:</a:t>
              </a: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the action to take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Action Input:</a:t>
              </a: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the input to the action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Observation:</a:t>
              </a: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50">
                  <a:solidFill>
                    <a:srgbClr val="A7F3D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result of the action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 (this can repeat N times)</a:t>
              </a:r>
              <a:endParaRPr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 Answer:</a:t>
              </a: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50">
                  <a:solidFill>
                    <a:srgbClr val="FECDD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answer to the original input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56" name="Google Shape;456;p27"/>
          <p:cNvSpPr txBox="1"/>
          <p:nvPr/>
        </p:nvSpPr>
        <p:spPr>
          <a:xfrm>
            <a:off x="6868715" y="295275"/>
            <a:ext cx="4942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15</a:t>
            </a:r>
            <a:endParaRPr/>
          </a:p>
        </p:txBody>
      </p:sp>
      <p:grpSp>
        <p:nvGrpSpPr>
          <p:cNvPr id="457" name="Google Shape;457;p27"/>
          <p:cNvGrpSpPr/>
          <p:nvPr/>
        </p:nvGrpSpPr>
        <p:grpSpPr>
          <a:xfrm>
            <a:off x="6286500" y="2095500"/>
            <a:ext cx="5334000" cy="3714900"/>
            <a:chOff x="0" y="0"/>
            <a:chExt cx="5334000" cy="3714900"/>
          </a:xfrm>
        </p:grpSpPr>
        <p:sp>
          <p:nvSpPr>
            <p:cNvPr id="458" name="Google Shape;458;p27"/>
            <p:cNvSpPr/>
            <p:nvPr/>
          </p:nvSpPr>
          <p:spPr>
            <a:xfrm>
              <a:off x="0" y="0"/>
              <a:ext cx="5334000" cy="3714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0" y="0"/>
              <a:ext cx="57300" cy="114300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7"/>
            <p:cNvSpPr txBox="1"/>
            <p:nvPr/>
          </p:nvSpPr>
          <p:spPr>
            <a:xfrm>
              <a:off x="238125" y="0"/>
              <a:ext cx="5095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Predictable LLM Outputs</a:t>
              </a:r>
              <a:endParaRPr sz="16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This strict formatting forces the LLM to output predictable text blocks. A Python script parses this output, executes the tool, and injects the </a:t>
              </a:r>
              <a:r>
                <a:rPr lang="en-US" sz="1250" b="1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"Observation"</a:t>
              </a:r>
              <a:r>
                <a:rPr lang="en-US" sz="12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back into the prompt.</a:t>
              </a:r>
              <a:endParaRPr sz="1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" name="Google Shape;461;p27"/>
            <p:cNvGrpSpPr/>
            <p:nvPr/>
          </p:nvGrpSpPr>
          <p:grpSpPr>
            <a:xfrm>
              <a:off x="238125" y="1524000"/>
              <a:ext cx="4857900" cy="1714500"/>
              <a:chOff x="0" y="0"/>
              <a:chExt cx="4857900" cy="1714500"/>
            </a:xfrm>
          </p:grpSpPr>
          <p:sp>
            <p:nvSpPr>
              <p:cNvPr id="462" name="Google Shape;462;p27"/>
              <p:cNvSpPr/>
              <p:nvPr/>
            </p:nvSpPr>
            <p:spPr>
              <a:xfrm>
                <a:off x="0" y="0"/>
                <a:ext cx="4857900" cy="1714500"/>
              </a:xfrm>
              <a:prstGeom prst="roundRect">
                <a:avLst>
                  <a:gd name="adj" fmla="val 6666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7"/>
              <p:cNvSpPr txBox="1"/>
              <p:nvPr/>
            </p:nvSpPr>
            <p:spPr>
              <a:xfrm>
                <a:off x="190500" y="142875"/>
                <a:ext cx="44769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3" b="1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Execution Loop</a:t>
                </a:r>
                <a:endParaRPr sz="853" b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0" b="1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rPr>
                  <a:t>Thought</a:t>
                </a:r>
                <a:endParaRPr sz="93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698">
                    <a:solidFill>
                      <a:srgbClr val="60A5FA"/>
                    </a:solidFill>
                    <a:latin typeface="Arial"/>
                    <a:ea typeface="Arial"/>
                    <a:cs typeface="Arial"/>
                    <a:sym typeface="Arial"/>
                  </a:rPr>
                  <a:t>Reasoning</a:t>
                </a:r>
                <a:endParaRPr sz="698">
                  <a:solidFill>
                    <a:srgbClr val="60A5F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95" b="1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➔</a:t>
                </a:r>
                <a:endParaRPr sz="1085"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0" b="1">
                    <a:solidFill>
                      <a:srgbClr val="9F1239"/>
                    </a:solidFill>
                    <a:latin typeface="Arial"/>
                    <a:ea typeface="Arial"/>
                    <a:cs typeface="Arial"/>
                    <a:sym typeface="Arial"/>
                  </a:rPr>
                  <a:t>Action</a:t>
                </a:r>
                <a:endParaRPr sz="930" b="1">
                  <a:solidFill>
                    <a:srgbClr val="9F123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698">
                    <a:solidFill>
                      <a:srgbClr val="F43F5E"/>
                    </a:solidFill>
                    <a:latin typeface="Arial"/>
                    <a:ea typeface="Arial"/>
                    <a:cs typeface="Arial"/>
                    <a:sym typeface="Arial"/>
                  </a:rPr>
                  <a:t>Tool Call</a:t>
                </a:r>
                <a:endParaRPr sz="698">
                  <a:solidFill>
                    <a:srgbClr val="F43F5E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95" b="1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➔</a:t>
                </a:r>
                <a:endParaRPr sz="1085"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0" b="1">
                    <a:solidFill>
                      <a:srgbClr val="065F46"/>
                    </a:solidFill>
                    <a:latin typeface="Arial"/>
                    <a:ea typeface="Arial"/>
                    <a:cs typeface="Arial"/>
                    <a:sym typeface="Arial"/>
                  </a:rPr>
                  <a:t>Observation</a:t>
                </a:r>
                <a:endParaRPr sz="930" b="1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698">
                    <a:solidFill>
                      <a:srgbClr val="34D399"/>
                    </a:solidFill>
                    <a:latin typeface="Arial"/>
                    <a:ea typeface="Arial"/>
                    <a:cs typeface="Arial"/>
                    <a:sym typeface="Arial"/>
                  </a:rPr>
                  <a:t>External Data</a:t>
                </a:r>
                <a:endParaRPr sz="698">
                  <a:solidFill>
                    <a:srgbClr val="34D3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4" name="Google Shape;464;p27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Prompt Template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571500" y="1638300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exact prompt structure that powers ReAct agents.</a:t>
            </a:r>
            <a:endParaRPr/>
          </a:p>
        </p:txBody>
      </p:sp>
      <p:sp>
        <p:nvSpPr>
          <p:cNvPr id="466" name="Google Shape;466;p27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7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is essentially a highly structured text-parsing game between the LLM and your code.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3284" y="214312"/>
            <a:ext cx="1545431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8"/>
          <p:cNvSpPr txBox="1"/>
          <p:nvPr/>
        </p:nvSpPr>
        <p:spPr>
          <a:xfrm>
            <a:off x="6868715" y="295275"/>
            <a:ext cx="49422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16</a:t>
            </a:r>
            <a:endParaRPr/>
          </a:p>
        </p:txBody>
      </p:sp>
      <p:sp>
        <p:nvSpPr>
          <p:cNvPr id="476" name="Google Shape;476;p28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Standard Prompting vs ReAct</a:t>
            </a:r>
            <a:endParaRPr/>
          </a:p>
        </p:txBody>
      </p:sp>
      <p:sp>
        <p:nvSpPr>
          <p:cNvPr id="477" name="Google Shape;477;p28"/>
          <p:cNvSpPr txBox="1"/>
          <p:nvPr/>
        </p:nvSpPr>
        <p:spPr>
          <a:xfrm>
            <a:off x="571500" y="1638300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ReAct outperforms simple Q&amp;A for complex tasks.</a:t>
            </a:r>
            <a:endParaRPr/>
          </a:p>
        </p:txBody>
      </p:sp>
      <p:graphicFrame>
        <p:nvGraphicFramePr>
          <p:cNvPr id="478" name="Google Shape;478;p28"/>
          <p:cNvGraphicFramePr/>
          <p:nvPr/>
        </p:nvGraphicFramePr>
        <p:xfrm>
          <a:off x="571500" y="2076450"/>
          <a:ext cx="11049000" cy="2352625"/>
        </p:xfrm>
        <a:graphic>
          <a:graphicData uri="http://schemas.openxmlformats.org/drawingml/2006/table">
            <a:tbl>
              <a:tblPr firstRow="1" bandRow="1">
                <a:noFill/>
                <a:tableStyleId>{5619A3F0-5ABA-4CC1-BD5D-519394B5A342}</a:tableStyleId>
              </a:tblPr>
              <a:tblGrid>
                <a:gridCol w="245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Standard Chain of Thought (CoT)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 (Reason + Act)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Information Limits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to training weights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Pulls live data via actions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Hallucination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(if guessing facts)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 (relies on external Observations)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 Correction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Fails silently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retry if Observation is empty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Creative writing, logic puzzles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research, API operations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9" name="Google Shape;479;p28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571500" y="3014662"/>
            <a:ext cx="24537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3025229" y="3014662"/>
            <a:ext cx="4426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7452121" y="3014662"/>
            <a:ext cx="4168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571500" y="3481387"/>
            <a:ext cx="24537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3025229" y="3481387"/>
            <a:ext cx="4426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7452121" y="3481387"/>
            <a:ext cx="4168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571500" y="3948112"/>
            <a:ext cx="24537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3025229" y="3948112"/>
            <a:ext cx="4426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7452121" y="3948112"/>
            <a:ext cx="4168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571500" y="4414837"/>
            <a:ext cx="24537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3025229" y="4414837"/>
            <a:ext cx="4426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7452121" y="4414837"/>
            <a:ext cx="41683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grounds the LLM's reasoning in external, factual reality.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3123" y="214312"/>
            <a:ext cx="17457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9"/>
          <p:cNvSpPr txBox="1"/>
          <p:nvPr/>
        </p:nvSpPr>
        <p:spPr>
          <a:xfrm>
            <a:off x="6968876" y="295275"/>
            <a:ext cx="484212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17</a:t>
            </a: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2901225" y="2466975"/>
            <a:ext cx="6389548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Pattern 3: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The Tool-Use Pattern</a:t>
            </a:r>
            <a:endParaRPr/>
          </a:p>
        </p:txBody>
      </p:sp>
      <p:sp>
        <p:nvSpPr>
          <p:cNvPr id="503" name="Google Shape;503;p29"/>
          <p:cNvSpPr/>
          <p:nvPr/>
        </p:nvSpPr>
        <p:spPr>
          <a:xfrm>
            <a:off x="5524500" y="40671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4621857" y="4314825"/>
            <a:ext cx="294813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Giving the LLM digital hands.</a:t>
            </a: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bridge the gap between text generation and real-world system state changes.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3123" y="214312"/>
            <a:ext cx="17457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0"/>
          <p:cNvSpPr txBox="1"/>
          <p:nvPr/>
        </p:nvSpPr>
        <p:spPr>
          <a:xfrm>
            <a:off x="6968876" y="295275"/>
            <a:ext cx="484212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18</a:t>
            </a:r>
            <a:endParaRPr/>
          </a:p>
        </p:txBody>
      </p:sp>
      <p:sp>
        <p:nvSpPr>
          <p:cNvPr id="515" name="Google Shape;515;p30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LLMs Interact with Tools</a:t>
            </a:r>
            <a:endParaRPr/>
          </a:p>
        </p:txBody>
      </p:sp>
      <p:sp>
        <p:nvSpPr>
          <p:cNvPr id="516" name="Google Shape;516;p30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0"/>
          <p:cNvSpPr txBox="1"/>
          <p:nvPr/>
        </p:nvSpPr>
        <p:spPr>
          <a:xfrm>
            <a:off x="571500" y="2484239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LLMs cannot "click" buttons or "run" Python natively. They can only output text.</a:t>
            </a:r>
            <a:endParaRPr/>
          </a:p>
        </p:txBody>
      </p:sp>
      <p:sp>
        <p:nvSpPr>
          <p:cNvPr id="518" name="Google Shape;518;p30"/>
          <p:cNvSpPr txBox="1"/>
          <p:nvPr/>
        </p:nvSpPr>
        <p:spPr>
          <a:xfrm>
            <a:off x="571500" y="4701480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LLM is the brain deciding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function to call; your server does the calling.</a:t>
            </a:r>
            <a:endParaRPr/>
          </a:p>
        </p:txBody>
      </p:sp>
      <p:pic>
        <p:nvPicPr>
          <p:cNvPr id="519" name="Google Shape;519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0"/>
          <p:cNvSpPr txBox="1"/>
          <p:nvPr/>
        </p:nvSpPr>
        <p:spPr>
          <a:xfrm>
            <a:off x="704850" y="322236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521" name="Google Shape;521;p30"/>
          <p:cNvSpPr txBox="1"/>
          <p:nvPr/>
        </p:nvSpPr>
        <p:spPr>
          <a:xfrm>
            <a:off x="762000" y="3223319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Function Calling: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Modern models (GPT-4) are trained to output valid </a:t>
            </a: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that matches a tool's parameters.</a:t>
            </a:r>
            <a:endParaRPr/>
          </a:p>
        </p:txBody>
      </p:sp>
      <p:sp>
        <p:nvSpPr>
          <p:cNvPr id="522" name="Google Shape;522;p30"/>
          <p:cNvSpPr txBox="1"/>
          <p:nvPr/>
        </p:nvSpPr>
        <p:spPr>
          <a:xfrm>
            <a:off x="704850" y="386619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523" name="Google Shape;523;p30"/>
          <p:cNvSpPr txBox="1"/>
          <p:nvPr/>
        </p:nvSpPr>
        <p:spPr>
          <a:xfrm>
            <a:off x="762000" y="3867150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Execution: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Your application framework intercepts this JSON, runs the actual API, and feeds the text response back.</a:t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 use relies entirely on the LLM's ability to format outputs strictly as requested JSON.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3123" y="214312"/>
            <a:ext cx="17457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1"/>
          <p:cNvSpPr txBox="1"/>
          <p:nvPr/>
        </p:nvSpPr>
        <p:spPr>
          <a:xfrm>
            <a:off x="6968876" y="295275"/>
            <a:ext cx="484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19</a:t>
            </a:r>
            <a:endParaRPr/>
          </a:p>
        </p:txBody>
      </p:sp>
      <p:sp>
        <p:nvSpPr>
          <p:cNvPr id="533" name="Google Shape;533;p31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Common Tool Types</a:t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5" name="Google Shape;535;p31"/>
          <p:cNvGrpSpPr/>
          <p:nvPr/>
        </p:nvGrpSpPr>
        <p:grpSpPr>
          <a:xfrm>
            <a:off x="571500" y="2000250"/>
            <a:ext cx="3429000" cy="3429000"/>
            <a:chOff x="0" y="0"/>
            <a:chExt cx="3429000" cy="3429000"/>
          </a:xfrm>
        </p:grpSpPr>
        <p:sp>
          <p:nvSpPr>
            <p:cNvPr id="536" name="Google Shape;536;p31"/>
            <p:cNvSpPr/>
            <p:nvPr/>
          </p:nvSpPr>
          <p:spPr>
            <a:xfrm>
              <a:off x="0" y="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1"/>
            <p:cNvSpPr txBox="1"/>
            <p:nvPr/>
          </p:nvSpPr>
          <p:spPr>
            <a:xfrm>
              <a:off x="190500" y="381000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highlight>
                    <a:srgbClr val="EFF6FF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Search Engines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Tavily, Google Search, Wikipedia integrations for real-time fact retrieval.</a:t>
              </a:r>
              <a:endParaRPr sz="12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31"/>
          <p:cNvGrpSpPr/>
          <p:nvPr/>
        </p:nvGrpSpPr>
        <p:grpSpPr>
          <a:xfrm>
            <a:off x="4381500" y="2000250"/>
            <a:ext cx="3429000" cy="3429000"/>
            <a:chOff x="0" y="0"/>
            <a:chExt cx="3429000" cy="3429000"/>
          </a:xfrm>
        </p:grpSpPr>
        <p:sp>
          <p:nvSpPr>
            <p:cNvPr id="539" name="Google Shape;539;p31"/>
            <p:cNvSpPr/>
            <p:nvPr/>
          </p:nvSpPr>
          <p:spPr>
            <a:xfrm>
              <a:off x="0" y="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 txBox="1"/>
            <p:nvPr/>
          </p:nvSpPr>
          <p:spPr>
            <a:xfrm>
              <a:off x="190500" y="381000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endParaRPr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Math / Interpreters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Python REPL or Calculator tools to solve math problems without hallucination.</a:t>
              </a:r>
              <a:endParaRPr sz="12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1" name="Google Shape;541;p31"/>
          <p:cNvGrpSpPr/>
          <p:nvPr/>
        </p:nvGrpSpPr>
        <p:grpSpPr>
          <a:xfrm>
            <a:off x="8191500" y="2000250"/>
            <a:ext cx="3429000" cy="3429000"/>
            <a:chOff x="0" y="0"/>
            <a:chExt cx="3429000" cy="3429000"/>
          </a:xfrm>
        </p:grpSpPr>
        <p:sp>
          <p:nvSpPr>
            <p:cNvPr id="542" name="Google Shape;542;p31"/>
            <p:cNvSpPr/>
            <p:nvPr/>
          </p:nvSpPr>
          <p:spPr>
            <a:xfrm>
              <a:off x="0" y="0"/>
              <a:ext cx="3429000" cy="34290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1"/>
            <p:cNvSpPr txBox="1"/>
            <p:nvPr/>
          </p:nvSpPr>
          <p:spPr>
            <a:xfrm>
              <a:off x="190500" y="381000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9333EA"/>
                  </a:solidFill>
                  <a:highlight>
                    <a:srgbClr val="FAF5FF"/>
                  </a:highlight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>
                <a:highlight>
                  <a:srgbClr val="FAF5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Data APIs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Connecting to CRM, SQL databases, or internal HR systems via REST APIs.</a:t>
              </a:r>
              <a:endParaRPr sz="12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" name="Google Shape;544;p3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 txBox="1"/>
          <p:nvPr/>
        </p:nvSpPr>
        <p:spPr>
          <a:xfrm>
            <a:off x="380876" y="6452018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should be highly specific and single-purpose to avoid confusing the LLM.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3123" y="214312"/>
            <a:ext cx="1745753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0250"/>
            <a:ext cx="5381700" cy="2991000"/>
          </a:xfrm>
          <a:prstGeom prst="roundRect">
            <a:avLst>
              <a:gd name="adj" fmla="val 3821"/>
            </a:avLst>
          </a:prstGeom>
          <a:noFill/>
          <a:ln>
            <a:noFill/>
          </a:ln>
        </p:spPr>
      </p:pic>
      <p:pic>
        <p:nvPicPr>
          <p:cNvPr id="553" name="Google Shape;553;p32"/>
          <p:cNvPicPr preferRelativeResize="0"/>
          <p:nvPr/>
        </p:nvPicPr>
        <p:blipFill rotWithShape="1">
          <a:blip r:embed="rId6">
            <a:alphaModFix/>
          </a:blip>
          <a:srcRect t="1691" b="1700"/>
          <a:stretch/>
        </p:blipFill>
        <p:spPr>
          <a:xfrm>
            <a:off x="762000" y="1885950"/>
            <a:ext cx="17373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2"/>
          <p:cNvSpPr txBox="1"/>
          <p:nvPr/>
        </p:nvSpPr>
        <p:spPr>
          <a:xfrm>
            <a:off x="6968876" y="295275"/>
            <a:ext cx="484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20</a:t>
            </a:r>
            <a:endParaRPr/>
          </a:p>
        </p:txBody>
      </p:sp>
      <p:sp>
        <p:nvSpPr>
          <p:cNvPr id="555" name="Google Shape;555;p32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6" name="Google Shape;556;p32"/>
          <p:cNvGrpSpPr/>
          <p:nvPr/>
        </p:nvGrpSpPr>
        <p:grpSpPr>
          <a:xfrm>
            <a:off x="6286500" y="2000250"/>
            <a:ext cx="5334000" cy="2991000"/>
            <a:chOff x="0" y="0"/>
            <a:chExt cx="5334000" cy="2991000"/>
          </a:xfrm>
        </p:grpSpPr>
        <p:sp>
          <p:nvSpPr>
            <p:cNvPr id="557" name="Google Shape;557;p32"/>
            <p:cNvSpPr/>
            <p:nvPr/>
          </p:nvSpPr>
          <p:spPr>
            <a:xfrm>
              <a:off x="0" y="0"/>
              <a:ext cx="5334000" cy="299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2"/>
            <p:cNvSpPr txBox="1"/>
            <p:nvPr/>
          </p:nvSpPr>
          <p:spPr>
            <a:xfrm>
              <a:off x="0" y="0"/>
              <a:ext cx="5334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The </a:t>
              </a:r>
              <a:r>
                <a:rPr lang="en-US" sz="1600" b="1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Description</a:t>
              </a:r>
              <a:r>
                <a:rPr lang="en-US" sz="16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 field is the most critical part of this schema.</a:t>
              </a:r>
              <a:endParaRPr sz="16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LLM reads this text to decide whether to trigger this specific tool or a different one depending on the user query.</a:t>
              </a:r>
              <a:endParaRPr sz="135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9" name="Google Shape;559;p32"/>
            <p:cNvGrpSpPr/>
            <p:nvPr/>
          </p:nvGrpSpPr>
          <p:grpSpPr>
            <a:xfrm>
              <a:off x="0" y="1333500"/>
              <a:ext cx="5334000" cy="1333500"/>
              <a:chOff x="0" y="0"/>
              <a:chExt cx="5334000" cy="1333500"/>
            </a:xfrm>
          </p:grpSpPr>
          <p:sp>
            <p:nvSpPr>
              <p:cNvPr id="560" name="Google Shape;560;p32"/>
              <p:cNvSpPr/>
              <p:nvPr/>
            </p:nvSpPr>
            <p:spPr>
              <a:xfrm>
                <a:off x="0" y="0"/>
                <a:ext cx="5334000" cy="1333500"/>
              </a:xfrm>
              <a:prstGeom prst="roundRect">
                <a:avLst>
                  <a:gd name="adj" fmla="val 8571"/>
                </a:avLst>
              </a:prstGeom>
              <a:solidFill>
                <a:srgbClr val="F0FDF4"/>
              </a:solidFill>
              <a:ln w="14300" cap="flat" cmpd="sng">
                <a:solidFill>
                  <a:srgbClr val="BBF7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2"/>
              <p:cNvSpPr txBox="1"/>
              <p:nvPr/>
            </p:nvSpPr>
            <p:spPr>
              <a:xfrm>
                <a:off x="800100" y="228600"/>
                <a:ext cx="43053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dirty="0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rPr>
                  <a:t>Pro Tip</a:t>
                </a:r>
                <a:endParaRPr sz="1100" b="1" dirty="0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500" b="1" dirty="0">
                    <a:solidFill>
                      <a:srgbClr val="14532D"/>
                    </a:solidFill>
                    <a:latin typeface="Arial"/>
                    <a:ea typeface="Arial"/>
                    <a:cs typeface="Arial"/>
                    <a:sym typeface="Arial"/>
                  </a:rPr>
                  <a:t>Treat tool descriptions as mini-prompts.</a:t>
                </a:r>
                <a:endParaRPr sz="1500" b="1" dirty="0">
                  <a:solidFill>
                    <a:srgbClr val="1453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65" name="Google Shape;565;p32"/>
          <p:cNvSpPr/>
          <p:nvPr/>
        </p:nvSpPr>
        <p:spPr>
          <a:xfrm>
            <a:off x="0" y="6238875"/>
            <a:ext cx="12192000" cy="61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2"/>
          <p:cNvSpPr txBox="1"/>
          <p:nvPr/>
        </p:nvSpPr>
        <p:spPr>
          <a:xfrm>
            <a:off x="571500" y="6432030"/>
            <a:ext cx="11049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Warning:</a:t>
            </a:r>
            <a:r>
              <a:rPr lang="en-US" sz="1300" b="0" dirty="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Poorly described tools lead to LLMs using the wrong tool or providing incorrect parameters.</a:t>
            </a:r>
            <a:endParaRPr sz="13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2"/>
          <p:cNvSpPr txBox="1"/>
          <p:nvPr/>
        </p:nvSpPr>
        <p:spPr>
          <a:xfrm>
            <a:off x="571500" y="857250"/>
            <a:ext cx="110490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6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Defining a Tool Schema</a:t>
            </a:r>
            <a:endParaRPr sz="296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2"/>
          <p:cNvSpPr txBox="1"/>
          <p:nvPr/>
        </p:nvSpPr>
        <p:spPr>
          <a:xfrm>
            <a:off x="571500" y="1428750"/>
            <a:ext cx="11049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You must teach the LLM exactly how to use the tool via descriptions.</a:t>
            </a:r>
            <a:endParaRPr sz="1400" b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051" y="214312"/>
            <a:ext cx="184174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3"/>
          <p:cNvSpPr txBox="1"/>
          <p:nvPr/>
        </p:nvSpPr>
        <p:spPr>
          <a:xfrm>
            <a:off x="7016799" y="295275"/>
            <a:ext cx="4794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21</a:t>
            </a:r>
            <a:endParaRPr/>
          </a:p>
        </p:txBody>
      </p:sp>
      <p:sp>
        <p:nvSpPr>
          <p:cNvPr id="576" name="Google Shape;576;p33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3"/>
          <p:cNvSpPr txBox="1"/>
          <p:nvPr/>
        </p:nvSpPr>
        <p:spPr>
          <a:xfrm>
            <a:off x="3463952" y="2466975"/>
            <a:ext cx="5264095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Pattern 4: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Reflection</a:t>
            </a:r>
            <a:endParaRPr/>
          </a:p>
        </p:txBody>
      </p:sp>
      <p:sp>
        <p:nvSpPr>
          <p:cNvPr id="578" name="Google Shape;578;p33"/>
          <p:cNvSpPr/>
          <p:nvPr/>
        </p:nvSpPr>
        <p:spPr>
          <a:xfrm>
            <a:off x="5524500" y="40671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3"/>
          <p:cNvSpPr txBox="1"/>
          <p:nvPr/>
        </p:nvSpPr>
        <p:spPr>
          <a:xfrm>
            <a:off x="3935759" y="4314825"/>
            <a:ext cx="432033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Teaching agents to critique their own work.</a:t>
            </a:r>
            <a:endParaRPr/>
          </a:p>
        </p:txBody>
      </p:sp>
      <p:sp>
        <p:nvSpPr>
          <p:cNvPr id="580" name="Google Shape;580;p3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3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Reflection loops significantly boost performance in code generation and complex writing.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051" y="214312"/>
            <a:ext cx="184174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4"/>
          <p:cNvSpPr txBox="1"/>
          <p:nvPr/>
        </p:nvSpPr>
        <p:spPr>
          <a:xfrm>
            <a:off x="7016799" y="295275"/>
            <a:ext cx="4794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22</a:t>
            </a:r>
            <a:endParaRPr/>
          </a:p>
        </p:txBody>
      </p:sp>
      <p:sp>
        <p:nvSpPr>
          <p:cNvPr id="590" name="Google Shape;590;p34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Reflection?</a:t>
            </a:r>
            <a:endParaRPr/>
          </a:p>
        </p:txBody>
      </p:sp>
      <p:sp>
        <p:nvSpPr>
          <p:cNvPr id="591" name="Google Shape;591;p3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4"/>
          <p:cNvSpPr txBox="1"/>
          <p:nvPr/>
        </p:nvSpPr>
        <p:spPr>
          <a:xfrm>
            <a:off x="571500" y="2806154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is an architectural pattern where an agent (or a secondary "Critic" agent) reviews the initial output before delivering it to the user.</a:t>
            </a:r>
            <a:endParaRPr/>
          </a:p>
        </p:txBody>
      </p:sp>
      <p:pic>
        <p:nvPicPr>
          <p:cNvPr id="593" name="Google Shape;593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638300"/>
            <a:ext cx="53340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4"/>
          <p:cNvSpPr txBox="1"/>
          <p:nvPr/>
        </p:nvSpPr>
        <p:spPr>
          <a:xfrm>
            <a:off x="704850" y="354428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595" name="Google Shape;595;p34"/>
          <p:cNvSpPr txBox="1"/>
          <p:nvPr/>
        </p:nvSpPr>
        <p:spPr>
          <a:xfrm>
            <a:off x="762000" y="3545234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Drafting: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The Generator agent creates V1.</a:t>
            </a:r>
            <a:endParaRPr/>
          </a:p>
        </p:txBody>
      </p:sp>
      <p:sp>
        <p:nvSpPr>
          <p:cNvPr id="596" name="Google Shape;596;p34"/>
          <p:cNvSpPr txBox="1"/>
          <p:nvPr/>
        </p:nvSpPr>
        <p:spPr>
          <a:xfrm>
            <a:off x="704850" y="391382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597" name="Google Shape;597;p34"/>
          <p:cNvSpPr txBox="1"/>
          <p:nvPr/>
        </p:nvSpPr>
        <p:spPr>
          <a:xfrm>
            <a:off x="762000" y="3914775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Critique: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The Critic agent evaluates V1 against the prompt constraints and flags errors.</a:t>
            </a:r>
            <a:endParaRPr/>
          </a:p>
        </p:txBody>
      </p:sp>
      <p:sp>
        <p:nvSpPr>
          <p:cNvPr id="598" name="Google Shape;598;p34"/>
          <p:cNvSpPr txBox="1"/>
          <p:nvPr/>
        </p:nvSpPr>
        <p:spPr>
          <a:xfrm>
            <a:off x="704850" y="455765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599" name="Google Shape;599;p34"/>
          <p:cNvSpPr txBox="1"/>
          <p:nvPr/>
        </p:nvSpPr>
        <p:spPr>
          <a:xfrm>
            <a:off x="762000" y="4558605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Revision: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The Generator receives the critique and creates V2.</a:t>
            </a:r>
            <a:endParaRPr/>
          </a:p>
        </p:txBody>
      </p:sp>
      <p:sp>
        <p:nvSpPr>
          <p:cNvPr id="600" name="Google Shape;600;p3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 are often better at finding errors in text than they are at generating perfect text on the first try.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051" y="214312"/>
            <a:ext cx="184174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5"/>
          <p:cNvSpPr/>
          <p:nvPr/>
        </p:nvSpPr>
        <p:spPr>
          <a:xfrm>
            <a:off x="571500" y="1638300"/>
            <a:ext cx="5286300" cy="41910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5"/>
          <p:cNvSpPr/>
          <p:nvPr/>
        </p:nvSpPr>
        <p:spPr>
          <a:xfrm>
            <a:off x="6334125" y="1638300"/>
            <a:ext cx="5286300" cy="419100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19050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35"/>
          <p:cNvSpPr txBox="1"/>
          <p:nvPr/>
        </p:nvSpPr>
        <p:spPr>
          <a:xfrm>
            <a:off x="7016799" y="295275"/>
            <a:ext cx="479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23</a:t>
            </a:r>
            <a:endParaRPr/>
          </a:p>
        </p:txBody>
      </p:sp>
      <p:sp>
        <p:nvSpPr>
          <p:cNvPr id="611" name="Google Shape;611;p35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Zero-Shot vs Reflection</a:t>
            </a:r>
            <a:endParaRPr/>
          </a:p>
        </p:txBody>
      </p:sp>
      <p:sp>
        <p:nvSpPr>
          <p:cNvPr id="612" name="Google Shape;612;p35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5"/>
          <p:cNvSpPr txBox="1"/>
          <p:nvPr/>
        </p:nvSpPr>
        <p:spPr>
          <a:xfrm>
            <a:off x="857250" y="1924050"/>
            <a:ext cx="47148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Zero-Shot </a:t>
            </a:r>
            <a:r>
              <a:rPr lang="en-US" sz="16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(Direct Generation)</a:t>
            </a:r>
            <a:endParaRPr sz="220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334155"/>
                </a:solidFill>
                <a:highlight>
                  <a:srgbClr val="E2E8F0"/>
                </a:highlight>
                <a:latin typeface="Arial"/>
                <a:ea typeface="Arial"/>
                <a:cs typeface="Arial"/>
                <a:sym typeface="Arial"/>
              </a:rPr>
              <a:t>Process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Prompt </a:t>
            </a:r>
            <a:r>
              <a:rPr lang="en-US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Generate </a:t>
            </a:r>
            <a:r>
              <a:rPr lang="en-US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4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Output</a:t>
            </a:r>
            <a:endParaRPr sz="140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5803D"/>
                </a:solidFill>
                <a:highlight>
                  <a:srgbClr val="DCFCE7"/>
                </a:highlight>
                <a:latin typeface="Arial"/>
                <a:ea typeface="Arial"/>
                <a:cs typeface="Arial"/>
                <a:sym typeface="Arial"/>
              </a:rPr>
              <a:t>Pros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Fast, cheap (consumes fewer tokens).</a:t>
            </a:r>
            <a:endParaRPr sz="1300" b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91C1C"/>
                </a:solidFill>
                <a:highlight>
                  <a:srgbClr val="FEE2E2"/>
                </a:highlight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High failure rate on complex constraints (e.g., "Write exactly 500 words with no adjectives").</a:t>
            </a:r>
            <a:endParaRPr sz="1300" b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"/>
          <p:cNvSpPr txBox="1"/>
          <p:nvPr/>
        </p:nvSpPr>
        <p:spPr>
          <a:xfrm>
            <a:off x="6619875" y="1924050"/>
            <a:ext cx="4714800" cy="3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4532D"/>
                </a:solidFill>
                <a:latin typeface="Arial"/>
                <a:ea typeface="Arial"/>
                <a:cs typeface="Arial"/>
                <a:sym typeface="Arial"/>
              </a:rPr>
              <a:t>Reflection Architecture</a:t>
            </a:r>
            <a:endParaRPr sz="2200" b="1">
              <a:solidFill>
                <a:srgbClr val="14532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4532D"/>
                </a:solidFill>
                <a:highlight>
                  <a:srgbClr val="DCFCE7"/>
                </a:highlight>
                <a:latin typeface="Arial"/>
                <a:ea typeface="Arial"/>
                <a:cs typeface="Arial"/>
                <a:sym typeface="Arial"/>
              </a:rPr>
              <a:t>Process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Prompt </a:t>
            </a:r>
            <a:r>
              <a:rPr lang="en-US" sz="13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3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Draft </a:t>
            </a:r>
            <a:r>
              <a:rPr lang="en-US" sz="13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3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Critique </a:t>
            </a:r>
            <a:r>
              <a:rPr lang="en-US" sz="13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3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Revise </a:t>
            </a:r>
            <a:r>
              <a:rPr lang="en-US" sz="13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3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Output</a:t>
            </a:r>
            <a:endParaRPr sz="130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5803D"/>
                </a:solidFill>
                <a:highlight>
                  <a:srgbClr val="DCFCE7"/>
                </a:highlight>
                <a:latin typeface="Arial"/>
                <a:ea typeface="Arial"/>
                <a:cs typeface="Arial"/>
                <a:sym typeface="Arial"/>
              </a:rPr>
              <a:t>Pros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Substantial improvement in logical consistency, code correctness, and constraint adherence.</a:t>
            </a:r>
            <a:endParaRPr sz="1300" b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B91C1C"/>
                </a:solidFill>
                <a:highlight>
                  <a:srgbClr val="FEE2E2"/>
                </a:highlight>
                <a:latin typeface="Arial"/>
                <a:ea typeface="Arial"/>
                <a:cs typeface="Arial"/>
                <a:sym typeface="Arial"/>
              </a:rPr>
              <a:t>Cons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Slower, costs more API tokens.</a:t>
            </a:r>
            <a:endParaRPr sz="1300" b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5"/>
          <p:cNvSpPr txBox="1"/>
          <p:nvPr/>
        </p:nvSpPr>
        <p:spPr>
          <a:xfrm>
            <a:off x="381000" y="6452018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Reflection for high-stakes outputs (like code or contracts) and Zero-Shot for simple Q&amp;A.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051" y="214312"/>
            <a:ext cx="184174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6"/>
          <p:cNvSpPr/>
          <p:nvPr/>
        </p:nvSpPr>
        <p:spPr>
          <a:xfrm>
            <a:off x="571500" y="2190750"/>
            <a:ext cx="5762700" cy="2648100"/>
          </a:xfrm>
          <a:prstGeom prst="roundRect">
            <a:avLst>
              <a:gd name="adj" fmla="val 5755"/>
            </a:avLst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4" name="Google Shape;624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667000"/>
            <a:ext cx="53817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36" descr="image.png"/>
          <p:cNvPicPr preferRelativeResize="0"/>
          <p:nvPr/>
        </p:nvPicPr>
        <p:blipFill rotWithShape="1">
          <a:blip r:embed="rId6">
            <a:alphaModFix/>
          </a:blip>
          <a:srcRect l="298" r="298"/>
          <a:stretch/>
        </p:blipFill>
        <p:spPr>
          <a:xfrm>
            <a:off x="952500" y="2438400"/>
            <a:ext cx="16002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6"/>
          <p:cNvSpPr txBox="1"/>
          <p:nvPr/>
        </p:nvSpPr>
        <p:spPr>
          <a:xfrm>
            <a:off x="7016799" y="295275"/>
            <a:ext cx="479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24</a:t>
            </a:r>
            <a:endParaRPr/>
          </a:p>
        </p:txBody>
      </p:sp>
      <p:sp>
        <p:nvSpPr>
          <p:cNvPr id="627" name="Google Shape;627;p36"/>
          <p:cNvSpPr txBox="1"/>
          <p:nvPr/>
        </p:nvSpPr>
        <p:spPr>
          <a:xfrm>
            <a:off x="6762750" y="2190750"/>
            <a:ext cx="4857900" cy="26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Actionable Feedback Loop</a:t>
            </a:r>
            <a:endParaRPr sz="153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48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By providing the Critic agent with explicit, numbered rules, the generator agent receives highly actionable feedback to fix its mistakes automatically.</a:t>
            </a:r>
            <a:endParaRPr sz="1148" b="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endParaRPr sz="119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Rule-Based Evaluation</a:t>
            </a:r>
            <a:endParaRPr sz="1105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7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Critic evaluates drafts against strict, deterministic constraints (e.g., tone guidelines, factual compliance).</a:t>
            </a:r>
            <a:endParaRPr sz="978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autorenew</a:t>
            </a:r>
            <a:endParaRPr sz="119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5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Automated Iteration</a:t>
            </a:r>
            <a:endParaRPr sz="1105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78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Outputs are structured as binary pass/fail states with precise revision instructions for the next draft.</a:t>
            </a:r>
            <a:endParaRPr sz="978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6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Implementing a Critic Agent</a:t>
            </a:r>
            <a:endParaRPr/>
          </a:p>
        </p:txBody>
      </p:sp>
      <p:sp>
        <p:nvSpPr>
          <p:cNvPr id="629" name="Google Shape;629;p36"/>
          <p:cNvSpPr txBox="1"/>
          <p:nvPr/>
        </p:nvSpPr>
        <p:spPr>
          <a:xfrm>
            <a:off x="571500" y="1638300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Setting up the dual-agent interplay.</a:t>
            </a:r>
            <a:endParaRPr/>
          </a:p>
        </p:txBody>
      </p:sp>
      <p:sp>
        <p:nvSpPr>
          <p:cNvPr id="630" name="Google Shape;630;p36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6"/>
          <p:cNvSpPr txBox="1"/>
          <p:nvPr/>
        </p:nvSpPr>
        <p:spPr>
          <a:xfrm>
            <a:off x="380925" y="64389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Critic prompt should contain the strict evaluation criteria that the initial generator might miss.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9617" y="214312"/>
            <a:ext cx="211276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7"/>
          <p:cNvSpPr txBox="1"/>
          <p:nvPr/>
        </p:nvSpPr>
        <p:spPr>
          <a:xfrm>
            <a:off x="7152382" y="295275"/>
            <a:ext cx="465861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25</a:t>
            </a:r>
            <a:endParaRPr/>
          </a:p>
        </p:txBody>
      </p:sp>
      <p:sp>
        <p:nvSpPr>
          <p:cNvPr id="640" name="Google Shape;640;p3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7"/>
          <p:cNvSpPr txBox="1"/>
          <p:nvPr/>
        </p:nvSpPr>
        <p:spPr>
          <a:xfrm>
            <a:off x="2551181" y="2466975"/>
            <a:ext cx="7089636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Hands-on Case Study: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Recruiter Agent Design</a:t>
            </a:r>
            <a:endParaRPr/>
          </a:p>
        </p:txBody>
      </p:sp>
      <p:sp>
        <p:nvSpPr>
          <p:cNvPr id="642" name="Google Shape;642;p37"/>
          <p:cNvSpPr/>
          <p:nvPr/>
        </p:nvSpPr>
        <p:spPr>
          <a:xfrm>
            <a:off x="5524500" y="40671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7"/>
          <p:cNvSpPr txBox="1"/>
          <p:nvPr/>
        </p:nvSpPr>
        <p:spPr>
          <a:xfrm>
            <a:off x="3529161" y="4314825"/>
            <a:ext cx="513367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Applying architectures to automate talent sourcing.</a:t>
            </a:r>
            <a:endParaRPr/>
          </a:p>
        </p:txBody>
      </p:sp>
      <p:sp>
        <p:nvSpPr>
          <p:cNvPr id="644" name="Google Shape;644;p3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Real-world agent design requires combining P-E-E, Tool Use, and Reflection patterns.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9617" y="214312"/>
            <a:ext cx="211276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2" name="Google Shape;652;p38"/>
          <p:cNvGrpSpPr/>
          <p:nvPr/>
        </p:nvGrpSpPr>
        <p:grpSpPr>
          <a:xfrm>
            <a:off x="571500" y="1905000"/>
            <a:ext cx="11096700" cy="3238500"/>
            <a:chOff x="571500" y="1905000"/>
            <a:chExt cx="11096700" cy="3238500"/>
          </a:xfrm>
        </p:grpSpPr>
        <p:grpSp>
          <p:nvGrpSpPr>
            <p:cNvPr id="653" name="Google Shape;653;p38"/>
            <p:cNvGrpSpPr/>
            <p:nvPr/>
          </p:nvGrpSpPr>
          <p:grpSpPr>
            <a:xfrm>
              <a:off x="571500" y="1905000"/>
              <a:ext cx="2524200" cy="3238500"/>
              <a:chOff x="0" y="0"/>
              <a:chExt cx="2524200" cy="3238500"/>
            </a:xfrm>
          </p:grpSpPr>
          <p:sp>
            <p:nvSpPr>
              <p:cNvPr id="654" name="Google Shape;654;p38"/>
              <p:cNvSpPr/>
              <p:nvPr/>
            </p:nvSpPr>
            <p:spPr>
              <a:xfrm>
                <a:off x="0" y="0"/>
                <a:ext cx="2524200" cy="3238500"/>
              </a:xfrm>
              <a:prstGeom prst="roundRect">
                <a:avLst>
                  <a:gd name="adj" fmla="val 6037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8"/>
              <p:cNvSpPr/>
              <p:nvPr/>
            </p:nvSpPr>
            <p:spPr>
              <a:xfrm>
                <a:off x="0" y="0"/>
                <a:ext cx="25242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80000"/>
                    </a:moveTo>
                    <a:cubicBezTo>
                      <a:pt x="0" y="58783"/>
                      <a:pt x="763" y="38434"/>
                      <a:pt x="2122" y="23431"/>
                    </a:cubicBezTo>
                    <a:cubicBezTo>
                      <a:pt x="3481" y="8429"/>
                      <a:pt x="5324" y="0"/>
                      <a:pt x="7245" y="0"/>
                    </a:cubicBezTo>
                    <a:lnTo>
                      <a:pt x="112755" y="0"/>
                    </a:lnTo>
                    <a:cubicBezTo>
                      <a:pt x="116756" y="2"/>
                      <a:pt x="120000" y="35818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247650" y="352425"/>
                <a:ext cx="342900" cy="3429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8"/>
              <p:cNvSpPr txBox="1"/>
              <p:nvPr/>
            </p:nvSpPr>
            <p:spPr>
              <a:xfrm>
                <a:off x="247650" y="35242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38"/>
              <p:cNvSpPr txBox="1"/>
              <p:nvPr/>
            </p:nvSpPr>
            <p:spPr>
              <a:xfrm>
                <a:off x="228600" y="952500"/>
                <a:ext cx="2067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Ingest Job Description</a:t>
                </a:r>
                <a:endParaRPr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38"/>
              <p:cNvSpPr txBox="1"/>
              <p:nvPr/>
            </p:nvSpPr>
            <p:spPr>
              <a:xfrm>
                <a:off x="228600" y="1619250"/>
                <a:ext cx="2067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10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Agent receives a raw PDF or text link for an open Data Scientist role.</a:t>
                </a:r>
                <a:endParaRPr sz="11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0" name="Google Shape;660;p38"/>
            <p:cNvGrpSpPr/>
            <p:nvPr/>
          </p:nvGrpSpPr>
          <p:grpSpPr>
            <a:xfrm>
              <a:off x="3429000" y="1905000"/>
              <a:ext cx="2524200" cy="3238500"/>
              <a:chOff x="0" y="0"/>
              <a:chExt cx="2524200" cy="3238500"/>
            </a:xfrm>
          </p:grpSpPr>
          <p:sp>
            <p:nvSpPr>
              <p:cNvPr id="661" name="Google Shape;661;p38"/>
              <p:cNvSpPr/>
              <p:nvPr/>
            </p:nvSpPr>
            <p:spPr>
              <a:xfrm>
                <a:off x="0" y="0"/>
                <a:ext cx="2524200" cy="3238500"/>
              </a:xfrm>
              <a:prstGeom prst="roundRect">
                <a:avLst>
                  <a:gd name="adj" fmla="val 6037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8"/>
              <p:cNvSpPr/>
              <p:nvPr/>
            </p:nvSpPr>
            <p:spPr>
              <a:xfrm>
                <a:off x="0" y="0"/>
                <a:ext cx="25242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80000"/>
                    </a:moveTo>
                    <a:cubicBezTo>
                      <a:pt x="0" y="58783"/>
                      <a:pt x="763" y="38434"/>
                      <a:pt x="2122" y="23431"/>
                    </a:cubicBezTo>
                    <a:cubicBezTo>
                      <a:pt x="3481" y="8429"/>
                      <a:pt x="5324" y="0"/>
                      <a:pt x="7245" y="0"/>
                    </a:cubicBezTo>
                    <a:lnTo>
                      <a:pt x="112755" y="0"/>
                    </a:lnTo>
                    <a:cubicBezTo>
                      <a:pt x="116756" y="2"/>
                      <a:pt x="120000" y="35818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8"/>
              <p:cNvSpPr/>
              <p:nvPr/>
            </p:nvSpPr>
            <p:spPr>
              <a:xfrm>
                <a:off x="247650" y="352425"/>
                <a:ext cx="342900" cy="3429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8"/>
              <p:cNvSpPr txBox="1"/>
              <p:nvPr/>
            </p:nvSpPr>
            <p:spPr>
              <a:xfrm>
                <a:off x="247650" y="35242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 txBox="1"/>
              <p:nvPr/>
            </p:nvSpPr>
            <p:spPr>
              <a:xfrm>
                <a:off x="228600" y="952500"/>
                <a:ext cx="2067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Source Candidates (Tools)</a:t>
                </a:r>
                <a:endParaRPr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38"/>
              <p:cNvSpPr txBox="1"/>
              <p:nvPr/>
            </p:nvSpPr>
            <p:spPr>
              <a:xfrm>
                <a:off x="228600" y="1619250"/>
                <a:ext cx="2067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10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Uses LinkedIn API or internal DB tools to search for matching profiles.</a:t>
                </a:r>
                <a:endParaRPr sz="11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7" name="Google Shape;667;p38"/>
            <p:cNvGrpSpPr/>
            <p:nvPr/>
          </p:nvGrpSpPr>
          <p:grpSpPr>
            <a:xfrm>
              <a:off x="6286500" y="1905000"/>
              <a:ext cx="2524200" cy="3238500"/>
              <a:chOff x="0" y="0"/>
              <a:chExt cx="2524200" cy="3238500"/>
            </a:xfrm>
          </p:grpSpPr>
          <p:sp>
            <p:nvSpPr>
              <p:cNvPr id="668" name="Google Shape;668;p38"/>
              <p:cNvSpPr/>
              <p:nvPr/>
            </p:nvSpPr>
            <p:spPr>
              <a:xfrm>
                <a:off x="0" y="0"/>
                <a:ext cx="2524200" cy="3238500"/>
              </a:xfrm>
              <a:prstGeom prst="roundRect">
                <a:avLst>
                  <a:gd name="adj" fmla="val 6037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0" y="0"/>
                <a:ext cx="25242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80000"/>
                    </a:moveTo>
                    <a:cubicBezTo>
                      <a:pt x="0" y="58783"/>
                      <a:pt x="763" y="38434"/>
                      <a:pt x="2122" y="23431"/>
                    </a:cubicBezTo>
                    <a:cubicBezTo>
                      <a:pt x="3481" y="8429"/>
                      <a:pt x="5324" y="0"/>
                      <a:pt x="7245" y="0"/>
                    </a:cubicBezTo>
                    <a:lnTo>
                      <a:pt x="112755" y="0"/>
                    </a:lnTo>
                    <a:cubicBezTo>
                      <a:pt x="116756" y="2"/>
                      <a:pt x="120000" y="35818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8"/>
              <p:cNvSpPr/>
              <p:nvPr/>
            </p:nvSpPr>
            <p:spPr>
              <a:xfrm>
                <a:off x="247650" y="352425"/>
                <a:ext cx="342900" cy="3429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8"/>
              <p:cNvSpPr txBox="1"/>
              <p:nvPr/>
            </p:nvSpPr>
            <p:spPr>
              <a:xfrm>
                <a:off x="247650" y="35242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38"/>
              <p:cNvSpPr txBox="1"/>
              <p:nvPr/>
            </p:nvSpPr>
            <p:spPr>
              <a:xfrm>
                <a:off x="228600" y="952500"/>
                <a:ext cx="2067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Evaluate Resumes (Reflection)</a:t>
                </a:r>
                <a:endParaRPr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38"/>
              <p:cNvSpPr txBox="1"/>
              <p:nvPr/>
            </p:nvSpPr>
            <p:spPr>
              <a:xfrm>
                <a:off x="228600" y="1619250"/>
                <a:ext cx="2067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10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Scores resumes against the JD. A Critic agent verifies the scoring logic is unbiased.</a:t>
                </a:r>
                <a:endParaRPr sz="11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4" name="Google Shape;674;p38"/>
            <p:cNvGrpSpPr/>
            <p:nvPr/>
          </p:nvGrpSpPr>
          <p:grpSpPr>
            <a:xfrm>
              <a:off x="9144000" y="1905000"/>
              <a:ext cx="2524200" cy="3238500"/>
              <a:chOff x="0" y="0"/>
              <a:chExt cx="2524200" cy="3238500"/>
            </a:xfrm>
          </p:grpSpPr>
          <p:sp>
            <p:nvSpPr>
              <p:cNvPr id="675" name="Google Shape;675;p38"/>
              <p:cNvSpPr/>
              <p:nvPr/>
            </p:nvSpPr>
            <p:spPr>
              <a:xfrm>
                <a:off x="0" y="0"/>
                <a:ext cx="2524200" cy="3238500"/>
              </a:xfrm>
              <a:prstGeom prst="roundRect">
                <a:avLst>
                  <a:gd name="adj" fmla="val 6037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8"/>
              <p:cNvSpPr/>
              <p:nvPr/>
            </p:nvSpPr>
            <p:spPr>
              <a:xfrm>
                <a:off x="0" y="0"/>
                <a:ext cx="25242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80000"/>
                    </a:moveTo>
                    <a:cubicBezTo>
                      <a:pt x="0" y="58783"/>
                      <a:pt x="763" y="38434"/>
                      <a:pt x="2122" y="23431"/>
                    </a:cubicBezTo>
                    <a:cubicBezTo>
                      <a:pt x="3481" y="8429"/>
                      <a:pt x="5324" y="0"/>
                      <a:pt x="7245" y="0"/>
                    </a:cubicBezTo>
                    <a:lnTo>
                      <a:pt x="112755" y="0"/>
                    </a:lnTo>
                    <a:cubicBezTo>
                      <a:pt x="116756" y="2"/>
                      <a:pt x="120000" y="35818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8"/>
              <p:cNvSpPr/>
              <p:nvPr/>
            </p:nvSpPr>
            <p:spPr>
              <a:xfrm>
                <a:off x="247650" y="352425"/>
                <a:ext cx="342900" cy="3429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8"/>
              <p:cNvSpPr txBox="1"/>
              <p:nvPr/>
            </p:nvSpPr>
            <p:spPr>
              <a:xfrm>
                <a:off x="247650" y="352425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38"/>
              <p:cNvSpPr txBox="1"/>
              <p:nvPr/>
            </p:nvSpPr>
            <p:spPr>
              <a:xfrm>
                <a:off x="228600" y="952500"/>
                <a:ext cx="2067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Draft Outreach (Execution)</a:t>
                </a:r>
                <a:endParaRPr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38"/>
              <p:cNvSpPr txBox="1"/>
              <p:nvPr/>
            </p:nvSpPr>
            <p:spPr>
              <a:xfrm>
                <a:off x="228600" y="1619250"/>
                <a:ext cx="2067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100" b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Generates personalized outreach emails for the top 5 candidates.</a:t>
                </a:r>
                <a:endParaRPr sz="11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1" name="Google Shape;681;p38"/>
          <p:cNvSpPr txBox="1"/>
          <p:nvPr/>
        </p:nvSpPr>
        <p:spPr>
          <a:xfrm>
            <a:off x="7152382" y="295275"/>
            <a:ext cx="465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26</a:t>
            </a:r>
            <a:endParaRPr/>
          </a:p>
        </p:txBody>
      </p:sp>
      <p:sp>
        <p:nvSpPr>
          <p:cNvPr id="682" name="Google Shape;682;p38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Recruiter Agent Workflow</a:t>
            </a:r>
            <a:endParaRPr/>
          </a:p>
        </p:txBody>
      </p:sp>
      <p:sp>
        <p:nvSpPr>
          <p:cNvPr id="683" name="Google Shape;683;p38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8"/>
          <p:cNvSpPr txBox="1"/>
          <p:nvPr/>
        </p:nvSpPr>
        <p:spPr>
          <a:xfrm>
            <a:off x="381000" y="6470325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Complex enterprise workflows map perfectly to the Planner-Executor-Evaluator architecture.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9617" y="214312"/>
            <a:ext cx="211276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4332" y="1011055"/>
            <a:ext cx="4636168" cy="5985043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39"/>
          <p:cNvSpPr txBox="1"/>
          <p:nvPr/>
        </p:nvSpPr>
        <p:spPr>
          <a:xfrm>
            <a:off x="7152382" y="295275"/>
            <a:ext cx="465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27</a:t>
            </a:r>
            <a:endParaRPr/>
          </a:p>
        </p:txBody>
      </p:sp>
      <p:sp>
        <p:nvSpPr>
          <p:cNvPr id="694" name="Google Shape;694;p39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Candidate Sourcing (Planner &amp; Tools)</a:t>
            </a:r>
            <a:endParaRPr/>
          </a:p>
        </p:txBody>
      </p:sp>
      <p:sp>
        <p:nvSpPr>
          <p:cNvPr id="695" name="Google Shape;695;p39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6" name="Google Shape;696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84332" y="1102592"/>
            <a:ext cx="4636168" cy="58935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7" name="Google Shape;697;p39"/>
          <p:cNvGrpSpPr/>
          <p:nvPr/>
        </p:nvGrpSpPr>
        <p:grpSpPr>
          <a:xfrm>
            <a:off x="571500" y="1428750"/>
            <a:ext cx="5238900" cy="285900"/>
            <a:chOff x="0" y="0"/>
            <a:chExt cx="5238900" cy="285900"/>
          </a:xfrm>
        </p:grpSpPr>
        <p:sp>
          <p:nvSpPr>
            <p:cNvPr id="698" name="Google Shape;698;p39"/>
            <p:cNvSpPr/>
            <p:nvPr/>
          </p:nvSpPr>
          <p:spPr>
            <a:xfrm>
              <a:off x="0" y="0"/>
              <a:ext cx="5238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9"/>
            <p:cNvSpPr txBox="1"/>
            <p:nvPr/>
          </p:nvSpPr>
          <p:spPr>
            <a:xfrm>
              <a:off x="0" y="0"/>
              <a:ext cx="523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How the </a:t>
              </a:r>
              <a:r>
                <a:rPr lang="en-US" sz="14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ReAct</a:t>
              </a:r>
              <a:r>
                <a:rPr lang="en-US" sz="14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pattern is utilized in step 2:</a:t>
              </a:r>
              <a:endParaRPr sz="14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0" name="Google Shape;700;p39"/>
          <p:cNvGrpSpPr/>
          <p:nvPr/>
        </p:nvGrpSpPr>
        <p:grpSpPr>
          <a:xfrm>
            <a:off x="571500" y="1857375"/>
            <a:ext cx="5238900" cy="4238700"/>
            <a:chOff x="0" y="0"/>
            <a:chExt cx="5238900" cy="4238700"/>
          </a:xfrm>
        </p:grpSpPr>
        <p:sp>
          <p:nvSpPr>
            <p:cNvPr id="701" name="Google Shape;701;p39"/>
            <p:cNvSpPr/>
            <p:nvPr/>
          </p:nvSpPr>
          <p:spPr>
            <a:xfrm>
              <a:off x="0" y="0"/>
              <a:ext cx="5238900" cy="42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9"/>
            <p:cNvSpPr txBox="1"/>
            <p:nvPr/>
          </p:nvSpPr>
          <p:spPr>
            <a:xfrm>
              <a:off x="0" y="0"/>
              <a:ext cx="5238900" cy="42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THOUGHT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"I need to find Data Scientists with PyTorch experience in London."</a:t>
              </a:r>
              <a:endParaRPr sz="12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ACTION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LinkedIn_Search_Tool</a:t>
              </a:r>
              <a:endParaRPr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ACTION INPUT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{"title": "Data Scientist", "skill": "PyTorch", "location": "London"}</a:t>
              </a:r>
              <a:endParaRPr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OBSERVATION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Tool returns 15 profile URLs.</a:t>
              </a:r>
              <a:endParaRPr sz="12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3" name="Google Shape;703;p3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9"/>
          <p:cNvSpPr txBox="1"/>
          <p:nvPr/>
        </p:nvSpPr>
        <p:spPr>
          <a:xfrm>
            <a:off x="381000" y="6470325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agent acts as an automated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search expert, dynamically adjusting queries based on results.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40"/>
          <p:cNvPicPr preferRelativeResize="0"/>
          <p:nvPr/>
        </p:nvPicPr>
        <p:blipFill rotWithShape="1">
          <a:blip r:embed="rId3">
            <a:alphaModFix/>
          </a:blip>
          <a:srcRect t="1353" b="1343"/>
          <a:stretch/>
        </p:blipFill>
        <p:spPr>
          <a:xfrm>
            <a:off x="5039620" y="214313"/>
            <a:ext cx="2112900" cy="3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92912"/>
            <a:ext cx="1226641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913699"/>
            <a:ext cx="5143500" cy="500671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0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0"/>
          <p:cNvSpPr txBox="1"/>
          <p:nvPr/>
        </p:nvSpPr>
        <p:spPr>
          <a:xfrm>
            <a:off x="571500" y="85725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Resume Evaluation (Reflection)</a:t>
            </a:r>
            <a:endParaRPr sz="270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Once resumes are retrieved, the architecture uses the </a:t>
            </a:r>
            <a:r>
              <a:rPr lang="en-US" sz="135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Reflection</a:t>
            </a:r>
            <a:r>
              <a:rPr lang="en-US" sz="135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pattern to ensure fairness.</a:t>
            </a:r>
            <a:endParaRPr sz="1350" b="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40"/>
          <p:cNvGrpSpPr/>
          <p:nvPr/>
        </p:nvGrpSpPr>
        <p:grpSpPr>
          <a:xfrm>
            <a:off x="571500" y="2047875"/>
            <a:ext cx="5143500" cy="1095300"/>
            <a:chOff x="0" y="0"/>
            <a:chExt cx="5143500" cy="1095300"/>
          </a:xfrm>
        </p:grpSpPr>
        <p:sp>
          <p:nvSpPr>
            <p:cNvPr id="715" name="Google Shape;715;p40"/>
            <p:cNvSpPr/>
            <p:nvPr/>
          </p:nvSpPr>
          <p:spPr>
            <a:xfrm>
              <a:off x="0" y="0"/>
              <a:ext cx="5143500" cy="1095300"/>
            </a:xfrm>
            <a:prstGeom prst="roundRect">
              <a:avLst>
                <a:gd name="adj" fmla="val 10434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190500" y="190500"/>
              <a:ext cx="1285800" cy="24780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/>
            <p:cNvSpPr txBox="1"/>
            <p:nvPr/>
          </p:nvSpPr>
          <p:spPr>
            <a:xfrm>
              <a:off x="190500" y="190500"/>
              <a:ext cx="1285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 1: SCORER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0"/>
            <p:cNvSpPr txBox="1"/>
            <p:nvPr/>
          </p:nvSpPr>
          <p:spPr>
            <a:xfrm>
              <a:off x="190500" y="552450"/>
              <a:ext cx="4762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Analyzes Resume A and assigns a </a:t>
              </a:r>
              <a:r>
                <a:rPr lang="en-US" sz="12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90% match</a:t>
              </a:r>
              <a:r>
                <a:rPr lang="en-US" sz="120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citing deep ML experience.</a:t>
              </a:r>
              <a:endParaRPr sz="120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9" name="Google Shape;719;p40"/>
          <p:cNvGrpSpPr/>
          <p:nvPr/>
        </p:nvGrpSpPr>
        <p:grpSpPr>
          <a:xfrm>
            <a:off x="571500" y="3286125"/>
            <a:ext cx="5143500" cy="1285800"/>
            <a:chOff x="0" y="0"/>
            <a:chExt cx="5143500" cy="1285800"/>
          </a:xfrm>
        </p:grpSpPr>
        <p:sp>
          <p:nvSpPr>
            <p:cNvPr id="720" name="Google Shape;720;p40"/>
            <p:cNvSpPr/>
            <p:nvPr/>
          </p:nvSpPr>
          <p:spPr>
            <a:xfrm>
              <a:off x="0" y="0"/>
              <a:ext cx="5143500" cy="1285800"/>
            </a:xfrm>
            <a:prstGeom prst="roundRect">
              <a:avLst>
                <a:gd name="adj" fmla="val 8888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190500" y="190500"/>
              <a:ext cx="1238400" cy="2478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0"/>
            <p:cNvSpPr txBox="1"/>
            <p:nvPr/>
          </p:nvSpPr>
          <p:spPr>
            <a:xfrm>
              <a:off x="190500" y="190500"/>
              <a:ext cx="1238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 2: CRITIC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0"/>
            <p:cNvSpPr txBox="1"/>
            <p:nvPr/>
          </p:nvSpPr>
          <p:spPr>
            <a:xfrm>
              <a:off x="190500" y="552450"/>
              <a:ext cx="4762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Reviews Agent 1's logic: </a:t>
              </a:r>
              <a:r>
                <a:rPr lang="en-US" sz="1200" b="1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"REJECTED. You ignored the requirement for 5 years of team management. Adjust score."</a:t>
              </a:r>
              <a:endParaRPr sz="1200" b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40"/>
          <p:cNvGrpSpPr/>
          <p:nvPr/>
        </p:nvGrpSpPr>
        <p:grpSpPr>
          <a:xfrm>
            <a:off x="571500" y="4714875"/>
            <a:ext cx="5143500" cy="523800"/>
            <a:chOff x="0" y="0"/>
            <a:chExt cx="5143500" cy="523800"/>
          </a:xfrm>
        </p:grpSpPr>
        <p:cxnSp>
          <p:nvCxnSpPr>
            <p:cNvPr id="725" name="Google Shape;725;p40"/>
            <p:cNvCxnSpPr/>
            <p:nvPr/>
          </p:nvCxnSpPr>
          <p:spPr>
            <a:xfrm>
              <a:off x="0" y="0"/>
              <a:ext cx="0" cy="523800"/>
            </a:xfrm>
            <a:prstGeom prst="straightConnector1">
              <a:avLst/>
            </a:prstGeom>
            <a:solidFill>
              <a:srgbClr val="FFFFFF"/>
            </a:solidFill>
            <a:ln w="38100" cap="flat" cmpd="sng">
              <a:solidFill>
                <a:srgbClr val="0F17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26" name="Google Shape;726;p40"/>
            <p:cNvSpPr txBox="1"/>
            <p:nvPr/>
          </p:nvSpPr>
          <p:spPr>
            <a:xfrm>
              <a:off x="152400" y="0"/>
              <a:ext cx="4991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This dual-agent setup prevents hallucinated qualifications and ensures strict adherence to the Job Description.</a:t>
              </a:r>
              <a:endParaRPr sz="1200" b="0" i="1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7" name="Google Shape;727;p4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8" name="Google Shape;728;p40"/>
          <p:cNvGrpSpPr/>
          <p:nvPr/>
        </p:nvGrpSpPr>
        <p:grpSpPr>
          <a:xfrm>
            <a:off x="381000" y="6286500"/>
            <a:ext cx="11430000" cy="571500"/>
            <a:chOff x="0" y="0"/>
            <a:chExt cx="11430000" cy="571500"/>
          </a:xfrm>
        </p:grpSpPr>
        <p:sp>
          <p:nvSpPr>
            <p:cNvPr id="729" name="Google Shape;729;p40"/>
            <p:cNvSpPr/>
            <p:nvPr/>
          </p:nvSpPr>
          <p:spPr>
            <a:xfrm>
              <a:off x="0" y="0"/>
              <a:ext cx="1143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0"/>
            <p:cNvSpPr txBox="1"/>
            <p:nvPr/>
          </p:nvSpPr>
          <p:spPr>
            <a:xfrm>
              <a:off x="0" y="0"/>
              <a:ext cx="1143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Multi-agent reflection provides built-in compliance and QA.</a:t>
              </a:r>
              <a:endPara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9617" y="214312"/>
            <a:ext cx="2112764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1"/>
          <p:cNvSpPr txBox="1"/>
          <p:nvPr/>
        </p:nvSpPr>
        <p:spPr>
          <a:xfrm>
            <a:off x="7152382" y="295275"/>
            <a:ext cx="465861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29</a:t>
            </a:r>
            <a:endParaRPr/>
          </a:p>
        </p:txBody>
      </p:sp>
      <p:sp>
        <p:nvSpPr>
          <p:cNvPr id="738" name="Google Shape;738;p41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ROI of the Recruiter Agent Architecture</a:t>
            </a:r>
            <a:endParaRPr/>
          </a:p>
        </p:txBody>
      </p:sp>
      <p:sp>
        <p:nvSpPr>
          <p:cNvPr id="739" name="Google Shape;739;p41"/>
          <p:cNvSpPr txBox="1"/>
          <p:nvPr/>
        </p:nvSpPr>
        <p:spPr>
          <a:xfrm>
            <a:off x="571500" y="1638300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companies invest in Agentic HR solutions.</a:t>
            </a:r>
            <a:endParaRPr/>
          </a:p>
        </p:txBody>
      </p:sp>
      <p:graphicFrame>
        <p:nvGraphicFramePr>
          <p:cNvPr id="740" name="Google Shape;740;p41"/>
          <p:cNvGraphicFramePr/>
          <p:nvPr/>
        </p:nvGraphicFramePr>
        <p:xfrm>
          <a:off x="571500" y="2076450"/>
          <a:ext cx="11049000" cy="2352625"/>
        </p:xfrm>
        <a:graphic>
          <a:graphicData uri="http://schemas.openxmlformats.org/drawingml/2006/table">
            <a:tbl>
              <a:tblPr firstRow="1" bandRow="1">
                <a:noFill/>
                <a:tableStyleId>{5619A3F0-5ABA-4CC1-BD5D-519394B5A342}</a:tableStyleId>
              </a:tblPr>
              <a:tblGrid>
                <a:gridCol w="277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 Human Recruiter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Agentic 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Sourcing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2-4 hours per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minutes via APIs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Resume Screening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Prone to fatigue / bias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Consistent, objective scoring criteria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Outreach Drafting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Templates (Impersonal)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Highly personalized per candidate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Scalability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by headcount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Infinite parallel processing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41" name="Google Shape;741;p4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1"/>
          <p:cNvSpPr/>
          <p:nvPr/>
        </p:nvSpPr>
        <p:spPr>
          <a:xfrm>
            <a:off x="571500" y="3014662"/>
            <a:ext cx="2777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1"/>
          <p:cNvSpPr/>
          <p:nvPr/>
        </p:nvSpPr>
        <p:spPr>
          <a:xfrm>
            <a:off x="3348930" y="3014662"/>
            <a:ext cx="3803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1"/>
          <p:cNvSpPr/>
          <p:nvPr/>
        </p:nvSpPr>
        <p:spPr>
          <a:xfrm>
            <a:off x="7152233" y="3014662"/>
            <a:ext cx="4468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1"/>
          <p:cNvSpPr/>
          <p:nvPr/>
        </p:nvSpPr>
        <p:spPr>
          <a:xfrm>
            <a:off x="571500" y="3481387"/>
            <a:ext cx="2777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1"/>
          <p:cNvSpPr/>
          <p:nvPr/>
        </p:nvSpPr>
        <p:spPr>
          <a:xfrm>
            <a:off x="3348930" y="3481387"/>
            <a:ext cx="3803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1"/>
          <p:cNvSpPr/>
          <p:nvPr/>
        </p:nvSpPr>
        <p:spPr>
          <a:xfrm>
            <a:off x="7152233" y="3481387"/>
            <a:ext cx="4468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1"/>
          <p:cNvSpPr/>
          <p:nvPr/>
        </p:nvSpPr>
        <p:spPr>
          <a:xfrm>
            <a:off x="571500" y="3948112"/>
            <a:ext cx="2777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1"/>
          <p:cNvSpPr/>
          <p:nvPr/>
        </p:nvSpPr>
        <p:spPr>
          <a:xfrm>
            <a:off x="3348930" y="3948112"/>
            <a:ext cx="3803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1"/>
          <p:cNvSpPr/>
          <p:nvPr/>
        </p:nvSpPr>
        <p:spPr>
          <a:xfrm>
            <a:off x="7152233" y="3948112"/>
            <a:ext cx="4468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1"/>
          <p:cNvSpPr/>
          <p:nvPr/>
        </p:nvSpPr>
        <p:spPr>
          <a:xfrm>
            <a:off x="571500" y="4414837"/>
            <a:ext cx="2777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1"/>
          <p:cNvSpPr/>
          <p:nvPr/>
        </p:nvSpPr>
        <p:spPr>
          <a:xfrm>
            <a:off x="3348930" y="4414837"/>
            <a:ext cx="38033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7152233" y="4414837"/>
            <a:ext cx="4468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don't replace HR; they replace the manual data-gathering, allowing HR to focus on interviews.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2464</Words>
  <Application>Microsoft Office PowerPoint</Application>
  <PresentationFormat>Widescreen</PresentationFormat>
  <Paragraphs>334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Material Icons</vt:lpstr>
      <vt:lpstr>Courier New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Usha Nandhini</cp:lastModifiedBy>
  <cp:revision>1</cp:revision>
  <dcterms:modified xsi:type="dcterms:W3CDTF">2026-06-28T08:13:46Z</dcterms:modified>
</cp:coreProperties>
</file>