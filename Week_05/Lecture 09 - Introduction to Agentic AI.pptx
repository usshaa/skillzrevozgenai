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embeddedFontLst>
    <p:embeddedFont>
      <p:font typeface="DM Sans" pitchFamily="2" charset="0"/>
      <p:regular r:id="rId23"/>
      <p:bold r:id="rId24"/>
      <p:italic r:id="rId25"/>
      <p:boldItalic r:id="rId26"/>
    </p:embeddedFont>
    <p:embeddedFont>
      <p:font typeface="DM Sans Black" panose="020B0604020202020204" charset="0"/>
      <p:bold r:id="rId27"/>
      <p:boldItalic r:id="rId28"/>
    </p:embeddedFont>
    <p:embeddedFont>
      <p:font typeface="DM Sans ExtraBold" panose="020B0604020202020204" charset="0"/>
      <p:bold r:id="rId29"/>
      <p:boldItalic r:id="rId30"/>
    </p:embeddedFont>
    <p:embeddedFont>
      <p:font typeface="Inter" panose="020B0604020202020204" charset="0"/>
      <p:bold r:id="rId31"/>
      <p:boldItalic r:id="rId32"/>
    </p:embeddedFont>
    <p:embeddedFont>
      <p:font typeface="Inter Medium" panose="020B0604020202020204" charset="0"/>
      <p:regular r:id="rId33"/>
      <p:bold r:id="rId34"/>
      <p:italic r:id="rId35"/>
      <p:boldItalic r:id="rId36"/>
    </p:embeddedFont>
    <p:embeddedFont>
      <p:font typeface="Inter SemiBold" panose="020B0604020202020204" charset="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B08FFA9-47A5-40E2-AF77-5C7549AC359D}">
  <a:tblStyle styleId="{1B08FFA9-47A5-40E2-AF77-5C7549AC359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0" d="100"/>
          <a:sy n="70" d="100"/>
        </p:scale>
        <p:origin x="714" y="-17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openxmlformats.org/officeDocument/2006/relationships/font" Target="fonts/font17.fntdata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font" Target="fonts/font15.fntdata"/><Relationship Id="rId40" Type="http://schemas.openxmlformats.org/officeDocument/2006/relationships/font" Target="fonts/font1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font" Target="fonts/font1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2" name="Google Shape;53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3" name="Google Shape;543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2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3.png"/><Relationship Id="rId9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762000" y="381000"/>
            <a:ext cx="10668000" cy="12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0F172A"/>
                </a:solidFill>
                <a:highlight>
                  <a:srgbClr val="E2E8F0"/>
                </a:highlight>
                <a:latin typeface="Inter"/>
                <a:ea typeface="Inter"/>
                <a:cs typeface="Inter"/>
                <a:sym typeface="Inter"/>
              </a:rPr>
              <a:t>🤖 Agentic AI</a:t>
            </a:r>
            <a:r>
              <a:rPr lang="en-US" sz="1100" b="0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Slide 01</a:t>
            </a:r>
            <a:endParaRPr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-US" sz="3200" b="0">
                <a:solidFill>
                  <a:srgbClr val="0F172A"/>
                </a:solidFill>
                <a:latin typeface="DM Sans ExtraBold"/>
                <a:ea typeface="DM Sans ExtraBold"/>
                <a:cs typeface="DM Sans ExtraBold"/>
                <a:sym typeface="DM Sans ExtraBold"/>
              </a:rPr>
              <a:t>What is Agentic AI?</a:t>
            </a:r>
            <a:endParaRPr sz="3200" b="0">
              <a:solidFill>
                <a:srgbClr val="0F172A"/>
              </a:solidFill>
              <a:latin typeface="DM Sans ExtraBold"/>
              <a:ea typeface="DM Sans ExtraBold"/>
              <a:cs typeface="DM Sans ExtraBold"/>
              <a:sym typeface="DM Sans ExtraBold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60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The Next Frontier: Moving from Passive Chat to Autonomous Action</a:t>
            </a:r>
            <a:endParaRPr sz="1600" b="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85" name="Google Shape;85;p13"/>
          <p:cNvGrpSpPr/>
          <p:nvPr/>
        </p:nvGrpSpPr>
        <p:grpSpPr>
          <a:xfrm>
            <a:off x="762000" y="1809750"/>
            <a:ext cx="5143500" cy="2762400"/>
            <a:chOff x="0" y="0"/>
            <a:chExt cx="5143500" cy="2762400"/>
          </a:xfrm>
        </p:grpSpPr>
        <p:sp>
          <p:nvSpPr>
            <p:cNvPr id="86" name="Google Shape;86;p13"/>
            <p:cNvSpPr/>
            <p:nvPr/>
          </p:nvSpPr>
          <p:spPr>
            <a:xfrm>
              <a:off x="0" y="0"/>
              <a:ext cx="5143500" cy="2762400"/>
            </a:xfrm>
            <a:prstGeom prst="roundRect">
              <a:avLst>
                <a:gd name="adj" fmla="val 5517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13"/>
            <p:cNvSpPr txBox="1"/>
            <p:nvPr/>
          </p:nvSpPr>
          <p:spPr>
            <a:xfrm>
              <a:off x="228600" y="228600"/>
              <a:ext cx="4686300" cy="230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>
                  <a:solidFill>
                    <a:srgbClr val="2563EB"/>
                  </a:solidFill>
                  <a:highlight>
                    <a:srgbClr val="EFF6FF"/>
                  </a:highlight>
                  <a:latin typeface="Inter"/>
                  <a:ea typeface="Inter"/>
                  <a:cs typeface="Inter"/>
                  <a:sym typeface="Inter"/>
                </a:rPr>
                <a:t>📚 DEFINITION</a:t>
              </a:r>
              <a:endParaRPr sz="1000" b="1">
                <a:solidFill>
                  <a:srgbClr val="2563EB"/>
                </a:solidFill>
                <a:highlight>
                  <a:srgbClr val="EFF6FF"/>
                </a:highlight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135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Agentic AI</a:t>
              </a:r>
              <a:r>
                <a:rPr lang="en-US" sz="135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refers to systems that use </a:t>
              </a:r>
              <a:r>
                <a:rPr lang="en-US" sz="135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Large Language Models (LLMs)</a:t>
              </a:r>
              <a:r>
                <a:rPr lang="en-US" sz="135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as a "reasoning engine" to autonomously </a:t>
              </a:r>
              <a:r>
                <a:rPr lang="en-US" sz="1350" b="0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plan</a:t>
              </a:r>
              <a:r>
                <a:rPr lang="en-US" sz="135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, </a:t>
              </a:r>
              <a:r>
                <a:rPr lang="en-US" sz="1350" b="0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execute</a:t>
              </a:r>
              <a:r>
                <a:rPr lang="en-US" sz="135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tasks, and </a:t>
              </a:r>
              <a:r>
                <a:rPr lang="en-US" sz="1350" b="0">
                  <a:solidFill>
                    <a:srgbClr val="0F172A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use tools</a:t>
              </a:r>
              <a:r>
                <a:rPr lang="en-US" sz="1350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 to achieve high-level goals with minimal human intervention.</a:t>
              </a:r>
              <a:endParaRPr sz="1350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1000" b="0">
                  <a:solidFill>
                    <a:srgbClr val="475569"/>
                  </a:solidFill>
                  <a:highlight>
                    <a:srgbClr val="F1F5F9"/>
                  </a:highlight>
                  <a:latin typeface="Inter SemiBold"/>
                  <a:ea typeface="Inter SemiBold"/>
                  <a:cs typeface="Inter SemiBold"/>
                  <a:sym typeface="Inter SemiBold"/>
                </a:rPr>
                <a:t>⚡ Autonomy🧠 Reasoning Engine🛠️ Tool Use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8" name="Google Shape;88;p13"/>
          <p:cNvGrpSpPr/>
          <p:nvPr/>
        </p:nvGrpSpPr>
        <p:grpSpPr>
          <a:xfrm>
            <a:off x="6286500" y="1809750"/>
            <a:ext cx="5143500" cy="2762400"/>
            <a:chOff x="0" y="0"/>
            <a:chExt cx="5143500" cy="2762400"/>
          </a:xfrm>
        </p:grpSpPr>
        <p:sp>
          <p:nvSpPr>
            <p:cNvPr id="89" name="Google Shape;89;p13"/>
            <p:cNvSpPr/>
            <p:nvPr/>
          </p:nvSpPr>
          <p:spPr>
            <a:xfrm>
              <a:off x="0" y="0"/>
              <a:ext cx="5143500" cy="2762400"/>
            </a:xfrm>
            <a:prstGeom prst="roundRect">
              <a:avLst>
                <a:gd name="adj" fmla="val 5517"/>
              </a:avLst>
            </a:prstGeom>
            <a:solidFill>
              <a:srgbClr val="F8FAFC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13"/>
            <p:cNvSpPr txBox="1"/>
            <p:nvPr/>
          </p:nvSpPr>
          <p:spPr>
            <a:xfrm>
              <a:off x="228600" y="228600"/>
              <a:ext cx="4686300" cy="230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>
                  <a:solidFill>
                    <a:srgbClr val="166534"/>
                  </a:solidFill>
                  <a:highlight>
                    <a:srgbClr val="F0FDF4"/>
                  </a:highlight>
                  <a:latin typeface="Inter"/>
                  <a:ea typeface="Inter"/>
                  <a:cs typeface="Inter"/>
                  <a:sym typeface="Inter"/>
                </a:rPr>
                <a:t>👨‍🍳 REAL-LIFE ANALOGY</a:t>
              </a:r>
              <a:endParaRPr sz="1000" b="1">
                <a:solidFill>
                  <a:srgbClr val="166534"/>
                </a:solidFill>
                <a:highlight>
                  <a:srgbClr val="F0FDF4"/>
                </a:highlight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3200">
                  <a:latin typeface="Inter"/>
                  <a:ea typeface="Inter"/>
                  <a:cs typeface="Inter"/>
                  <a:sym typeface="Inter"/>
                </a:rPr>
                <a:t>👨‍🍳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Chatbot</a:t>
              </a:r>
              <a:r>
                <a:rPr lang="en-US" sz="12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is like a </a:t>
              </a:r>
              <a:r>
                <a:rPr lang="en-US" sz="1200" b="0" u="sng">
                  <a:solidFill>
                    <a:srgbClr val="94A3B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vending machine</a:t>
              </a:r>
              <a:r>
                <a:rPr lang="en-US" sz="12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: you ask for a specific item and immediately get it.</a:t>
              </a:r>
              <a:endParaRPr sz="12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>
                  <a:solidFill>
                    <a:srgbClr val="166534"/>
                  </a:solidFill>
                  <a:latin typeface="Inter"/>
                  <a:ea typeface="Inter"/>
                  <a:cs typeface="Inter"/>
                  <a:sym typeface="Inter"/>
                </a:rPr>
                <a:t>Agent</a:t>
              </a:r>
              <a:r>
                <a:rPr lang="en-US" sz="12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is a </a:t>
              </a:r>
              <a:r>
                <a:rPr lang="en-US" sz="1200" b="1">
                  <a:solidFill>
                    <a:srgbClr val="166534"/>
                  </a:solidFill>
                  <a:latin typeface="Inter"/>
                  <a:ea typeface="Inter"/>
                  <a:cs typeface="Inter"/>
                  <a:sym typeface="Inter"/>
                </a:rPr>
                <a:t>Personal Chef</a:t>
              </a:r>
              <a:r>
                <a:rPr lang="en-US" sz="120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: hears dietary goals, shops for ingredients, and cooks autonomously.</a:t>
              </a:r>
              <a:endParaRPr sz="12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065F46"/>
                  </a:solidFill>
                  <a:highlight>
                    <a:srgbClr val="ECFDF5"/>
                  </a:highlight>
                  <a:latin typeface="Inter"/>
                  <a:ea typeface="Inter"/>
                  <a:cs typeface="Inter"/>
                  <a:sym typeface="Inter"/>
                </a:rPr>
                <a:t>Mapping:</a:t>
              </a:r>
              <a:r>
                <a:rPr lang="en-US" sz="1100" b="0">
                  <a:solidFill>
                    <a:srgbClr val="065F46"/>
                  </a:solidFill>
                  <a:highlight>
                    <a:srgbClr val="ECFDF5"/>
                  </a:highlight>
                  <a:latin typeface="Inter Medium"/>
                  <a:ea typeface="Inter Medium"/>
                  <a:cs typeface="Inter Medium"/>
                  <a:sym typeface="Inter Medium"/>
                </a:rPr>
                <a:t> The Chef (Agent) uses Tools (Knife/Stove) and Memory (Recipes) to reach the Goal (Dinner).</a:t>
              </a:r>
              <a:endParaRPr sz="1100" b="0">
                <a:solidFill>
                  <a:srgbClr val="065F46"/>
                </a:solidFill>
                <a:highlight>
                  <a:srgbClr val="ECFDF5"/>
                </a:highlight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91" name="Google Shape;91;p13"/>
          <p:cNvGrpSpPr/>
          <p:nvPr/>
        </p:nvGrpSpPr>
        <p:grpSpPr>
          <a:xfrm>
            <a:off x="762000" y="4762500"/>
            <a:ext cx="10668000" cy="1143000"/>
            <a:chOff x="0" y="0"/>
            <a:chExt cx="10668000" cy="1143000"/>
          </a:xfrm>
        </p:grpSpPr>
        <p:sp>
          <p:nvSpPr>
            <p:cNvPr id="92" name="Google Shape;92;p13"/>
            <p:cNvSpPr/>
            <p:nvPr/>
          </p:nvSpPr>
          <p:spPr>
            <a:xfrm>
              <a:off x="0" y="0"/>
              <a:ext cx="10668000" cy="1143000"/>
            </a:xfrm>
            <a:prstGeom prst="roundRect">
              <a:avLst>
                <a:gd name="adj" fmla="val 10000"/>
              </a:avLst>
            </a:prstGeom>
            <a:solidFill>
              <a:srgbClr val="0F172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13"/>
            <p:cNvSpPr txBox="1"/>
            <p:nvPr/>
          </p:nvSpPr>
          <p:spPr>
            <a:xfrm>
              <a:off x="228600" y="152400"/>
              <a:ext cx="10210800" cy="83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 b="1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🖥️ LIVE DEMO SCENARIO: AI Research Assistant</a:t>
              </a:r>
              <a:r>
                <a:rPr lang="en-US" sz="900" b="1">
                  <a:solidFill>
                    <a:srgbClr val="22C55E"/>
                  </a:solidFill>
                  <a:latin typeface="Inter"/>
                  <a:ea typeface="Inter"/>
                  <a:cs typeface="Inter"/>
                  <a:sym typeface="Inter"/>
                </a:rPr>
                <a:t>● ACTIVE LOOP</a:t>
              </a:r>
              <a:endParaRPr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0F172A"/>
                  </a:solidFill>
                  <a:highlight>
                    <a:srgbClr val="E2E8F0"/>
                  </a:highlight>
                  <a:latin typeface="Inter"/>
                  <a:ea typeface="Inter"/>
                  <a:cs typeface="Inter"/>
                  <a:sym typeface="Inter"/>
                </a:rPr>
                <a:t>INPUT</a:t>
              </a:r>
              <a:r>
                <a:rPr lang="en-US" sz="1100" b="0">
                  <a:solidFill>
                    <a:srgbClr val="F1F5F9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"Find and summarize recent 6G wireless research papers."</a:t>
              </a:r>
              <a:r>
                <a:rPr lang="en-US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➔</a:t>
              </a:r>
              <a:r>
                <a:rPr lang="en-US" sz="900" b="1">
                  <a:solidFill>
                    <a:srgbClr val="0F172A"/>
                  </a:solidFill>
                  <a:highlight>
                    <a:srgbClr val="F59E0B"/>
                  </a:highlight>
                  <a:latin typeface="Inter"/>
                  <a:ea typeface="Inter"/>
                  <a:cs typeface="Inter"/>
                  <a:sym typeface="Inter"/>
                </a:rPr>
                <a:t>AGENT ACTION</a:t>
              </a:r>
              <a:r>
                <a:rPr lang="en-US" sz="1100">
                  <a:solidFill>
                    <a:srgbClr val="FCD34D"/>
                  </a:solidFill>
                  <a:latin typeface="Inter"/>
                  <a:ea typeface="Inter"/>
                  <a:cs typeface="Inter"/>
                  <a:sym typeface="Inter"/>
                </a:rPr>
                <a:t>Searching ArXiv... Found 12 results... Summarizing...</a:t>
              </a:r>
              <a:endParaRPr>
                <a:latin typeface="Courier New"/>
                <a:ea typeface="Courier New"/>
                <a:cs typeface="Courier New"/>
                <a:sym typeface="Courier New"/>
              </a:endParaRPr>
            </a:p>
          </p:txBody>
        </p:sp>
      </p:grpSp>
      <p:grpSp>
        <p:nvGrpSpPr>
          <p:cNvPr id="94" name="Google Shape;94;p13"/>
          <p:cNvGrpSpPr/>
          <p:nvPr/>
        </p:nvGrpSpPr>
        <p:grpSpPr>
          <a:xfrm>
            <a:off x="0" y="6191250"/>
            <a:ext cx="12192000" cy="666900"/>
            <a:chOff x="0" y="0"/>
            <a:chExt cx="12192000" cy="666900"/>
          </a:xfrm>
        </p:grpSpPr>
        <p:sp>
          <p:nvSpPr>
            <p:cNvPr id="95" name="Google Shape;95;p13"/>
            <p:cNvSpPr/>
            <p:nvPr/>
          </p:nvSpPr>
          <p:spPr>
            <a:xfrm>
              <a:off x="0" y="0"/>
              <a:ext cx="12192000" cy="666900"/>
            </a:xfrm>
            <a:prstGeom prst="rect">
              <a:avLst/>
            </a:prstGeom>
            <a:solidFill>
              <a:srgbClr val="020617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13"/>
            <p:cNvSpPr txBox="1"/>
            <p:nvPr/>
          </p:nvSpPr>
          <p:spPr>
            <a:xfrm>
              <a:off x="762000" y="0"/>
              <a:ext cx="106680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50" b="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Agents don't just talk; they </a:t>
              </a:r>
              <a:r>
                <a:rPr lang="en-US" sz="1350" b="1" u="sng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reason</a:t>
              </a:r>
              <a:r>
                <a:rPr lang="en-US" sz="1350" b="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 and </a:t>
              </a:r>
              <a:r>
                <a:rPr lang="en-US" sz="1350" b="1" u="sng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act</a:t>
              </a:r>
              <a:r>
                <a:rPr lang="en-US" sz="1350" b="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 through iterative feedback loops.</a:t>
              </a:r>
              <a:endParaRPr sz="135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The core difference is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Reasoning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: Agents choose the "how" based on the "what".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8953500" y="266700"/>
            <a:ext cx="28575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02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762000" y="1104900"/>
            <a:ext cx="112014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Agent vs. Chatbot vs. Workflow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762000" y="1885950"/>
            <a:ext cx="106680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Understanding where </a:t>
            </a:r>
            <a:r>
              <a:rPr lang="en-US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Agency</a:t>
            </a: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begins and </a:t>
            </a:r>
            <a:r>
              <a:rPr lang="en-US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Automation</a:t>
            </a: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ends.</a:t>
            </a:r>
            <a:endParaRPr/>
          </a:p>
        </p:txBody>
      </p:sp>
      <p:graphicFrame>
        <p:nvGraphicFramePr>
          <p:cNvPr id="108" name="Google Shape;108;p14"/>
          <p:cNvGraphicFramePr/>
          <p:nvPr/>
        </p:nvGraphicFramePr>
        <p:xfrm>
          <a:off x="762000" y="2457450"/>
          <a:ext cx="10668000" cy="2419375"/>
        </p:xfrm>
        <a:graphic>
          <a:graphicData uri="http://schemas.openxmlformats.org/drawingml/2006/table">
            <a:tbl>
              <a:tblPr firstRow="1" bandRow="1">
                <a:noFill/>
                <a:tableStyleId>{1B08FFA9-47A5-40E2-AF77-5C7549AC359D}</a:tableStyleId>
              </a:tblPr>
              <a:tblGrid>
                <a:gridCol w="2261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5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2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27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Feature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Traditional Chatbot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Static Workflow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Autonomous Agent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Decision Maker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User (Instruction)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Developer (Code)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AI Model (Reasoning)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Execution Path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Linear / Reactive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Hardcoded Steps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Dynamic &amp; Iterative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Tool Usage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Limited (Integration)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Fixed APIs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Decides which tool to use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Goal Orientation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Response-driven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Process-driven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Goal-driven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9" name="Google Shape;109;p14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4"/>
          <p:cNvSpPr/>
          <p:nvPr/>
        </p:nvSpPr>
        <p:spPr>
          <a:xfrm>
            <a:off x="762000" y="3405187"/>
            <a:ext cx="226188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/>
          <p:nvPr/>
        </p:nvSpPr>
        <p:spPr>
          <a:xfrm>
            <a:off x="3023889" y="3405187"/>
            <a:ext cx="265598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4"/>
          <p:cNvSpPr/>
          <p:nvPr/>
        </p:nvSpPr>
        <p:spPr>
          <a:xfrm>
            <a:off x="5679876" y="3405187"/>
            <a:ext cx="24224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4"/>
          <p:cNvSpPr/>
          <p:nvPr/>
        </p:nvSpPr>
        <p:spPr>
          <a:xfrm>
            <a:off x="8102351" y="3405187"/>
            <a:ext cx="33276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4"/>
          <p:cNvSpPr/>
          <p:nvPr/>
        </p:nvSpPr>
        <p:spPr>
          <a:xfrm>
            <a:off x="762000" y="3890962"/>
            <a:ext cx="226188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4"/>
          <p:cNvSpPr/>
          <p:nvPr/>
        </p:nvSpPr>
        <p:spPr>
          <a:xfrm>
            <a:off x="3023889" y="3890962"/>
            <a:ext cx="265598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4"/>
          <p:cNvSpPr/>
          <p:nvPr/>
        </p:nvSpPr>
        <p:spPr>
          <a:xfrm>
            <a:off x="5679876" y="3890962"/>
            <a:ext cx="24224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4"/>
          <p:cNvSpPr/>
          <p:nvPr/>
        </p:nvSpPr>
        <p:spPr>
          <a:xfrm>
            <a:off x="8102351" y="3890962"/>
            <a:ext cx="33276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4"/>
          <p:cNvSpPr/>
          <p:nvPr/>
        </p:nvSpPr>
        <p:spPr>
          <a:xfrm>
            <a:off x="762000" y="4376737"/>
            <a:ext cx="226188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3023889" y="4376737"/>
            <a:ext cx="265598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4"/>
          <p:cNvSpPr/>
          <p:nvPr/>
        </p:nvSpPr>
        <p:spPr>
          <a:xfrm>
            <a:off x="5679876" y="4376737"/>
            <a:ext cx="24224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4"/>
          <p:cNvSpPr/>
          <p:nvPr/>
        </p:nvSpPr>
        <p:spPr>
          <a:xfrm>
            <a:off x="8102351" y="4376737"/>
            <a:ext cx="33276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4"/>
          <p:cNvSpPr/>
          <p:nvPr/>
        </p:nvSpPr>
        <p:spPr>
          <a:xfrm>
            <a:off x="762000" y="4862512"/>
            <a:ext cx="226188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4"/>
          <p:cNvSpPr/>
          <p:nvPr/>
        </p:nvSpPr>
        <p:spPr>
          <a:xfrm>
            <a:off x="3023889" y="4862512"/>
            <a:ext cx="2655986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4"/>
          <p:cNvSpPr/>
          <p:nvPr/>
        </p:nvSpPr>
        <p:spPr>
          <a:xfrm>
            <a:off x="5679876" y="4862512"/>
            <a:ext cx="242247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4"/>
          <p:cNvSpPr/>
          <p:nvPr/>
        </p:nvSpPr>
        <p:spPr>
          <a:xfrm>
            <a:off x="8102351" y="4862512"/>
            <a:ext cx="33276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5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5"/>
          <p:cNvSpPr txBox="1"/>
          <p:nvPr/>
        </p:nvSpPr>
        <p:spPr>
          <a:xfrm>
            <a:off x="381000" y="6286500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Agentic cycles are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loops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, not lines; they self-correct until the goal is achieved.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03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The AI Agent Lifecycle</a:t>
            </a:r>
            <a:endParaRPr/>
          </a:p>
        </p:txBody>
      </p:sp>
      <p:sp>
        <p:nvSpPr>
          <p:cNvPr id="136" name="Google Shape;136;p15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15"/>
          <p:cNvGrpSpPr/>
          <p:nvPr/>
        </p:nvGrpSpPr>
        <p:grpSpPr>
          <a:xfrm>
            <a:off x="762000" y="2000250"/>
            <a:ext cx="2476500" cy="3238500"/>
            <a:chOff x="0" y="0"/>
            <a:chExt cx="2476500" cy="3238500"/>
          </a:xfrm>
        </p:grpSpPr>
        <p:sp>
          <p:nvSpPr>
            <p:cNvPr id="138" name="Google Shape;138;p15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15"/>
            <p:cNvSpPr/>
            <p:nvPr/>
          </p:nvSpPr>
          <p:spPr>
            <a:xfrm>
              <a:off x="247650" y="247650"/>
              <a:ext cx="457200" cy="457200"/>
            </a:xfrm>
            <a:prstGeom prst="ellipse">
              <a:avLst/>
            </a:prstGeom>
            <a:solidFill>
              <a:srgbClr val="E8F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15"/>
            <p:cNvSpPr txBox="1"/>
            <p:nvPr/>
          </p:nvSpPr>
          <p:spPr>
            <a:xfrm>
              <a:off x="1809750" y="304800"/>
              <a:ext cx="381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01</a:t>
              </a:r>
              <a:endParaRPr sz="1600" b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2" name="Google Shape;142;p15"/>
            <p:cNvSpPr txBox="1"/>
            <p:nvPr/>
          </p:nvSpPr>
          <p:spPr>
            <a:xfrm>
              <a:off x="228600" y="895350"/>
              <a:ext cx="20193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dirty="0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Perception</a:t>
              </a:r>
              <a:endParaRPr sz="1600" b="1" dirty="0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43" name="Google Shape;143;p15"/>
            <p:cNvSpPr txBox="1"/>
            <p:nvPr/>
          </p:nvSpPr>
          <p:spPr>
            <a:xfrm>
              <a:off x="228600" y="1295400"/>
              <a:ext cx="20193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The agent </a:t>
              </a:r>
              <a:r>
                <a:rPr lang="en-US" sz="1150" b="1">
                  <a:solidFill>
                    <a:srgbClr val="1B5E20"/>
                  </a:solidFill>
                  <a:highlight>
                    <a:srgbClr val="E8F5E9"/>
                  </a:highlight>
                  <a:latin typeface="Inter"/>
                  <a:ea typeface="Inter"/>
                  <a:cs typeface="Inter"/>
                  <a:sym typeface="Inter"/>
                </a:rPr>
                <a:t>observes</a:t>
              </a:r>
              <a:r>
                <a:rPr lang="en-US" sz="11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the environment, capturing inputs and contextual cues.</a:t>
              </a:r>
              <a:endParaRPr sz="11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Establishes the foundation by gathering user intents and environmental status.</a:t>
              </a:r>
              <a:endParaRPr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4" name="Google Shape;144;p15"/>
          <p:cNvGrpSpPr/>
          <p:nvPr/>
        </p:nvGrpSpPr>
        <p:grpSpPr>
          <a:xfrm>
            <a:off x="3486150" y="2000250"/>
            <a:ext cx="2476500" cy="3238500"/>
            <a:chOff x="0" y="0"/>
            <a:chExt cx="2476500" cy="3238500"/>
          </a:xfrm>
        </p:grpSpPr>
        <p:sp>
          <p:nvSpPr>
            <p:cNvPr id="145" name="Google Shape;145;p15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5"/>
            <p:cNvSpPr/>
            <p:nvPr/>
          </p:nvSpPr>
          <p:spPr>
            <a:xfrm>
              <a:off x="247650" y="247650"/>
              <a:ext cx="457200" cy="457200"/>
            </a:xfrm>
            <a:prstGeom prst="ellipse">
              <a:avLst/>
            </a:prstGeom>
            <a:solidFill>
              <a:srgbClr val="E8F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15"/>
            <p:cNvSpPr txBox="1"/>
            <p:nvPr/>
          </p:nvSpPr>
          <p:spPr>
            <a:xfrm>
              <a:off x="1809750" y="304800"/>
              <a:ext cx="381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02</a:t>
              </a:r>
              <a:endParaRPr sz="1600" b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49" name="Google Shape;149;p15"/>
            <p:cNvSpPr txBox="1"/>
            <p:nvPr/>
          </p:nvSpPr>
          <p:spPr>
            <a:xfrm>
              <a:off x="228600" y="895350"/>
              <a:ext cx="20193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Planning</a:t>
              </a:r>
              <a:endParaRPr sz="16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50" name="Google Shape;150;p15"/>
            <p:cNvSpPr txBox="1"/>
            <p:nvPr/>
          </p:nvSpPr>
          <p:spPr>
            <a:xfrm>
              <a:off x="228600" y="1295400"/>
              <a:ext cx="20193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The </a:t>
              </a:r>
              <a:r>
                <a:rPr lang="en-US" sz="1150" b="1">
                  <a:solidFill>
                    <a:srgbClr val="1B5E20"/>
                  </a:solidFill>
                  <a:highlight>
                    <a:srgbClr val="E8F5E9"/>
                  </a:highlight>
                  <a:latin typeface="Inter"/>
                  <a:ea typeface="Inter"/>
                  <a:cs typeface="Inter"/>
                  <a:sym typeface="Inter"/>
                </a:rPr>
                <a:t>LLM Brain</a:t>
              </a:r>
              <a:r>
                <a:rPr lang="en-US" sz="11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maps out a strategy, breaking a complex goal into logical sub-tasks.</a:t>
              </a:r>
              <a:endParaRPr sz="11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Determines the sequence of execution and selects appropriate tools for the job.</a:t>
              </a:r>
              <a:endParaRPr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1" name="Google Shape;151;p15"/>
          <p:cNvGrpSpPr/>
          <p:nvPr/>
        </p:nvGrpSpPr>
        <p:grpSpPr>
          <a:xfrm>
            <a:off x="6210300" y="2000250"/>
            <a:ext cx="2476500" cy="3238500"/>
            <a:chOff x="0" y="0"/>
            <a:chExt cx="2476500" cy="3238500"/>
          </a:xfrm>
        </p:grpSpPr>
        <p:sp>
          <p:nvSpPr>
            <p:cNvPr id="152" name="Google Shape;152;p15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15"/>
            <p:cNvSpPr/>
            <p:nvPr/>
          </p:nvSpPr>
          <p:spPr>
            <a:xfrm>
              <a:off x="247650" y="247650"/>
              <a:ext cx="457200" cy="457200"/>
            </a:xfrm>
            <a:prstGeom prst="ellipse">
              <a:avLst/>
            </a:prstGeom>
            <a:solidFill>
              <a:srgbClr val="E8F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15"/>
            <p:cNvSpPr txBox="1"/>
            <p:nvPr/>
          </p:nvSpPr>
          <p:spPr>
            <a:xfrm>
              <a:off x="1809750" y="304800"/>
              <a:ext cx="381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03</a:t>
              </a:r>
              <a:endParaRPr sz="1600" b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56" name="Google Shape;156;p15"/>
            <p:cNvSpPr txBox="1"/>
            <p:nvPr/>
          </p:nvSpPr>
          <p:spPr>
            <a:xfrm>
              <a:off x="228600" y="895350"/>
              <a:ext cx="20193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Execution</a:t>
              </a:r>
              <a:endParaRPr sz="16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57" name="Google Shape;157;p15"/>
            <p:cNvSpPr txBox="1"/>
            <p:nvPr/>
          </p:nvSpPr>
          <p:spPr>
            <a:xfrm>
              <a:off x="228600" y="1295400"/>
              <a:ext cx="20193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The agent actively </a:t>
              </a:r>
              <a:r>
                <a:rPr lang="en-US" sz="1150" b="1">
                  <a:solidFill>
                    <a:srgbClr val="1B5E20"/>
                  </a:solidFill>
                  <a:highlight>
                    <a:srgbClr val="E8F5E9"/>
                  </a:highlight>
                  <a:latin typeface="Inter"/>
                  <a:ea typeface="Inter"/>
                  <a:cs typeface="Inter"/>
                  <a:sym typeface="Inter"/>
                </a:rPr>
                <a:t>calls tools</a:t>
              </a:r>
              <a:r>
                <a:rPr lang="en-US" sz="11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(APIs, code runners, or search engine queries).</a:t>
              </a:r>
              <a:endParaRPr sz="11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Interacts directly with external software and databases to perform the planned actions.</a:t>
              </a:r>
              <a:endParaRPr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8" name="Google Shape;158;p15"/>
          <p:cNvGrpSpPr/>
          <p:nvPr/>
        </p:nvGrpSpPr>
        <p:grpSpPr>
          <a:xfrm>
            <a:off x="8934450" y="2000250"/>
            <a:ext cx="2476500" cy="3238500"/>
            <a:chOff x="0" y="0"/>
            <a:chExt cx="2476500" cy="3238500"/>
          </a:xfrm>
        </p:grpSpPr>
        <p:sp>
          <p:nvSpPr>
            <p:cNvPr id="159" name="Google Shape;159;p15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15"/>
            <p:cNvSpPr/>
            <p:nvPr/>
          </p:nvSpPr>
          <p:spPr>
            <a:xfrm>
              <a:off x="247650" y="247650"/>
              <a:ext cx="457200" cy="457200"/>
            </a:xfrm>
            <a:prstGeom prst="ellipse">
              <a:avLst/>
            </a:prstGeom>
            <a:solidFill>
              <a:srgbClr val="E8F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15"/>
            <p:cNvSpPr txBox="1"/>
            <p:nvPr/>
          </p:nvSpPr>
          <p:spPr>
            <a:xfrm>
              <a:off x="1809750" y="304800"/>
              <a:ext cx="381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04</a:t>
              </a:r>
              <a:endParaRPr sz="1600" b="1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63" name="Google Shape;163;p15"/>
            <p:cNvSpPr txBox="1"/>
            <p:nvPr/>
          </p:nvSpPr>
          <p:spPr>
            <a:xfrm>
              <a:off x="228600" y="895350"/>
              <a:ext cx="20193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Evaluation</a:t>
              </a:r>
              <a:endParaRPr sz="16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164" name="Google Shape;164;p15"/>
            <p:cNvSpPr txBox="1"/>
            <p:nvPr/>
          </p:nvSpPr>
          <p:spPr>
            <a:xfrm>
              <a:off x="228600" y="1295400"/>
              <a:ext cx="2019300" cy="171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The system </a:t>
              </a:r>
              <a:r>
                <a:rPr lang="en-US" sz="1150" b="1">
                  <a:solidFill>
                    <a:srgbClr val="1B5E20"/>
                  </a:solidFill>
                  <a:highlight>
                    <a:srgbClr val="E8F5E9"/>
                  </a:highlight>
                  <a:latin typeface="Inter"/>
                  <a:ea typeface="Inter"/>
                  <a:cs typeface="Inter"/>
                  <a:sym typeface="Inter"/>
                </a:rPr>
                <a:t>reviews</a:t>
              </a:r>
              <a:r>
                <a:rPr lang="en-US" sz="11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results to check if the goal is met or further loops are required.</a:t>
              </a:r>
              <a:endParaRPr sz="11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Self-corrects and iterates dynamically until successful completion of the main objective.</a:t>
              </a:r>
              <a:endParaRPr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1885950"/>
            <a:ext cx="3429000" cy="152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81500" y="1885950"/>
            <a:ext cx="3429000" cy="152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01000" y="1885950"/>
            <a:ext cx="3429000" cy="152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62000" y="3600450"/>
            <a:ext cx="3429000" cy="152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81500" y="3600450"/>
            <a:ext cx="3429000" cy="152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001000" y="3600450"/>
            <a:ext cx="3429000" cy="15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16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6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Most enterprise agents today operate effectively between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Level 2 and Level 4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179" name="Google Shape;179;p16"/>
          <p:cNvSpPr txBox="1"/>
          <p:nvPr/>
        </p:nvSpPr>
        <p:spPr>
          <a:xfrm>
            <a:off x="8953500" y="266700"/>
            <a:ext cx="28575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04</a:t>
            </a:r>
            <a:endParaRPr/>
          </a:p>
        </p:txBody>
      </p:sp>
      <p:sp>
        <p:nvSpPr>
          <p:cNvPr id="180" name="Google Shape;180;p16"/>
          <p:cNvSpPr txBox="1"/>
          <p:nvPr/>
        </p:nvSpPr>
        <p:spPr>
          <a:xfrm>
            <a:off x="762000" y="1104900"/>
            <a:ext cx="112014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Levels of Autonomy</a:t>
            </a:r>
            <a:endParaRPr/>
          </a:p>
        </p:txBody>
      </p:sp>
      <p:sp>
        <p:nvSpPr>
          <p:cNvPr id="181" name="Google Shape;181;p16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2" name="Google Shape;182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309812" y="2085975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6"/>
          <p:cNvSpPr txBox="1"/>
          <p:nvPr/>
        </p:nvSpPr>
        <p:spPr>
          <a:xfrm>
            <a:off x="886301" y="2609850"/>
            <a:ext cx="31803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Level 0: Manual</a:t>
            </a:r>
            <a:endParaRPr/>
          </a:p>
        </p:txBody>
      </p:sp>
      <p:sp>
        <p:nvSpPr>
          <p:cNvPr id="184" name="Google Shape;184;p16"/>
          <p:cNvSpPr txBox="1"/>
          <p:nvPr/>
        </p:nvSpPr>
        <p:spPr>
          <a:xfrm>
            <a:off x="962025" y="2828925"/>
            <a:ext cx="302895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AI provides information; human performs all actions. (Chatbot)</a:t>
            </a:r>
            <a:endParaRPr/>
          </a:p>
        </p:txBody>
      </p:sp>
      <p:pic>
        <p:nvPicPr>
          <p:cNvPr id="185" name="Google Shape;185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5857875" y="2085975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6"/>
          <p:cNvSpPr txBox="1"/>
          <p:nvPr/>
        </p:nvSpPr>
        <p:spPr>
          <a:xfrm>
            <a:off x="4505801" y="2609850"/>
            <a:ext cx="31803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Level 1: Assisted</a:t>
            </a:r>
            <a:endParaRPr/>
          </a:p>
        </p:txBody>
      </p:sp>
      <p:sp>
        <p:nvSpPr>
          <p:cNvPr id="187" name="Google Shape;187;p16"/>
          <p:cNvSpPr txBox="1"/>
          <p:nvPr/>
        </p:nvSpPr>
        <p:spPr>
          <a:xfrm>
            <a:off x="4581525" y="2828925"/>
            <a:ext cx="302895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AI proposes actions; human approves every single step.</a:t>
            </a:r>
            <a:endParaRPr/>
          </a:p>
        </p:txBody>
      </p:sp>
      <p:pic>
        <p:nvPicPr>
          <p:cNvPr id="188" name="Google Shape;188;p16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9501187" y="2085975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6"/>
          <p:cNvSpPr txBox="1"/>
          <p:nvPr/>
        </p:nvSpPr>
        <p:spPr>
          <a:xfrm>
            <a:off x="8125301" y="2609850"/>
            <a:ext cx="31803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Level 2: Supervised</a:t>
            </a:r>
            <a:endParaRPr/>
          </a:p>
        </p:txBody>
      </p:sp>
      <p:sp>
        <p:nvSpPr>
          <p:cNvPr id="190" name="Google Shape;190;p16"/>
          <p:cNvSpPr txBox="1"/>
          <p:nvPr/>
        </p:nvSpPr>
        <p:spPr>
          <a:xfrm>
            <a:off x="8201025" y="2828925"/>
            <a:ext cx="302895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AI creates a plan; human approves the whole plan at once.</a:t>
            </a:r>
            <a:endParaRPr/>
          </a:p>
        </p:txBody>
      </p:sp>
      <p:pic>
        <p:nvPicPr>
          <p:cNvPr id="191" name="Google Shape;191;p16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286000" y="380047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6"/>
          <p:cNvSpPr txBox="1"/>
          <p:nvPr/>
        </p:nvSpPr>
        <p:spPr>
          <a:xfrm>
            <a:off x="886301" y="4324350"/>
            <a:ext cx="31803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Level 3: Conditional</a:t>
            </a:r>
            <a:endParaRPr/>
          </a:p>
        </p:txBody>
      </p:sp>
      <p:sp>
        <p:nvSpPr>
          <p:cNvPr id="193" name="Google Shape;193;p16"/>
          <p:cNvSpPr txBox="1"/>
          <p:nvPr/>
        </p:nvSpPr>
        <p:spPr>
          <a:xfrm>
            <a:off x="962025" y="4543425"/>
            <a:ext cx="302895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AI handles routine tasks end-to-end; human handles edge cases.</a:t>
            </a:r>
            <a:endParaRPr/>
          </a:p>
        </p:txBody>
      </p:sp>
      <p:pic>
        <p:nvPicPr>
          <p:cNvPr id="194" name="Google Shape;194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5929312" y="3800475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16"/>
          <p:cNvSpPr txBox="1"/>
          <p:nvPr/>
        </p:nvSpPr>
        <p:spPr>
          <a:xfrm>
            <a:off x="4505801" y="4324350"/>
            <a:ext cx="31803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Level 4: High</a:t>
            </a:r>
            <a:endParaRPr/>
          </a:p>
        </p:txBody>
      </p:sp>
      <p:sp>
        <p:nvSpPr>
          <p:cNvPr id="196" name="Google Shape;196;p16"/>
          <p:cNvSpPr txBox="1"/>
          <p:nvPr/>
        </p:nvSpPr>
        <p:spPr>
          <a:xfrm>
            <a:off x="4581525" y="4543425"/>
            <a:ext cx="302895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Autonomous with strict </a:t>
            </a:r>
            <a:r>
              <a:rPr lang="en-US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Guardrails</a:t>
            </a: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; human is "on-the-loop".</a:t>
            </a:r>
            <a:endParaRPr/>
          </a:p>
        </p:txBody>
      </p:sp>
      <p:pic>
        <p:nvPicPr>
          <p:cNvPr id="197" name="Google Shape;197;p16" descr="image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9525000" y="380047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6"/>
          <p:cNvSpPr txBox="1"/>
          <p:nvPr/>
        </p:nvSpPr>
        <p:spPr>
          <a:xfrm>
            <a:off x="8125301" y="4324350"/>
            <a:ext cx="31803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Level 5: Full</a:t>
            </a:r>
            <a:endParaRPr/>
          </a:p>
        </p:txBody>
      </p:sp>
      <p:sp>
        <p:nvSpPr>
          <p:cNvPr id="199" name="Google Shape;199;p16"/>
          <p:cNvSpPr txBox="1"/>
          <p:nvPr/>
        </p:nvSpPr>
        <p:spPr>
          <a:xfrm>
            <a:off x="8201025" y="4543425"/>
            <a:ext cx="302895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Goal-driven problem solver; self-manages strategy and execution.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7" descr="image.png"/>
          <p:cNvPicPr preferRelativeResize="0"/>
          <p:nvPr/>
        </p:nvPicPr>
        <p:blipFill rotWithShape="1">
          <a:blip r:embed="rId5">
            <a:alphaModFix/>
          </a:blip>
          <a:srcRect t="544" b="544"/>
          <a:stretch/>
        </p:blipFill>
        <p:spPr>
          <a:xfrm>
            <a:off x="4157663" y="2000250"/>
            <a:ext cx="3876600" cy="70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17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7"/>
          <p:cNvSpPr txBox="1"/>
          <p:nvPr/>
        </p:nvSpPr>
        <p:spPr>
          <a:xfrm>
            <a:off x="381000" y="6286500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An agent is a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brain (LLM)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with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hands (tools)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and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memory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209" name="Google Shape;209;p17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05</a:t>
            </a:r>
            <a:endParaRPr/>
          </a:p>
        </p:txBody>
      </p:sp>
      <p:sp>
        <p:nvSpPr>
          <p:cNvPr id="210" name="Google Shape;210;p17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The Agentic Ecosystem</a:t>
            </a:r>
            <a:endParaRPr/>
          </a:p>
        </p:txBody>
      </p:sp>
      <p:sp>
        <p:nvSpPr>
          <p:cNvPr id="211" name="Google Shape;211;p17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2" name="Google Shape;212;p17"/>
          <p:cNvGrpSpPr/>
          <p:nvPr/>
        </p:nvGrpSpPr>
        <p:grpSpPr>
          <a:xfrm>
            <a:off x="762000" y="3048000"/>
            <a:ext cx="2476500" cy="1905000"/>
            <a:chOff x="0" y="0"/>
            <a:chExt cx="2476500" cy="1905000"/>
          </a:xfrm>
        </p:grpSpPr>
        <p:sp>
          <p:nvSpPr>
            <p:cNvPr id="213" name="Google Shape;213;p17"/>
            <p:cNvSpPr/>
            <p:nvPr/>
          </p:nvSpPr>
          <p:spPr>
            <a:xfrm>
              <a:off x="0" y="0"/>
              <a:ext cx="2476500" cy="1905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17"/>
            <p:cNvSpPr/>
            <p:nvPr/>
          </p:nvSpPr>
          <p:spPr>
            <a:xfrm>
              <a:off x="247650" y="247650"/>
              <a:ext cx="457200" cy="457200"/>
            </a:xfrm>
            <a:prstGeom prst="ellipse">
              <a:avLst/>
            </a:prstGeom>
            <a:solidFill>
              <a:srgbClr val="E8F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15" name="Google Shape;215;p17"/>
            <p:cNvPicPr preferRelativeResize="0"/>
            <p:nvPr/>
          </p:nvPicPr>
          <p:blipFill rotWithShape="1">
            <a:blip r:embed="rId6">
              <a:alphaModFix/>
            </a:blip>
            <a:srcRect l="169" r="179"/>
            <a:stretch/>
          </p:blipFill>
          <p:spPr>
            <a:xfrm>
              <a:off x="300038" y="285750"/>
              <a:ext cx="333300" cy="381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6" name="Google Shape;216;p17"/>
            <p:cNvSpPr txBox="1"/>
            <p:nvPr/>
          </p:nvSpPr>
          <p:spPr>
            <a:xfrm>
              <a:off x="228600" y="895350"/>
              <a:ext cx="20193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Memory</a:t>
              </a:r>
              <a:endParaRPr sz="16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00" b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Retains internal states, logs, and long-term user preferences.</a:t>
              </a:r>
              <a:endParaRPr sz="10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17" name="Google Shape;217;p17"/>
          <p:cNvGrpSpPr/>
          <p:nvPr/>
        </p:nvGrpSpPr>
        <p:grpSpPr>
          <a:xfrm>
            <a:off x="3486150" y="3048000"/>
            <a:ext cx="2476500" cy="1905000"/>
            <a:chOff x="0" y="0"/>
            <a:chExt cx="2476500" cy="1905000"/>
          </a:xfrm>
        </p:grpSpPr>
        <p:sp>
          <p:nvSpPr>
            <p:cNvPr id="218" name="Google Shape;218;p17"/>
            <p:cNvSpPr/>
            <p:nvPr/>
          </p:nvSpPr>
          <p:spPr>
            <a:xfrm>
              <a:off x="0" y="0"/>
              <a:ext cx="2476500" cy="1905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17"/>
            <p:cNvSpPr/>
            <p:nvPr/>
          </p:nvSpPr>
          <p:spPr>
            <a:xfrm>
              <a:off x="247650" y="247650"/>
              <a:ext cx="457200" cy="457200"/>
            </a:xfrm>
            <a:prstGeom prst="ellipse">
              <a:avLst/>
            </a:prstGeom>
            <a:solidFill>
              <a:srgbClr val="E8F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20" name="Google Shape;220;p17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266700" y="266700"/>
              <a:ext cx="381000" cy="381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1" name="Google Shape;221;p17"/>
            <p:cNvSpPr txBox="1"/>
            <p:nvPr/>
          </p:nvSpPr>
          <p:spPr>
            <a:xfrm>
              <a:off x="228600" y="895350"/>
              <a:ext cx="20193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Tooling</a:t>
              </a:r>
              <a:endParaRPr sz="16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00" b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Connects the LLM brain to external APIs, databases, and code runners.</a:t>
              </a:r>
              <a:endParaRPr sz="10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22" name="Google Shape;222;p17"/>
          <p:cNvGrpSpPr/>
          <p:nvPr/>
        </p:nvGrpSpPr>
        <p:grpSpPr>
          <a:xfrm>
            <a:off x="6210300" y="3048000"/>
            <a:ext cx="2476500" cy="1905000"/>
            <a:chOff x="0" y="0"/>
            <a:chExt cx="2476500" cy="1905000"/>
          </a:xfrm>
        </p:grpSpPr>
        <p:sp>
          <p:nvSpPr>
            <p:cNvPr id="223" name="Google Shape;223;p17"/>
            <p:cNvSpPr/>
            <p:nvPr/>
          </p:nvSpPr>
          <p:spPr>
            <a:xfrm>
              <a:off x="0" y="0"/>
              <a:ext cx="2476500" cy="1905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17"/>
            <p:cNvSpPr/>
            <p:nvPr/>
          </p:nvSpPr>
          <p:spPr>
            <a:xfrm>
              <a:off x="247650" y="247650"/>
              <a:ext cx="457200" cy="457200"/>
            </a:xfrm>
            <a:prstGeom prst="ellipse">
              <a:avLst/>
            </a:prstGeom>
            <a:solidFill>
              <a:srgbClr val="E8F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25" name="Google Shape;225;p17"/>
            <p:cNvPicPr preferRelativeResize="0"/>
            <p:nvPr/>
          </p:nvPicPr>
          <p:blipFill rotWithShape="1">
            <a:blip r:embed="rId8">
              <a:alphaModFix/>
            </a:blip>
            <a:srcRect t="1220" b="1220"/>
            <a:stretch/>
          </p:blipFill>
          <p:spPr>
            <a:xfrm>
              <a:off x="266700" y="266700"/>
              <a:ext cx="381000" cy="381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6" name="Google Shape;226;p17"/>
            <p:cNvSpPr txBox="1"/>
            <p:nvPr/>
          </p:nvSpPr>
          <p:spPr>
            <a:xfrm>
              <a:off x="228600" y="895350"/>
              <a:ext cx="20193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Planning</a:t>
              </a:r>
              <a:endParaRPr sz="16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00" b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Deconstructs large objectives into structured, actionable sub-tasks.</a:t>
              </a:r>
              <a:endParaRPr sz="10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27" name="Google Shape;227;p17"/>
          <p:cNvGrpSpPr/>
          <p:nvPr/>
        </p:nvGrpSpPr>
        <p:grpSpPr>
          <a:xfrm>
            <a:off x="8934450" y="3048000"/>
            <a:ext cx="2476500" cy="1905000"/>
            <a:chOff x="0" y="0"/>
            <a:chExt cx="2476500" cy="1905000"/>
          </a:xfrm>
        </p:grpSpPr>
        <p:sp>
          <p:nvSpPr>
            <p:cNvPr id="228" name="Google Shape;228;p17"/>
            <p:cNvSpPr/>
            <p:nvPr/>
          </p:nvSpPr>
          <p:spPr>
            <a:xfrm>
              <a:off x="0" y="0"/>
              <a:ext cx="2476500" cy="1905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17"/>
            <p:cNvSpPr/>
            <p:nvPr/>
          </p:nvSpPr>
          <p:spPr>
            <a:xfrm>
              <a:off x="247650" y="247650"/>
              <a:ext cx="457200" cy="457200"/>
            </a:xfrm>
            <a:prstGeom prst="ellipse">
              <a:avLst/>
            </a:prstGeom>
            <a:solidFill>
              <a:srgbClr val="E8F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30" name="Google Shape;230;p17"/>
            <p:cNvPicPr preferRelativeResize="0"/>
            <p:nvPr/>
          </p:nvPicPr>
          <p:blipFill rotWithShape="1">
            <a:blip r:embed="rId9">
              <a:alphaModFix/>
            </a:blip>
            <a:srcRect t="249" b="239"/>
            <a:stretch/>
          </p:blipFill>
          <p:spPr>
            <a:xfrm>
              <a:off x="219075" y="266700"/>
              <a:ext cx="476400" cy="381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1" name="Google Shape;231;p17"/>
            <p:cNvSpPr txBox="1"/>
            <p:nvPr/>
          </p:nvSpPr>
          <p:spPr>
            <a:xfrm>
              <a:off x="228600" y="895350"/>
              <a:ext cx="20193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Orchestration</a:t>
              </a:r>
              <a:endParaRPr sz="16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ctr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00" b="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Manages multi-agent coordination and systematic flow execution.</a:t>
              </a:r>
              <a:endParaRPr sz="10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8" name="Google Shape;238;p18"/>
          <p:cNvGrpSpPr/>
          <p:nvPr/>
        </p:nvGrpSpPr>
        <p:grpSpPr>
          <a:xfrm>
            <a:off x="762000" y="2000250"/>
            <a:ext cx="5048400" cy="3238500"/>
            <a:chOff x="0" y="0"/>
            <a:chExt cx="5048400" cy="3238500"/>
          </a:xfrm>
        </p:grpSpPr>
        <p:sp>
          <p:nvSpPr>
            <p:cNvPr id="239" name="Google Shape;239;p18"/>
            <p:cNvSpPr/>
            <p:nvPr/>
          </p:nvSpPr>
          <p:spPr>
            <a:xfrm>
              <a:off x="0" y="0"/>
              <a:ext cx="5048400" cy="3238500"/>
            </a:xfrm>
            <a:prstGeom prst="roundRect">
              <a:avLst>
                <a:gd name="adj" fmla="val 4705"/>
              </a:avLst>
            </a:prstGeom>
            <a:solidFill>
              <a:srgbClr val="F8FAFC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18"/>
            <p:cNvSpPr txBox="1"/>
            <p:nvPr/>
          </p:nvSpPr>
          <p:spPr>
            <a:xfrm>
              <a:off x="333375" y="0"/>
              <a:ext cx="43815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The Control Pattern</a:t>
              </a:r>
              <a:endParaRPr sz="20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457200" lvl="0" indent="-307975" algn="l" rtl="0">
                <a:spcBef>
                  <a:spcPts val="1800"/>
                </a:spcBef>
                <a:spcAft>
                  <a:spcPts val="0"/>
                </a:spcAft>
                <a:buClr>
                  <a:srgbClr val="475569"/>
                </a:buClr>
                <a:buSzPts val="1250"/>
                <a:buFont typeface="Inter"/>
                <a:buChar char="●"/>
              </a:pPr>
              <a:r>
                <a:rPr lang="en-US" sz="125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Intervention Points:</a:t>
              </a:r>
              <a:r>
                <a:rPr lang="en-US" sz="12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Critical gates for safety.</a:t>
              </a:r>
              <a:endParaRPr sz="12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307975" algn="l" rtl="0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250"/>
                <a:buFont typeface="Inter"/>
                <a:buChar char="●"/>
              </a:pPr>
              <a:r>
                <a:rPr lang="en-US" sz="125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Feedback Loops:</a:t>
              </a:r>
              <a:r>
                <a:rPr lang="en-US" sz="12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Humans refine the reasoning.</a:t>
              </a:r>
              <a:endParaRPr sz="12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307975" algn="l" rtl="0">
                <a:spcBef>
                  <a:spcPts val="1200"/>
                </a:spcBef>
                <a:spcAft>
                  <a:spcPts val="0"/>
                </a:spcAft>
                <a:buClr>
                  <a:srgbClr val="475569"/>
                </a:buClr>
                <a:buSzPts val="1250"/>
                <a:buFont typeface="Inter"/>
                <a:buChar char="●"/>
              </a:pPr>
              <a:r>
                <a:rPr lang="en-US" sz="125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Escalation:</a:t>
              </a:r>
              <a:r>
                <a:rPr lang="en-US" sz="12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Routing to human when low confidence.</a:t>
              </a:r>
              <a:endParaRPr sz="12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41" name="Google Shape;241;p18"/>
          <p:cNvGrpSpPr/>
          <p:nvPr/>
        </p:nvGrpSpPr>
        <p:grpSpPr>
          <a:xfrm>
            <a:off x="6381750" y="2000250"/>
            <a:ext cx="5048400" cy="3238500"/>
            <a:chOff x="0" y="0"/>
            <a:chExt cx="5048400" cy="3238500"/>
          </a:xfrm>
        </p:grpSpPr>
        <p:sp>
          <p:nvSpPr>
            <p:cNvPr id="242" name="Google Shape;242;p18"/>
            <p:cNvSpPr/>
            <p:nvPr/>
          </p:nvSpPr>
          <p:spPr>
            <a:xfrm>
              <a:off x="0" y="0"/>
              <a:ext cx="5048400" cy="3238500"/>
            </a:xfrm>
            <a:prstGeom prst="roundRect">
              <a:avLst>
                <a:gd name="adj" fmla="val 4705"/>
              </a:avLst>
            </a:prstGeom>
            <a:solidFill>
              <a:srgbClr val="F8FAFC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18"/>
            <p:cNvSpPr txBox="1"/>
            <p:nvPr/>
          </p:nvSpPr>
          <p:spPr>
            <a:xfrm>
              <a:off x="333375" y="0"/>
              <a:ext cx="43815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Why HITL Matters</a:t>
              </a:r>
              <a:endParaRPr sz="20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12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For high-risk domains like </a:t>
              </a:r>
              <a:r>
                <a:rPr lang="en-US" sz="125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Finance</a:t>
              </a:r>
              <a:r>
                <a:rPr lang="en-US" sz="12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 or </a:t>
              </a:r>
              <a:r>
                <a:rPr lang="en-US" sz="125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Healthcare</a:t>
              </a:r>
              <a:r>
                <a:rPr lang="en-US" sz="12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, autonomous systems require a human safety net to prevent errors.</a:t>
              </a:r>
              <a:endParaRPr sz="125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1800"/>
                </a:spcBef>
                <a:spcAft>
                  <a:spcPts val="0"/>
                </a:spcAft>
                <a:buNone/>
              </a:pPr>
              <a:r>
                <a:rPr lang="en-US" sz="1200" b="1">
                  <a:solidFill>
                    <a:srgbClr val="166534"/>
                  </a:solidFill>
                  <a:highlight>
                    <a:srgbClr val="F0FDF4"/>
                  </a:highlight>
                  <a:latin typeface="Inter"/>
                  <a:ea typeface="Inter"/>
                  <a:cs typeface="Inter"/>
                  <a:sym typeface="Inter"/>
                </a:rPr>
                <a:t>Prevents Hallucinations &amp; Erroneous Actions</a:t>
              </a:r>
              <a:endParaRPr sz="1200" b="1">
                <a:solidFill>
                  <a:srgbClr val="166534"/>
                </a:solidFill>
                <a:highlight>
                  <a:srgbClr val="F0FDF4"/>
                </a:highlight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244" name="Google Shape;244;p18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8"/>
          <p:cNvSpPr txBox="1"/>
          <p:nvPr/>
        </p:nvSpPr>
        <p:spPr>
          <a:xfrm>
            <a:off x="381000" y="6286500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HITL transforms agents from "Black Boxes" into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collaborative partners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246" name="Google Shape;246;p18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06</a:t>
            </a:r>
            <a:endParaRPr/>
          </a:p>
        </p:txBody>
      </p:sp>
      <p:sp>
        <p:nvSpPr>
          <p:cNvPr id="247" name="Google Shape;247;p18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Human-in-the-loop (HITL) Systems</a:t>
            </a:r>
            <a:endParaRPr/>
          </a:p>
        </p:txBody>
      </p:sp>
      <p:sp>
        <p:nvSpPr>
          <p:cNvPr id="248" name="Google Shape;248;p18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858500" y="5524500"/>
            <a:ext cx="952500" cy="95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19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9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Theory meets practice: How multiple agents work together to solve complex research.</a:t>
            </a:r>
            <a:endParaRPr/>
          </a:p>
        </p:txBody>
      </p:sp>
      <p:sp>
        <p:nvSpPr>
          <p:cNvPr id="257" name="Google Shape;257;p19"/>
          <p:cNvSpPr txBox="1"/>
          <p:nvPr/>
        </p:nvSpPr>
        <p:spPr>
          <a:xfrm>
            <a:off x="4520803" y="2566987"/>
            <a:ext cx="3150393" cy="695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>
                <a:solidFill>
                  <a:srgbClr val="22C55E"/>
                </a:solidFill>
                <a:latin typeface="DM Sans"/>
                <a:ea typeface="DM Sans"/>
                <a:cs typeface="DM Sans"/>
                <a:sym typeface="DM Sans"/>
              </a:rPr>
              <a:t>Case Study</a:t>
            </a:r>
            <a:endParaRPr/>
          </a:p>
        </p:txBody>
      </p:sp>
      <p:sp>
        <p:nvSpPr>
          <p:cNvPr id="258" name="Google Shape;258;p19"/>
          <p:cNvSpPr txBox="1"/>
          <p:nvPr/>
        </p:nvSpPr>
        <p:spPr>
          <a:xfrm>
            <a:off x="2790586" y="3309937"/>
            <a:ext cx="6610826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Autonomous AI Research Assistant</a:t>
            </a:r>
            <a:endParaRPr/>
          </a:p>
        </p:txBody>
      </p:sp>
      <p:sp>
        <p:nvSpPr>
          <p:cNvPr id="259" name="Google Shape;259;p19"/>
          <p:cNvSpPr/>
          <p:nvPr/>
        </p:nvSpPr>
        <p:spPr>
          <a:xfrm>
            <a:off x="5715000" y="3871912"/>
            <a:ext cx="76200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9"/>
          <p:cNvSpPr txBox="1"/>
          <p:nvPr/>
        </p:nvSpPr>
        <p:spPr>
          <a:xfrm>
            <a:off x="3338512" y="4195762"/>
            <a:ext cx="55149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Applying Agentic principles to automate market research and data synthesis.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5" name="Google Shape;265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20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0"/>
          <p:cNvSpPr txBox="1"/>
          <p:nvPr/>
        </p:nvSpPr>
        <p:spPr>
          <a:xfrm>
            <a:off x="381000" y="6286500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Agentic systems trade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Compute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for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Human Time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269" name="Google Shape;269;p20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08</a:t>
            </a:r>
            <a:endParaRPr/>
          </a:p>
        </p:txBody>
      </p:sp>
      <p:grpSp>
        <p:nvGrpSpPr>
          <p:cNvPr id="270" name="Google Shape;270;p20"/>
          <p:cNvGrpSpPr/>
          <p:nvPr/>
        </p:nvGrpSpPr>
        <p:grpSpPr>
          <a:xfrm>
            <a:off x="762000" y="1104900"/>
            <a:ext cx="10668000" cy="571500"/>
            <a:chOff x="0" y="0"/>
            <a:chExt cx="10668000" cy="571500"/>
          </a:xfrm>
        </p:grpSpPr>
        <p:sp>
          <p:nvSpPr>
            <p:cNvPr id="271" name="Google Shape;271;p20"/>
            <p:cNvSpPr/>
            <p:nvPr/>
          </p:nvSpPr>
          <p:spPr>
            <a:xfrm>
              <a:off x="0" y="0"/>
              <a:ext cx="106680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20"/>
            <p:cNvSpPr txBox="1"/>
            <p:nvPr/>
          </p:nvSpPr>
          <p:spPr>
            <a:xfrm>
              <a:off x="0" y="0"/>
              <a:ext cx="10668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Agent Impact</a:t>
              </a:r>
              <a:endParaRPr sz="30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73" name="Google Shape;273;p20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0"/>
          <p:cNvSpPr/>
          <p:nvPr/>
        </p:nvSpPr>
        <p:spPr>
          <a:xfrm>
            <a:off x="762000" y="1905000"/>
            <a:ext cx="4762500" cy="3619500"/>
          </a:xfrm>
          <a:prstGeom prst="roundRect">
            <a:avLst>
              <a:gd name="adj" fmla="val 4210"/>
            </a:avLst>
          </a:prstGeom>
          <a:solidFill>
            <a:srgbClr val="F8FAFC"/>
          </a:solidFill>
          <a:ln w="143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20"/>
          <p:cNvSpPr txBox="1"/>
          <p:nvPr/>
        </p:nvSpPr>
        <p:spPr>
          <a:xfrm>
            <a:off x="762000" y="1905000"/>
            <a:ext cx="4762500" cy="36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0" tIns="381000" rIns="381000" bIns="381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600" b="1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rPr>
              <a:t>12x</a:t>
            </a:r>
            <a:endParaRPr sz="9600" b="1">
              <a:solidFill>
                <a:srgbClr val="166534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1125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Faster Data Synthesis</a:t>
            </a:r>
            <a:endParaRPr sz="2000" b="1">
              <a:solidFill>
                <a:srgbClr val="0F172A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Unlocking unprecedented research speeds with autonomous intelligence.</a:t>
            </a:r>
            <a:endParaRPr sz="1200" b="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76" name="Google Shape;276;p20"/>
          <p:cNvSpPr/>
          <p:nvPr/>
        </p:nvSpPr>
        <p:spPr>
          <a:xfrm>
            <a:off x="5905500" y="1905000"/>
            <a:ext cx="5524500" cy="3619500"/>
          </a:xfrm>
          <a:prstGeom prst="roundRect">
            <a:avLst>
              <a:gd name="adj" fmla="val 4210"/>
            </a:avLst>
          </a:prstGeom>
          <a:solidFill>
            <a:srgbClr val="F8FAFC"/>
          </a:solidFill>
          <a:ln w="143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20"/>
          <p:cNvSpPr txBox="1"/>
          <p:nvPr/>
        </p:nvSpPr>
        <p:spPr>
          <a:xfrm>
            <a:off x="5905500" y="1905000"/>
            <a:ext cx="5524500" cy="36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0" tIns="381000" rIns="381000" bIns="3810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Manual Researcher</a:t>
            </a:r>
            <a:endParaRPr sz="1100" b="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Takes </a:t>
            </a:r>
            <a:r>
              <a:rPr lang="en-US" sz="1300" b="1">
                <a:solidFill>
                  <a:srgbClr val="B91C1C"/>
                </a:solidFill>
                <a:latin typeface="Inter"/>
                <a:ea typeface="Inter"/>
                <a:cs typeface="Inter"/>
                <a:sym typeface="Inter"/>
              </a:rPr>
              <a:t>4 hours</a:t>
            </a:r>
            <a:r>
              <a:rPr lang="en-US" sz="1300" b="0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to find &amp; summarize 5 papers.</a:t>
            </a:r>
            <a:endParaRPr sz="1300" b="0">
              <a:solidFill>
                <a:srgbClr val="0F172A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0" lvl="0" indent="0" algn="l" rtl="0">
              <a:spcBef>
                <a:spcPts val="9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The Research Agent</a:t>
            </a:r>
            <a:endParaRPr sz="1100" b="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66534"/>
                </a:solidFill>
                <a:highlight>
                  <a:srgbClr val="F0FDF4"/>
                </a:highlight>
                <a:latin typeface="Inter"/>
                <a:ea typeface="Inter"/>
                <a:cs typeface="Inter"/>
                <a:sym typeface="Inter"/>
              </a:rPr>
              <a:t>Takes only 20 minutes.</a:t>
            </a:r>
            <a:endParaRPr sz="1500" b="1">
              <a:solidFill>
                <a:srgbClr val="166534"/>
              </a:solidFill>
              <a:highlight>
                <a:srgbClr val="F0FDF4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15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How it works</a:t>
            </a:r>
            <a:endParaRPr sz="1000" b="0">
              <a:solidFill>
                <a:srgbClr val="94A3B8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marL="457200" lvl="0" indent="-298450" algn="l" rtl="0">
              <a:spcBef>
                <a:spcPts val="60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Inter"/>
              <a:buChar char="●"/>
            </a:pPr>
            <a:r>
              <a:rPr lang="en-US" sz="1100" b="0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Parallel Search:</a:t>
            </a:r>
            <a:r>
              <a:rPr lang="en-US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Simultaneously queries 5 distinct sources.</a:t>
            </a:r>
            <a:endParaRPr sz="11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lvl="0" indent="-298450" algn="l" rtl="0">
              <a:spcBef>
                <a:spcPts val="45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Inter"/>
              <a:buChar char="●"/>
            </a:pPr>
            <a:r>
              <a:rPr lang="en-US" sz="1100" b="0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Automated Filtering:</a:t>
            </a:r>
            <a:r>
              <a:rPr lang="en-US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Screens instantly by relevance.</a:t>
            </a:r>
            <a:endParaRPr sz="11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lvl="0" indent="-298450" algn="l" rtl="0">
              <a:spcBef>
                <a:spcPts val="45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Inter"/>
              <a:buChar char="●"/>
            </a:pPr>
            <a:r>
              <a:rPr lang="en-US" sz="1100" b="0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Cross-Comparison:</a:t>
            </a:r>
            <a:r>
              <a:rPr lang="en-US" sz="110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Delivers real-time synthesis of findings.</a:t>
            </a:r>
            <a:endParaRPr sz="110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84" name="Google Shape;284;p21"/>
          <p:cNvGrpSpPr/>
          <p:nvPr/>
        </p:nvGrpSpPr>
        <p:grpSpPr>
          <a:xfrm>
            <a:off x="6000750" y="1809750"/>
            <a:ext cx="5429400" cy="4000500"/>
            <a:chOff x="6000750" y="1809750"/>
            <a:chExt cx="5429400" cy="4000500"/>
          </a:xfrm>
        </p:grpSpPr>
        <p:sp>
          <p:nvSpPr>
            <p:cNvPr id="285" name="Google Shape;285;p21"/>
            <p:cNvSpPr/>
            <p:nvPr/>
          </p:nvSpPr>
          <p:spPr>
            <a:xfrm>
              <a:off x="6000750" y="1809750"/>
              <a:ext cx="5429400" cy="4000500"/>
            </a:xfrm>
            <a:prstGeom prst="roundRect">
              <a:avLst>
                <a:gd name="adj" fmla="val 2857"/>
              </a:avLst>
            </a:prstGeom>
            <a:solidFill>
              <a:srgbClr val="F8FAFC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86" name="Google Shape;286;p21"/>
            <p:cNvPicPr preferRelativeResize="0"/>
            <p:nvPr/>
          </p:nvPicPr>
          <p:blipFill rotWithShape="1">
            <a:blip r:embed="rId5">
              <a:alphaModFix/>
            </a:blip>
            <a:srcRect t="787" b="797"/>
            <a:stretch/>
          </p:blipFill>
          <p:spPr>
            <a:xfrm>
              <a:off x="6191250" y="1952625"/>
              <a:ext cx="5048400" cy="37149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87" name="Google Shape;287;p21"/>
          <p:cNvGrpSpPr/>
          <p:nvPr/>
        </p:nvGrpSpPr>
        <p:grpSpPr>
          <a:xfrm>
            <a:off x="762000" y="2381250"/>
            <a:ext cx="4762500" cy="809700"/>
            <a:chOff x="0" y="0"/>
            <a:chExt cx="4762500" cy="809700"/>
          </a:xfrm>
        </p:grpSpPr>
        <p:sp>
          <p:nvSpPr>
            <p:cNvPr id="288" name="Google Shape;288;p21"/>
            <p:cNvSpPr/>
            <p:nvPr/>
          </p:nvSpPr>
          <p:spPr>
            <a:xfrm>
              <a:off x="0" y="0"/>
              <a:ext cx="4762500" cy="809700"/>
            </a:xfrm>
            <a:prstGeom prst="roundRect">
              <a:avLst>
                <a:gd name="adj" fmla="val 9411"/>
              </a:avLst>
            </a:prstGeom>
            <a:solidFill>
              <a:srgbClr val="EFF6FF"/>
            </a:solidFill>
            <a:ln w="9525" cap="flat" cmpd="sng">
              <a:solidFill>
                <a:srgbClr val="DBEA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21"/>
            <p:cNvSpPr/>
            <p:nvPr/>
          </p:nvSpPr>
          <p:spPr>
            <a:xfrm>
              <a:off x="0" y="0"/>
              <a:ext cx="76200" cy="8097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11294"/>
                  </a:moveTo>
                  <a:quadBezTo>
                    <a:pt x="0" y="0"/>
                    <a:pt x="120000" y="0"/>
                  </a:quadBezTo>
                  <a:lnTo>
                    <a:pt x="120000" y="120000"/>
                  </a:lnTo>
                  <a:quadBezTo>
                    <a:pt x="0" y="120000"/>
                    <a:pt x="0" y="108706"/>
                  </a:quadBezTo>
                  <a:close/>
                </a:path>
              </a:pathLst>
            </a:custGeom>
            <a:solidFill>
              <a:srgbClr val="3B82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1"/>
            <p:cNvSpPr txBox="1"/>
            <p:nvPr/>
          </p:nvSpPr>
          <p:spPr>
            <a:xfrm>
              <a:off x="228600" y="0"/>
              <a:ext cx="43434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1E3A8A"/>
                  </a:solidFill>
                  <a:latin typeface="Inter"/>
                  <a:ea typeface="Inter"/>
                  <a:cs typeface="Inter"/>
                  <a:sym typeface="Inter"/>
                </a:rPr>
                <a:t>1. The Scout</a:t>
              </a:r>
              <a:endParaRPr sz="1400" b="1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1E40AF"/>
                  </a:solidFill>
                  <a:latin typeface="Inter"/>
                  <a:ea typeface="Inter"/>
                  <a:cs typeface="Inter"/>
                  <a:sym typeface="Inter"/>
                </a:rPr>
                <a:t>Searches the web and structured databases for raw information.</a:t>
              </a:r>
              <a:endParaRPr sz="1100" b="0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91" name="Google Shape;291;p21"/>
          <p:cNvGrpSpPr/>
          <p:nvPr/>
        </p:nvGrpSpPr>
        <p:grpSpPr>
          <a:xfrm>
            <a:off x="762000" y="3333750"/>
            <a:ext cx="4762500" cy="809700"/>
            <a:chOff x="0" y="0"/>
            <a:chExt cx="4762500" cy="809700"/>
          </a:xfrm>
        </p:grpSpPr>
        <p:sp>
          <p:nvSpPr>
            <p:cNvPr id="292" name="Google Shape;292;p21"/>
            <p:cNvSpPr/>
            <p:nvPr/>
          </p:nvSpPr>
          <p:spPr>
            <a:xfrm>
              <a:off x="0" y="0"/>
              <a:ext cx="4762500" cy="809700"/>
            </a:xfrm>
            <a:prstGeom prst="roundRect">
              <a:avLst>
                <a:gd name="adj" fmla="val 9411"/>
              </a:avLst>
            </a:prstGeom>
            <a:solidFill>
              <a:srgbClr val="F0FDF4"/>
            </a:solidFill>
            <a:ln w="9525" cap="flat" cmpd="sng">
              <a:solidFill>
                <a:srgbClr val="DCFC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1"/>
            <p:cNvSpPr/>
            <p:nvPr/>
          </p:nvSpPr>
          <p:spPr>
            <a:xfrm>
              <a:off x="0" y="0"/>
              <a:ext cx="76200" cy="8097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11294"/>
                  </a:moveTo>
                  <a:quadBezTo>
                    <a:pt x="0" y="0"/>
                    <a:pt x="120000" y="0"/>
                  </a:quadBezTo>
                  <a:lnTo>
                    <a:pt x="120000" y="120000"/>
                  </a:lnTo>
                  <a:quadBezTo>
                    <a:pt x="0" y="120000"/>
                    <a:pt x="0" y="108706"/>
                  </a:quadBezTo>
                  <a:close/>
                </a:path>
              </a:pathLst>
            </a:cu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21"/>
            <p:cNvSpPr txBox="1"/>
            <p:nvPr/>
          </p:nvSpPr>
          <p:spPr>
            <a:xfrm>
              <a:off x="228600" y="0"/>
              <a:ext cx="43434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14532D"/>
                  </a:solidFill>
                  <a:latin typeface="Inter"/>
                  <a:ea typeface="Inter"/>
                  <a:cs typeface="Inter"/>
                  <a:sym typeface="Inter"/>
                </a:rPr>
                <a:t>2. The Analyst</a:t>
              </a:r>
              <a:endParaRPr sz="1400" b="1">
                <a:solidFill>
                  <a:srgbClr val="14532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166534"/>
                  </a:solidFill>
                  <a:latin typeface="Inter"/>
                  <a:ea typeface="Inter"/>
                  <a:cs typeface="Inter"/>
                  <a:sym typeface="Inter"/>
                </a:rPr>
                <a:t>Reads content thoroughly, extracts insights, and fact-checks data.</a:t>
              </a:r>
              <a:endParaRPr sz="1100" b="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95" name="Google Shape;295;p21"/>
          <p:cNvGrpSpPr/>
          <p:nvPr/>
        </p:nvGrpSpPr>
        <p:grpSpPr>
          <a:xfrm>
            <a:off x="762000" y="4286250"/>
            <a:ext cx="4762500" cy="809700"/>
            <a:chOff x="0" y="0"/>
            <a:chExt cx="4762500" cy="809700"/>
          </a:xfrm>
        </p:grpSpPr>
        <p:sp>
          <p:nvSpPr>
            <p:cNvPr id="296" name="Google Shape;296;p21"/>
            <p:cNvSpPr/>
            <p:nvPr/>
          </p:nvSpPr>
          <p:spPr>
            <a:xfrm>
              <a:off x="0" y="0"/>
              <a:ext cx="4762500" cy="809700"/>
            </a:xfrm>
            <a:prstGeom prst="roundRect">
              <a:avLst>
                <a:gd name="adj" fmla="val 9411"/>
              </a:avLst>
            </a:prstGeom>
            <a:solidFill>
              <a:srgbClr val="FEF9C3"/>
            </a:solidFill>
            <a:ln w="9525" cap="flat" cmpd="sng">
              <a:solidFill>
                <a:srgbClr val="FEF08A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21"/>
            <p:cNvSpPr/>
            <p:nvPr/>
          </p:nvSpPr>
          <p:spPr>
            <a:xfrm>
              <a:off x="0" y="0"/>
              <a:ext cx="76200" cy="8097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11294"/>
                  </a:moveTo>
                  <a:quadBezTo>
                    <a:pt x="0" y="0"/>
                    <a:pt x="120000" y="0"/>
                  </a:quadBezTo>
                  <a:lnTo>
                    <a:pt x="120000" y="120000"/>
                  </a:lnTo>
                  <a:quadBezTo>
                    <a:pt x="0" y="120000"/>
                    <a:pt x="0" y="108706"/>
                  </a:quadBezTo>
                  <a:close/>
                </a:path>
              </a:pathLst>
            </a:custGeom>
            <a:solidFill>
              <a:srgbClr val="EAB30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21"/>
            <p:cNvSpPr txBox="1"/>
            <p:nvPr/>
          </p:nvSpPr>
          <p:spPr>
            <a:xfrm>
              <a:off x="228600" y="0"/>
              <a:ext cx="43434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713F12"/>
                  </a:solidFill>
                  <a:latin typeface="Inter"/>
                  <a:ea typeface="Inter"/>
                  <a:cs typeface="Inter"/>
                  <a:sym typeface="Inter"/>
                </a:rPr>
                <a:t>3. The Editor</a:t>
              </a:r>
              <a:endParaRPr sz="1400" b="1">
                <a:solidFill>
                  <a:srgbClr val="713F12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854D0E"/>
                  </a:solidFill>
                  <a:latin typeface="Inter"/>
                  <a:ea typeface="Inter"/>
                  <a:cs typeface="Inter"/>
                  <a:sym typeface="Inter"/>
                </a:rPr>
                <a:t>Synthesizes perspectives and drafts the finalized comprehensive report.</a:t>
              </a:r>
              <a:endParaRPr sz="1100" b="0">
                <a:solidFill>
                  <a:srgbClr val="854D0E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299" name="Google Shape;299;p21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1"/>
          <p:cNvSpPr txBox="1"/>
          <p:nvPr/>
        </p:nvSpPr>
        <p:spPr>
          <a:xfrm>
            <a:off x="381000" y="6286500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Complexity is managed by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Delegation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between specialized agents.</a:t>
            </a:r>
            <a:endParaRPr/>
          </a:p>
        </p:txBody>
      </p:sp>
      <p:sp>
        <p:nvSpPr>
          <p:cNvPr id="301" name="Google Shape;301;p21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09</a:t>
            </a:r>
            <a:endParaRPr/>
          </a:p>
        </p:txBody>
      </p:sp>
      <p:sp>
        <p:nvSpPr>
          <p:cNvPr id="302" name="Google Shape;302;p21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Agent Workflow Architecture</a:t>
            </a:r>
            <a:endParaRPr/>
          </a:p>
        </p:txBody>
      </p:sp>
      <p:sp>
        <p:nvSpPr>
          <p:cNvPr id="303" name="Google Shape;303;p21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1"/>
          <p:cNvSpPr txBox="1"/>
          <p:nvPr/>
        </p:nvSpPr>
        <p:spPr>
          <a:xfrm>
            <a:off x="762000" y="1809750"/>
            <a:ext cx="4762500" cy="461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>
                <a:solidFill>
                  <a:srgbClr val="334155"/>
                </a:solidFill>
                <a:latin typeface="Inter Medium"/>
                <a:ea typeface="Inter Medium"/>
                <a:cs typeface="Inter Medium"/>
                <a:sym typeface="Inter Medium"/>
              </a:rPr>
              <a:t>The Research Assistant operates as a </a:t>
            </a:r>
            <a:r>
              <a:rPr lang="en-US" sz="1500" b="1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Multi-Agent Team</a:t>
            </a:r>
            <a:r>
              <a:rPr lang="en-US" sz="1500" b="0">
                <a:solidFill>
                  <a:srgbClr val="334155"/>
                </a:solidFill>
                <a:latin typeface="Inter Medium"/>
                <a:ea typeface="Inter Medium"/>
                <a:cs typeface="Inter Medium"/>
                <a:sym typeface="Inter Medium"/>
              </a:rPr>
              <a:t>:</a:t>
            </a:r>
            <a:endParaRPr sz="1500" b="0">
              <a:solidFill>
                <a:srgbClr val="334155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9" name="Google Shape;309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22"/>
          <p:cNvSpPr txBox="1"/>
          <p:nvPr/>
        </p:nvSpPr>
        <p:spPr>
          <a:xfrm>
            <a:off x="762000" y="1104900"/>
            <a:ext cx="10668000" cy="461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The "Scout" Agent</a:t>
            </a:r>
            <a:endParaRPr sz="3000" b="1">
              <a:solidFill>
                <a:srgbClr val="0F17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12" name="Google Shape;312;p22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solidFill>
            <a:srgbClr val="000000">
              <a:alpha val="0"/>
            </a:srgbClr>
          </a:solidFill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13" name="Google Shape;313;p22"/>
          <p:cNvGrpSpPr/>
          <p:nvPr/>
        </p:nvGrpSpPr>
        <p:grpSpPr>
          <a:xfrm>
            <a:off x="8953500" y="266700"/>
            <a:ext cx="2857500" cy="190500"/>
            <a:chOff x="0" y="0"/>
            <a:chExt cx="2857500" cy="190500"/>
          </a:xfrm>
        </p:grpSpPr>
        <p:sp>
          <p:nvSpPr>
            <p:cNvPr id="314" name="Google Shape;314;p22"/>
            <p:cNvSpPr/>
            <p:nvPr/>
          </p:nvSpPr>
          <p:spPr>
            <a:xfrm>
              <a:off x="0" y="0"/>
              <a:ext cx="28575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22"/>
            <p:cNvSpPr txBox="1"/>
            <p:nvPr/>
          </p:nvSpPr>
          <p:spPr>
            <a:xfrm>
              <a:off x="0" y="0"/>
              <a:ext cx="2857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94A3B8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Slide 10</a:t>
              </a:r>
              <a:endParaRPr sz="1200" b="0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316" name="Google Shape;316;p22"/>
          <p:cNvGrpSpPr/>
          <p:nvPr/>
        </p:nvGrpSpPr>
        <p:grpSpPr>
          <a:xfrm>
            <a:off x="762000" y="1809750"/>
            <a:ext cx="10668000" cy="285900"/>
            <a:chOff x="0" y="0"/>
            <a:chExt cx="10668000" cy="285900"/>
          </a:xfrm>
        </p:grpSpPr>
        <p:sp>
          <p:nvSpPr>
            <p:cNvPr id="317" name="Google Shape;317;p22"/>
            <p:cNvSpPr/>
            <p:nvPr/>
          </p:nvSpPr>
          <p:spPr>
            <a:xfrm>
              <a:off x="0" y="0"/>
              <a:ext cx="106680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2"/>
            <p:cNvSpPr txBox="1"/>
            <p:nvPr/>
          </p:nvSpPr>
          <p:spPr>
            <a:xfrm>
              <a:off x="0" y="0"/>
              <a:ext cx="10668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The first stage of the lifecycle is </a:t>
              </a:r>
              <a:r>
                <a:rPr lang="en-US" sz="140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Autonomous Discovery</a:t>
              </a:r>
              <a:r>
                <a:rPr lang="en-US" sz="1400" b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. The agent must:</a:t>
              </a:r>
              <a:endParaRPr sz="1400" b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19" name="Google Shape;319;p22"/>
          <p:cNvGrpSpPr/>
          <p:nvPr/>
        </p:nvGrpSpPr>
        <p:grpSpPr>
          <a:xfrm>
            <a:off x="762000" y="2381250"/>
            <a:ext cx="3238500" cy="3333900"/>
            <a:chOff x="0" y="0"/>
            <a:chExt cx="3238500" cy="3333900"/>
          </a:xfrm>
        </p:grpSpPr>
        <p:sp>
          <p:nvSpPr>
            <p:cNvPr id="320" name="Google Shape;320;p22"/>
            <p:cNvSpPr/>
            <p:nvPr/>
          </p:nvSpPr>
          <p:spPr>
            <a:xfrm>
              <a:off x="0" y="0"/>
              <a:ext cx="3238500" cy="3333900"/>
            </a:xfrm>
            <a:prstGeom prst="roundRect">
              <a:avLst>
                <a:gd name="adj" fmla="val 4705"/>
              </a:avLst>
            </a:prstGeom>
            <a:solidFill>
              <a:srgbClr val="EFF6FF"/>
            </a:solidFill>
            <a:ln w="14300" cap="flat" cmpd="sng">
              <a:solidFill>
                <a:srgbClr val="DBEA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22"/>
            <p:cNvSpPr/>
            <p:nvPr/>
          </p:nvSpPr>
          <p:spPr>
            <a:xfrm>
              <a:off x="0" y="381000"/>
              <a:ext cx="76200" cy="2571900"/>
            </a:xfrm>
            <a:prstGeom prst="roundRect">
              <a:avLst>
                <a:gd name="adj" fmla="val 50000"/>
              </a:avLst>
            </a:prstGeom>
            <a:solidFill>
              <a:srgbClr val="3B82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22"/>
            <p:cNvSpPr txBox="1"/>
            <p:nvPr/>
          </p:nvSpPr>
          <p:spPr>
            <a:xfrm>
              <a:off x="285750" y="381000"/>
              <a:ext cx="2667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search</a:t>
              </a:r>
              <a:endParaRPr sz="1100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1E3A8A"/>
                  </a:solidFill>
                  <a:latin typeface="Inter"/>
                  <a:ea typeface="Inter"/>
                  <a:cs typeface="Inter"/>
                  <a:sym typeface="Inter"/>
                </a:rPr>
                <a:t>Web Search</a:t>
              </a:r>
              <a:endParaRPr sz="1800" b="1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1E40AF"/>
                  </a:solidFill>
                  <a:latin typeface="Inter"/>
                  <a:ea typeface="Inter"/>
                  <a:cs typeface="Inter"/>
                  <a:sym typeface="Inter"/>
                </a:rPr>
                <a:t>Access Web Search APIs (Google, Bing) to gather real-time data from across the web.</a:t>
              </a:r>
              <a:endParaRPr sz="1200" b="0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23" name="Google Shape;323;p22"/>
          <p:cNvGrpSpPr/>
          <p:nvPr/>
        </p:nvGrpSpPr>
        <p:grpSpPr>
          <a:xfrm>
            <a:off x="4476750" y="2381250"/>
            <a:ext cx="3238500" cy="3333900"/>
            <a:chOff x="0" y="0"/>
            <a:chExt cx="3238500" cy="3333900"/>
          </a:xfrm>
        </p:grpSpPr>
        <p:sp>
          <p:nvSpPr>
            <p:cNvPr id="324" name="Google Shape;324;p22"/>
            <p:cNvSpPr/>
            <p:nvPr/>
          </p:nvSpPr>
          <p:spPr>
            <a:xfrm>
              <a:off x="0" y="0"/>
              <a:ext cx="3238500" cy="3333900"/>
            </a:xfrm>
            <a:prstGeom prst="roundRect">
              <a:avLst>
                <a:gd name="adj" fmla="val 4705"/>
              </a:avLst>
            </a:prstGeom>
            <a:solidFill>
              <a:srgbClr val="EFF6FF"/>
            </a:solidFill>
            <a:ln w="14300" cap="flat" cmpd="sng">
              <a:solidFill>
                <a:srgbClr val="DBEA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22"/>
            <p:cNvSpPr/>
            <p:nvPr/>
          </p:nvSpPr>
          <p:spPr>
            <a:xfrm>
              <a:off x="0" y="381000"/>
              <a:ext cx="76200" cy="2571900"/>
            </a:xfrm>
            <a:prstGeom prst="roundRect">
              <a:avLst>
                <a:gd name="adj" fmla="val 50000"/>
              </a:avLst>
            </a:prstGeom>
            <a:solidFill>
              <a:srgbClr val="3B82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22"/>
            <p:cNvSpPr txBox="1"/>
            <p:nvPr/>
          </p:nvSpPr>
          <p:spPr>
            <a:xfrm>
              <a:off x="285750" y="381000"/>
              <a:ext cx="2667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school</a:t>
              </a:r>
              <a:endParaRPr sz="1100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1E3A8A"/>
                  </a:solidFill>
                  <a:latin typeface="Inter"/>
                  <a:ea typeface="Inter"/>
                  <a:cs typeface="Inter"/>
                  <a:sym typeface="Inter"/>
                </a:rPr>
                <a:t>Academic Bases</a:t>
              </a:r>
              <a:endParaRPr sz="1800" b="1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1E40AF"/>
                  </a:solidFill>
                  <a:latin typeface="Inter"/>
                  <a:ea typeface="Inter"/>
                  <a:cs typeface="Inter"/>
                  <a:sym typeface="Inter"/>
                </a:rPr>
                <a:t>Query academic databases (ArXiv, IEEE) to extract high-fidelity scientific literature.</a:t>
              </a:r>
              <a:endParaRPr sz="1200" b="0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27" name="Google Shape;327;p22"/>
          <p:cNvGrpSpPr/>
          <p:nvPr/>
        </p:nvGrpSpPr>
        <p:grpSpPr>
          <a:xfrm>
            <a:off x="8191500" y="2381250"/>
            <a:ext cx="3238500" cy="3333900"/>
            <a:chOff x="0" y="0"/>
            <a:chExt cx="3238500" cy="3333900"/>
          </a:xfrm>
        </p:grpSpPr>
        <p:sp>
          <p:nvSpPr>
            <p:cNvPr id="328" name="Google Shape;328;p22"/>
            <p:cNvSpPr/>
            <p:nvPr/>
          </p:nvSpPr>
          <p:spPr>
            <a:xfrm>
              <a:off x="0" y="0"/>
              <a:ext cx="3238500" cy="3333900"/>
            </a:xfrm>
            <a:prstGeom prst="roundRect">
              <a:avLst>
                <a:gd name="adj" fmla="val 4705"/>
              </a:avLst>
            </a:prstGeom>
            <a:solidFill>
              <a:srgbClr val="EFF6FF"/>
            </a:solidFill>
            <a:ln w="14300" cap="flat" cmpd="sng">
              <a:solidFill>
                <a:srgbClr val="DBEA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22"/>
            <p:cNvSpPr/>
            <p:nvPr/>
          </p:nvSpPr>
          <p:spPr>
            <a:xfrm>
              <a:off x="0" y="381000"/>
              <a:ext cx="76200" cy="2571900"/>
            </a:xfrm>
            <a:prstGeom prst="roundRect">
              <a:avLst>
                <a:gd name="adj" fmla="val 50000"/>
              </a:avLst>
            </a:prstGeom>
            <a:solidFill>
              <a:srgbClr val="3B82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22"/>
            <p:cNvSpPr txBox="1"/>
            <p:nvPr/>
          </p:nvSpPr>
          <p:spPr>
            <a:xfrm>
              <a:off x="285750" y="381000"/>
              <a:ext cx="2667000" cy="2571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filter_alt</a:t>
              </a:r>
              <a:endParaRPr sz="1100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1E3A8A"/>
                  </a:solidFill>
                  <a:latin typeface="Inter"/>
                  <a:ea typeface="Inter"/>
                  <a:cs typeface="Inter"/>
                  <a:sym typeface="Inter"/>
                </a:rPr>
                <a:t>Smart Filtering</a:t>
              </a:r>
              <a:endParaRPr sz="1800" b="1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1E40AF"/>
                  </a:solidFill>
                  <a:latin typeface="Inter"/>
                  <a:ea typeface="Inter"/>
                  <a:cs typeface="Inter"/>
                  <a:sym typeface="Inter"/>
                </a:rPr>
                <a:t>Filter by recency and relevance to ensure only high-quality documents are promoted.</a:t>
              </a:r>
              <a:endParaRPr sz="1200" b="0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331" name="Google Shape;331;p22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2"/>
          <p:cNvSpPr txBox="1"/>
          <p:nvPr/>
        </p:nvSpPr>
        <p:spPr>
          <a:xfrm>
            <a:off x="381000" y="6437494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Scouting is the 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Perception Layer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of the Research Assistant.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3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3"/>
          <p:cNvSpPr txBox="1"/>
          <p:nvPr/>
        </p:nvSpPr>
        <p:spPr>
          <a:xfrm>
            <a:off x="381000" y="6434137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Observation allows agents to 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identify their own mistakes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before final delivery.</a:t>
            </a:r>
            <a:endParaRPr dirty="0"/>
          </a:p>
        </p:txBody>
      </p:sp>
      <p:sp>
        <p:nvSpPr>
          <p:cNvPr id="341" name="Google Shape;341;p23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11</a:t>
            </a:r>
            <a:endParaRPr/>
          </a:p>
        </p:txBody>
      </p:sp>
      <p:sp>
        <p:nvSpPr>
          <p:cNvPr id="342" name="Google Shape;342;p23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Error Detection in Self-Correction</a:t>
            </a:r>
            <a:endParaRPr/>
          </a:p>
        </p:txBody>
      </p:sp>
      <p:sp>
        <p:nvSpPr>
          <p:cNvPr id="343" name="Google Shape;343;p23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44" name="Google Shape;344;p23"/>
          <p:cNvGrpSpPr/>
          <p:nvPr/>
        </p:nvGrpSpPr>
        <p:grpSpPr>
          <a:xfrm>
            <a:off x="762000" y="1809750"/>
            <a:ext cx="10668000" cy="285900"/>
            <a:chOff x="0" y="0"/>
            <a:chExt cx="10668000" cy="285900"/>
          </a:xfrm>
        </p:grpSpPr>
        <p:sp>
          <p:nvSpPr>
            <p:cNvPr id="345" name="Google Shape;345;p23"/>
            <p:cNvSpPr/>
            <p:nvPr/>
          </p:nvSpPr>
          <p:spPr>
            <a:xfrm>
              <a:off x="0" y="0"/>
              <a:ext cx="106680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23"/>
            <p:cNvSpPr txBox="1"/>
            <p:nvPr/>
          </p:nvSpPr>
          <p:spPr>
            <a:xfrm>
              <a:off x="0" y="0"/>
              <a:ext cx="10668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Analysis of the system </a:t>
              </a:r>
              <a:r>
                <a:rPr lang="en-US" sz="1400" b="1">
                  <a:solidFill>
                    <a:srgbClr val="0F172A"/>
                  </a:solidFill>
                  <a:latin typeface="Inter"/>
                  <a:ea typeface="Inter"/>
                  <a:cs typeface="Inter"/>
                  <a:sym typeface="Inter"/>
                </a:rPr>
                <a:t>Audit Log</a:t>
              </a:r>
              <a:r>
                <a:rPr lang="en-US" sz="1400" b="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reveals the main categories of self-corrected errors:</a:t>
              </a:r>
              <a:endParaRPr sz="1400" b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47" name="Google Shape;347;p23"/>
          <p:cNvGrpSpPr/>
          <p:nvPr/>
        </p:nvGrpSpPr>
        <p:grpSpPr>
          <a:xfrm>
            <a:off x="762000" y="2381250"/>
            <a:ext cx="3238500" cy="3333900"/>
            <a:chOff x="0" y="0"/>
            <a:chExt cx="3238500" cy="3333900"/>
          </a:xfrm>
        </p:grpSpPr>
        <p:sp>
          <p:nvSpPr>
            <p:cNvPr id="348" name="Google Shape;348;p23"/>
            <p:cNvSpPr/>
            <p:nvPr/>
          </p:nvSpPr>
          <p:spPr>
            <a:xfrm>
              <a:off x="0" y="0"/>
              <a:ext cx="3238500" cy="3333900"/>
            </a:xfrm>
            <a:prstGeom prst="roundRect">
              <a:avLst>
                <a:gd name="adj" fmla="val 4705"/>
              </a:avLst>
            </a:prstGeom>
            <a:solidFill>
              <a:srgbClr val="FFF7ED"/>
            </a:solidFill>
            <a:ln w="14300" cap="flat" cmpd="sng">
              <a:solidFill>
                <a:srgbClr val="FFED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23"/>
            <p:cNvSpPr/>
            <p:nvPr/>
          </p:nvSpPr>
          <p:spPr>
            <a:xfrm>
              <a:off x="0" y="381000"/>
              <a:ext cx="76200" cy="2571900"/>
            </a:xfrm>
            <a:prstGeom prst="roundRect">
              <a:avLst>
                <a:gd name="adj" fmla="val 50000"/>
              </a:avLst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0" name="Google Shape;350;p23"/>
            <p:cNvGrpSpPr/>
            <p:nvPr/>
          </p:nvGrpSpPr>
          <p:grpSpPr>
            <a:xfrm>
              <a:off x="285750" y="381000"/>
              <a:ext cx="2667000" cy="2571900"/>
              <a:chOff x="0" y="0"/>
              <a:chExt cx="2667000" cy="2571900"/>
            </a:xfrm>
          </p:grpSpPr>
          <p:sp>
            <p:nvSpPr>
              <p:cNvPr id="351" name="Google Shape;351;p23"/>
              <p:cNvSpPr/>
              <p:nvPr/>
            </p:nvSpPr>
            <p:spPr>
              <a:xfrm>
                <a:off x="0" y="0"/>
                <a:ext cx="2667000" cy="25719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Google Shape;352;p23"/>
              <p:cNvSpPr txBox="1"/>
              <p:nvPr/>
            </p:nvSpPr>
            <p:spPr>
              <a:xfrm>
                <a:off x="0" y="0"/>
                <a:ext cx="2667000" cy="2571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600" b="0">
                    <a:solidFill>
                      <a:srgbClr val="F97316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build</a:t>
                </a:r>
                <a:endParaRPr sz="3600" b="0">
                  <a:solidFill>
                    <a:srgbClr val="F97316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  <a:p>
                <a:pPr marL="0" lvl="0" indent="0" algn="l" rtl="0">
                  <a:spcBef>
                    <a:spcPts val="750"/>
                  </a:spcBef>
                  <a:spcAft>
                    <a:spcPts val="0"/>
                  </a:spcAft>
                  <a:buNone/>
                </a:pPr>
                <a:r>
                  <a:rPr lang="en-US" sz="4000" b="1">
                    <a:solidFill>
                      <a:srgbClr val="0F172A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40%</a:t>
                </a:r>
                <a:endParaRPr sz="40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marL="0" lvl="0" indent="0" algn="l" rtl="0">
                  <a:spcBef>
                    <a:spcPts val="375"/>
                  </a:spcBef>
                  <a:spcAft>
                    <a:spcPts val="0"/>
                  </a:spcAft>
                  <a:buNone/>
                </a:pPr>
                <a:r>
                  <a:rPr lang="en-US" sz="1800" b="1">
                    <a:solidFill>
                      <a:srgbClr val="7C2D12"/>
                    </a:solidFill>
                    <a:latin typeface="Inter"/>
                    <a:ea typeface="Inter"/>
                    <a:cs typeface="Inter"/>
                    <a:sym typeface="Inter"/>
                  </a:rPr>
                  <a:t>Tool Calling</a:t>
                </a:r>
                <a:endParaRPr sz="1800" b="1">
                  <a:solidFill>
                    <a:srgbClr val="7C2D12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en-US" sz="1200" b="0">
                    <a:solidFill>
                      <a:srgbClr val="9A3412"/>
                    </a:solidFill>
                    <a:latin typeface="Inter"/>
                    <a:ea typeface="Inter"/>
                    <a:cs typeface="Inter"/>
                    <a:sym typeface="Inter"/>
                  </a:rPr>
                  <a:t>Errors occurring during external API integration, parameter parsing, or execution attempts.</a:t>
                </a:r>
                <a:endParaRPr sz="1200" b="0">
                  <a:solidFill>
                    <a:srgbClr val="9A3412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353" name="Google Shape;353;p23"/>
          <p:cNvGrpSpPr/>
          <p:nvPr/>
        </p:nvGrpSpPr>
        <p:grpSpPr>
          <a:xfrm>
            <a:off x="4476750" y="2381250"/>
            <a:ext cx="3238500" cy="3333900"/>
            <a:chOff x="0" y="0"/>
            <a:chExt cx="3238500" cy="3333900"/>
          </a:xfrm>
        </p:grpSpPr>
        <p:sp>
          <p:nvSpPr>
            <p:cNvPr id="354" name="Google Shape;354;p23"/>
            <p:cNvSpPr/>
            <p:nvPr/>
          </p:nvSpPr>
          <p:spPr>
            <a:xfrm>
              <a:off x="0" y="0"/>
              <a:ext cx="3238500" cy="3333900"/>
            </a:xfrm>
            <a:prstGeom prst="roundRect">
              <a:avLst>
                <a:gd name="adj" fmla="val 4705"/>
              </a:avLst>
            </a:prstGeom>
            <a:solidFill>
              <a:srgbClr val="F0FDF4"/>
            </a:solidFill>
            <a:ln w="14300" cap="flat" cmpd="sng">
              <a:solidFill>
                <a:srgbClr val="DCFC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23"/>
            <p:cNvSpPr/>
            <p:nvPr/>
          </p:nvSpPr>
          <p:spPr>
            <a:xfrm>
              <a:off x="0" y="381000"/>
              <a:ext cx="76200" cy="2571900"/>
            </a:xfrm>
            <a:prstGeom prst="roundRect">
              <a:avLst>
                <a:gd name="adj" fmla="val 50000"/>
              </a:avLst>
            </a:pr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6" name="Google Shape;356;p23"/>
            <p:cNvGrpSpPr/>
            <p:nvPr/>
          </p:nvGrpSpPr>
          <p:grpSpPr>
            <a:xfrm>
              <a:off x="285750" y="381000"/>
              <a:ext cx="2667000" cy="2571900"/>
              <a:chOff x="0" y="0"/>
              <a:chExt cx="2667000" cy="2571900"/>
            </a:xfrm>
          </p:grpSpPr>
          <p:sp>
            <p:nvSpPr>
              <p:cNvPr id="357" name="Google Shape;357;p23"/>
              <p:cNvSpPr/>
              <p:nvPr/>
            </p:nvSpPr>
            <p:spPr>
              <a:xfrm>
                <a:off x="0" y="0"/>
                <a:ext cx="2667000" cy="25719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Google Shape;358;p23"/>
              <p:cNvSpPr txBox="1"/>
              <p:nvPr/>
            </p:nvSpPr>
            <p:spPr>
              <a:xfrm>
                <a:off x="0" y="0"/>
                <a:ext cx="2667000" cy="2571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600" b="0">
                    <a:solidFill>
                      <a:srgbClr val="22C55E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psychology</a:t>
                </a:r>
                <a:endParaRPr sz="3600" b="0">
                  <a:solidFill>
                    <a:srgbClr val="22C55E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  <a:p>
                <a:pPr marL="0" lvl="0" indent="0" algn="l" rtl="0">
                  <a:spcBef>
                    <a:spcPts val="750"/>
                  </a:spcBef>
                  <a:spcAft>
                    <a:spcPts val="0"/>
                  </a:spcAft>
                  <a:buNone/>
                </a:pPr>
                <a:r>
                  <a:rPr lang="en-US" sz="4000" b="1">
                    <a:solidFill>
                      <a:srgbClr val="0F172A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30%</a:t>
                </a:r>
                <a:endParaRPr sz="40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marL="0" lvl="0" indent="0" algn="l" rtl="0">
                  <a:spcBef>
                    <a:spcPts val="375"/>
                  </a:spcBef>
                  <a:spcAft>
                    <a:spcPts val="0"/>
                  </a:spcAft>
                  <a:buNone/>
                </a:pPr>
                <a:r>
                  <a:rPr lang="en-US" sz="1800" b="1">
                    <a:solidFill>
                      <a:srgbClr val="14532D"/>
                    </a:solidFill>
                    <a:latin typeface="Inter"/>
                    <a:ea typeface="Inter"/>
                    <a:cs typeface="Inter"/>
                    <a:sym typeface="Inter"/>
                  </a:rPr>
                  <a:t>Hallucinations</a:t>
                </a:r>
                <a:endParaRPr sz="1800" b="1">
                  <a:solidFill>
                    <a:srgbClr val="14532D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en-US" sz="1200" b="0">
                    <a:solidFill>
                      <a:srgbClr val="166534"/>
                    </a:solidFill>
                    <a:latin typeface="Inter"/>
                    <a:ea typeface="Inter"/>
                    <a:cs typeface="Inter"/>
                    <a:sym typeface="Inter"/>
                  </a:rPr>
                  <a:t>Detection of factual inconsistencies, groundless claims, or unverified outputs.</a:t>
                </a:r>
                <a:endParaRPr sz="1200" b="0">
                  <a:solidFill>
                    <a:srgbClr val="166534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359" name="Google Shape;359;p23"/>
          <p:cNvGrpSpPr/>
          <p:nvPr/>
        </p:nvGrpSpPr>
        <p:grpSpPr>
          <a:xfrm>
            <a:off x="8191500" y="2381250"/>
            <a:ext cx="3238500" cy="3333900"/>
            <a:chOff x="0" y="0"/>
            <a:chExt cx="3238500" cy="3333900"/>
          </a:xfrm>
        </p:grpSpPr>
        <p:sp>
          <p:nvSpPr>
            <p:cNvPr id="360" name="Google Shape;360;p23"/>
            <p:cNvSpPr/>
            <p:nvPr/>
          </p:nvSpPr>
          <p:spPr>
            <a:xfrm>
              <a:off x="0" y="0"/>
              <a:ext cx="3238500" cy="3333900"/>
            </a:xfrm>
            <a:prstGeom prst="roundRect">
              <a:avLst>
                <a:gd name="adj" fmla="val 4705"/>
              </a:avLst>
            </a:prstGeom>
            <a:solidFill>
              <a:srgbClr val="F0F9FF"/>
            </a:solidFill>
            <a:ln w="14300" cap="flat" cmpd="sng">
              <a:solidFill>
                <a:srgbClr val="E0F2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23"/>
            <p:cNvSpPr/>
            <p:nvPr/>
          </p:nvSpPr>
          <p:spPr>
            <a:xfrm>
              <a:off x="0" y="381000"/>
              <a:ext cx="76200" cy="2571900"/>
            </a:xfrm>
            <a:prstGeom prst="roundRect">
              <a:avLst>
                <a:gd name="adj" fmla="val 50000"/>
              </a:avLst>
            </a:prstGeom>
            <a:solidFill>
              <a:srgbClr val="0EA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62" name="Google Shape;362;p23"/>
            <p:cNvGrpSpPr/>
            <p:nvPr/>
          </p:nvGrpSpPr>
          <p:grpSpPr>
            <a:xfrm>
              <a:off x="285750" y="381000"/>
              <a:ext cx="2667000" cy="2571900"/>
              <a:chOff x="0" y="0"/>
              <a:chExt cx="2667000" cy="2571900"/>
            </a:xfrm>
          </p:grpSpPr>
          <p:sp>
            <p:nvSpPr>
              <p:cNvPr id="363" name="Google Shape;363;p23"/>
              <p:cNvSpPr/>
              <p:nvPr/>
            </p:nvSpPr>
            <p:spPr>
              <a:xfrm>
                <a:off x="0" y="0"/>
                <a:ext cx="2667000" cy="25719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Google Shape;364;p23"/>
              <p:cNvSpPr txBox="1"/>
              <p:nvPr/>
            </p:nvSpPr>
            <p:spPr>
              <a:xfrm>
                <a:off x="0" y="0"/>
                <a:ext cx="2667000" cy="2571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3600" b="0">
                    <a:solidFill>
                      <a:srgbClr val="0EA5E9"/>
                    </a:solidFill>
                    <a:latin typeface="Material Icons"/>
                    <a:ea typeface="Material Icons"/>
                    <a:cs typeface="Material Icons"/>
                    <a:sym typeface="Material Icons"/>
                  </a:rPr>
                  <a:t>gavel</a:t>
                </a:r>
                <a:endParaRPr sz="3600" b="0">
                  <a:solidFill>
                    <a:srgbClr val="0EA5E9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  <a:p>
                <a:pPr marL="0" lvl="0" indent="0" algn="l" rtl="0">
                  <a:spcBef>
                    <a:spcPts val="750"/>
                  </a:spcBef>
                  <a:spcAft>
                    <a:spcPts val="0"/>
                  </a:spcAft>
                  <a:buNone/>
                </a:pPr>
                <a:r>
                  <a:rPr lang="en-US" sz="4000" b="1">
                    <a:solidFill>
                      <a:srgbClr val="0F172A"/>
                    </a:solidFill>
                    <a:latin typeface="DM Sans"/>
                    <a:ea typeface="DM Sans"/>
                    <a:cs typeface="DM Sans"/>
                    <a:sym typeface="DM Sans"/>
                  </a:rPr>
                  <a:t>30%</a:t>
                </a:r>
                <a:endParaRPr sz="40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endParaRPr>
              </a:p>
              <a:p>
                <a:pPr marL="0" lvl="0" indent="0" algn="l" rtl="0">
                  <a:spcBef>
                    <a:spcPts val="375"/>
                  </a:spcBef>
                  <a:spcAft>
                    <a:spcPts val="0"/>
                  </a:spcAft>
                  <a:buNone/>
                </a:pPr>
                <a:r>
                  <a:rPr lang="en-US" sz="1800" b="1">
                    <a:solidFill>
                      <a:srgbClr val="0C4A6E"/>
                    </a:solidFill>
                    <a:latin typeface="Inter"/>
                    <a:ea typeface="Inter"/>
                    <a:cs typeface="Inter"/>
                    <a:sym typeface="Inter"/>
                  </a:rPr>
                  <a:t>Format Violations</a:t>
                </a:r>
                <a:endParaRPr sz="1800" b="1">
                  <a:solidFill>
                    <a:srgbClr val="0C4A6E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lang="en-US" sz="1200" b="0">
                    <a:solidFill>
                      <a:srgbClr val="075985"/>
                    </a:solidFill>
                    <a:latin typeface="Inter"/>
                    <a:ea typeface="Inter"/>
                    <a:cs typeface="Inter"/>
                    <a:sym typeface="Inter"/>
                  </a:rPr>
                  <a:t>Schema mismatches, incorrect JSON nesting, or missed mandatory response fields.</a:t>
                </a:r>
                <a:endParaRPr sz="1200" b="0">
                  <a:solidFill>
                    <a:srgbClr val="075985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9" name="Google Shape;369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0" name="Google Shape;370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24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4"/>
          <p:cNvSpPr txBox="1"/>
          <p:nvPr/>
        </p:nvSpPr>
        <p:spPr>
          <a:xfrm>
            <a:off x="381000" y="6472500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Agents don't "run" code; they 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request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system-level execution via 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Interpreters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373" name="Google Shape;373;p24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12</a:t>
            </a:r>
            <a:endParaRPr/>
          </a:p>
        </p:txBody>
      </p:sp>
      <p:sp>
        <p:nvSpPr>
          <p:cNvPr id="374" name="Google Shape;374;p24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How Agents Call Tools</a:t>
            </a:r>
            <a:endParaRPr/>
          </a:p>
        </p:txBody>
      </p:sp>
      <p:sp>
        <p:nvSpPr>
          <p:cNvPr id="375" name="Google Shape;375;p24"/>
          <p:cNvSpPr txBox="1"/>
          <p:nvPr/>
        </p:nvSpPr>
        <p:spPr>
          <a:xfrm>
            <a:off x="762000" y="1657350"/>
            <a:ext cx="10668000" cy="215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Agents leverage structured exchange formats to interface with external APIs and runtime environments.</a:t>
            </a:r>
            <a:endParaRPr sz="1400" b="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6" name="Google Shape;376;p24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7" name="Google Shape;377;p24"/>
          <p:cNvGrpSpPr/>
          <p:nvPr/>
        </p:nvGrpSpPr>
        <p:grpSpPr>
          <a:xfrm>
            <a:off x="762000" y="2133600"/>
            <a:ext cx="5048400" cy="3771900"/>
            <a:chOff x="0" y="0"/>
            <a:chExt cx="5048400" cy="3771900"/>
          </a:xfrm>
        </p:grpSpPr>
        <p:sp>
          <p:nvSpPr>
            <p:cNvPr id="378" name="Google Shape;378;p24"/>
            <p:cNvSpPr/>
            <p:nvPr/>
          </p:nvSpPr>
          <p:spPr>
            <a:xfrm>
              <a:off x="0" y="0"/>
              <a:ext cx="5048400" cy="3771900"/>
            </a:xfrm>
            <a:prstGeom prst="roundRect">
              <a:avLst>
                <a:gd name="adj" fmla="val 4040"/>
              </a:avLst>
            </a:prstGeom>
            <a:solidFill>
              <a:srgbClr val="EFF6FF"/>
            </a:solidFill>
            <a:ln w="14300" cap="flat" cmpd="sng">
              <a:solidFill>
                <a:srgbClr val="DBEA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24"/>
            <p:cNvSpPr/>
            <p:nvPr/>
          </p:nvSpPr>
          <p:spPr>
            <a:xfrm>
              <a:off x="0" y="381000"/>
              <a:ext cx="76200" cy="3009900"/>
            </a:xfrm>
            <a:prstGeom prst="roundRect">
              <a:avLst>
                <a:gd name="adj" fmla="val 50000"/>
              </a:avLst>
            </a:prstGeom>
            <a:solidFill>
              <a:srgbClr val="3B82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24"/>
            <p:cNvSpPr txBox="1"/>
            <p:nvPr/>
          </p:nvSpPr>
          <p:spPr>
            <a:xfrm>
              <a:off x="285750" y="285750"/>
              <a:ext cx="44769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 b="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code</a:t>
              </a:r>
              <a:endParaRPr sz="3600" b="0">
                <a:solidFill>
                  <a:srgbClr val="3B82F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1E3A8A"/>
                  </a:solidFill>
                  <a:latin typeface="Inter"/>
                  <a:ea typeface="Inter"/>
                  <a:cs typeface="Inter"/>
                  <a:sym typeface="Inter"/>
                </a:rPr>
                <a:t>1. JSON Generation</a:t>
              </a:r>
              <a:endParaRPr sz="1800" b="1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1E40AF"/>
                  </a:solidFill>
                  <a:latin typeface="Inter"/>
                  <a:ea typeface="Inter"/>
                  <a:cs typeface="Inter"/>
                  <a:sym typeface="Inter"/>
                </a:rPr>
                <a:t>The model stops generation and outputs a structured schema specifying the target tool and arguments.</a:t>
              </a:r>
              <a:endParaRPr sz="1200" b="0">
                <a:solidFill>
                  <a:srgbClr val="1E40A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381" name="Google Shape;381;p24" descr="image.png"/>
          <p:cNvPicPr preferRelativeResize="0"/>
          <p:nvPr/>
        </p:nvPicPr>
        <p:blipFill rotWithShape="1">
          <a:blip r:embed="rId5">
            <a:alphaModFix/>
          </a:blip>
          <a:srcRect l="120" r="110"/>
          <a:stretch/>
        </p:blipFill>
        <p:spPr>
          <a:xfrm>
            <a:off x="1047600" y="3843750"/>
            <a:ext cx="1571700" cy="190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3" name="Google Shape;383;p24"/>
          <p:cNvGrpSpPr/>
          <p:nvPr/>
        </p:nvGrpSpPr>
        <p:grpSpPr>
          <a:xfrm>
            <a:off x="6381750" y="2133600"/>
            <a:ext cx="5048400" cy="3771900"/>
            <a:chOff x="0" y="0"/>
            <a:chExt cx="5048400" cy="3771900"/>
          </a:xfrm>
        </p:grpSpPr>
        <p:sp>
          <p:nvSpPr>
            <p:cNvPr id="384" name="Google Shape;384;p24"/>
            <p:cNvSpPr/>
            <p:nvPr/>
          </p:nvSpPr>
          <p:spPr>
            <a:xfrm>
              <a:off x="0" y="0"/>
              <a:ext cx="5048400" cy="3771900"/>
            </a:xfrm>
            <a:prstGeom prst="roundRect">
              <a:avLst>
                <a:gd name="adj" fmla="val 4040"/>
              </a:avLst>
            </a:prstGeom>
            <a:solidFill>
              <a:srgbClr val="F0FDF4"/>
            </a:solidFill>
            <a:ln w="14300" cap="flat" cmpd="sng">
              <a:solidFill>
                <a:srgbClr val="DCFC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24"/>
            <p:cNvSpPr/>
            <p:nvPr/>
          </p:nvSpPr>
          <p:spPr>
            <a:xfrm>
              <a:off x="0" y="381000"/>
              <a:ext cx="76200" cy="3009900"/>
            </a:xfrm>
            <a:prstGeom prst="roundRect">
              <a:avLst>
                <a:gd name="adj" fmla="val 50000"/>
              </a:avLst>
            </a:pr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24"/>
            <p:cNvSpPr txBox="1"/>
            <p:nvPr/>
          </p:nvSpPr>
          <p:spPr>
            <a:xfrm>
              <a:off x="285750" y="285750"/>
              <a:ext cx="4476900" cy="320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 b="0">
                  <a:solidFill>
                    <a:srgbClr val="22C55E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terminal</a:t>
              </a:r>
              <a:endParaRPr sz="3600" b="0">
                <a:solidFill>
                  <a:srgbClr val="22C55E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14532D"/>
                  </a:solidFill>
                  <a:latin typeface="Inter"/>
                  <a:ea typeface="Inter"/>
                  <a:cs typeface="Inter"/>
                  <a:sym typeface="Inter"/>
                </a:rPr>
                <a:t>2. System Execution</a:t>
              </a:r>
              <a:endParaRPr sz="1800" b="1">
                <a:solidFill>
                  <a:srgbClr val="14532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166534"/>
                  </a:solidFill>
                  <a:latin typeface="Inter"/>
                  <a:ea typeface="Inter"/>
                  <a:cs typeface="Inter"/>
                  <a:sym typeface="Inter"/>
                </a:rPr>
                <a:t>The host environment intercepts the payload, runs the requested task, and returns the response.</a:t>
              </a:r>
              <a:endParaRPr sz="1200" b="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457200" lvl="0" indent="-301625" algn="l" rtl="0">
                <a:spcBef>
                  <a:spcPts val="1125"/>
                </a:spcBef>
                <a:spcAft>
                  <a:spcPts val="0"/>
                </a:spcAft>
                <a:buClr>
                  <a:srgbClr val="166534"/>
                </a:buClr>
                <a:buSzPts val="1150"/>
                <a:buFont typeface="Inter"/>
                <a:buChar char="●"/>
              </a:pPr>
              <a:r>
                <a:rPr lang="en-US" sz="1150" b="0">
                  <a:solidFill>
                    <a:srgbClr val="166534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Parses arguments and checks security permissions</a:t>
              </a:r>
              <a:endParaRPr sz="1150" b="0">
                <a:solidFill>
                  <a:srgbClr val="166534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  <a:p>
              <a:pPr marL="457200" lvl="0" indent="-301625" algn="l" rtl="0">
                <a:spcBef>
                  <a:spcPts val="600"/>
                </a:spcBef>
                <a:spcAft>
                  <a:spcPts val="0"/>
                </a:spcAft>
                <a:buClr>
                  <a:srgbClr val="166534"/>
                </a:buClr>
                <a:buSzPts val="1150"/>
                <a:buFont typeface="Inter"/>
                <a:buChar char="●"/>
              </a:pPr>
              <a:r>
                <a:rPr lang="en-US" sz="1150" b="0">
                  <a:solidFill>
                    <a:srgbClr val="166534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Triggers the sandbox interpreter or external API</a:t>
              </a:r>
              <a:endParaRPr sz="1150" b="0">
                <a:solidFill>
                  <a:srgbClr val="166534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  <a:p>
              <a:pPr marL="457200" lvl="0" indent="-301625" algn="l" rtl="0">
                <a:spcBef>
                  <a:spcPts val="600"/>
                </a:spcBef>
                <a:spcAft>
                  <a:spcPts val="0"/>
                </a:spcAft>
                <a:buClr>
                  <a:srgbClr val="166534"/>
                </a:buClr>
                <a:buSzPts val="1150"/>
                <a:buFont typeface="Inter"/>
                <a:buChar char="●"/>
              </a:pPr>
              <a:r>
                <a:rPr lang="en-US" sz="1150" b="0">
                  <a:solidFill>
                    <a:srgbClr val="166534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Appends the observation back into LLM memory</a:t>
              </a:r>
              <a:endParaRPr sz="1150" b="0">
                <a:solidFill>
                  <a:srgbClr val="166534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97BFDA43-505D-495F-0B55-317630294D0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6465"/>
          <a:stretch>
            <a:fillRect/>
          </a:stretch>
        </p:blipFill>
        <p:spPr>
          <a:xfrm>
            <a:off x="1047600" y="4109101"/>
            <a:ext cx="3789227" cy="14154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91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2" name="Google Shape;392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93" name="Google Shape;393;p25"/>
          <p:cNvGrpSpPr/>
          <p:nvPr/>
        </p:nvGrpSpPr>
        <p:grpSpPr>
          <a:xfrm>
            <a:off x="762000" y="2190750"/>
            <a:ext cx="3238500" cy="3238500"/>
            <a:chOff x="0" y="0"/>
            <a:chExt cx="3238500" cy="3238500"/>
          </a:xfrm>
        </p:grpSpPr>
        <p:sp>
          <p:nvSpPr>
            <p:cNvPr id="394" name="Google Shape;394;p25"/>
            <p:cNvSpPr/>
            <p:nvPr/>
          </p:nvSpPr>
          <p:spPr>
            <a:xfrm>
              <a:off x="0" y="0"/>
              <a:ext cx="3238500" cy="3238500"/>
            </a:xfrm>
            <a:prstGeom prst="roundRect">
              <a:avLst>
                <a:gd name="adj" fmla="val 4705"/>
              </a:avLst>
            </a:prstGeom>
            <a:solidFill>
              <a:srgbClr val="FFF7ED"/>
            </a:solidFill>
            <a:ln w="14300" cap="flat" cmpd="sng">
              <a:solidFill>
                <a:srgbClr val="FFED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25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25"/>
            <p:cNvSpPr txBox="1"/>
            <p:nvPr/>
          </p:nvSpPr>
          <p:spPr>
            <a:xfrm>
              <a:off x="285750" y="381000"/>
              <a:ext cx="26670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/>
                <a:t>Placeholder Text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F9731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smart_toy</a:t>
              </a:r>
              <a:endParaRPr sz="3600">
                <a:solidFill>
                  <a:srgbClr val="F9731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7C2D12"/>
                  </a:solidFill>
                  <a:latin typeface="Inter"/>
                  <a:ea typeface="Inter"/>
                  <a:cs typeface="Inter"/>
                  <a:sym typeface="Inter"/>
                </a:rPr>
                <a:t>Month 1</a:t>
              </a:r>
              <a:endParaRPr sz="1400" b="1">
                <a:solidFill>
                  <a:srgbClr val="7C2D12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Simple Bot</a:t>
              </a:r>
              <a:endParaRPr sz="20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250" b="0">
                  <a:solidFill>
                    <a:srgbClr val="9A3412"/>
                  </a:solidFill>
                  <a:latin typeface="Inter"/>
                  <a:ea typeface="Inter"/>
                  <a:cs typeface="Inter"/>
                  <a:sym typeface="Inter"/>
                </a:rPr>
                <a:t>Single LLM with Web Search tool.</a:t>
              </a:r>
              <a:endParaRPr sz="1250" b="0">
                <a:solidFill>
                  <a:srgbClr val="9A3412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97" name="Google Shape;397;p25"/>
          <p:cNvGrpSpPr/>
          <p:nvPr/>
        </p:nvGrpSpPr>
        <p:grpSpPr>
          <a:xfrm>
            <a:off x="4476750" y="2190750"/>
            <a:ext cx="3238500" cy="3238500"/>
            <a:chOff x="0" y="0"/>
            <a:chExt cx="3238500" cy="3238500"/>
          </a:xfrm>
        </p:grpSpPr>
        <p:sp>
          <p:nvSpPr>
            <p:cNvPr id="398" name="Google Shape;398;p25"/>
            <p:cNvSpPr/>
            <p:nvPr/>
          </p:nvSpPr>
          <p:spPr>
            <a:xfrm>
              <a:off x="0" y="0"/>
              <a:ext cx="3238500" cy="3238500"/>
            </a:xfrm>
            <a:prstGeom prst="roundRect">
              <a:avLst>
                <a:gd name="adj" fmla="val 4705"/>
              </a:avLst>
            </a:prstGeom>
            <a:solidFill>
              <a:srgbClr val="F0FDF4"/>
            </a:solidFill>
            <a:ln w="14300" cap="flat" cmpd="sng">
              <a:solidFill>
                <a:srgbClr val="DCFCE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25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22C55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25"/>
            <p:cNvSpPr txBox="1"/>
            <p:nvPr/>
          </p:nvSpPr>
          <p:spPr>
            <a:xfrm>
              <a:off x="285750" y="381000"/>
              <a:ext cx="26670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/>
                <a:t>Placeholder Text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22C55E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rule</a:t>
              </a:r>
              <a:endParaRPr sz="3600">
                <a:solidFill>
                  <a:srgbClr val="22C55E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14532D"/>
                  </a:solidFill>
                  <a:latin typeface="Inter"/>
                  <a:ea typeface="Inter"/>
                  <a:cs typeface="Inter"/>
                  <a:sym typeface="Inter"/>
                </a:rPr>
                <a:t>Month 3</a:t>
              </a:r>
              <a:endParaRPr sz="1400" b="1">
                <a:solidFill>
                  <a:srgbClr val="14532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Supervised Agent</a:t>
              </a:r>
              <a:endParaRPr sz="20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250" b="0">
                  <a:solidFill>
                    <a:srgbClr val="166534"/>
                  </a:solidFill>
                  <a:latin typeface="Inter"/>
                  <a:ea typeface="Inter"/>
                  <a:cs typeface="Inter"/>
                  <a:sym typeface="Inter"/>
                </a:rPr>
                <a:t>L2 Autonomy with Human approval gates.</a:t>
              </a:r>
              <a:endParaRPr sz="1250" b="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01" name="Google Shape;401;p25"/>
          <p:cNvGrpSpPr/>
          <p:nvPr/>
        </p:nvGrpSpPr>
        <p:grpSpPr>
          <a:xfrm>
            <a:off x="8191500" y="2190750"/>
            <a:ext cx="3238500" cy="3238500"/>
            <a:chOff x="0" y="0"/>
            <a:chExt cx="3238500" cy="3238500"/>
          </a:xfrm>
        </p:grpSpPr>
        <p:sp>
          <p:nvSpPr>
            <p:cNvPr id="402" name="Google Shape;402;p25"/>
            <p:cNvSpPr/>
            <p:nvPr/>
          </p:nvSpPr>
          <p:spPr>
            <a:xfrm>
              <a:off x="0" y="0"/>
              <a:ext cx="3238500" cy="3238500"/>
            </a:xfrm>
            <a:prstGeom prst="roundRect">
              <a:avLst>
                <a:gd name="adj" fmla="val 4705"/>
              </a:avLst>
            </a:prstGeom>
            <a:solidFill>
              <a:srgbClr val="F0F9FF"/>
            </a:solidFill>
            <a:ln w="14300" cap="flat" cmpd="sng">
              <a:solidFill>
                <a:srgbClr val="E0F2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25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0EA5E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25"/>
            <p:cNvSpPr txBox="1"/>
            <p:nvPr/>
          </p:nvSpPr>
          <p:spPr>
            <a:xfrm>
              <a:off x="285750" y="381000"/>
              <a:ext cx="2667000" cy="247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/>
                <a:t>Placeholder Text</a:t>
              </a: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0EA5E9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groups</a:t>
              </a:r>
              <a:endParaRPr sz="3600">
                <a:solidFill>
                  <a:srgbClr val="0EA5E9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0C4A6E"/>
                  </a:solidFill>
                  <a:latin typeface="Inter"/>
                  <a:ea typeface="Inter"/>
                  <a:cs typeface="Inter"/>
                  <a:sym typeface="Inter"/>
                </a:rPr>
                <a:t>Month 6</a:t>
              </a:r>
              <a:endParaRPr sz="1400" b="1">
                <a:solidFill>
                  <a:srgbClr val="0C4A6E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Multi-Agent System</a:t>
              </a:r>
              <a:endParaRPr sz="20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250" b="0">
                  <a:solidFill>
                    <a:srgbClr val="075985"/>
                  </a:solidFill>
                  <a:latin typeface="Inter"/>
                  <a:ea typeface="Inter"/>
                  <a:cs typeface="Inter"/>
                  <a:sym typeface="Inter"/>
                </a:rPr>
                <a:t>Specialized Researcher + Writer + QA nodes.</a:t>
              </a:r>
              <a:endParaRPr sz="1250" b="0">
                <a:solidFill>
                  <a:srgbClr val="07598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405" name="Google Shape;405;p25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25"/>
          <p:cNvSpPr txBox="1"/>
          <p:nvPr/>
        </p:nvSpPr>
        <p:spPr>
          <a:xfrm>
            <a:off x="381000" y="6434137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Complexity grows from 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Single Tasks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to 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Team Orchestration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407" name="Google Shape;407;p25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13</a:t>
            </a:r>
            <a:endParaRPr/>
          </a:p>
        </p:txBody>
      </p:sp>
      <p:sp>
        <p:nvSpPr>
          <p:cNvPr id="408" name="Google Shape;408;p25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Evolution of the System</a:t>
            </a:r>
            <a:endParaRPr/>
          </a:p>
        </p:txBody>
      </p:sp>
      <p:sp>
        <p:nvSpPr>
          <p:cNvPr id="409" name="Google Shape;409;p25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4" name="Google Shape;414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5" name="Google Shape;415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26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6"/>
          <p:cNvSpPr txBox="1"/>
          <p:nvPr/>
        </p:nvSpPr>
        <p:spPr>
          <a:xfrm>
            <a:off x="381000" y="6434137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Not all LLMs are agents; 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High reasoning capacity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is the engine for autonomy.</a:t>
            </a:r>
            <a:endParaRPr dirty="0"/>
          </a:p>
        </p:txBody>
      </p:sp>
      <p:sp>
        <p:nvSpPr>
          <p:cNvPr id="418" name="Google Shape;418;p26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14</a:t>
            </a:r>
            <a:endParaRPr/>
          </a:p>
        </p:txBody>
      </p:sp>
      <p:sp>
        <p:nvSpPr>
          <p:cNvPr id="419" name="Google Shape;419;p26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Reasoning Capabilities by Model</a:t>
            </a:r>
            <a:endParaRPr/>
          </a:p>
        </p:txBody>
      </p:sp>
      <p:sp>
        <p:nvSpPr>
          <p:cNvPr id="420" name="Google Shape;420;p26"/>
          <p:cNvSpPr txBox="1"/>
          <p:nvPr/>
        </p:nvSpPr>
        <p:spPr>
          <a:xfrm>
            <a:off x="762000" y="5410200"/>
            <a:ext cx="10668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*Agency score based on Planning, Tool Use Accuracy, and Instruction Following.</a:t>
            </a:r>
            <a:endParaRPr/>
          </a:p>
        </p:txBody>
      </p:sp>
      <p:sp>
        <p:nvSpPr>
          <p:cNvPr id="421" name="Google Shape;421;p26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22" name="Google Shape;422;p26"/>
          <p:cNvGrpSpPr/>
          <p:nvPr/>
        </p:nvGrpSpPr>
        <p:grpSpPr>
          <a:xfrm>
            <a:off x="762000" y="1809750"/>
            <a:ext cx="2476500" cy="3238500"/>
            <a:chOff x="0" y="0"/>
            <a:chExt cx="2476500" cy="3238500"/>
          </a:xfrm>
        </p:grpSpPr>
        <p:sp>
          <p:nvSpPr>
            <p:cNvPr id="423" name="Google Shape;423;p26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F5F3FF"/>
            </a:solidFill>
            <a:ln w="14300" cap="flat" cmpd="sng">
              <a:solidFill>
                <a:srgbClr val="DDD6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26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8B5C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26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8B5C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psychology</a:t>
              </a:r>
              <a:endParaRPr sz="2700">
                <a:solidFill>
                  <a:srgbClr val="8B5CF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Tier 1 Frontier</a:t>
              </a:r>
              <a:endParaRPr sz="900" b="1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GPT-4o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825" b="0">
                  <a:solidFill>
                    <a:srgbClr val="6D28D9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Agency Score: 95%</a:t>
              </a:r>
              <a:endParaRPr sz="825" b="0">
                <a:solidFill>
                  <a:srgbClr val="6D28D9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975" b="0">
                  <a:solidFill>
                    <a:srgbClr val="4C1D95"/>
                  </a:solidFill>
                  <a:latin typeface="Inter"/>
                  <a:ea typeface="Inter"/>
                  <a:cs typeface="Inter"/>
                  <a:sym typeface="Inter"/>
                </a:rPr>
                <a:t>• Outstanding multi-agent orchestration and tool selection.</a:t>
              </a:r>
              <a:endParaRPr sz="975" b="0">
                <a:solidFill>
                  <a:srgbClr val="4C1D9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975" b="0">
                  <a:solidFill>
                    <a:srgbClr val="4C1D95"/>
                  </a:solidFill>
                  <a:latin typeface="Inter"/>
                  <a:ea typeface="Inter"/>
                  <a:cs typeface="Inter"/>
                  <a:sym typeface="Inter"/>
                </a:rPr>
                <a:t>• Extremely fast planning and parallel execution loops.</a:t>
              </a:r>
              <a:endParaRPr sz="975" b="0">
                <a:solidFill>
                  <a:srgbClr val="4C1D9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26" name="Google Shape;426;p26"/>
          <p:cNvGrpSpPr/>
          <p:nvPr/>
        </p:nvGrpSpPr>
        <p:grpSpPr>
          <a:xfrm>
            <a:off x="3486150" y="1809750"/>
            <a:ext cx="2476500" cy="3238500"/>
            <a:chOff x="0" y="0"/>
            <a:chExt cx="2476500" cy="3238500"/>
          </a:xfrm>
        </p:grpSpPr>
        <p:sp>
          <p:nvSpPr>
            <p:cNvPr id="427" name="Google Shape;427;p26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EFF6FF"/>
            </a:solidFill>
            <a:ln w="14300" cap="flat" cmpd="sng">
              <a:solidFill>
                <a:srgbClr val="DBEA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26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3B82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26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dirty="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integration_ instructions</a:t>
              </a:r>
              <a:endParaRPr sz="2700" dirty="0">
                <a:solidFill>
                  <a:srgbClr val="3B82F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900" b="1" dirty="0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Precision Logic</a:t>
              </a:r>
              <a:endParaRPr sz="900" b="1" dirty="0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800" b="1" dirty="0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Claude 3.5</a:t>
              </a:r>
              <a:endParaRPr sz="1800" b="1" dirty="0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825" b="0" dirty="0">
                  <a:solidFill>
                    <a:srgbClr val="1D4ED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Agency Score: 98%</a:t>
              </a:r>
              <a:endParaRPr sz="825" b="0" dirty="0">
                <a:solidFill>
                  <a:srgbClr val="1D4ED8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975" b="0" dirty="0">
                  <a:solidFill>
                    <a:srgbClr val="1E3A8A"/>
                  </a:solidFill>
                  <a:latin typeface="Inter"/>
                  <a:ea typeface="Inter"/>
                  <a:cs typeface="Inter"/>
                  <a:sym typeface="Inter"/>
                </a:rPr>
                <a:t>• State-of-the-art instruction following and coding execution.</a:t>
              </a:r>
              <a:endParaRPr sz="975" b="0" dirty="0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975" b="0" dirty="0">
                  <a:solidFill>
                    <a:srgbClr val="1E3A8A"/>
                  </a:solidFill>
                  <a:latin typeface="Inter"/>
                  <a:ea typeface="Inter"/>
                  <a:cs typeface="Inter"/>
                  <a:sym typeface="Inter"/>
                </a:rPr>
                <a:t>• Highest structured JSON parsing and tool accuracy.</a:t>
              </a:r>
              <a:endParaRPr sz="975" b="0" dirty="0">
                <a:solidFill>
                  <a:srgbClr val="1E3A8A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30" name="Google Shape;430;p26"/>
          <p:cNvGrpSpPr/>
          <p:nvPr/>
        </p:nvGrpSpPr>
        <p:grpSpPr>
          <a:xfrm>
            <a:off x="6210300" y="1809750"/>
            <a:ext cx="2476500" cy="3238500"/>
            <a:chOff x="0" y="0"/>
            <a:chExt cx="2476500" cy="3238500"/>
          </a:xfrm>
        </p:grpSpPr>
        <p:sp>
          <p:nvSpPr>
            <p:cNvPr id="431" name="Google Shape;431;p26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ECFDF5"/>
            </a:solidFill>
            <a:ln w="14300" cap="flat" cmpd="sng">
              <a:solidFill>
                <a:srgbClr val="D1FA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26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26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10B981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hub</a:t>
              </a:r>
              <a:endParaRPr sz="2700">
                <a:solidFill>
                  <a:srgbClr val="10B981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059669"/>
                  </a:solidFill>
                  <a:latin typeface="Inter"/>
                  <a:ea typeface="Inter"/>
                  <a:cs typeface="Inter"/>
                  <a:sym typeface="Inter"/>
                </a:rPr>
                <a:t>Open-Source</a:t>
              </a:r>
              <a:endParaRPr sz="900" b="1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Llama 3 (70B)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825" b="0">
                  <a:solidFill>
                    <a:srgbClr val="047857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Agency Score: 80%</a:t>
              </a:r>
              <a:endParaRPr sz="825" b="0">
                <a:solidFill>
                  <a:srgbClr val="047857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975" b="0">
                  <a:solidFill>
                    <a:srgbClr val="064E3B"/>
                  </a:solidFill>
                  <a:latin typeface="Inter"/>
                  <a:ea typeface="Inter"/>
                  <a:cs typeface="Inter"/>
                  <a:sym typeface="Inter"/>
                </a:rPr>
                <a:t>• High local customization and data privacy control.</a:t>
              </a:r>
              <a:endParaRPr sz="975" b="0">
                <a:solidFill>
                  <a:srgbClr val="064E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975" b="0">
                  <a:solidFill>
                    <a:srgbClr val="064E3B"/>
                  </a:solidFill>
                  <a:latin typeface="Inter"/>
                  <a:ea typeface="Inter"/>
                  <a:cs typeface="Inter"/>
                  <a:sym typeface="Inter"/>
                </a:rPr>
                <a:t>• Robust baseline logic for enterprise-specific tools.</a:t>
              </a:r>
              <a:endParaRPr sz="975" b="0">
                <a:solidFill>
                  <a:srgbClr val="064E3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34" name="Google Shape;434;p26"/>
          <p:cNvGrpSpPr/>
          <p:nvPr/>
        </p:nvGrpSpPr>
        <p:grpSpPr>
          <a:xfrm>
            <a:off x="8934450" y="1809750"/>
            <a:ext cx="2476500" cy="3238500"/>
            <a:chOff x="0" y="0"/>
            <a:chExt cx="2476500" cy="3238500"/>
          </a:xfrm>
        </p:grpSpPr>
        <p:sp>
          <p:nvSpPr>
            <p:cNvPr id="435" name="Google Shape;435;p26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F8FAFC"/>
            </a:solidFill>
            <a:ln w="14300" cap="flat" cmpd="sng">
              <a:solidFill>
                <a:srgbClr val="E2E8F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26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64748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26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64748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memory</a:t>
              </a:r>
              <a:endParaRPr sz="2700">
                <a:solidFill>
                  <a:srgbClr val="64748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rPr>
                <a:t>Edge Efficiency</a:t>
              </a:r>
              <a:endParaRPr sz="900" b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Small SLMs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825" b="0">
                  <a:solidFill>
                    <a:srgbClr val="334155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Agency Score: 50%</a:t>
              </a:r>
              <a:endParaRPr sz="825" b="0">
                <a:solidFill>
                  <a:srgbClr val="334155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975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• Optimized for single-purpose utility and fast local tasks.</a:t>
              </a:r>
              <a:endParaRPr sz="975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975" b="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rPr>
                <a:t>• Highly cost-effective at high execution frequencies.</a:t>
              </a:r>
              <a:endParaRPr sz="975" b="0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2" name="Google Shape;442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3" name="Google Shape;443;p2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p27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27"/>
          <p:cNvSpPr txBox="1"/>
          <p:nvPr/>
        </p:nvSpPr>
        <p:spPr>
          <a:xfrm>
            <a:off x="381000" y="6434137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Autonomy without 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Guardrails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is a liability; Safety is part of the design.</a:t>
            </a:r>
            <a:endParaRPr dirty="0"/>
          </a:p>
        </p:txBody>
      </p:sp>
      <p:sp>
        <p:nvSpPr>
          <p:cNvPr id="446" name="Google Shape;446;p27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15</a:t>
            </a:r>
            <a:endParaRPr/>
          </a:p>
        </p:txBody>
      </p:sp>
      <p:sp>
        <p:nvSpPr>
          <p:cNvPr id="447" name="Google Shape;447;p27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Operational Guardrails</a:t>
            </a:r>
            <a:endParaRPr/>
          </a:p>
        </p:txBody>
      </p:sp>
      <p:sp>
        <p:nvSpPr>
          <p:cNvPr id="448" name="Google Shape;448;p27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9" name="Google Shape;449;p27"/>
          <p:cNvGrpSpPr/>
          <p:nvPr/>
        </p:nvGrpSpPr>
        <p:grpSpPr>
          <a:xfrm>
            <a:off x="762000" y="1809750"/>
            <a:ext cx="2476500" cy="3238500"/>
            <a:chOff x="0" y="0"/>
            <a:chExt cx="2476500" cy="3238500"/>
          </a:xfrm>
        </p:grpSpPr>
        <p:sp>
          <p:nvSpPr>
            <p:cNvPr id="450" name="Google Shape;450;p27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FFF7ED"/>
            </a:solidFill>
            <a:ln w="14300" cap="flat" cmpd="sng">
              <a:solidFill>
                <a:srgbClr val="FFED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27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27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F9731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monetization_on</a:t>
              </a:r>
              <a:endParaRPr sz="2700">
                <a:solidFill>
                  <a:srgbClr val="F9731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675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F97316"/>
                  </a:solidFill>
                  <a:latin typeface="Inter"/>
                  <a:ea typeface="Inter"/>
                  <a:cs typeface="Inter"/>
                  <a:sym typeface="Inter"/>
                </a:rPr>
                <a:t>FINANCIAL</a:t>
              </a:r>
              <a:endParaRPr sz="900" b="1">
                <a:solidFill>
                  <a:srgbClr val="F97316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Cost Limits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9A3412"/>
                  </a:solidFill>
                  <a:latin typeface="Inter"/>
                  <a:ea typeface="Inter"/>
                  <a:cs typeface="Inter"/>
                  <a:sym typeface="Inter"/>
                </a:rPr>
                <a:t>Max token usage per research run to prevent runaway loops.</a:t>
              </a:r>
              <a:endParaRPr sz="1100" b="0">
                <a:solidFill>
                  <a:srgbClr val="9A3412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53" name="Google Shape;453;p27"/>
          <p:cNvGrpSpPr/>
          <p:nvPr/>
        </p:nvGrpSpPr>
        <p:grpSpPr>
          <a:xfrm>
            <a:off x="3486150" y="1809750"/>
            <a:ext cx="2476500" cy="3238500"/>
            <a:chOff x="0" y="0"/>
            <a:chExt cx="2476500" cy="3238500"/>
          </a:xfrm>
        </p:grpSpPr>
        <p:sp>
          <p:nvSpPr>
            <p:cNvPr id="454" name="Google Shape;454;p27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F5F3FF"/>
            </a:solidFill>
            <a:ln w="14300" cap="flat" cmpd="sng">
              <a:solidFill>
                <a:srgbClr val="DDD6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27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8B5C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27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8B5C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security</a:t>
              </a:r>
              <a:endParaRPr sz="2700">
                <a:solidFill>
                  <a:srgbClr val="8B5CF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675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EXECUTION</a:t>
              </a:r>
              <a:endParaRPr sz="900" b="1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Sandboxing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6D28D9"/>
                  </a:solidFill>
                  <a:latin typeface="Inter"/>
                  <a:ea typeface="Inter"/>
                  <a:cs typeface="Inter"/>
                  <a:sym typeface="Inter"/>
                </a:rPr>
                <a:t>Executing agent-generated code in isolated environments.</a:t>
              </a:r>
              <a:endParaRPr sz="1100" b="0">
                <a:solidFill>
                  <a:srgbClr val="6D28D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57" name="Google Shape;457;p27"/>
          <p:cNvGrpSpPr/>
          <p:nvPr/>
        </p:nvGrpSpPr>
        <p:grpSpPr>
          <a:xfrm>
            <a:off x="6210300" y="1809750"/>
            <a:ext cx="2476500" cy="3238500"/>
            <a:chOff x="0" y="0"/>
            <a:chExt cx="2476500" cy="3238500"/>
          </a:xfrm>
        </p:grpSpPr>
        <p:sp>
          <p:nvSpPr>
            <p:cNvPr id="458" name="Google Shape;458;p27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ECFDF5"/>
            </a:solidFill>
            <a:ln w="14300" cap="flat" cmpd="sng">
              <a:solidFill>
                <a:srgbClr val="D1FA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27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27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10B981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lock</a:t>
              </a:r>
              <a:endParaRPr sz="2700">
                <a:solidFill>
                  <a:srgbClr val="10B981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675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059669"/>
                  </a:solidFill>
                  <a:latin typeface="Inter"/>
                  <a:ea typeface="Inter"/>
                  <a:cs typeface="Inter"/>
                  <a:sym typeface="Inter"/>
                </a:rPr>
                <a:t>DATA SAFETY</a:t>
              </a:r>
              <a:endParaRPr sz="900" b="1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Privacy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047857"/>
                  </a:solidFill>
                  <a:latin typeface="Inter"/>
                  <a:ea typeface="Inter"/>
                  <a:cs typeface="Inter"/>
                  <a:sym typeface="Inter"/>
                </a:rPr>
                <a:t>Redacting sensitive company data before sending to external APIs.</a:t>
              </a:r>
              <a:endParaRPr sz="1100" b="0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61" name="Google Shape;461;p27"/>
          <p:cNvGrpSpPr/>
          <p:nvPr/>
        </p:nvGrpSpPr>
        <p:grpSpPr>
          <a:xfrm>
            <a:off x="8934450" y="1809750"/>
            <a:ext cx="2476500" cy="3238500"/>
            <a:chOff x="0" y="0"/>
            <a:chExt cx="2476500" cy="3238500"/>
          </a:xfrm>
        </p:grpSpPr>
        <p:sp>
          <p:nvSpPr>
            <p:cNvPr id="462" name="Google Shape;462;p27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EFF6FF"/>
            </a:solidFill>
            <a:ln w="14300" cap="flat" cmpd="sng">
              <a:solidFill>
                <a:srgbClr val="DBEA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7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3B82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27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timer</a:t>
              </a:r>
              <a:endParaRPr sz="2700">
                <a:solidFill>
                  <a:srgbClr val="3B82F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675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CONTROL</a:t>
              </a:r>
              <a:endParaRPr sz="900" b="1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225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Timeouts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1D4ED8"/>
                  </a:solidFill>
                  <a:latin typeface="Inter"/>
                  <a:ea typeface="Inter"/>
                  <a:cs typeface="Inter"/>
                  <a:sym typeface="Inter"/>
                </a:rPr>
                <a:t>Preventing infinite loops if an agent gets stuck in a reasoning cycle.</a:t>
              </a:r>
              <a:endParaRPr sz="1100" b="0">
                <a:solidFill>
                  <a:srgbClr val="1D4ED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9" name="Google Shape;469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" name="Google Shape;470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71" name="Google Shape;471;p28"/>
          <p:cNvGrpSpPr/>
          <p:nvPr/>
        </p:nvGrpSpPr>
        <p:grpSpPr>
          <a:xfrm>
            <a:off x="571500" y="1809750"/>
            <a:ext cx="2476500" cy="3238500"/>
            <a:chOff x="0" y="0"/>
            <a:chExt cx="2476500" cy="3238500"/>
          </a:xfrm>
        </p:grpSpPr>
        <p:sp>
          <p:nvSpPr>
            <p:cNvPr id="472" name="Google Shape;472;p28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ECFDF5"/>
            </a:solidFill>
            <a:ln w="14300" cap="flat" cmpd="sng">
              <a:solidFill>
                <a:srgbClr val="D1FA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28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28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0">
                  <a:solidFill>
                    <a:srgbClr val="10B981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science</a:t>
              </a:r>
              <a:endParaRPr sz="2700" b="0">
                <a:solidFill>
                  <a:srgbClr val="10B981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059669"/>
                  </a:solidFill>
                  <a:latin typeface="Inter"/>
                  <a:ea typeface="Inter"/>
                  <a:cs typeface="Inter"/>
                  <a:sym typeface="Inter"/>
                </a:rPr>
                <a:t>HEALTHCARE</a:t>
              </a:r>
              <a:endParaRPr sz="900" b="1">
                <a:solidFill>
                  <a:srgbClr val="05966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Pharma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047857"/>
                  </a:solidFill>
                  <a:latin typeface="Inter"/>
                  <a:ea typeface="Inter"/>
                  <a:cs typeface="Inter"/>
                  <a:sym typeface="Inter"/>
                </a:rPr>
                <a:t>Summarizing clinical trial results and identifying drug patterns.</a:t>
              </a:r>
              <a:endParaRPr sz="1100" b="0">
                <a:solidFill>
                  <a:srgbClr val="047857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75" name="Google Shape;475;p28"/>
          <p:cNvGrpSpPr/>
          <p:nvPr/>
        </p:nvGrpSpPr>
        <p:grpSpPr>
          <a:xfrm>
            <a:off x="3429000" y="1809750"/>
            <a:ext cx="2476500" cy="3238500"/>
            <a:chOff x="0" y="0"/>
            <a:chExt cx="2476500" cy="3238500"/>
          </a:xfrm>
        </p:grpSpPr>
        <p:sp>
          <p:nvSpPr>
            <p:cNvPr id="476" name="Google Shape;476;p28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F5F3FF"/>
            </a:solidFill>
            <a:ln w="14300" cap="flat" cmpd="sng">
              <a:solidFill>
                <a:srgbClr val="DDD6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28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8B5C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28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0">
                  <a:solidFill>
                    <a:srgbClr val="8B5C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gavel</a:t>
              </a:r>
              <a:endParaRPr sz="2700" b="0">
                <a:solidFill>
                  <a:srgbClr val="8B5CF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7C3AED"/>
                  </a:solidFill>
                  <a:latin typeface="Inter"/>
                  <a:ea typeface="Inter"/>
                  <a:cs typeface="Inter"/>
                  <a:sym typeface="Inter"/>
                </a:rPr>
                <a:t>REGULATORY</a:t>
              </a:r>
              <a:endParaRPr sz="900" b="1">
                <a:solidFill>
                  <a:srgbClr val="7C3AE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Legal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6D28D9"/>
                  </a:solidFill>
                  <a:latin typeface="Inter"/>
                  <a:ea typeface="Inter"/>
                  <a:cs typeface="Inter"/>
                  <a:sym typeface="Inter"/>
                </a:rPr>
                <a:t>Scanning case law for specific precedents and summarizing rulings.</a:t>
              </a:r>
              <a:endParaRPr sz="1100" b="0">
                <a:solidFill>
                  <a:srgbClr val="6D28D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79" name="Google Shape;479;p28"/>
          <p:cNvGrpSpPr/>
          <p:nvPr/>
        </p:nvGrpSpPr>
        <p:grpSpPr>
          <a:xfrm>
            <a:off x="6286500" y="1809750"/>
            <a:ext cx="2476500" cy="3238500"/>
            <a:chOff x="0" y="0"/>
            <a:chExt cx="2476500" cy="3238500"/>
          </a:xfrm>
        </p:grpSpPr>
        <p:sp>
          <p:nvSpPr>
            <p:cNvPr id="480" name="Google Shape;480;p28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FFF7ED"/>
            </a:solidFill>
            <a:ln w="14300" cap="flat" cmpd="sng">
              <a:solidFill>
                <a:srgbClr val="FFEDD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28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F9731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28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0">
                  <a:solidFill>
                    <a:srgbClr val="F9731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trending_up</a:t>
              </a:r>
              <a:endParaRPr sz="2700" b="0">
                <a:solidFill>
                  <a:srgbClr val="F9731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D97706"/>
                  </a:solidFill>
                  <a:latin typeface="Inter"/>
                  <a:ea typeface="Inter"/>
                  <a:cs typeface="Inter"/>
                  <a:sym typeface="Inter"/>
                </a:rPr>
                <a:t>MARKETS</a:t>
              </a:r>
              <a:endParaRPr sz="900" b="1">
                <a:solidFill>
                  <a:srgbClr val="D97706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Finance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9A3412"/>
                  </a:solidFill>
                  <a:latin typeface="Inter"/>
                  <a:ea typeface="Inter"/>
                  <a:cs typeface="Inter"/>
                  <a:sym typeface="Inter"/>
                </a:rPr>
                <a:t>Analyzing quarterly earnings calls and sentiment across competitors.</a:t>
              </a:r>
              <a:endParaRPr sz="1100" b="0">
                <a:solidFill>
                  <a:srgbClr val="9A3412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83" name="Google Shape;483;p28"/>
          <p:cNvGrpSpPr/>
          <p:nvPr/>
        </p:nvGrpSpPr>
        <p:grpSpPr>
          <a:xfrm>
            <a:off x="9144000" y="1809750"/>
            <a:ext cx="2476500" cy="3238500"/>
            <a:chOff x="0" y="0"/>
            <a:chExt cx="2476500" cy="3238500"/>
          </a:xfrm>
        </p:grpSpPr>
        <p:sp>
          <p:nvSpPr>
            <p:cNvPr id="484" name="Google Shape;484;p28"/>
            <p:cNvSpPr/>
            <p:nvPr/>
          </p:nvSpPr>
          <p:spPr>
            <a:xfrm>
              <a:off x="0" y="0"/>
              <a:ext cx="2476500" cy="3238500"/>
            </a:xfrm>
            <a:prstGeom prst="roundRect">
              <a:avLst>
                <a:gd name="adj" fmla="val 6153"/>
              </a:avLst>
            </a:prstGeom>
            <a:solidFill>
              <a:srgbClr val="EFF6FF"/>
            </a:solidFill>
            <a:ln w="14300" cap="flat" cmpd="sng">
              <a:solidFill>
                <a:srgbClr val="DBEAF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28"/>
            <p:cNvSpPr/>
            <p:nvPr/>
          </p:nvSpPr>
          <p:spPr>
            <a:xfrm>
              <a:off x="0" y="381000"/>
              <a:ext cx="76200" cy="2476500"/>
            </a:xfrm>
            <a:prstGeom prst="roundRect">
              <a:avLst>
                <a:gd name="adj" fmla="val 50000"/>
              </a:avLst>
            </a:prstGeom>
            <a:solidFill>
              <a:srgbClr val="3B82F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28"/>
            <p:cNvSpPr txBox="1"/>
            <p:nvPr/>
          </p:nvSpPr>
          <p:spPr>
            <a:xfrm>
              <a:off x="285750" y="285750"/>
              <a:ext cx="19050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00" b="0">
                  <a:solidFill>
                    <a:srgbClr val="3B82F6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>school</a:t>
              </a:r>
              <a:endParaRPr sz="2700" b="0">
                <a:solidFill>
                  <a:srgbClr val="3B82F6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US" sz="900" b="1">
                  <a:solidFill>
                    <a:srgbClr val="2563EB"/>
                  </a:solidFill>
                  <a:latin typeface="Inter"/>
                  <a:ea typeface="Inter"/>
                  <a:cs typeface="Inter"/>
                  <a:sym typeface="Inter"/>
                </a:rPr>
                <a:t>ACADEMIA</a:t>
              </a:r>
              <a:endParaRPr sz="900" b="1">
                <a:solidFill>
                  <a:srgbClr val="2563E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0F172A"/>
                  </a:solidFill>
                  <a:latin typeface="DM Sans"/>
                  <a:ea typeface="DM Sans"/>
                  <a:cs typeface="DM Sans"/>
                  <a:sym typeface="DM Sans"/>
                </a:rPr>
                <a:t>Education</a:t>
              </a:r>
              <a:endParaRPr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endParaRPr>
            </a:p>
            <a:p>
              <a:pPr marL="0" lvl="0" indent="0" algn="l" rtl="0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1D4ED8"/>
                  </a:solidFill>
                  <a:latin typeface="Inter"/>
                  <a:ea typeface="Inter"/>
                  <a:cs typeface="Inter"/>
                  <a:sym typeface="Inter"/>
                </a:rPr>
                <a:t>Curating learning materials from diverse open-source repositories.</a:t>
              </a:r>
              <a:endParaRPr sz="1100" b="0">
                <a:solidFill>
                  <a:srgbClr val="1D4ED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487" name="Google Shape;487;p28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28"/>
          <p:cNvSpPr txBox="1"/>
          <p:nvPr/>
        </p:nvSpPr>
        <p:spPr>
          <a:xfrm>
            <a:off x="381000" y="6286500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Research Agents scale </a:t>
            </a: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human expertise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across any domain with structured data.</a:t>
            </a:r>
            <a:endParaRPr/>
          </a:p>
        </p:txBody>
      </p:sp>
      <p:sp>
        <p:nvSpPr>
          <p:cNvPr id="489" name="Google Shape;489;p28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16</a:t>
            </a:r>
            <a:endParaRPr/>
          </a:p>
        </p:txBody>
      </p:sp>
      <p:sp>
        <p:nvSpPr>
          <p:cNvPr id="490" name="Google Shape;490;p28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Cross-Industry Applications</a:t>
            </a:r>
            <a:endParaRPr/>
          </a:p>
        </p:txBody>
      </p:sp>
      <p:sp>
        <p:nvSpPr>
          <p:cNvPr id="491" name="Google Shape;491;p28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Google Shape;496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7" name="Google Shape;497;p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-904875" y="-904875"/>
            <a:ext cx="2190900" cy="2190900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p29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29"/>
          <p:cNvSpPr txBox="1"/>
          <p:nvPr/>
        </p:nvSpPr>
        <p:spPr>
          <a:xfrm>
            <a:off x="381000" y="6450377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Actionability is the primary metric of success for Agentic systems.</a:t>
            </a:r>
            <a:endParaRPr dirty="0"/>
          </a:p>
        </p:txBody>
      </p:sp>
      <p:grpSp>
        <p:nvGrpSpPr>
          <p:cNvPr id="500" name="Google Shape;500;p29"/>
          <p:cNvGrpSpPr/>
          <p:nvPr/>
        </p:nvGrpSpPr>
        <p:grpSpPr>
          <a:xfrm>
            <a:off x="5448300" y="285750"/>
            <a:ext cx="1295400" cy="342900"/>
            <a:chOff x="0" y="0"/>
            <a:chExt cx="1295400" cy="342900"/>
          </a:xfrm>
        </p:grpSpPr>
        <p:sp>
          <p:nvSpPr>
            <p:cNvPr id="501" name="Google Shape;501;p29"/>
            <p:cNvSpPr/>
            <p:nvPr/>
          </p:nvSpPr>
          <p:spPr>
            <a:xfrm>
              <a:off x="0" y="0"/>
              <a:ext cx="1295400" cy="342900"/>
            </a:xfrm>
            <a:prstGeom prst="roundRect">
              <a:avLst>
                <a:gd name="adj" fmla="val 50000"/>
              </a:avLst>
            </a:prstGeom>
            <a:solidFill>
              <a:srgbClr val="F1F5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29"/>
            <p:cNvSpPr txBox="1"/>
            <p:nvPr/>
          </p:nvSpPr>
          <p:spPr>
            <a:xfrm>
              <a:off x="0" y="0"/>
              <a:ext cx="12954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0">
                  <a:solidFill>
                    <a:srgbClr val="475569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🤖 Agentic AI</a:t>
              </a:r>
              <a:endParaRPr sz="1100" b="0">
                <a:solidFill>
                  <a:srgbClr val="475569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sp>
        <p:nvSpPr>
          <p:cNvPr id="503" name="Google Shape;503;p29"/>
          <p:cNvSpPr txBox="1"/>
          <p:nvPr/>
        </p:nvSpPr>
        <p:spPr>
          <a:xfrm>
            <a:off x="5857875" y="1047750"/>
            <a:ext cx="4764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0">
                <a:solidFill>
                  <a:srgbClr val="10B981"/>
                </a:solidFill>
                <a:latin typeface="DM Sans Black"/>
                <a:ea typeface="DM Sans Black"/>
                <a:cs typeface="DM Sans Black"/>
                <a:sym typeface="DM Sans Black"/>
              </a:rPr>
              <a:t>“</a:t>
            </a:r>
            <a:endParaRPr sz="4500" b="0">
              <a:solidFill>
                <a:srgbClr val="10B981"/>
              </a:solidFill>
              <a:latin typeface="DM Sans Black"/>
              <a:ea typeface="DM Sans Black"/>
              <a:cs typeface="DM Sans Black"/>
              <a:sym typeface="DM Sans Black"/>
            </a:endParaRPr>
          </a:p>
        </p:txBody>
      </p:sp>
      <p:sp>
        <p:nvSpPr>
          <p:cNvPr id="504" name="Google Shape;504;p29"/>
          <p:cNvSpPr txBox="1"/>
          <p:nvPr/>
        </p:nvSpPr>
        <p:spPr>
          <a:xfrm>
            <a:off x="1333500" y="1905000"/>
            <a:ext cx="9525000" cy="26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"The transition from </a:t>
            </a:r>
            <a:r>
              <a:rPr lang="en-US" sz="3200" b="1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Chatbots</a:t>
            </a:r>
            <a:r>
              <a:rPr lang="en-US" sz="32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 to </a:t>
            </a:r>
            <a:r>
              <a:rPr lang="en-US" sz="3200" b="0">
                <a:solidFill>
                  <a:srgbClr val="10B981"/>
                </a:solidFill>
                <a:latin typeface="DM Sans ExtraBold"/>
                <a:ea typeface="DM Sans ExtraBold"/>
                <a:cs typeface="DM Sans ExtraBold"/>
                <a:sym typeface="DM Sans ExtraBold"/>
              </a:rPr>
              <a:t>Agents</a:t>
            </a:r>
            <a:r>
              <a:rPr lang="en-US" sz="32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 is equivalent to the transition from </a:t>
            </a:r>
            <a:r>
              <a:rPr lang="en-US" sz="3200" b="1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talking about work</a:t>
            </a:r>
            <a:r>
              <a:rPr lang="en-US" sz="32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 to </a:t>
            </a:r>
            <a:r>
              <a:rPr lang="en-US" sz="3200" b="0">
                <a:solidFill>
                  <a:srgbClr val="10B981"/>
                </a:solidFill>
                <a:latin typeface="DM Sans ExtraBold"/>
                <a:ea typeface="DM Sans ExtraBold"/>
                <a:cs typeface="DM Sans ExtraBold"/>
                <a:sym typeface="DM Sans ExtraBold"/>
              </a:rPr>
              <a:t>actually doing it</a:t>
            </a:r>
            <a:r>
              <a:rPr lang="en-US" sz="32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."</a:t>
            </a:r>
            <a:endParaRPr sz="3200" b="1">
              <a:solidFill>
                <a:srgbClr val="0F172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05" name="Google Shape;505;p29"/>
          <p:cNvSpPr txBox="1"/>
          <p:nvPr/>
        </p:nvSpPr>
        <p:spPr>
          <a:xfrm>
            <a:off x="2286000" y="4667250"/>
            <a:ext cx="7620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rPr>
              <a:t>— Industry Visionary</a:t>
            </a:r>
            <a:endParaRPr sz="1600" b="0">
              <a:solidFill>
                <a:srgbClr val="64748B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0" name="Google Shape;510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30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30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ReAct</a:t>
            </a: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is the gold standard for agents that interact with the real world.</a:t>
            </a:r>
            <a:endParaRPr/>
          </a:p>
        </p:txBody>
      </p:sp>
      <p:sp>
        <p:nvSpPr>
          <p:cNvPr id="514" name="Google Shape;514;p30"/>
          <p:cNvSpPr txBox="1"/>
          <p:nvPr/>
        </p:nvSpPr>
        <p:spPr>
          <a:xfrm>
            <a:off x="8953500" y="266700"/>
            <a:ext cx="28575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18</a:t>
            </a:r>
            <a:endParaRPr/>
          </a:p>
        </p:txBody>
      </p:sp>
      <p:sp>
        <p:nvSpPr>
          <p:cNvPr id="515" name="Google Shape;515;p30"/>
          <p:cNvSpPr txBox="1"/>
          <p:nvPr/>
        </p:nvSpPr>
        <p:spPr>
          <a:xfrm>
            <a:off x="762000" y="1104900"/>
            <a:ext cx="112014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Agent Reasoning Patterns</a:t>
            </a:r>
            <a:endParaRPr/>
          </a:p>
        </p:txBody>
      </p:sp>
      <p:graphicFrame>
        <p:nvGraphicFramePr>
          <p:cNvPr id="516" name="Google Shape;516;p30"/>
          <p:cNvGraphicFramePr/>
          <p:nvPr/>
        </p:nvGraphicFramePr>
        <p:xfrm>
          <a:off x="762000" y="2076450"/>
          <a:ext cx="10668000" cy="2419375"/>
        </p:xfrm>
        <a:graphic>
          <a:graphicData uri="http://schemas.openxmlformats.org/drawingml/2006/table">
            <a:tbl>
              <a:tblPr firstRow="1" bandRow="1">
                <a:noFill/>
                <a:tableStyleId>{1B08FFA9-47A5-40E2-AF77-5C7549AC359D}</a:tableStyleId>
              </a:tblPr>
              <a:tblGrid>
                <a:gridCol w="2494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86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87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Pattern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How it works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Best For...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Zero-Shot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Direct completion in one go.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Simple tasks, no tools.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Chain of Thought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Step-by-step internal reasoning.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Complex logic / math.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ReAct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Iterative Reasoning + Acting.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Web search, API usage.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3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Self-Reflection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Agent critiques its own output.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Code generation / Quality work.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17" name="Google Shape;517;p30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30"/>
          <p:cNvSpPr/>
          <p:nvPr/>
        </p:nvSpPr>
        <p:spPr>
          <a:xfrm>
            <a:off x="762000" y="3024187"/>
            <a:ext cx="249406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30"/>
          <p:cNvSpPr/>
          <p:nvPr/>
        </p:nvSpPr>
        <p:spPr>
          <a:xfrm>
            <a:off x="3256061" y="3024187"/>
            <a:ext cx="408682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30"/>
          <p:cNvSpPr/>
          <p:nvPr/>
        </p:nvSpPr>
        <p:spPr>
          <a:xfrm>
            <a:off x="7342882" y="3024187"/>
            <a:ext cx="40871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30"/>
          <p:cNvSpPr/>
          <p:nvPr/>
        </p:nvSpPr>
        <p:spPr>
          <a:xfrm>
            <a:off x="762000" y="3509962"/>
            <a:ext cx="249406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30"/>
          <p:cNvSpPr/>
          <p:nvPr/>
        </p:nvSpPr>
        <p:spPr>
          <a:xfrm>
            <a:off x="3256061" y="3509962"/>
            <a:ext cx="408682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30"/>
          <p:cNvSpPr/>
          <p:nvPr/>
        </p:nvSpPr>
        <p:spPr>
          <a:xfrm>
            <a:off x="7342882" y="3509962"/>
            <a:ext cx="40871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30"/>
          <p:cNvSpPr/>
          <p:nvPr/>
        </p:nvSpPr>
        <p:spPr>
          <a:xfrm>
            <a:off x="762000" y="3995737"/>
            <a:ext cx="249406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30"/>
          <p:cNvSpPr/>
          <p:nvPr/>
        </p:nvSpPr>
        <p:spPr>
          <a:xfrm>
            <a:off x="3256061" y="3995737"/>
            <a:ext cx="408682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30"/>
          <p:cNvSpPr/>
          <p:nvPr/>
        </p:nvSpPr>
        <p:spPr>
          <a:xfrm>
            <a:off x="7342882" y="3995737"/>
            <a:ext cx="40871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30"/>
          <p:cNvSpPr/>
          <p:nvPr/>
        </p:nvSpPr>
        <p:spPr>
          <a:xfrm>
            <a:off x="762000" y="4481512"/>
            <a:ext cx="249406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30"/>
          <p:cNvSpPr/>
          <p:nvPr/>
        </p:nvSpPr>
        <p:spPr>
          <a:xfrm>
            <a:off x="3256061" y="4481512"/>
            <a:ext cx="408682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30"/>
          <p:cNvSpPr/>
          <p:nvPr/>
        </p:nvSpPr>
        <p:spPr>
          <a:xfrm>
            <a:off x="7342882" y="4481512"/>
            <a:ext cx="40871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4" name="Google Shape;534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5" name="Google Shape;535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31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31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Orchestration is the key skill for future AI developers.</a:t>
            </a:r>
            <a:endParaRPr/>
          </a:p>
        </p:txBody>
      </p:sp>
      <p:sp>
        <p:nvSpPr>
          <p:cNvPr id="538" name="Google Shape;538;p31"/>
          <p:cNvSpPr txBox="1"/>
          <p:nvPr/>
        </p:nvSpPr>
        <p:spPr>
          <a:xfrm>
            <a:off x="2475547" y="2266950"/>
            <a:ext cx="7240905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>
                <a:solidFill>
                  <a:srgbClr val="22C55E"/>
                </a:solidFill>
                <a:latin typeface="Inter"/>
                <a:ea typeface="Inter"/>
                <a:cs typeface="Inter"/>
                <a:sym typeface="Inter"/>
              </a:rPr>
              <a:t>The Future is Collaborative</a:t>
            </a:r>
            <a:endParaRPr/>
          </a:p>
        </p:txBody>
      </p:sp>
      <p:sp>
        <p:nvSpPr>
          <p:cNvPr id="539" name="Google Shape;539;p31"/>
          <p:cNvSpPr txBox="1"/>
          <p:nvPr/>
        </p:nvSpPr>
        <p:spPr>
          <a:xfrm>
            <a:off x="2286000" y="3105150"/>
            <a:ext cx="7620000" cy="971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As models become smaller and faster, </a:t>
            </a:r>
            <a:r>
              <a:rPr lang="en-US" sz="2100" b="1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Multi-Agent Systems (MAS)</a:t>
            </a:r>
            <a:r>
              <a:rPr lang="en-US" sz="2100" b="0" i="0" u="none" strike="noStrike" cap="non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 will allow teams of specialized AI workers to solve enterprise problems at massive scale.</a:t>
            </a:r>
            <a:endParaRPr/>
          </a:p>
        </p:txBody>
      </p:sp>
      <p:sp>
        <p:nvSpPr>
          <p:cNvPr id="540" name="Google Shape;540;p31"/>
          <p:cNvSpPr/>
          <p:nvPr/>
        </p:nvSpPr>
        <p:spPr>
          <a:xfrm>
            <a:off x="5715000" y="4457700"/>
            <a:ext cx="762000" cy="381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5" name="Google Shape;545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48300" y="190500"/>
            <a:ext cx="12954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6" name="Google Shape;546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1000" y="6434137"/>
            <a:ext cx="139065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547" name="Google Shape;547;p32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32"/>
          <p:cNvSpPr txBox="1"/>
          <p:nvPr/>
        </p:nvSpPr>
        <p:spPr>
          <a:xfrm>
            <a:off x="381000" y="6465367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The industry is rapidly shifting from 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Prompting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to </a:t>
            </a:r>
            <a:r>
              <a:rPr lang="en-US" sz="12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Architecting Agents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  <p:sp>
        <p:nvSpPr>
          <p:cNvPr id="549" name="Google Shape;549;p32"/>
          <p:cNvSpPr txBox="1"/>
          <p:nvPr/>
        </p:nvSpPr>
        <p:spPr>
          <a:xfrm>
            <a:off x="8953500" y="266700"/>
            <a:ext cx="2857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Slide 20</a:t>
            </a:r>
            <a:endParaRPr/>
          </a:p>
        </p:txBody>
      </p:sp>
      <p:sp>
        <p:nvSpPr>
          <p:cNvPr id="550" name="Google Shape;550;p32"/>
          <p:cNvSpPr txBox="1"/>
          <p:nvPr/>
        </p:nvSpPr>
        <p:spPr>
          <a:xfrm>
            <a:off x="762000" y="1104900"/>
            <a:ext cx="11201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Framework Adoption Trends</a:t>
            </a:r>
            <a:endParaRPr/>
          </a:p>
        </p:txBody>
      </p:sp>
      <p:sp>
        <p:nvSpPr>
          <p:cNvPr id="551" name="Google Shape;551;p32"/>
          <p:cNvSpPr/>
          <p:nvPr/>
        </p:nvSpPr>
        <p:spPr>
          <a:xfrm>
            <a:off x="381000" y="266700"/>
            <a:ext cx="381000" cy="190500"/>
          </a:xfrm>
          <a:prstGeom prst="roundRect">
            <a:avLst>
              <a:gd name="adj" fmla="val 50000"/>
            </a:avLst>
          </a:prstGeom>
          <a:noFill/>
          <a:ln w="1905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32"/>
          <p:cNvSpPr/>
          <p:nvPr/>
        </p:nvSpPr>
        <p:spPr>
          <a:xfrm>
            <a:off x="6134100" y="1943100"/>
            <a:ext cx="5334000" cy="3810000"/>
          </a:xfrm>
          <a:prstGeom prst="roundRect">
            <a:avLst>
              <a:gd name="adj" fmla="val 4000"/>
            </a:avLst>
          </a:prstGeom>
          <a:solidFill>
            <a:srgbClr val="0F172A">
              <a:alpha val="3999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p32"/>
          <p:cNvSpPr/>
          <p:nvPr/>
        </p:nvSpPr>
        <p:spPr>
          <a:xfrm>
            <a:off x="6096000" y="1905000"/>
            <a:ext cx="5334000" cy="381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43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32"/>
          <p:cNvSpPr txBox="1"/>
          <p:nvPr/>
        </p:nvSpPr>
        <p:spPr>
          <a:xfrm>
            <a:off x="6381750" y="2143125"/>
            <a:ext cx="47625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Production Adoption Curve</a:t>
            </a:r>
            <a:endParaRPr sz="1600" b="1">
              <a:solidFill>
                <a:srgbClr val="0F172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64748B"/>
                </a:solidFill>
                <a:latin typeface="DM Sans"/>
                <a:ea typeface="DM Sans"/>
                <a:cs typeface="DM Sans"/>
                <a:sym typeface="DM Sans"/>
              </a:rPr>
              <a:t>Standardized deployment of specialized agent frameworks (2022 - 2024)</a:t>
            </a:r>
            <a:endParaRPr sz="1100" b="0">
              <a:solidFill>
                <a:srgbClr val="64748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555" name="Google Shape;555;p32" descr="image.png"/>
          <p:cNvPicPr preferRelativeResize="0"/>
          <p:nvPr/>
        </p:nvPicPr>
        <p:blipFill rotWithShape="1">
          <a:blip r:embed="rId5">
            <a:alphaModFix/>
          </a:blip>
          <a:srcRect t="80" b="70"/>
          <a:stretch/>
        </p:blipFill>
        <p:spPr>
          <a:xfrm>
            <a:off x="6238875" y="3083992"/>
            <a:ext cx="5048400" cy="2169308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p32"/>
          <p:cNvSpPr txBox="1"/>
          <p:nvPr/>
        </p:nvSpPr>
        <p:spPr>
          <a:xfrm>
            <a:off x="762000" y="1905000"/>
            <a:ext cx="4953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0F172A"/>
                </a:solidFill>
                <a:latin typeface="DM Sans"/>
                <a:ea typeface="DM Sans"/>
                <a:cs typeface="DM Sans"/>
                <a:sym typeface="DM Sans"/>
              </a:rPr>
              <a:t>The Shift to Agentic Ecosystems</a:t>
            </a:r>
            <a:endParaRPr sz="1800" b="1">
              <a:solidFill>
                <a:srgbClr val="0F172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45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Organizations are moving past simple prompting into production-grade architectures powered by specialized frameworks.</a:t>
            </a:r>
            <a:endParaRPr sz="1100" b="0">
              <a:solidFill>
                <a:srgbClr val="47556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1125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3B82F6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hub</a:t>
            </a:r>
            <a:endParaRPr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LangChain Orchestration</a:t>
            </a:r>
            <a:endParaRPr sz="1300" b="1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The standard library for chaining LLM cognitive steps with memory and APIs.</a:t>
            </a:r>
            <a:endParaRPr sz="1100" b="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10B981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groups</a:t>
            </a:r>
            <a:endParaRPr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CrewAI Collaborative Teams</a:t>
            </a:r>
            <a:endParaRPr sz="1300" b="1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Enables multi-agent role-playing, goals, and collaborative execution.</a:t>
            </a:r>
            <a:endParaRPr sz="1100" b="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8B5CF6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>sync</a:t>
            </a:r>
            <a:endParaRPr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AutoGPT Autonomy</a:t>
            </a:r>
            <a:endParaRPr sz="1300" b="1">
              <a:solidFill>
                <a:srgbClr val="1E293B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15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Pioneering self-directed loops that continuously refine tasks until goals are met.</a:t>
            </a:r>
            <a:endParaRPr sz="1100" b="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1689</Words>
  <Application>Microsoft Office PowerPoint</Application>
  <PresentationFormat>Widescreen</PresentationFormat>
  <Paragraphs>289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1" baseType="lpstr">
      <vt:lpstr>DM Sans</vt:lpstr>
      <vt:lpstr>Arial</vt:lpstr>
      <vt:lpstr>Inter SemiBold</vt:lpstr>
      <vt:lpstr>Courier New</vt:lpstr>
      <vt:lpstr>Inter Medium</vt:lpstr>
      <vt:lpstr>Calibri</vt:lpstr>
      <vt:lpstr>DM Sans ExtraBold</vt:lpstr>
      <vt:lpstr>Material Icons</vt:lpstr>
      <vt:lpstr>Inter</vt:lpstr>
      <vt:lpstr>DM Sans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Usha Nandhini</cp:lastModifiedBy>
  <cp:revision>2</cp:revision>
  <dcterms:modified xsi:type="dcterms:W3CDTF">2026-06-27T04:30:34Z</dcterms:modified>
</cp:coreProperties>
</file>