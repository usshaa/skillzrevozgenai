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embeddedFontLst>
    <p:embeddedFont>
      <p:font typeface="DM Sans" pitchFamily="2" charset="0"/>
      <p:regular r:id="rId24"/>
      <p:bold r:id="rId25"/>
      <p:italic r:id="rId26"/>
      <p:boldItalic r:id="rId27"/>
    </p:embeddedFont>
    <p:embeddedFont>
      <p:font typeface="DM Sans Black" panose="020B0604020202020204" charset="0"/>
      <p:bold r:id="rId28"/>
      <p:boldItalic r:id="rId29"/>
    </p:embeddedFont>
    <p:embeddedFont>
      <p:font typeface="DM Sans ExtraBold" panose="020B0604020202020204" charset="0"/>
      <p:bold r:id="rId30"/>
      <p:boldItalic r:id="rId31"/>
    </p:embeddedFont>
    <p:embeddedFont>
      <p:font typeface="Inter" panose="020B0604020202020204" charset="0"/>
      <p:bold r:id="rId32"/>
      <p:boldItalic r:id="rId33"/>
    </p:embeddedFont>
    <p:embeddedFont>
      <p:font typeface="Inter Medium" panose="020B0604020202020204" charset="0"/>
      <p:regular r:id="rId34"/>
      <p:bold r:id="rId35"/>
      <p:italic r:id="rId36"/>
      <p:boldItalic r:id="rId37"/>
    </p:embeddedFont>
    <p:embeddedFont>
      <p:font typeface="Inter SemiBold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08FFA9-47A5-40E2-AF77-5C7549AC359D}">
  <a:tblStyle styleId="{1B08FFA9-47A5-40E2-AF77-5C7549AC359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B6345908-C3FC-ABC1-6B97-D353CCBB8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>
            <a:extLst>
              <a:ext uri="{FF2B5EF4-FFF2-40B4-BE49-F238E27FC236}">
                <a16:creationId xmlns:a16="http://schemas.microsoft.com/office/drawing/2014/main" id="{7725C15A-FE88-A761-8E31-4BF6939FD2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7:notes">
            <a:extLst>
              <a:ext uri="{FF2B5EF4-FFF2-40B4-BE49-F238E27FC236}">
                <a16:creationId xmlns:a16="http://schemas.microsoft.com/office/drawing/2014/main" id="{0FE69B65-ECA7-EEDA-42EA-370CA9200F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663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8C8C9362-8CFD-7671-1067-125A801D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9" descr="image.png">
            <a:extLst>
              <a:ext uri="{FF2B5EF4-FFF2-40B4-BE49-F238E27FC236}">
                <a16:creationId xmlns:a16="http://schemas.microsoft.com/office/drawing/2014/main" id="{2F9A0FA5-5981-43E4-DF46-9AEE750F4D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58500" y="552450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9">
            <a:extLst>
              <a:ext uri="{FF2B5EF4-FFF2-40B4-BE49-F238E27FC236}">
                <a16:creationId xmlns:a16="http://schemas.microsoft.com/office/drawing/2014/main" id="{F25244FB-3432-B9FE-020C-0349645835C5}"/>
              </a:ext>
            </a:extLst>
          </p:cNvPr>
          <p:cNvSpPr txBox="1"/>
          <p:nvPr/>
        </p:nvSpPr>
        <p:spPr>
          <a:xfrm>
            <a:off x="4520803" y="2566987"/>
            <a:ext cx="31503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22C55E"/>
                </a:solidFill>
                <a:latin typeface="DM Sans"/>
                <a:ea typeface="DM Sans"/>
                <a:cs typeface="DM Sans"/>
                <a:sym typeface="DM Sans"/>
              </a:rPr>
              <a:t>Agentic AI</a:t>
            </a:r>
            <a:endParaRPr dirty="0"/>
          </a:p>
        </p:txBody>
      </p:sp>
      <p:sp>
        <p:nvSpPr>
          <p:cNvPr id="258" name="Google Shape;258;p19">
            <a:extLst>
              <a:ext uri="{FF2B5EF4-FFF2-40B4-BE49-F238E27FC236}">
                <a16:creationId xmlns:a16="http://schemas.microsoft.com/office/drawing/2014/main" id="{CC38BC82-02F2-611E-89A0-B326228955F8}"/>
              </a:ext>
            </a:extLst>
          </p:cNvPr>
          <p:cNvSpPr txBox="1"/>
          <p:nvPr/>
        </p:nvSpPr>
        <p:spPr>
          <a:xfrm>
            <a:off x="2790586" y="3309937"/>
            <a:ext cx="661082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Autonomous AI Research Assistant</a:t>
            </a:r>
            <a:endParaRPr/>
          </a:p>
        </p:txBody>
      </p:sp>
      <p:sp>
        <p:nvSpPr>
          <p:cNvPr id="259" name="Google Shape;259;p19">
            <a:extLst>
              <a:ext uri="{FF2B5EF4-FFF2-40B4-BE49-F238E27FC236}">
                <a16:creationId xmlns:a16="http://schemas.microsoft.com/office/drawing/2014/main" id="{EBB6A8DE-E2BA-1FE6-92A5-7FDFF7B788BC}"/>
              </a:ext>
            </a:extLst>
          </p:cNvPr>
          <p:cNvSpPr/>
          <p:nvPr/>
        </p:nvSpPr>
        <p:spPr>
          <a:xfrm>
            <a:off x="5715000" y="3871912"/>
            <a:ext cx="762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>
            <a:extLst>
              <a:ext uri="{FF2B5EF4-FFF2-40B4-BE49-F238E27FC236}">
                <a16:creationId xmlns:a16="http://schemas.microsoft.com/office/drawing/2014/main" id="{2025EC65-D2AE-C6A0-281F-8099BE3DEA11}"/>
              </a:ext>
            </a:extLst>
          </p:cNvPr>
          <p:cNvSpPr txBox="1"/>
          <p:nvPr/>
        </p:nvSpPr>
        <p:spPr>
          <a:xfrm>
            <a:off x="3338512" y="4195762"/>
            <a:ext cx="5514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Applying Agentic principles to automate market research and data synthesis.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7379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62000" y="381000"/>
            <a:ext cx="10668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F172A"/>
                </a:solidFill>
                <a:highlight>
                  <a:srgbClr val="E2E8F0"/>
                </a:highlight>
                <a:latin typeface="Inter"/>
                <a:ea typeface="Inter"/>
                <a:cs typeface="Inter"/>
                <a:sym typeface="Inter"/>
              </a:rPr>
              <a:t>🤖 Agentic AI</a:t>
            </a:r>
            <a:r>
              <a:rPr lang="en-US" sz="1100" b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01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3200" b="0">
                <a:solidFill>
                  <a:srgbClr val="0F172A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What is Agentic AI?</a:t>
            </a:r>
            <a:endParaRPr sz="3200" b="0">
              <a:solidFill>
                <a:srgbClr val="0F172A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Next Frontier: Moving from Passive Chat to Autonomous Action</a:t>
            </a:r>
            <a:endParaRPr sz="16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5" name="Google Shape;85;p13"/>
          <p:cNvGrpSpPr/>
          <p:nvPr/>
        </p:nvGrpSpPr>
        <p:grpSpPr>
          <a:xfrm>
            <a:off x="762000" y="1809750"/>
            <a:ext cx="5143500" cy="2762400"/>
            <a:chOff x="0" y="0"/>
            <a:chExt cx="5143500" cy="2762400"/>
          </a:xfrm>
        </p:grpSpPr>
        <p:sp>
          <p:nvSpPr>
            <p:cNvPr id="86" name="Google Shape;86;p13"/>
            <p:cNvSpPr/>
            <p:nvPr/>
          </p:nvSpPr>
          <p:spPr>
            <a:xfrm>
              <a:off x="0" y="0"/>
              <a:ext cx="5143500" cy="2762400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228600" y="228600"/>
              <a:ext cx="46863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2563EB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📚 DEFINITION</a:t>
              </a:r>
              <a:endParaRPr sz="1000" b="1">
                <a:solidFill>
                  <a:srgbClr val="2563EB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Agentic AI</a:t>
              </a:r>
              <a:r>
                <a:rPr lang="en-US" sz="135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refers to systems that use </a:t>
              </a:r>
              <a:r>
                <a:rPr lang="en-US" sz="1350" b="1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Large Language Models (LLMs)</a:t>
              </a:r>
              <a:r>
                <a:rPr lang="en-US" sz="135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as a "reasoning engine" to autonomously </a:t>
              </a:r>
              <a:r>
                <a:rPr lang="en-US" sz="1350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plan</a:t>
              </a:r>
              <a:r>
                <a:rPr lang="en-US" sz="135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350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execute</a:t>
              </a:r>
              <a:r>
                <a:rPr lang="en-US" sz="135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tasks, and </a:t>
              </a:r>
              <a:r>
                <a:rPr lang="en-US" sz="1350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use tools</a:t>
              </a:r>
              <a:r>
                <a:rPr lang="en-US" sz="135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to achieve high-level goals with minimal human intervention.</a:t>
              </a:r>
              <a:endParaRPr sz="1350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475569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⚡ Autonomy🧠 Reasoning Engine🛠️ Tool Use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>
            <a:off x="6286500" y="1809750"/>
            <a:ext cx="5143500" cy="2762400"/>
            <a:chOff x="0" y="0"/>
            <a:chExt cx="5143500" cy="2762400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5143500" cy="2762400"/>
            </a:xfrm>
            <a:prstGeom prst="roundRect">
              <a:avLst>
                <a:gd name="adj" fmla="val 5517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228600" y="228600"/>
              <a:ext cx="46863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66534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👨‍🍳 REAL-LIFE ANALOGY</a:t>
              </a:r>
              <a:endParaRPr sz="1000" b="1">
                <a:solidFill>
                  <a:srgbClr val="166534"/>
                </a:solidFill>
                <a:highlight>
                  <a:srgbClr val="F0FDF4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3200">
                  <a:latin typeface="Inter"/>
                  <a:ea typeface="Inter"/>
                  <a:cs typeface="Inter"/>
                  <a:sym typeface="Inter"/>
                </a:rPr>
                <a:t>👨‍🍳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Chatbot</a:t>
              </a:r>
              <a:r>
                <a:rPr lang="en-US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is like a </a:t>
              </a:r>
              <a:r>
                <a:rPr lang="en-US" sz="1200" b="0" u="sng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vending machine</a:t>
              </a:r>
              <a:r>
                <a:rPr lang="en-US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: you ask for a specific item and immediately get it.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Agent</a:t>
              </a:r>
              <a:r>
                <a:rPr lang="en-US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is a </a:t>
              </a:r>
              <a:r>
                <a:rPr lang="en-US" sz="1200" b="1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Personal Chef</a:t>
              </a:r>
              <a:r>
                <a:rPr lang="en-US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: hears dietary goals, shops for ingredients, and cooks autonomously.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65F46"/>
                  </a:solidFill>
                  <a:highlight>
                    <a:srgbClr val="ECFDF5"/>
                  </a:highlight>
                  <a:latin typeface="Inter"/>
                  <a:ea typeface="Inter"/>
                  <a:cs typeface="Inter"/>
                  <a:sym typeface="Inter"/>
                </a:rPr>
                <a:t>Mapping:</a:t>
              </a:r>
              <a:r>
                <a:rPr lang="en-US" sz="1100" b="0">
                  <a:solidFill>
                    <a:srgbClr val="065F46"/>
                  </a:solidFill>
                  <a:highlight>
                    <a:srgbClr val="ECFDF5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 The Chef (Agent) uses Tools (Knife/Stove) and Memory (Recipes) to reach the Goal (Dinner).</a:t>
              </a:r>
              <a:endParaRPr sz="1100" b="0">
                <a:solidFill>
                  <a:srgbClr val="065F46"/>
                </a:solidFill>
                <a:highlight>
                  <a:srgbClr val="ECFDF5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762000" y="4762500"/>
            <a:ext cx="10668000" cy="1143000"/>
            <a:chOff x="0" y="0"/>
            <a:chExt cx="10668000" cy="1143000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10668000" cy="1143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228600" y="152400"/>
              <a:ext cx="102108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🖥️ LIVE DEMO SCENARIO: AI Research Assistant</a:t>
              </a:r>
              <a:r>
                <a:rPr lang="en-US" sz="900" b="1" dirty="0">
                  <a:solidFill>
                    <a:srgbClr val="22C55E"/>
                  </a:solidFill>
                  <a:latin typeface="Inter"/>
                  <a:ea typeface="Inter"/>
                  <a:cs typeface="Inter"/>
                  <a:sym typeface="Inter"/>
                </a:rPr>
                <a:t>● ACTIVE LOOP</a:t>
              </a: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dirty="0" err="1">
                  <a:solidFill>
                    <a:srgbClr val="0F172A"/>
                  </a:solidFill>
                  <a:highlight>
                    <a:srgbClr val="E2E8F0"/>
                  </a:highlight>
                  <a:latin typeface="Inter"/>
                  <a:ea typeface="Inter"/>
                  <a:cs typeface="Inter"/>
                  <a:sym typeface="Inter"/>
                </a:rPr>
                <a:t>INPUT</a:t>
              </a:r>
              <a:r>
                <a:rPr lang="en-US" sz="1100" b="0" dirty="0" err="1">
                  <a:solidFill>
                    <a:srgbClr val="F1F5F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"Find</a:t>
              </a:r>
              <a:r>
                <a:rPr lang="en-US" sz="1100" b="0" dirty="0">
                  <a:solidFill>
                    <a:srgbClr val="F1F5F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and summarize recent 6G wireless research </a:t>
              </a:r>
              <a:r>
                <a:rPr lang="en-US" sz="1100" b="0" dirty="0" err="1">
                  <a:solidFill>
                    <a:srgbClr val="F1F5F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papers."</a:t>
              </a:r>
              <a:r>
                <a:rPr lang="en-US" dirty="0" err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➔</a:t>
              </a:r>
              <a:r>
                <a:rPr lang="en-US" sz="900" b="1" dirty="0" err="1">
                  <a:solidFill>
                    <a:srgbClr val="0F172A"/>
                  </a:solidFill>
                  <a:highlight>
                    <a:srgbClr val="F59E0B"/>
                  </a:highlight>
                  <a:latin typeface="Inter"/>
                  <a:ea typeface="Inter"/>
                  <a:cs typeface="Inter"/>
                  <a:sym typeface="Inter"/>
                </a:rPr>
                <a:t>AGENT</a:t>
              </a:r>
              <a:r>
                <a:rPr lang="en-US" sz="900" b="1" dirty="0">
                  <a:solidFill>
                    <a:srgbClr val="0F172A"/>
                  </a:solidFill>
                  <a:highlight>
                    <a:srgbClr val="F59E0B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900" b="1" dirty="0" err="1">
                  <a:solidFill>
                    <a:srgbClr val="0F172A"/>
                  </a:solidFill>
                  <a:highlight>
                    <a:srgbClr val="F59E0B"/>
                  </a:highlight>
                  <a:latin typeface="Inter"/>
                  <a:ea typeface="Inter"/>
                  <a:cs typeface="Inter"/>
                  <a:sym typeface="Inter"/>
                </a:rPr>
                <a:t>ACTION</a:t>
              </a:r>
              <a:r>
                <a:rPr lang="en-US" sz="1100" dirty="0" err="1">
                  <a:solidFill>
                    <a:srgbClr val="FCD34D"/>
                  </a:solidFill>
                  <a:latin typeface="Inter"/>
                  <a:ea typeface="Inter"/>
                  <a:cs typeface="Inter"/>
                  <a:sym typeface="Inter"/>
                </a:rPr>
                <a:t>Searching</a:t>
              </a:r>
              <a:r>
                <a:rPr lang="en-US" sz="1100" dirty="0">
                  <a:solidFill>
                    <a:srgbClr val="FCD34D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 dirty="0" err="1">
                  <a:solidFill>
                    <a:srgbClr val="FCD34D"/>
                  </a:solidFill>
                  <a:latin typeface="Inter"/>
                  <a:ea typeface="Inter"/>
                  <a:cs typeface="Inter"/>
                  <a:sym typeface="Inter"/>
                </a:rPr>
                <a:t>ArXiv</a:t>
              </a:r>
              <a:r>
                <a:rPr lang="en-US" sz="1100" dirty="0">
                  <a:solidFill>
                    <a:srgbClr val="FCD34D"/>
                  </a:solidFill>
                  <a:latin typeface="Inter"/>
                  <a:ea typeface="Inter"/>
                  <a:cs typeface="Inter"/>
                  <a:sym typeface="Inter"/>
                </a:rPr>
                <a:t>... Found 12 results... Summarizing...</a:t>
              </a: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0" y="6191250"/>
            <a:ext cx="12192000" cy="666900"/>
            <a:chOff x="0" y="0"/>
            <a:chExt cx="12192000" cy="666900"/>
          </a:xfrm>
        </p:grpSpPr>
        <p:sp>
          <p:nvSpPr>
            <p:cNvPr id="95" name="Google Shape;95;p13"/>
            <p:cNvSpPr/>
            <p:nvPr/>
          </p:nvSpPr>
          <p:spPr>
            <a:xfrm>
              <a:off x="0" y="0"/>
              <a:ext cx="12192000" cy="666900"/>
            </a:xfrm>
            <a:prstGeom prst="rect">
              <a:avLst/>
            </a:prstGeom>
            <a:solidFill>
              <a:srgbClr val="02061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762000" y="0"/>
              <a:ext cx="1066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Agents don't just talk; they </a:t>
              </a:r>
              <a:r>
                <a:rPr lang="en-US" sz="1350" b="1" u="sng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reason</a:t>
              </a:r>
              <a:r>
                <a:rPr lang="en-US" sz="135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lang="en-US" sz="1350" b="1" u="sng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act</a:t>
              </a:r>
              <a:r>
                <a:rPr lang="en-US" sz="135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through iterative feedback loops.</a:t>
              </a:r>
              <a:endParaRPr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core difference is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Reasoning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Agents choose the "how" based on the "what".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953500" y="2667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02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11049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Agent vs. Chatbot vs. Workflow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188595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Understanding where </a:t>
            </a: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Agency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begins and </a:t>
            </a: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Automation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ends.</a:t>
            </a:r>
            <a:endParaRPr/>
          </a:p>
        </p:txBody>
      </p:sp>
      <p:graphicFrame>
        <p:nvGraphicFramePr>
          <p:cNvPr id="108" name="Google Shape;108;p14"/>
          <p:cNvGraphicFramePr/>
          <p:nvPr/>
        </p:nvGraphicFramePr>
        <p:xfrm>
          <a:off x="762000" y="2457450"/>
          <a:ext cx="10668000" cy="2419375"/>
        </p:xfrm>
        <a:graphic>
          <a:graphicData uri="http://schemas.openxmlformats.org/drawingml/2006/table">
            <a:tbl>
              <a:tblPr firstRow="1" bandRow="1">
                <a:noFill/>
                <a:tableStyleId>{1B08FFA9-47A5-40E2-AF77-5C7549AC359D}</a:tableStyleId>
              </a:tblPr>
              <a:tblGrid>
                <a:gridCol w="226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2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Traditional Chatbot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Static Workflow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Autonomous Agent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Maker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(Instruction)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Developer (Code)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Model (Reasoning)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Execution Path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Linear / Reactive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Hardcoded Steps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Dynamic &amp; Iterative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Tool Usage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Limited (Integration)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Fixed APIs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Decides which tool to use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Goal Orientation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Response-driven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Process-driven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Goal-driven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Google Shape;109;p14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762000" y="3405187"/>
            <a:ext cx="22618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3023889" y="3405187"/>
            <a:ext cx="2655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5679876" y="3405187"/>
            <a:ext cx="2422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8102351" y="3405187"/>
            <a:ext cx="33276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762000" y="3890962"/>
            <a:ext cx="22618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3023889" y="3890962"/>
            <a:ext cx="2655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5679876" y="3890962"/>
            <a:ext cx="2422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8102351" y="3890962"/>
            <a:ext cx="33276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762000" y="4376737"/>
            <a:ext cx="22618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3023889" y="4376737"/>
            <a:ext cx="2655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5679876" y="4376737"/>
            <a:ext cx="2422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8102351" y="4376737"/>
            <a:ext cx="33276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762000" y="4862512"/>
            <a:ext cx="22618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3023889" y="4862512"/>
            <a:ext cx="2655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5679876" y="4862512"/>
            <a:ext cx="2422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8102351" y="4862512"/>
            <a:ext cx="33276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Agentic cycles are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loops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not lines; they self-correct until the goal is achieved.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953500" y="266700"/>
            <a:ext cx="28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03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62000" y="11049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The AI Agent Lifecycle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15"/>
          <p:cNvGrpSpPr/>
          <p:nvPr/>
        </p:nvGrpSpPr>
        <p:grpSpPr>
          <a:xfrm>
            <a:off x="762000" y="2000250"/>
            <a:ext cx="2476500" cy="3238500"/>
            <a:chOff x="0" y="0"/>
            <a:chExt cx="2476500" cy="3238500"/>
          </a:xfrm>
        </p:grpSpPr>
        <p:sp>
          <p:nvSpPr>
            <p:cNvPr id="138" name="Google Shape;138;p15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247650" y="247650"/>
              <a:ext cx="457200" cy="457200"/>
            </a:xfrm>
            <a:prstGeom prst="ellipse">
              <a:avLst/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5"/>
            <p:cNvSpPr txBox="1"/>
            <p:nvPr/>
          </p:nvSpPr>
          <p:spPr>
            <a:xfrm>
              <a:off x="1809750" y="304800"/>
              <a:ext cx="38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sz="16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2" name="Google Shape;142;p15"/>
            <p:cNvSpPr txBox="1"/>
            <p:nvPr/>
          </p:nvSpPr>
          <p:spPr>
            <a:xfrm>
              <a:off x="228600" y="895350"/>
              <a:ext cx="201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Perception</a:t>
              </a:r>
              <a:endParaRPr sz="1600" b="1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3" name="Google Shape;143;p15"/>
            <p:cNvSpPr txBox="1"/>
            <p:nvPr/>
          </p:nvSpPr>
          <p:spPr>
            <a:xfrm>
              <a:off x="228600" y="1295400"/>
              <a:ext cx="20193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agent </a:t>
              </a:r>
              <a:r>
                <a:rPr lang="en-US" sz="1150" b="1">
                  <a:solidFill>
                    <a:srgbClr val="1B5E20"/>
                  </a:solidFill>
                  <a:highlight>
                    <a:srgbClr val="E8F5E9"/>
                  </a:highlight>
                  <a:latin typeface="Inter"/>
                  <a:ea typeface="Inter"/>
                  <a:cs typeface="Inter"/>
                  <a:sym typeface="Inter"/>
                </a:rPr>
                <a:t>observes</a:t>
              </a: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the environment, capturing inputs and contextual cues.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Establishes the foundation by gathering user intents and environmental status.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" name="Google Shape;144;p15"/>
          <p:cNvGrpSpPr/>
          <p:nvPr/>
        </p:nvGrpSpPr>
        <p:grpSpPr>
          <a:xfrm>
            <a:off x="3486150" y="2000250"/>
            <a:ext cx="2476500" cy="3238500"/>
            <a:chOff x="0" y="0"/>
            <a:chExt cx="2476500" cy="3238500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247650" y="247650"/>
              <a:ext cx="457200" cy="457200"/>
            </a:xfrm>
            <a:prstGeom prst="ellipse">
              <a:avLst/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5"/>
            <p:cNvSpPr txBox="1"/>
            <p:nvPr/>
          </p:nvSpPr>
          <p:spPr>
            <a:xfrm>
              <a:off x="1809750" y="304800"/>
              <a:ext cx="38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sz="16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228600" y="895350"/>
              <a:ext cx="201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Planning</a:t>
              </a:r>
              <a:endParaRPr sz="16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" name="Google Shape;150;p15"/>
            <p:cNvSpPr txBox="1"/>
            <p:nvPr/>
          </p:nvSpPr>
          <p:spPr>
            <a:xfrm>
              <a:off x="228600" y="1295400"/>
              <a:ext cx="20193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lang="en-US" sz="1150" b="1">
                  <a:solidFill>
                    <a:srgbClr val="1B5E20"/>
                  </a:solidFill>
                  <a:highlight>
                    <a:srgbClr val="E8F5E9"/>
                  </a:highlight>
                  <a:latin typeface="Inter"/>
                  <a:ea typeface="Inter"/>
                  <a:cs typeface="Inter"/>
                  <a:sym typeface="Inter"/>
                </a:rPr>
                <a:t>LLM Brain</a:t>
              </a: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maps out a strategy, breaking a complex goal into logical sub-tasks.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Determines the sequence of execution and selects appropriate tools for the job.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6210300" y="2000250"/>
            <a:ext cx="2476500" cy="3238500"/>
            <a:chOff x="0" y="0"/>
            <a:chExt cx="2476500" cy="3238500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247650" y="247650"/>
              <a:ext cx="457200" cy="457200"/>
            </a:xfrm>
            <a:prstGeom prst="ellipse">
              <a:avLst/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 txBox="1"/>
            <p:nvPr/>
          </p:nvSpPr>
          <p:spPr>
            <a:xfrm>
              <a:off x="1809750" y="304800"/>
              <a:ext cx="38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sz="16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6" name="Google Shape;156;p15"/>
            <p:cNvSpPr txBox="1"/>
            <p:nvPr/>
          </p:nvSpPr>
          <p:spPr>
            <a:xfrm>
              <a:off x="228600" y="895350"/>
              <a:ext cx="201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Execution</a:t>
              </a:r>
              <a:endParaRPr sz="16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228600" y="1295400"/>
              <a:ext cx="20193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agent actively </a:t>
              </a:r>
              <a:r>
                <a:rPr lang="en-US" sz="1150" b="1">
                  <a:solidFill>
                    <a:srgbClr val="1B5E20"/>
                  </a:solidFill>
                  <a:highlight>
                    <a:srgbClr val="E8F5E9"/>
                  </a:highlight>
                  <a:latin typeface="Inter"/>
                  <a:ea typeface="Inter"/>
                  <a:cs typeface="Inter"/>
                  <a:sym typeface="Inter"/>
                </a:rPr>
                <a:t>calls tools</a:t>
              </a: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(APIs, code runners, or search engine queries).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Interacts directly with external software and databases to perform the planned actions.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8" name="Google Shape;158;p15"/>
          <p:cNvGrpSpPr/>
          <p:nvPr/>
        </p:nvGrpSpPr>
        <p:grpSpPr>
          <a:xfrm>
            <a:off x="8934450" y="2000250"/>
            <a:ext cx="2476500" cy="3238500"/>
            <a:chOff x="0" y="0"/>
            <a:chExt cx="2476500" cy="3238500"/>
          </a:xfrm>
        </p:grpSpPr>
        <p:sp>
          <p:nvSpPr>
            <p:cNvPr id="159" name="Google Shape;159;p15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247650" y="247650"/>
              <a:ext cx="457200" cy="457200"/>
            </a:xfrm>
            <a:prstGeom prst="ellipse">
              <a:avLst/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 txBox="1"/>
            <p:nvPr/>
          </p:nvSpPr>
          <p:spPr>
            <a:xfrm>
              <a:off x="1809750" y="304800"/>
              <a:ext cx="38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sz="16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3" name="Google Shape;163;p15"/>
            <p:cNvSpPr txBox="1"/>
            <p:nvPr/>
          </p:nvSpPr>
          <p:spPr>
            <a:xfrm>
              <a:off x="228600" y="895350"/>
              <a:ext cx="201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Evaluation</a:t>
              </a:r>
              <a:endParaRPr sz="16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4" name="Google Shape;164;p15"/>
            <p:cNvSpPr txBox="1"/>
            <p:nvPr/>
          </p:nvSpPr>
          <p:spPr>
            <a:xfrm>
              <a:off x="228600" y="1295400"/>
              <a:ext cx="20193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system </a:t>
              </a:r>
              <a:r>
                <a:rPr lang="en-US" sz="1150" b="1">
                  <a:solidFill>
                    <a:srgbClr val="1B5E20"/>
                  </a:solidFill>
                  <a:highlight>
                    <a:srgbClr val="E8F5E9"/>
                  </a:highlight>
                  <a:latin typeface="Inter"/>
                  <a:ea typeface="Inter"/>
                  <a:cs typeface="Inter"/>
                  <a:sym typeface="Inter"/>
                </a:rPr>
                <a:t>reviews</a:t>
              </a: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results to check if the goal is met or further loops are required.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Self-corrects and iterates dynamically until successful completion of the main objective.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885950"/>
            <a:ext cx="3429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1500" y="1885950"/>
            <a:ext cx="3429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01000" y="1885950"/>
            <a:ext cx="3429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600450"/>
            <a:ext cx="3429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1500" y="3600450"/>
            <a:ext cx="3429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01000" y="3600450"/>
            <a:ext cx="3429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Most enterprise agents today operate effectively between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Level 2 and Level 4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8953500" y="2667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04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762000" y="11049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Levels of Autonomy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09812" y="20859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6"/>
          <p:cNvSpPr txBox="1"/>
          <p:nvPr/>
        </p:nvSpPr>
        <p:spPr>
          <a:xfrm>
            <a:off x="886301" y="2609850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Level 0: Manual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962025" y="2828925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 provides information; human performs all actions. (Chatbot)</a:t>
            </a:r>
            <a:endParaRPr/>
          </a:p>
        </p:txBody>
      </p:sp>
      <p:pic>
        <p:nvPicPr>
          <p:cNvPr id="185" name="Google Shape;185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57875" y="20859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/>
        </p:nvSpPr>
        <p:spPr>
          <a:xfrm>
            <a:off x="4505801" y="2609850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Level 1: Assisted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4581525" y="2828925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 proposes actions; human approves every single step.</a:t>
            </a:r>
            <a:endParaRPr/>
          </a:p>
        </p:txBody>
      </p:sp>
      <p:pic>
        <p:nvPicPr>
          <p:cNvPr id="188" name="Google Shape;188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01187" y="20859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 txBox="1"/>
          <p:nvPr/>
        </p:nvSpPr>
        <p:spPr>
          <a:xfrm>
            <a:off x="8125301" y="2609850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Level 2: Supervised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8201025" y="2828925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 creates a plan; human approves the whole plan at once.</a:t>
            </a:r>
            <a:endParaRPr/>
          </a:p>
        </p:txBody>
      </p:sp>
      <p:pic>
        <p:nvPicPr>
          <p:cNvPr id="191" name="Google Shape;191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86000" y="38004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 txBox="1"/>
          <p:nvPr/>
        </p:nvSpPr>
        <p:spPr>
          <a:xfrm>
            <a:off x="886301" y="4324350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Level 3: Conditional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962025" y="4543425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 handles routine tasks end-to-end; human handles edge cases.</a:t>
            </a:r>
            <a:endParaRPr/>
          </a:p>
        </p:txBody>
      </p:sp>
      <p:pic>
        <p:nvPicPr>
          <p:cNvPr id="194" name="Google Shape;194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929312" y="38004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 txBox="1"/>
          <p:nvPr/>
        </p:nvSpPr>
        <p:spPr>
          <a:xfrm>
            <a:off x="4505801" y="4324350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Level 4: High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4581525" y="4543425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Autonomous with strict </a:t>
            </a: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Guardrails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; human is "on-the-loop".</a:t>
            </a:r>
            <a:endParaRPr/>
          </a:p>
        </p:txBody>
      </p:sp>
      <p:pic>
        <p:nvPicPr>
          <p:cNvPr id="197" name="Google Shape;197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525000" y="38004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 txBox="1"/>
          <p:nvPr/>
        </p:nvSpPr>
        <p:spPr>
          <a:xfrm>
            <a:off x="8125301" y="4324350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Level 5: Full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8201025" y="4543425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Goal-driven problem solver; self-manages strategy and execution.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 descr="image.png"/>
          <p:cNvPicPr preferRelativeResize="0"/>
          <p:nvPr/>
        </p:nvPicPr>
        <p:blipFill rotWithShape="1">
          <a:blip r:embed="rId5">
            <a:alphaModFix/>
          </a:blip>
          <a:srcRect t="544" b="544"/>
          <a:stretch/>
        </p:blipFill>
        <p:spPr>
          <a:xfrm>
            <a:off x="4157663" y="2000250"/>
            <a:ext cx="3876600" cy="7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 agent is a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brain (LLM)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with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hands (tools)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memory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8953500" y="266700"/>
            <a:ext cx="28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05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762000" y="11049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The Agentic Ecosystem</a:t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" name="Google Shape;212;p17"/>
          <p:cNvGrpSpPr/>
          <p:nvPr/>
        </p:nvGrpSpPr>
        <p:grpSpPr>
          <a:xfrm>
            <a:off x="762000" y="3048000"/>
            <a:ext cx="2476500" cy="1905000"/>
            <a:chOff x="0" y="0"/>
            <a:chExt cx="2476500" cy="1905000"/>
          </a:xfrm>
        </p:grpSpPr>
        <p:sp>
          <p:nvSpPr>
            <p:cNvPr id="213" name="Google Shape;213;p17"/>
            <p:cNvSpPr/>
            <p:nvPr/>
          </p:nvSpPr>
          <p:spPr>
            <a:xfrm>
              <a:off x="0" y="0"/>
              <a:ext cx="2476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247650" y="247650"/>
              <a:ext cx="457200" cy="457200"/>
            </a:xfrm>
            <a:prstGeom prst="ellipse">
              <a:avLst/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5" name="Google Shape;215;p17"/>
            <p:cNvPicPr preferRelativeResize="0"/>
            <p:nvPr/>
          </p:nvPicPr>
          <p:blipFill rotWithShape="1">
            <a:blip r:embed="rId6">
              <a:alphaModFix/>
            </a:blip>
            <a:srcRect l="169" r="179"/>
            <a:stretch/>
          </p:blipFill>
          <p:spPr>
            <a:xfrm>
              <a:off x="300038" y="285750"/>
              <a:ext cx="3333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17"/>
            <p:cNvSpPr txBox="1"/>
            <p:nvPr/>
          </p:nvSpPr>
          <p:spPr>
            <a:xfrm>
              <a:off x="228600" y="895350"/>
              <a:ext cx="2019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Memory</a:t>
              </a:r>
              <a:endParaRPr sz="16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Retains internal states, logs, and long-term user preferences.</a:t>
              </a:r>
              <a:endParaRPr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7" name="Google Shape;217;p17"/>
          <p:cNvGrpSpPr/>
          <p:nvPr/>
        </p:nvGrpSpPr>
        <p:grpSpPr>
          <a:xfrm>
            <a:off x="3486150" y="3048000"/>
            <a:ext cx="2476500" cy="1905000"/>
            <a:chOff x="0" y="0"/>
            <a:chExt cx="2476500" cy="1905000"/>
          </a:xfrm>
        </p:grpSpPr>
        <p:sp>
          <p:nvSpPr>
            <p:cNvPr id="218" name="Google Shape;218;p17"/>
            <p:cNvSpPr/>
            <p:nvPr/>
          </p:nvSpPr>
          <p:spPr>
            <a:xfrm>
              <a:off x="0" y="0"/>
              <a:ext cx="2476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247650" y="247650"/>
              <a:ext cx="457200" cy="457200"/>
            </a:xfrm>
            <a:prstGeom prst="ellipse">
              <a:avLst/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0" name="Google Shape;220;p1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66700" y="2667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17"/>
            <p:cNvSpPr txBox="1"/>
            <p:nvPr/>
          </p:nvSpPr>
          <p:spPr>
            <a:xfrm>
              <a:off x="228600" y="895350"/>
              <a:ext cx="2019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Tooling</a:t>
              </a:r>
              <a:endParaRPr sz="16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Connects the LLM brain to external APIs, databases, and code runners.</a:t>
              </a:r>
              <a:endParaRPr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2" name="Google Shape;222;p17"/>
          <p:cNvGrpSpPr/>
          <p:nvPr/>
        </p:nvGrpSpPr>
        <p:grpSpPr>
          <a:xfrm>
            <a:off x="6210300" y="3048000"/>
            <a:ext cx="2476500" cy="1905000"/>
            <a:chOff x="0" y="0"/>
            <a:chExt cx="2476500" cy="1905000"/>
          </a:xfrm>
        </p:grpSpPr>
        <p:sp>
          <p:nvSpPr>
            <p:cNvPr id="223" name="Google Shape;223;p17"/>
            <p:cNvSpPr/>
            <p:nvPr/>
          </p:nvSpPr>
          <p:spPr>
            <a:xfrm>
              <a:off x="0" y="0"/>
              <a:ext cx="2476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247650" y="247650"/>
              <a:ext cx="457200" cy="457200"/>
            </a:xfrm>
            <a:prstGeom prst="ellipse">
              <a:avLst/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5" name="Google Shape;225;p17"/>
            <p:cNvPicPr preferRelativeResize="0"/>
            <p:nvPr/>
          </p:nvPicPr>
          <p:blipFill rotWithShape="1">
            <a:blip r:embed="rId8">
              <a:alphaModFix/>
            </a:blip>
            <a:srcRect t="1220" b="1220"/>
            <a:stretch/>
          </p:blipFill>
          <p:spPr>
            <a:xfrm>
              <a:off x="266700" y="2667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17"/>
            <p:cNvSpPr txBox="1"/>
            <p:nvPr/>
          </p:nvSpPr>
          <p:spPr>
            <a:xfrm>
              <a:off x="228600" y="895350"/>
              <a:ext cx="2019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Planning</a:t>
              </a:r>
              <a:endParaRPr sz="16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Deconstructs large objectives into structured, actionable sub-tasks.</a:t>
              </a:r>
              <a:endParaRPr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7" name="Google Shape;227;p17"/>
          <p:cNvGrpSpPr/>
          <p:nvPr/>
        </p:nvGrpSpPr>
        <p:grpSpPr>
          <a:xfrm>
            <a:off x="8934450" y="3048000"/>
            <a:ext cx="2476500" cy="1905000"/>
            <a:chOff x="0" y="0"/>
            <a:chExt cx="2476500" cy="1905000"/>
          </a:xfrm>
        </p:grpSpPr>
        <p:sp>
          <p:nvSpPr>
            <p:cNvPr id="228" name="Google Shape;228;p17"/>
            <p:cNvSpPr/>
            <p:nvPr/>
          </p:nvSpPr>
          <p:spPr>
            <a:xfrm>
              <a:off x="0" y="0"/>
              <a:ext cx="2476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247650" y="247650"/>
              <a:ext cx="457200" cy="457200"/>
            </a:xfrm>
            <a:prstGeom prst="ellipse">
              <a:avLst/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0" name="Google Shape;230;p17"/>
            <p:cNvPicPr preferRelativeResize="0"/>
            <p:nvPr/>
          </p:nvPicPr>
          <p:blipFill rotWithShape="1">
            <a:blip r:embed="rId9">
              <a:alphaModFix/>
            </a:blip>
            <a:srcRect t="249" b="239"/>
            <a:stretch/>
          </p:blipFill>
          <p:spPr>
            <a:xfrm>
              <a:off x="219075" y="266700"/>
              <a:ext cx="4764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17"/>
            <p:cNvSpPr txBox="1"/>
            <p:nvPr/>
          </p:nvSpPr>
          <p:spPr>
            <a:xfrm>
              <a:off x="228600" y="895350"/>
              <a:ext cx="2019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Orchestration</a:t>
              </a:r>
              <a:endParaRPr sz="16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Manages multi-agent coordination and systematic flow execution.</a:t>
              </a:r>
              <a:endParaRPr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18"/>
          <p:cNvGrpSpPr/>
          <p:nvPr/>
        </p:nvGrpSpPr>
        <p:grpSpPr>
          <a:xfrm>
            <a:off x="762000" y="2000250"/>
            <a:ext cx="5048400" cy="3238500"/>
            <a:chOff x="0" y="0"/>
            <a:chExt cx="5048400" cy="3238500"/>
          </a:xfrm>
        </p:grpSpPr>
        <p:sp>
          <p:nvSpPr>
            <p:cNvPr id="239" name="Google Shape;239;p18"/>
            <p:cNvSpPr/>
            <p:nvPr/>
          </p:nvSpPr>
          <p:spPr>
            <a:xfrm>
              <a:off x="0" y="0"/>
              <a:ext cx="5048400" cy="32385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8"/>
            <p:cNvSpPr txBox="1"/>
            <p:nvPr/>
          </p:nvSpPr>
          <p:spPr>
            <a:xfrm>
              <a:off x="333375" y="0"/>
              <a:ext cx="4381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The Control Pattern</a:t>
              </a:r>
              <a:endParaRPr sz="20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07975" algn="l" rtl="0">
                <a:spcBef>
                  <a:spcPts val="1800"/>
                </a:spcBef>
                <a:spcAft>
                  <a:spcPts val="0"/>
                </a:spcAft>
                <a:buClr>
                  <a:srgbClr val="475569"/>
                </a:buClr>
                <a:buSzPts val="1250"/>
                <a:buFont typeface="Inter"/>
                <a:buChar char="●"/>
              </a:pPr>
              <a:r>
                <a:rPr lang="en-US" sz="125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Intervention Points:</a:t>
              </a:r>
              <a:r>
                <a:rPr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Critical gates for safety.</a:t>
              </a:r>
              <a:endParaRPr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250"/>
                <a:buFont typeface="Inter"/>
                <a:buChar char="●"/>
              </a:pPr>
              <a:r>
                <a:rPr lang="en-US" sz="125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Feedback Loops:</a:t>
              </a:r>
              <a:r>
                <a:rPr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Humans refine the reasoning.</a:t>
              </a:r>
              <a:endParaRPr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250"/>
                <a:buFont typeface="Inter"/>
                <a:buChar char="●"/>
              </a:pPr>
              <a:r>
                <a:rPr lang="en-US" sz="125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Escalation:</a:t>
              </a:r>
              <a:r>
                <a:rPr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Routing to human when low confidence.</a:t>
              </a:r>
              <a:endParaRPr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1" name="Google Shape;241;p18"/>
          <p:cNvGrpSpPr/>
          <p:nvPr/>
        </p:nvGrpSpPr>
        <p:grpSpPr>
          <a:xfrm>
            <a:off x="6381750" y="2000250"/>
            <a:ext cx="5048400" cy="3238500"/>
            <a:chOff x="0" y="0"/>
            <a:chExt cx="5048400" cy="3238500"/>
          </a:xfrm>
        </p:grpSpPr>
        <p:sp>
          <p:nvSpPr>
            <p:cNvPr id="242" name="Google Shape;242;p18"/>
            <p:cNvSpPr/>
            <p:nvPr/>
          </p:nvSpPr>
          <p:spPr>
            <a:xfrm>
              <a:off x="0" y="0"/>
              <a:ext cx="5048400" cy="32385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8"/>
            <p:cNvSpPr txBox="1"/>
            <p:nvPr/>
          </p:nvSpPr>
          <p:spPr>
            <a:xfrm>
              <a:off x="333375" y="0"/>
              <a:ext cx="4381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Why HITL Matters</a:t>
              </a:r>
              <a:endParaRPr sz="20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For high-risk domains like </a:t>
              </a:r>
              <a:r>
                <a:rPr lang="en-US" sz="125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Finance</a:t>
              </a:r>
              <a:r>
                <a:rPr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or </a:t>
              </a:r>
              <a:r>
                <a:rPr lang="en-US" sz="125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Healthcare</a:t>
              </a:r>
              <a:r>
                <a:rPr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autonomous systems require a human safety net to prevent errors.</a:t>
              </a:r>
              <a:endParaRPr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166534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Prevents Hallucinations &amp; Erroneous Actions</a:t>
              </a:r>
              <a:endParaRPr sz="1200" b="1">
                <a:solidFill>
                  <a:srgbClr val="166534"/>
                </a:solidFill>
                <a:highlight>
                  <a:srgbClr val="F0FDF4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44" name="Google Shape;244;p1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HITL transforms agents from "Black Boxes" into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collaborative partners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8953500" y="266700"/>
            <a:ext cx="28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06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762000" y="11049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Human-in-the-loop (HITL) Systems</a:t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58500" y="55245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Theory meets practice: How multiple agents work together to solve complex research.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4520803" y="2566987"/>
            <a:ext cx="3150393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22C55E"/>
                </a:solidFill>
                <a:latin typeface="DM Sans"/>
                <a:ea typeface="DM Sans"/>
                <a:cs typeface="DM Sans"/>
                <a:sym typeface="DM Sans"/>
              </a:rPr>
              <a:t>Case Study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2790586" y="3309937"/>
            <a:ext cx="661082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Autonomous AI Research Assistant</a:t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5715000" y="3871912"/>
            <a:ext cx="762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3338512" y="4195762"/>
            <a:ext cx="5514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Applying Agentic principles to automate market research and data synthesis.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Agentic systems trade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Compute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for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Human Time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8953500" y="266700"/>
            <a:ext cx="28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08</a:t>
            </a:r>
            <a:endParaRPr/>
          </a:p>
        </p:txBody>
      </p:sp>
      <p:grpSp>
        <p:nvGrpSpPr>
          <p:cNvPr id="270" name="Google Shape;270;p20"/>
          <p:cNvGrpSpPr/>
          <p:nvPr/>
        </p:nvGrpSpPr>
        <p:grpSpPr>
          <a:xfrm>
            <a:off x="762000" y="1104900"/>
            <a:ext cx="10668000" cy="571500"/>
            <a:chOff x="0" y="0"/>
            <a:chExt cx="10668000" cy="571500"/>
          </a:xfrm>
        </p:grpSpPr>
        <p:sp>
          <p:nvSpPr>
            <p:cNvPr id="271" name="Google Shape;271;p20"/>
            <p:cNvSpPr/>
            <p:nvPr/>
          </p:nvSpPr>
          <p:spPr>
            <a:xfrm>
              <a:off x="0" y="0"/>
              <a:ext cx="10668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0"/>
            <p:cNvSpPr txBox="1"/>
            <p:nvPr/>
          </p:nvSpPr>
          <p:spPr>
            <a:xfrm>
              <a:off x="0" y="0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Agent Impact</a:t>
              </a:r>
              <a:endParaRPr sz="30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73" name="Google Shape;273;p20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762000" y="1905000"/>
            <a:ext cx="4762500" cy="3619500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 w="143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762000" y="1905000"/>
            <a:ext cx="4762500" cy="3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381000" rIns="381000" bIns="381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12x</a:t>
            </a:r>
            <a:endParaRPr sz="9600" b="1">
              <a:solidFill>
                <a:srgbClr val="16653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Faster Data Synthesis</a:t>
            </a:r>
            <a:endParaRPr sz="20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Unlocking unprecedented research speeds with autonomous intelligence.</a:t>
            </a:r>
            <a:endParaRPr sz="12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5905500" y="1905000"/>
            <a:ext cx="5524500" cy="3619500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 w="143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5905500" y="1905000"/>
            <a:ext cx="5524500" cy="3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381000" rIns="381000" bIns="38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Manual Researcher</a:t>
            </a:r>
            <a:endParaRPr sz="11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Takes </a:t>
            </a:r>
            <a:r>
              <a:rPr lang="en-US" sz="1300" b="1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4 hours</a:t>
            </a:r>
            <a:r>
              <a:rPr lang="en-US" sz="13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to find &amp; summarize 5 papers.</a:t>
            </a:r>
            <a:endParaRPr sz="1300" b="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Research Agent</a:t>
            </a:r>
            <a:endParaRPr sz="11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66534"/>
                </a:solidFill>
                <a:highlight>
                  <a:srgbClr val="F0FDF4"/>
                </a:highlight>
                <a:latin typeface="Inter"/>
                <a:ea typeface="Inter"/>
                <a:cs typeface="Inter"/>
                <a:sym typeface="Inter"/>
              </a:rPr>
              <a:t>Takes only 20 minutes.</a:t>
            </a:r>
            <a:endParaRPr sz="1500" b="1">
              <a:solidFill>
                <a:srgbClr val="166534"/>
              </a:solidFill>
              <a:highlight>
                <a:srgbClr val="F0FDF4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it works</a:t>
            </a:r>
            <a:endParaRPr sz="1000" b="0">
              <a:solidFill>
                <a:srgbClr val="94A3B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457200" lvl="0" indent="-298450" algn="l" rtl="0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ter"/>
              <a:buChar char="●"/>
            </a:pPr>
            <a:r>
              <a:rPr lang="en-US" sz="11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Parallel Search: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Simultaneously queries 5 distinct sources.</a:t>
            </a:r>
            <a:endParaRPr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45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ter"/>
              <a:buChar char="●"/>
            </a:pPr>
            <a:r>
              <a:rPr lang="en-US" sz="11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Automated Filtering: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Screens instantly by relevance.</a:t>
            </a:r>
            <a:endParaRPr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45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ter"/>
              <a:buChar char="●"/>
            </a:pPr>
            <a:r>
              <a:rPr lang="en-US" sz="11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Cross-Comparison: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Delivers real-time synthesis of findings.</a:t>
            </a:r>
            <a:endParaRPr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21"/>
          <p:cNvGrpSpPr/>
          <p:nvPr/>
        </p:nvGrpSpPr>
        <p:grpSpPr>
          <a:xfrm>
            <a:off x="6000750" y="1809750"/>
            <a:ext cx="5429400" cy="4000500"/>
            <a:chOff x="6000750" y="1809750"/>
            <a:chExt cx="5429400" cy="4000500"/>
          </a:xfrm>
        </p:grpSpPr>
        <p:sp>
          <p:nvSpPr>
            <p:cNvPr id="285" name="Google Shape;285;p21"/>
            <p:cNvSpPr/>
            <p:nvPr/>
          </p:nvSpPr>
          <p:spPr>
            <a:xfrm>
              <a:off x="6000750" y="1809750"/>
              <a:ext cx="5429400" cy="4000500"/>
            </a:xfrm>
            <a:prstGeom prst="roundRect">
              <a:avLst>
                <a:gd name="adj" fmla="val 2857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6" name="Google Shape;286;p21"/>
            <p:cNvPicPr preferRelativeResize="0"/>
            <p:nvPr/>
          </p:nvPicPr>
          <p:blipFill rotWithShape="1">
            <a:blip r:embed="rId5">
              <a:alphaModFix/>
            </a:blip>
            <a:srcRect t="787" b="797"/>
            <a:stretch/>
          </p:blipFill>
          <p:spPr>
            <a:xfrm>
              <a:off x="6191250" y="1952625"/>
              <a:ext cx="5048400" cy="3714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7" name="Google Shape;287;p21"/>
          <p:cNvGrpSpPr/>
          <p:nvPr/>
        </p:nvGrpSpPr>
        <p:grpSpPr>
          <a:xfrm>
            <a:off x="762000" y="2381250"/>
            <a:ext cx="4762500" cy="809700"/>
            <a:chOff x="0" y="0"/>
            <a:chExt cx="4762500" cy="809700"/>
          </a:xfrm>
        </p:grpSpPr>
        <p:sp>
          <p:nvSpPr>
            <p:cNvPr id="288" name="Google Shape;288;p21"/>
            <p:cNvSpPr/>
            <p:nvPr/>
          </p:nvSpPr>
          <p:spPr>
            <a:xfrm>
              <a:off x="0" y="0"/>
              <a:ext cx="4762500" cy="809700"/>
            </a:xfrm>
            <a:prstGeom prst="roundRect">
              <a:avLst>
                <a:gd name="adj" fmla="val 9411"/>
              </a:avLst>
            </a:prstGeom>
            <a:solidFill>
              <a:srgbClr val="EFF6FF"/>
            </a:solidFill>
            <a:ln w="9525" cap="flat" cmpd="sng">
              <a:solidFill>
                <a:srgbClr val="DBEA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0" y="0"/>
              <a:ext cx="76200" cy="809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1294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quadBezTo>
                    <a:pt x="0" y="120000"/>
                    <a:pt x="0" y="108706"/>
                  </a:quad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1"/>
            <p:cNvSpPr txBox="1"/>
            <p:nvPr/>
          </p:nvSpPr>
          <p:spPr>
            <a:xfrm>
              <a:off x="228600" y="0"/>
              <a:ext cx="4343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1. The Scout</a:t>
              </a:r>
              <a:endParaRPr sz="1400" b="1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Searches the web and structured databases for raw information.</a:t>
              </a:r>
              <a:endParaRPr sz="1100" b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1" name="Google Shape;291;p21"/>
          <p:cNvGrpSpPr/>
          <p:nvPr/>
        </p:nvGrpSpPr>
        <p:grpSpPr>
          <a:xfrm>
            <a:off x="762000" y="3333750"/>
            <a:ext cx="4762500" cy="809700"/>
            <a:chOff x="0" y="0"/>
            <a:chExt cx="4762500" cy="809700"/>
          </a:xfrm>
        </p:grpSpPr>
        <p:sp>
          <p:nvSpPr>
            <p:cNvPr id="292" name="Google Shape;292;p21"/>
            <p:cNvSpPr/>
            <p:nvPr/>
          </p:nvSpPr>
          <p:spPr>
            <a:xfrm>
              <a:off x="0" y="0"/>
              <a:ext cx="4762500" cy="809700"/>
            </a:xfrm>
            <a:prstGeom prst="roundRect">
              <a:avLst>
                <a:gd name="adj" fmla="val 9411"/>
              </a:avLst>
            </a:prstGeom>
            <a:solidFill>
              <a:srgbClr val="F0FDF4"/>
            </a:solidFill>
            <a:ln w="9525" cap="flat" cmpd="sng">
              <a:solidFill>
                <a:srgbClr val="DCFC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0" y="0"/>
              <a:ext cx="76200" cy="809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1294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quadBezTo>
                    <a:pt x="0" y="120000"/>
                    <a:pt x="0" y="108706"/>
                  </a:quad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1"/>
            <p:cNvSpPr txBox="1"/>
            <p:nvPr/>
          </p:nvSpPr>
          <p:spPr>
            <a:xfrm>
              <a:off x="228600" y="0"/>
              <a:ext cx="4343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2. The Analyst</a:t>
              </a:r>
              <a:endParaRPr sz="1400" b="1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Reads content thoroughly, extracts insights, and fact-checks data.</a:t>
              </a:r>
              <a:endParaRPr sz="1100" b="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5" name="Google Shape;295;p21"/>
          <p:cNvGrpSpPr/>
          <p:nvPr/>
        </p:nvGrpSpPr>
        <p:grpSpPr>
          <a:xfrm>
            <a:off x="762000" y="4286250"/>
            <a:ext cx="4762500" cy="809700"/>
            <a:chOff x="0" y="0"/>
            <a:chExt cx="4762500" cy="809700"/>
          </a:xfrm>
        </p:grpSpPr>
        <p:sp>
          <p:nvSpPr>
            <p:cNvPr id="296" name="Google Shape;296;p21"/>
            <p:cNvSpPr/>
            <p:nvPr/>
          </p:nvSpPr>
          <p:spPr>
            <a:xfrm>
              <a:off x="0" y="0"/>
              <a:ext cx="4762500" cy="809700"/>
            </a:xfrm>
            <a:prstGeom prst="roundRect">
              <a:avLst>
                <a:gd name="adj" fmla="val 9411"/>
              </a:avLst>
            </a:prstGeom>
            <a:solidFill>
              <a:srgbClr val="FEF9C3"/>
            </a:solidFill>
            <a:ln w="9525" cap="flat" cmpd="sng">
              <a:solidFill>
                <a:srgbClr val="FEF0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0" y="0"/>
              <a:ext cx="76200" cy="809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1294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quadBezTo>
                    <a:pt x="0" y="120000"/>
                    <a:pt x="0" y="108706"/>
                  </a:quadBezTo>
                  <a:close/>
                </a:path>
              </a:pathLst>
            </a:custGeom>
            <a:solidFill>
              <a:srgbClr val="EAB30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1"/>
            <p:cNvSpPr txBox="1"/>
            <p:nvPr/>
          </p:nvSpPr>
          <p:spPr>
            <a:xfrm>
              <a:off x="228600" y="0"/>
              <a:ext cx="4343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13F12"/>
                  </a:solidFill>
                  <a:latin typeface="Inter"/>
                  <a:ea typeface="Inter"/>
                  <a:cs typeface="Inter"/>
                  <a:sym typeface="Inter"/>
                </a:rPr>
                <a:t>3. The Editor</a:t>
              </a:r>
              <a:endParaRPr sz="1400" b="1">
                <a:solidFill>
                  <a:srgbClr val="713F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854D0E"/>
                  </a:solidFill>
                  <a:latin typeface="Inter"/>
                  <a:ea typeface="Inter"/>
                  <a:cs typeface="Inter"/>
                  <a:sym typeface="Inter"/>
                </a:rPr>
                <a:t>Synthesizes perspectives and drafts the finalized comprehensive report.</a:t>
              </a:r>
              <a:endParaRPr sz="1100" b="0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99" name="Google Shape;299;p2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Complexity is managed by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Delegation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between specialized agents.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8953500" y="266700"/>
            <a:ext cx="28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09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762000" y="11049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Agent Workflow Architecture</a:t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762000" y="1809750"/>
            <a:ext cx="47625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The Research Assistant operates as a </a:t>
            </a:r>
            <a:r>
              <a:rPr lang="en-US" sz="15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Multi-Agent Team</a:t>
            </a:r>
            <a:r>
              <a:rPr lang="en-US" sz="1500" b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  <a:endParaRPr sz="1500" b="0">
              <a:solidFill>
                <a:srgbClr val="334155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2"/>
          <p:cNvSpPr txBox="1"/>
          <p:nvPr/>
        </p:nvSpPr>
        <p:spPr>
          <a:xfrm>
            <a:off x="762000" y="1104900"/>
            <a:ext cx="106680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The "Scout" Agent</a:t>
            </a:r>
            <a:endParaRPr sz="3000" b="1">
              <a:solidFill>
                <a:srgbClr val="0F172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3" name="Google Shape;313;p22"/>
          <p:cNvGrpSpPr/>
          <p:nvPr/>
        </p:nvGrpSpPr>
        <p:grpSpPr>
          <a:xfrm>
            <a:off x="8953500" y="266700"/>
            <a:ext cx="2857500" cy="190500"/>
            <a:chOff x="0" y="0"/>
            <a:chExt cx="2857500" cy="190500"/>
          </a:xfrm>
        </p:grpSpPr>
        <p:sp>
          <p:nvSpPr>
            <p:cNvPr id="314" name="Google Shape;314;p22"/>
            <p:cNvSpPr/>
            <p:nvPr/>
          </p:nvSpPr>
          <p:spPr>
            <a:xfrm>
              <a:off x="0" y="0"/>
              <a:ext cx="2857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0" y="0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Slide 10</a:t>
              </a:r>
              <a:endParaRPr sz="1200" b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16" name="Google Shape;316;p22"/>
          <p:cNvGrpSpPr/>
          <p:nvPr/>
        </p:nvGrpSpPr>
        <p:grpSpPr>
          <a:xfrm>
            <a:off x="762000" y="1809750"/>
            <a:ext cx="10668000" cy="285900"/>
            <a:chOff x="0" y="0"/>
            <a:chExt cx="10668000" cy="285900"/>
          </a:xfrm>
        </p:grpSpPr>
        <p:sp>
          <p:nvSpPr>
            <p:cNvPr id="317" name="Google Shape;317;p22"/>
            <p:cNvSpPr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 txBox="1"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first stage of the lifecycle is </a:t>
              </a:r>
              <a:r>
                <a:rPr lang="en-US" sz="14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Autonomous Discovery</a:t>
              </a:r>
              <a:r>
                <a:rPr lang="en-US" sz="14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 The agent must:</a:t>
              </a:r>
              <a:endParaRPr sz="14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9" name="Google Shape;319;p22"/>
          <p:cNvGrpSpPr/>
          <p:nvPr/>
        </p:nvGrpSpPr>
        <p:grpSpPr>
          <a:xfrm>
            <a:off x="762000" y="2381250"/>
            <a:ext cx="3238500" cy="3333900"/>
            <a:chOff x="0" y="0"/>
            <a:chExt cx="3238500" cy="3333900"/>
          </a:xfrm>
        </p:grpSpPr>
        <p:sp>
          <p:nvSpPr>
            <p:cNvPr id="320" name="Google Shape;320;p22"/>
            <p:cNvSpPr/>
            <p:nvPr/>
          </p:nvSpPr>
          <p:spPr>
            <a:xfrm>
              <a:off x="0" y="0"/>
              <a:ext cx="3238500" cy="3333900"/>
            </a:xfrm>
            <a:prstGeom prst="roundRect">
              <a:avLst>
                <a:gd name="adj" fmla="val 4705"/>
              </a:avLst>
            </a:prstGeom>
            <a:solidFill>
              <a:srgbClr val="EFF6FF"/>
            </a:solidFill>
            <a:ln w="14300" cap="flat" cmpd="sng">
              <a:solidFill>
                <a:srgbClr val="DBEA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0" y="381000"/>
              <a:ext cx="76200" cy="25719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285750" y="381000"/>
              <a:ext cx="2667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 sz="11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Web Search</a:t>
              </a:r>
              <a:endParaRPr sz="1800" b="1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Access Web Search APIs (Google, Bing) to gather real-time data from across the web.</a:t>
              </a:r>
              <a:endParaRPr sz="1200" b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4476750" y="2381250"/>
            <a:ext cx="3238500" cy="3333900"/>
            <a:chOff x="0" y="0"/>
            <a:chExt cx="3238500" cy="3333900"/>
          </a:xfrm>
        </p:grpSpPr>
        <p:sp>
          <p:nvSpPr>
            <p:cNvPr id="324" name="Google Shape;324;p22"/>
            <p:cNvSpPr/>
            <p:nvPr/>
          </p:nvSpPr>
          <p:spPr>
            <a:xfrm>
              <a:off x="0" y="0"/>
              <a:ext cx="3238500" cy="3333900"/>
            </a:xfrm>
            <a:prstGeom prst="roundRect">
              <a:avLst>
                <a:gd name="adj" fmla="val 4705"/>
              </a:avLst>
            </a:prstGeom>
            <a:solidFill>
              <a:srgbClr val="EFF6FF"/>
            </a:solidFill>
            <a:ln w="14300" cap="flat" cmpd="sng">
              <a:solidFill>
                <a:srgbClr val="DBEA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0" y="381000"/>
              <a:ext cx="76200" cy="25719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2"/>
            <p:cNvSpPr txBox="1"/>
            <p:nvPr/>
          </p:nvSpPr>
          <p:spPr>
            <a:xfrm>
              <a:off x="285750" y="381000"/>
              <a:ext cx="2667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11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Academic Bases</a:t>
              </a:r>
              <a:endParaRPr sz="1800" b="1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Query academic databases (ArXiv, IEEE) to extract high-fidelity scientific literature.</a:t>
              </a:r>
              <a:endParaRPr sz="1200" b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7" name="Google Shape;327;p22"/>
          <p:cNvGrpSpPr/>
          <p:nvPr/>
        </p:nvGrpSpPr>
        <p:grpSpPr>
          <a:xfrm>
            <a:off x="8191500" y="2381250"/>
            <a:ext cx="3238500" cy="3333900"/>
            <a:chOff x="0" y="0"/>
            <a:chExt cx="3238500" cy="3333900"/>
          </a:xfrm>
        </p:grpSpPr>
        <p:sp>
          <p:nvSpPr>
            <p:cNvPr id="328" name="Google Shape;328;p22"/>
            <p:cNvSpPr/>
            <p:nvPr/>
          </p:nvSpPr>
          <p:spPr>
            <a:xfrm>
              <a:off x="0" y="0"/>
              <a:ext cx="3238500" cy="3333900"/>
            </a:xfrm>
            <a:prstGeom prst="roundRect">
              <a:avLst>
                <a:gd name="adj" fmla="val 4705"/>
              </a:avLst>
            </a:prstGeom>
            <a:solidFill>
              <a:srgbClr val="EFF6FF"/>
            </a:solidFill>
            <a:ln w="14300" cap="flat" cmpd="sng">
              <a:solidFill>
                <a:srgbClr val="DBEA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0" y="381000"/>
              <a:ext cx="76200" cy="25719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 txBox="1"/>
            <p:nvPr/>
          </p:nvSpPr>
          <p:spPr>
            <a:xfrm>
              <a:off x="285750" y="381000"/>
              <a:ext cx="2667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filter_alt</a:t>
              </a:r>
              <a:endParaRPr sz="11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Smart Filtering</a:t>
              </a:r>
              <a:endParaRPr sz="1800" b="1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Filter by recency and relevance to ensure only high-quality documents are promoted.</a:t>
              </a:r>
              <a:endParaRPr sz="1200" b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31" name="Google Shape;331;p2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381000" y="6437494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Scouting is the 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Perception Layer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of the Research Assistant.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381000" y="6434137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Observation allows agents to 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identify their own mistakes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before final delivery.</a:t>
            </a:r>
            <a:endParaRPr dirty="0"/>
          </a:p>
        </p:txBody>
      </p:sp>
      <p:sp>
        <p:nvSpPr>
          <p:cNvPr id="341" name="Google Shape;341;p23"/>
          <p:cNvSpPr txBox="1"/>
          <p:nvPr/>
        </p:nvSpPr>
        <p:spPr>
          <a:xfrm>
            <a:off x="8953500" y="266700"/>
            <a:ext cx="28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11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762000" y="11049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Error Detection in Self-Correction</a:t>
            </a:r>
            <a:endParaRPr/>
          </a:p>
        </p:txBody>
      </p:sp>
      <p:sp>
        <p:nvSpPr>
          <p:cNvPr id="343" name="Google Shape;343;p23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" name="Google Shape;344;p23"/>
          <p:cNvGrpSpPr/>
          <p:nvPr/>
        </p:nvGrpSpPr>
        <p:grpSpPr>
          <a:xfrm>
            <a:off x="762000" y="1809750"/>
            <a:ext cx="10668000" cy="285900"/>
            <a:chOff x="0" y="0"/>
            <a:chExt cx="10668000" cy="285900"/>
          </a:xfrm>
        </p:grpSpPr>
        <p:sp>
          <p:nvSpPr>
            <p:cNvPr id="345" name="Google Shape;345;p23"/>
            <p:cNvSpPr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3"/>
            <p:cNvSpPr txBox="1"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Analysis of the system </a:t>
              </a:r>
              <a:r>
                <a:rPr lang="en-US" sz="14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Audit Log</a:t>
              </a:r>
              <a:r>
                <a:rPr lang="en-US" sz="14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reveals the main categories of self-corrected errors:</a:t>
              </a:r>
              <a:endParaRPr sz="14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7" name="Google Shape;347;p23"/>
          <p:cNvGrpSpPr/>
          <p:nvPr/>
        </p:nvGrpSpPr>
        <p:grpSpPr>
          <a:xfrm>
            <a:off x="762000" y="2381250"/>
            <a:ext cx="3238500" cy="3333900"/>
            <a:chOff x="0" y="0"/>
            <a:chExt cx="3238500" cy="3333900"/>
          </a:xfrm>
        </p:grpSpPr>
        <p:sp>
          <p:nvSpPr>
            <p:cNvPr id="348" name="Google Shape;348;p23"/>
            <p:cNvSpPr/>
            <p:nvPr/>
          </p:nvSpPr>
          <p:spPr>
            <a:xfrm>
              <a:off x="0" y="0"/>
              <a:ext cx="3238500" cy="3333900"/>
            </a:xfrm>
            <a:prstGeom prst="roundRect">
              <a:avLst>
                <a:gd name="adj" fmla="val 4705"/>
              </a:avLst>
            </a:prstGeom>
            <a:solidFill>
              <a:srgbClr val="FFF7ED"/>
            </a:solidFill>
            <a:ln w="14300" cap="flat" cmpd="sng">
              <a:solidFill>
                <a:srgbClr val="FFED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3"/>
            <p:cNvSpPr/>
            <p:nvPr/>
          </p:nvSpPr>
          <p:spPr>
            <a:xfrm>
              <a:off x="0" y="381000"/>
              <a:ext cx="76200" cy="25719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0" name="Google Shape;350;p23"/>
            <p:cNvGrpSpPr/>
            <p:nvPr/>
          </p:nvGrpSpPr>
          <p:grpSpPr>
            <a:xfrm>
              <a:off x="285750" y="381000"/>
              <a:ext cx="2667000" cy="2571900"/>
              <a:chOff x="0" y="0"/>
              <a:chExt cx="2667000" cy="2571900"/>
            </a:xfrm>
          </p:grpSpPr>
          <p:sp>
            <p:nvSpPr>
              <p:cNvPr id="351" name="Google Shape;351;p23"/>
              <p:cNvSpPr/>
              <p:nvPr/>
            </p:nvSpPr>
            <p:spPr>
              <a:xfrm>
                <a:off x="0" y="0"/>
                <a:ext cx="2667000" cy="2571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3"/>
              <p:cNvSpPr txBox="1"/>
              <p:nvPr/>
            </p:nvSpPr>
            <p:spPr>
              <a:xfrm>
                <a:off x="0" y="0"/>
                <a:ext cx="2667000" cy="25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 b="0">
                    <a:solidFill>
                      <a:srgbClr val="F9731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build</a:t>
                </a:r>
                <a:endParaRPr sz="3600" b="0">
                  <a:solidFill>
                    <a:srgbClr val="F9731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4000" b="1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40%</a:t>
                </a:r>
                <a:endParaRPr sz="40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1800" b="1">
                    <a:solidFill>
                      <a:srgbClr val="7C2D12"/>
                    </a:solidFill>
                    <a:latin typeface="Inter"/>
                    <a:ea typeface="Inter"/>
                    <a:cs typeface="Inter"/>
                    <a:sym typeface="Inter"/>
                  </a:rPr>
                  <a:t>Tool Calling</a:t>
                </a:r>
                <a:endParaRPr sz="1800" b="1">
                  <a:solidFill>
                    <a:srgbClr val="7C2D12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200" b="0">
                    <a:solidFill>
                      <a:srgbClr val="9A3412"/>
                    </a:solidFill>
                    <a:latin typeface="Inter"/>
                    <a:ea typeface="Inter"/>
                    <a:cs typeface="Inter"/>
                    <a:sym typeface="Inter"/>
                  </a:rPr>
                  <a:t>Errors occurring during external API integration, parameter parsing, or execution attempts.</a:t>
                </a:r>
                <a:endParaRPr sz="1200" b="0">
                  <a:solidFill>
                    <a:srgbClr val="9A341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53" name="Google Shape;353;p23"/>
          <p:cNvGrpSpPr/>
          <p:nvPr/>
        </p:nvGrpSpPr>
        <p:grpSpPr>
          <a:xfrm>
            <a:off x="4476750" y="2381250"/>
            <a:ext cx="3238500" cy="3333900"/>
            <a:chOff x="0" y="0"/>
            <a:chExt cx="3238500" cy="3333900"/>
          </a:xfrm>
        </p:grpSpPr>
        <p:sp>
          <p:nvSpPr>
            <p:cNvPr id="354" name="Google Shape;354;p23"/>
            <p:cNvSpPr/>
            <p:nvPr/>
          </p:nvSpPr>
          <p:spPr>
            <a:xfrm>
              <a:off x="0" y="0"/>
              <a:ext cx="3238500" cy="3333900"/>
            </a:xfrm>
            <a:prstGeom prst="roundRect">
              <a:avLst>
                <a:gd name="adj" fmla="val 4705"/>
              </a:avLst>
            </a:prstGeom>
            <a:solidFill>
              <a:srgbClr val="F0FDF4"/>
            </a:solidFill>
            <a:ln w="14300" cap="flat" cmpd="sng">
              <a:solidFill>
                <a:srgbClr val="DCFC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3"/>
            <p:cNvSpPr/>
            <p:nvPr/>
          </p:nvSpPr>
          <p:spPr>
            <a:xfrm>
              <a:off x="0" y="381000"/>
              <a:ext cx="76200" cy="25719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6" name="Google Shape;356;p23"/>
            <p:cNvGrpSpPr/>
            <p:nvPr/>
          </p:nvGrpSpPr>
          <p:grpSpPr>
            <a:xfrm>
              <a:off x="285750" y="381000"/>
              <a:ext cx="2667000" cy="2571900"/>
              <a:chOff x="0" y="0"/>
              <a:chExt cx="2667000" cy="2571900"/>
            </a:xfrm>
          </p:grpSpPr>
          <p:sp>
            <p:nvSpPr>
              <p:cNvPr id="357" name="Google Shape;357;p23"/>
              <p:cNvSpPr/>
              <p:nvPr/>
            </p:nvSpPr>
            <p:spPr>
              <a:xfrm>
                <a:off x="0" y="0"/>
                <a:ext cx="2667000" cy="2571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3"/>
              <p:cNvSpPr txBox="1"/>
              <p:nvPr/>
            </p:nvSpPr>
            <p:spPr>
              <a:xfrm>
                <a:off x="0" y="0"/>
                <a:ext cx="2667000" cy="25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 b="0">
                    <a:solidFill>
                      <a:srgbClr val="22C55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sz="3600" b="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4000" b="1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30%</a:t>
                </a:r>
                <a:endParaRPr sz="40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1800" b="1">
                    <a:solidFill>
                      <a:srgbClr val="14532D"/>
                    </a:solidFill>
                    <a:latin typeface="Inter"/>
                    <a:ea typeface="Inter"/>
                    <a:cs typeface="Inter"/>
                    <a:sym typeface="Inter"/>
                  </a:rPr>
                  <a:t>Hallucinations</a:t>
                </a:r>
                <a:endParaRPr sz="1800" b="1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200" b="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Detection of factual inconsistencies, groundless claims, or unverified outputs.</a:t>
                </a:r>
                <a:endParaRPr sz="1200" b="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59" name="Google Shape;359;p23"/>
          <p:cNvGrpSpPr/>
          <p:nvPr/>
        </p:nvGrpSpPr>
        <p:grpSpPr>
          <a:xfrm>
            <a:off x="8191500" y="2381250"/>
            <a:ext cx="3238500" cy="3333900"/>
            <a:chOff x="0" y="0"/>
            <a:chExt cx="3238500" cy="3333900"/>
          </a:xfrm>
        </p:grpSpPr>
        <p:sp>
          <p:nvSpPr>
            <p:cNvPr id="360" name="Google Shape;360;p23"/>
            <p:cNvSpPr/>
            <p:nvPr/>
          </p:nvSpPr>
          <p:spPr>
            <a:xfrm>
              <a:off x="0" y="0"/>
              <a:ext cx="3238500" cy="3333900"/>
            </a:xfrm>
            <a:prstGeom prst="roundRect">
              <a:avLst>
                <a:gd name="adj" fmla="val 4705"/>
              </a:avLst>
            </a:prstGeom>
            <a:solidFill>
              <a:srgbClr val="F0F9FF"/>
            </a:solidFill>
            <a:ln w="14300" cap="flat" cmpd="sng">
              <a:solidFill>
                <a:srgbClr val="E0F2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3"/>
            <p:cNvSpPr/>
            <p:nvPr/>
          </p:nvSpPr>
          <p:spPr>
            <a:xfrm>
              <a:off x="0" y="381000"/>
              <a:ext cx="76200" cy="25719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2" name="Google Shape;362;p23"/>
            <p:cNvGrpSpPr/>
            <p:nvPr/>
          </p:nvGrpSpPr>
          <p:grpSpPr>
            <a:xfrm>
              <a:off x="285750" y="381000"/>
              <a:ext cx="2667000" cy="2571900"/>
              <a:chOff x="0" y="0"/>
              <a:chExt cx="2667000" cy="2571900"/>
            </a:xfrm>
          </p:grpSpPr>
          <p:sp>
            <p:nvSpPr>
              <p:cNvPr id="363" name="Google Shape;363;p23"/>
              <p:cNvSpPr/>
              <p:nvPr/>
            </p:nvSpPr>
            <p:spPr>
              <a:xfrm>
                <a:off x="0" y="0"/>
                <a:ext cx="2667000" cy="2571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3"/>
              <p:cNvSpPr txBox="1"/>
              <p:nvPr/>
            </p:nvSpPr>
            <p:spPr>
              <a:xfrm>
                <a:off x="0" y="0"/>
                <a:ext cx="2667000" cy="25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 b="0">
                    <a:solidFill>
                      <a:srgbClr val="0EA5E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gavel</a:t>
                </a:r>
                <a:endParaRPr sz="3600" b="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4000" b="1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30%</a:t>
                </a:r>
                <a:endParaRPr sz="40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1800" b="1">
                    <a:solidFill>
                      <a:srgbClr val="0C4A6E"/>
                    </a:solidFill>
                    <a:latin typeface="Inter"/>
                    <a:ea typeface="Inter"/>
                    <a:cs typeface="Inter"/>
                    <a:sym typeface="Inter"/>
                  </a:rPr>
                  <a:t>Format Violations</a:t>
                </a:r>
                <a:endParaRPr sz="1800" b="1">
                  <a:solidFill>
                    <a:srgbClr val="0C4A6E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200" b="0">
                    <a:solidFill>
                      <a:srgbClr val="075985"/>
                    </a:solidFill>
                    <a:latin typeface="Inter"/>
                    <a:ea typeface="Inter"/>
                    <a:cs typeface="Inter"/>
                    <a:sym typeface="Inter"/>
                  </a:rPr>
                  <a:t>Schema mismatches, incorrect JSON nesting, or missed mandatory response fields.</a:t>
                </a:r>
                <a:endParaRPr sz="1200" b="0">
                  <a:solidFill>
                    <a:srgbClr val="07598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 txBox="1"/>
          <p:nvPr/>
        </p:nvSpPr>
        <p:spPr>
          <a:xfrm>
            <a:off x="381000" y="6472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Agents don't "run" code; they 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request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system-level execution via 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Interpreters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373" name="Google Shape;373;p24"/>
          <p:cNvSpPr txBox="1"/>
          <p:nvPr/>
        </p:nvSpPr>
        <p:spPr>
          <a:xfrm>
            <a:off x="8953500" y="266700"/>
            <a:ext cx="28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12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762000" y="11049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How Agents Call Tools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762000" y="1657350"/>
            <a:ext cx="10668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Agents leverage structured exchange formats to interface with external APIs and runtime environments.</a:t>
            </a:r>
            <a:endParaRPr sz="1400" b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6" name="Google Shape;376;p24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" name="Google Shape;377;p24"/>
          <p:cNvGrpSpPr/>
          <p:nvPr/>
        </p:nvGrpSpPr>
        <p:grpSpPr>
          <a:xfrm>
            <a:off x="762000" y="2133600"/>
            <a:ext cx="5048400" cy="3771900"/>
            <a:chOff x="0" y="0"/>
            <a:chExt cx="5048400" cy="3771900"/>
          </a:xfrm>
        </p:grpSpPr>
        <p:sp>
          <p:nvSpPr>
            <p:cNvPr id="378" name="Google Shape;378;p24"/>
            <p:cNvSpPr/>
            <p:nvPr/>
          </p:nvSpPr>
          <p:spPr>
            <a:xfrm>
              <a:off x="0" y="0"/>
              <a:ext cx="5048400" cy="3771900"/>
            </a:xfrm>
            <a:prstGeom prst="roundRect">
              <a:avLst>
                <a:gd name="adj" fmla="val 4040"/>
              </a:avLst>
            </a:prstGeom>
            <a:solidFill>
              <a:srgbClr val="EFF6FF"/>
            </a:solidFill>
            <a:ln w="14300" cap="flat" cmpd="sng">
              <a:solidFill>
                <a:srgbClr val="DBEA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0" y="381000"/>
              <a:ext cx="76200" cy="30099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4"/>
            <p:cNvSpPr txBox="1"/>
            <p:nvPr/>
          </p:nvSpPr>
          <p:spPr>
            <a:xfrm>
              <a:off x="285750" y="285750"/>
              <a:ext cx="4476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3600" b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1. JSON Generation</a:t>
              </a:r>
              <a:endParaRPr sz="1800" b="1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The model stops generation and outputs a structured schema specifying the target tool and arguments.</a:t>
              </a:r>
              <a:endParaRPr sz="1200" b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81" name="Google Shape;381;p24" descr="image.png"/>
          <p:cNvPicPr preferRelativeResize="0"/>
          <p:nvPr/>
        </p:nvPicPr>
        <p:blipFill rotWithShape="1">
          <a:blip r:embed="rId5">
            <a:alphaModFix/>
          </a:blip>
          <a:srcRect l="120" r="110"/>
          <a:stretch/>
        </p:blipFill>
        <p:spPr>
          <a:xfrm>
            <a:off x="1047600" y="3843750"/>
            <a:ext cx="1571700" cy="1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24"/>
          <p:cNvGrpSpPr/>
          <p:nvPr/>
        </p:nvGrpSpPr>
        <p:grpSpPr>
          <a:xfrm>
            <a:off x="6381750" y="2133600"/>
            <a:ext cx="5048400" cy="3771900"/>
            <a:chOff x="0" y="0"/>
            <a:chExt cx="5048400" cy="3771900"/>
          </a:xfrm>
        </p:grpSpPr>
        <p:sp>
          <p:nvSpPr>
            <p:cNvPr id="384" name="Google Shape;384;p24"/>
            <p:cNvSpPr/>
            <p:nvPr/>
          </p:nvSpPr>
          <p:spPr>
            <a:xfrm>
              <a:off x="0" y="0"/>
              <a:ext cx="5048400" cy="3771900"/>
            </a:xfrm>
            <a:prstGeom prst="roundRect">
              <a:avLst>
                <a:gd name="adj" fmla="val 4040"/>
              </a:avLst>
            </a:prstGeom>
            <a:solidFill>
              <a:srgbClr val="F0FDF4"/>
            </a:solidFill>
            <a:ln w="14300" cap="flat" cmpd="sng">
              <a:solidFill>
                <a:srgbClr val="DCFC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4"/>
            <p:cNvSpPr/>
            <p:nvPr/>
          </p:nvSpPr>
          <p:spPr>
            <a:xfrm>
              <a:off x="0" y="381000"/>
              <a:ext cx="76200" cy="30099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4"/>
            <p:cNvSpPr txBox="1"/>
            <p:nvPr/>
          </p:nvSpPr>
          <p:spPr>
            <a:xfrm>
              <a:off x="285750" y="285750"/>
              <a:ext cx="4476900" cy="3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3600" b="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2. System Execution</a:t>
              </a:r>
              <a:endParaRPr sz="1800" b="1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The host environment intercepts the payload, runs the requested task, and returns the response.</a:t>
              </a:r>
              <a:endParaRPr sz="1200" b="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1625" algn="l" rtl="0">
                <a:spcBef>
                  <a:spcPts val="1125"/>
                </a:spcBef>
                <a:spcAft>
                  <a:spcPts val="0"/>
                </a:spcAft>
                <a:buClr>
                  <a:srgbClr val="166534"/>
                </a:buClr>
                <a:buSzPts val="1150"/>
                <a:buFont typeface="Inter"/>
                <a:buChar char="●"/>
              </a:pPr>
              <a:r>
                <a:rPr lang="en-US" sz="1150" b="0">
                  <a:solidFill>
                    <a:srgbClr val="16653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Parses arguments and checks security permissions</a:t>
              </a:r>
              <a:endParaRPr sz="1150" b="0">
                <a:solidFill>
                  <a:srgbClr val="16653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457200" lvl="0" indent="-301625" algn="l" rtl="0">
                <a:spcBef>
                  <a:spcPts val="600"/>
                </a:spcBef>
                <a:spcAft>
                  <a:spcPts val="0"/>
                </a:spcAft>
                <a:buClr>
                  <a:srgbClr val="166534"/>
                </a:buClr>
                <a:buSzPts val="1150"/>
                <a:buFont typeface="Inter"/>
                <a:buChar char="●"/>
              </a:pPr>
              <a:r>
                <a:rPr lang="en-US" sz="1150" b="0">
                  <a:solidFill>
                    <a:srgbClr val="16653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Triggers the sandbox interpreter or external API</a:t>
              </a:r>
              <a:endParaRPr sz="1150" b="0">
                <a:solidFill>
                  <a:srgbClr val="16653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457200" lvl="0" indent="-301625" algn="l" rtl="0">
                <a:spcBef>
                  <a:spcPts val="600"/>
                </a:spcBef>
                <a:spcAft>
                  <a:spcPts val="0"/>
                </a:spcAft>
                <a:buClr>
                  <a:srgbClr val="166534"/>
                </a:buClr>
                <a:buSzPts val="1150"/>
                <a:buFont typeface="Inter"/>
                <a:buChar char="●"/>
              </a:pPr>
              <a:r>
                <a:rPr lang="en-US" sz="1150" b="0">
                  <a:solidFill>
                    <a:srgbClr val="16653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Appends the observation back into LLM memory</a:t>
              </a:r>
              <a:endParaRPr sz="1150" b="0">
                <a:solidFill>
                  <a:srgbClr val="16653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7BFDA43-505D-495F-0B55-317630294D0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6465"/>
          <a:stretch>
            <a:fillRect/>
          </a:stretch>
        </p:blipFill>
        <p:spPr>
          <a:xfrm>
            <a:off x="1047600" y="4109101"/>
            <a:ext cx="3789227" cy="1415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" name="Google Shape;393;p25"/>
          <p:cNvGrpSpPr/>
          <p:nvPr/>
        </p:nvGrpSpPr>
        <p:grpSpPr>
          <a:xfrm>
            <a:off x="762000" y="2190750"/>
            <a:ext cx="3238500" cy="3238500"/>
            <a:chOff x="0" y="0"/>
            <a:chExt cx="3238500" cy="3238500"/>
          </a:xfrm>
        </p:grpSpPr>
        <p:sp>
          <p:nvSpPr>
            <p:cNvPr id="394" name="Google Shape;394;p25"/>
            <p:cNvSpPr/>
            <p:nvPr/>
          </p:nvSpPr>
          <p:spPr>
            <a:xfrm>
              <a:off x="0" y="0"/>
              <a:ext cx="3238500" cy="3238500"/>
            </a:xfrm>
            <a:prstGeom prst="roundRect">
              <a:avLst>
                <a:gd name="adj" fmla="val 4705"/>
              </a:avLst>
            </a:prstGeom>
            <a:solidFill>
              <a:srgbClr val="FFF7ED"/>
            </a:solidFill>
            <a:ln w="14300" cap="flat" cmpd="sng">
              <a:solidFill>
                <a:srgbClr val="FFED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5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5"/>
            <p:cNvSpPr txBox="1"/>
            <p:nvPr/>
          </p:nvSpPr>
          <p:spPr>
            <a:xfrm>
              <a:off x="285750" y="381000"/>
              <a:ext cx="2667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Placeholder Text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9731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smart_toy</a:t>
              </a:r>
              <a:endParaRPr sz="3600">
                <a:solidFill>
                  <a:srgbClr val="F9731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C2D12"/>
                  </a:solidFill>
                  <a:latin typeface="Inter"/>
                  <a:ea typeface="Inter"/>
                  <a:cs typeface="Inter"/>
                  <a:sym typeface="Inter"/>
                </a:rPr>
                <a:t>Month 1</a:t>
              </a:r>
              <a:endParaRPr sz="1400" b="1">
                <a:solidFill>
                  <a:srgbClr val="7C2D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Simple Bot</a:t>
              </a:r>
              <a:endParaRPr sz="20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9A3412"/>
                  </a:solidFill>
                  <a:latin typeface="Inter"/>
                  <a:ea typeface="Inter"/>
                  <a:cs typeface="Inter"/>
                  <a:sym typeface="Inter"/>
                </a:rPr>
                <a:t>Single LLM with Web Search tool.</a:t>
              </a:r>
              <a:endParaRPr sz="1250" b="0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7" name="Google Shape;397;p25"/>
          <p:cNvGrpSpPr/>
          <p:nvPr/>
        </p:nvGrpSpPr>
        <p:grpSpPr>
          <a:xfrm>
            <a:off x="4476750" y="2190750"/>
            <a:ext cx="3238500" cy="3238500"/>
            <a:chOff x="0" y="0"/>
            <a:chExt cx="3238500" cy="3238500"/>
          </a:xfrm>
        </p:grpSpPr>
        <p:sp>
          <p:nvSpPr>
            <p:cNvPr id="398" name="Google Shape;398;p25"/>
            <p:cNvSpPr/>
            <p:nvPr/>
          </p:nvSpPr>
          <p:spPr>
            <a:xfrm>
              <a:off x="0" y="0"/>
              <a:ext cx="3238500" cy="3238500"/>
            </a:xfrm>
            <a:prstGeom prst="roundRect">
              <a:avLst>
                <a:gd name="adj" fmla="val 4705"/>
              </a:avLst>
            </a:prstGeom>
            <a:solidFill>
              <a:srgbClr val="F0FDF4"/>
            </a:solidFill>
            <a:ln w="14300" cap="flat" cmpd="sng">
              <a:solidFill>
                <a:srgbClr val="DCFC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5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5"/>
            <p:cNvSpPr txBox="1"/>
            <p:nvPr/>
          </p:nvSpPr>
          <p:spPr>
            <a:xfrm>
              <a:off x="285750" y="381000"/>
              <a:ext cx="2667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Placeholder Text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rule</a:t>
              </a:r>
              <a:endParaRPr sz="36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Month 3</a:t>
              </a:r>
              <a:endParaRPr sz="1400" b="1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Supervised Agent</a:t>
              </a:r>
              <a:endParaRPr sz="20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L2 Autonomy with Human approval gates.</a:t>
              </a:r>
              <a:endParaRPr sz="1250" b="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1" name="Google Shape;401;p25"/>
          <p:cNvGrpSpPr/>
          <p:nvPr/>
        </p:nvGrpSpPr>
        <p:grpSpPr>
          <a:xfrm>
            <a:off x="8191500" y="2190750"/>
            <a:ext cx="3238500" cy="3238500"/>
            <a:chOff x="0" y="0"/>
            <a:chExt cx="3238500" cy="3238500"/>
          </a:xfrm>
        </p:grpSpPr>
        <p:sp>
          <p:nvSpPr>
            <p:cNvPr id="402" name="Google Shape;402;p25"/>
            <p:cNvSpPr/>
            <p:nvPr/>
          </p:nvSpPr>
          <p:spPr>
            <a:xfrm>
              <a:off x="0" y="0"/>
              <a:ext cx="3238500" cy="3238500"/>
            </a:xfrm>
            <a:prstGeom prst="roundRect">
              <a:avLst>
                <a:gd name="adj" fmla="val 4705"/>
              </a:avLst>
            </a:prstGeom>
            <a:solidFill>
              <a:srgbClr val="F0F9FF"/>
            </a:solidFill>
            <a:ln w="14300" cap="flat" cmpd="sng">
              <a:solidFill>
                <a:srgbClr val="E0F2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5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5"/>
            <p:cNvSpPr txBox="1"/>
            <p:nvPr/>
          </p:nvSpPr>
          <p:spPr>
            <a:xfrm>
              <a:off x="285750" y="381000"/>
              <a:ext cx="2667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Placeholder Text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3600">
                <a:solidFill>
                  <a:srgbClr val="0EA5E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C4A6E"/>
                  </a:solidFill>
                  <a:latin typeface="Inter"/>
                  <a:ea typeface="Inter"/>
                  <a:cs typeface="Inter"/>
                  <a:sym typeface="Inter"/>
                </a:rPr>
                <a:t>Month 6</a:t>
              </a:r>
              <a:endParaRPr sz="1400" b="1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Multi-Agent System</a:t>
              </a:r>
              <a:endParaRPr sz="20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075985"/>
                  </a:solidFill>
                  <a:latin typeface="Inter"/>
                  <a:ea typeface="Inter"/>
                  <a:cs typeface="Inter"/>
                  <a:sym typeface="Inter"/>
                </a:rPr>
                <a:t>Specialized Researcher + Writer + QA nodes.</a:t>
              </a:r>
              <a:endParaRPr sz="1250" b="0">
                <a:solidFill>
                  <a:srgbClr val="07598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05" name="Google Shape;405;p2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 txBox="1"/>
          <p:nvPr/>
        </p:nvSpPr>
        <p:spPr>
          <a:xfrm>
            <a:off x="381000" y="6434137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Complexity grows from 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Single Tasks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to 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Orchestration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407" name="Google Shape;407;p25"/>
          <p:cNvSpPr txBox="1"/>
          <p:nvPr/>
        </p:nvSpPr>
        <p:spPr>
          <a:xfrm>
            <a:off x="8953500" y="266700"/>
            <a:ext cx="28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13</a:t>
            </a:r>
            <a:endParaRPr/>
          </a:p>
        </p:txBody>
      </p:sp>
      <p:sp>
        <p:nvSpPr>
          <p:cNvPr id="408" name="Google Shape;408;p25"/>
          <p:cNvSpPr txBox="1"/>
          <p:nvPr/>
        </p:nvSpPr>
        <p:spPr>
          <a:xfrm>
            <a:off x="762000" y="11049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Evolution of the System</a:t>
            </a:r>
            <a:endParaRPr/>
          </a:p>
        </p:txBody>
      </p:sp>
      <p:sp>
        <p:nvSpPr>
          <p:cNvPr id="409" name="Google Shape;409;p25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6"/>
          <p:cNvSpPr txBox="1"/>
          <p:nvPr/>
        </p:nvSpPr>
        <p:spPr>
          <a:xfrm>
            <a:off x="381000" y="6434137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 all LLMs are agents; 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reasoning capacity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is the engine for autonomy.</a:t>
            </a:r>
            <a:endParaRPr dirty="0"/>
          </a:p>
        </p:txBody>
      </p:sp>
      <p:sp>
        <p:nvSpPr>
          <p:cNvPr id="418" name="Google Shape;418;p26"/>
          <p:cNvSpPr txBox="1"/>
          <p:nvPr/>
        </p:nvSpPr>
        <p:spPr>
          <a:xfrm>
            <a:off x="8953500" y="266700"/>
            <a:ext cx="28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14</a:t>
            </a:r>
            <a:endParaRPr/>
          </a:p>
        </p:txBody>
      </p:sp>
      <p:sp>
        <p:nvSpPr>
          <p:cNvPr id="419" name="Google Shape;419;p26"/>
          <p:cNvSpPr txBox="1"/>
          <p:nvPr/>
        </p:nvSpPr>
        <p:spPr>
          <a:xfrm>
            <a:off x="762000" y="11049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Reasoning Capabilities by Model</a:t>
            </a:r>
            <a:endParaRPr/>
          </a:p>
        </p:txBody>
      </p:sp>
      <p:sp>
        <p:nvSpPr>
          <p:cNvPr id="420" name="Google Shape;420;p26"/>
          <p:cNvSpPr txBox="1"/>
          <p:nvPr/>
        </p:nvSpPr>
        <p:spPr>
          <a:xfrm>
            <a:off x="762000" y="5410200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*Agency score based on Planning, Tool Use Accuracy, and Instruction Following.</a:t>
            </a:r>
            <a:endParaRPr/>
          </a:p>
        </p:txBody>
      </p:sp>
      <p:sp>
        <p:nvSpPr>
          <p:cNvPr id="421" name="Google Shape;421;p26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26"/>
          <p:cNvGrpSpPr/>
          <p:nvPr/>
        </p:nvGrpSpPr>
        <p:grpSpPr>
          <a:xfrm>
            <a:off x="762000" y="1809750"/>
            <a:ext cx="2476500" cy="3238500"/>
            <a:chOff x="0" y="0"/>
            <a:chExt cx="2476500" cy="3238500"/>
          </a:xfrm>
        </p:grpSpPr>
        <p:sp>
          <p:nvSpPr>
            <p:cNvPr id="423" name="Google Shape;423;p26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F5F3FF"/>
            </a:solidFill>
            <a:ln w="14300" cap="flat" cmpd="sng">
              <a:solidFill>
                <a:srgbClr val="DDD6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6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6"/>
            <p:cNvSpPr txBox="1"/>
            <p:nvPr/>
          </p:nvSpPr>
          <p:spPr>
            <a:xfrm>
              <a:off x="285750" y="2857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7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Tier 1 Frontier</a:t>
              </a:r>
              <a:endParaRPr sz="900" b="1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GPT-4o</a:t>
              </a:r>
              <a:endParaRPr sz="18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825" b="0">
                  <a:solidFill>
                    <a:srgbClr val="6D28D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Agency Score: 95%</a:t>
              </a:r>
              <a:endParaRPr sz="825" b="0">
                <a:solidFill>
                  <a:srgbClr val="6D28D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975" b="0">
                  <a:solidFill>
                    <a:srgbClr val="4C1D95"/>
                  </a:solidFill>
                  <a:latin typeface="Inter"/>
                  <a:ea typeface="Inter"/>
                  <a:cs typeface="Inter"/>
                  <a:sym typeface="Inter"/>
                </a:rPr>
                <a:t>• Outstanding multi-agent orchestration and tool selection.</a:t>
              </a:r>
              <a:endParaRPr sz="975" b="0">
                <a:solidFill>
                  <a:srgbClr val="4C1D9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75" b="0">
                  <a:solidFill>
                    <a:srgbClr val="4C1D95"/>
                  </a:solidFill>
                  <a:latin typeface="Inter"/>
                  <a:ea typeface="Inter"/>
                  <a:cs typeface="Inter"/>
                  <a:sym typeface="Inter"/>
                </a:rPr>
                <a:t>• Extremely fast planning and parallel execution loops.</a:t>
              </a:r>
              <a:endParaRPr sz="975" b="0">
                <a:solidFill>
                  <a:srgbClr val="4C1D9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6" name="Google Shape;426;p26"/>
          <p:cNvGrpSpPr/>
          <p:nvPr/>
        </p:nvGrpSpPr>
        <p:grpSpPr>
          <a:xfrm>
            <a:off x="3486150" y="1809750"/>
            <a:ext cx="2476500" cy="3238500"/>
            <a:chOff x="0" y="0"/>
            <a:chExt cx="2476500" cy="3238500"/>
          </a:xfrm>
        </p:grpSpPr>
        <p:sp>
          <p:nvSpPr>
            <p:cNvPr id="427" name="Google Shape;427;p26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EFF6FF"/>
            </a:solidFill>
            <a:ln w="14300" cap="flat" cmpd="sng">
              <a:solidFill>
                <a:srgbClr val="DBEA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6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6"/>
            <p:cNvSpPr txBox="1"/>
            <p:nvPr/>
          </p:nvSpPr>
          <p:spPr>
            <a:xfrm>
              <a:off x="285750" y="2857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dirty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integration_ instructions</a:t>
              </a:r>
              <a:endParaRPr sz="27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00" b="1" dirty="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Precision Logic</a:t>
              </a:r>
              <a:endParaRPr sz="900" b="1" dirty="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Claude 3.5</a:t>
              </a:r>
              <a:endParaRPr sz="1800" b="1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825" b="0" dirty="0">
                  <a:solidFill>
                    <a:srgbClr val="1D4ED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Agency Score: 98%</a:t>
              </a:r>
              <a:endParaRPr sz="825" b="0" dirty="0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975" b="0" dirty="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• State-of-the-art instruction following and coding execution.</a:t>
              </a:r>
              <a:endParaRPr sz="975" b="0" dirty="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75" b="0" dirty="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• Highest structured JSON parsing and tool accuracy.</a:t>
              </a:r>
              <a:endParaRPr sz="975" b="0" dirty="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0" name="Google Shape;430;p26"/>
          <p:cNvGrpSpPr/>
          <p:nvPr/>
        </p:nvGrpSpPr>
        <p:grpSpPr>
          <a:xfrm>
            <a:off x="6210300" y="1809750"/>
            <a:ext cx="2476500" cy="3238500"/>
            <a:chOff x="0" y="0"/>
            <a:chExt cx="2476500" cy="3238500"/>
          </a:xfrm>
        </p:grpSpPr>
        <p:sp>
          <p:nvSpPr>
            <p:cNvPr id="431" name="Google Shape;431;p26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ECFDF5"/>
            </a:solidFill>
            <a:ln w="14300" cap="flat" cmpd="sng">
              <a:solidFill>
                <a:srgbClr val="D1FA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6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6"/>
            <p:cNvSpPr txBox="1"/>
            <p:nvPr/>
          </p:nvSpPr>
          <p:spPr>
            <a:xfrm>
              <a:off x="285750" y="2857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7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Open-Source</a:t>
              </a:r>
              <a:endParaRPr sz="90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Llama 3 (70B)</a:t>
              </a:r>
              <a:endParaRPr sz="18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825" b="0">
                  <a:solidFill>
                    <a:srgbClr val="04785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Agency Score: 80%</a:t>
              </a:r>
              <a:endParaRPr sz="825" b="0">
                <a:solidFill>
                  <a:srgbClr val="04785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975" b="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• High local customization and data privacy control.</a:t>
              </a:r>
              <a:endParaRPr sz="975" b="0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75" b="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• Robust baseline logic for enterprise-specific tools.</a:t>
              </a:r>
              <a:endParaRPr sz="975" b="0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4" name="Google Shape;434;p26"/>
          <p:cNvGrpSpPr/>
          <p:nvPr/>
        </p:nvGrpSpPr>
        <p:grpSpPr>
          <a:xfrm>
            <a:off x="8934450" y="1809750"/>
            <a:ext cx="2476500" cy="3238500"/>
            <a:chOff x="0" y="0"/>
            <a:chExt cx="2476500" cy="3238500"/>
          </a:xfrm>
        </p:grpSpPr>
        <p:sp>
          <p:nvSpPr>
            <p:cNvPr id="435" name="Google Shape;435;p26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6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6"/>
            <p:cNvSpPr txBox="1"/>
            <p:nvPr/>
          </p:nvSpPr>
          <p:spPr>
            <a:xfrm>
              <a:off x="285750" y="2857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64748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2700">
                <a:solidFill>
                  <a:srgbClr val="64748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Edge Efficiency</a:t>
              </a:r>
              <a:endParaRPr sz="9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Small SLMs</a:t>
              </a:r>
              <a:endParaRPr sz="18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825" b="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Agency Score: 50%</a:t>
              </a:r>
              <a:endParaRPr sz="825" b="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975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• Optimized for single-purpose utility and fast local tasks.</a:t>
              </a:r>
              <a:endParaRPr sz="975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75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• Highly cost-effective at high execution frequencies.</a:t>
              </a:r>
              <a:endParaRPr sz="975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7"/>
          <p:cNvSpPr txBox="1"/>
          <p:nvPr/>
        </p:nvSpPr>
        <p:spPr>
          <a:xfrm>
            <a:off x="381000" y="6434137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Autonomy without 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Guardrails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is a liability; Safety is part of the design.</a:t>
            </a:r>
            <a:endParaRPr dirty="0"/>
          </a:p>
        </p:txBody>
      </p:sp>
      <p:sp>
        <p:nvSpPr>
          <p:cNvPr id="446" name="Google Shape;446;p27"/>
          <p:cNvSpPr txBox="1"/>
          <p:nvPr/>
        </p:nvSpPr>
        <p:spPr>
          <a:xfrm>
            <a:off x="8953500" y="266700"/>
            <a:ext cx="28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15</a:t>
            </a:r>
            <a:endParaRPr/>
          </a:p>
        </p:txBody>
      </p:sp>
      <p:sp>
        <p:nvSpPr>
          <p:cNvPr id="447" name="Google Shape;447;p27"/>
          <p:cNvSpPr txBox="1"/>
          <p:nvPr/>
        </p:nvSpPr>
        <p:spPr>
          <a:xfrm>
            <a:off x="762000" y="11049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Operational Guardrails</a:t>
            </a:r>
            <a:endParaRPr/>
          </a:p>
        </p:txBody>
      </p:sp>
      <p:sp>
        <p:nvSpPr>
          <p:cNvPr id="448" name="Google Shape;448;p27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9" name="Google Shape;449;p27"/>
          <p:cNvGrpSpPr/>
          <p:nvPr/>
        </p:nvGrpSpPr>
        <p:grpSpPr>
          <a:xfrm>
            <a:off x="762000" y="1809750"/>
            <a:ext cx="2476500" cy="3238500"/>
            <a:chOff x="0" y="0"/>
            <a:chExt cx="2476500" cy="3238500"/>
          </a:xfrm>
        </p:grpSpPr>
        <p:sp>
          <p:nvSpPr>
            <p:cNvPr id="450" name="Google Shape;450;p27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FFF7ED"/>
            </a:solidFill>
            <a:ln w="14300" cap="flat" cmpd="sng">
              <a:solidFill>
                <a:srgbClr val="FFED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7"/>
            <p:cNvSpPr txBox="1"/>
            <p:nvPr/>
          </p:nvSpPr>
          <p:spPr>
            <a:xfrm>
              <a:off x="285750" y="285750"/>
              <a:ext cx="1905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F9731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monetization_on</a:t>
              </a:r>
              <a:endParaRPr sz="2700">
                <a:solidFill>
                  <a:srgbClr val="F9731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97316"/>
                  </a:solidFill>
                  <a:latin typeface="Inter"/>
                  <a:ea typeface="Inter"/>
                  <a:cs typeface="Inter"/>
                  <a:sym typeface="Inter"/>
                </a:rPr>
                <a:t>FINANCIAL</a:t>
              </a:r>
              <a:endParaRPr sz="900" b="1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Cost Limits</a:t>
              </a:r>
              <a:endParaRPr sz="18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A3412"/>
                  </a:solidFill>
                  <a:latin typeface="Inter"/>
                  <a:ea typeface="Inter"/>
                  <a:cs typeface="Inter"/>
                  <a:sym typeface="Inter"/>
                </a:rPr>
                <a:t>Max token usage per research run to prevent runaway loops.</a:t>
              </a:r>
              <a:endParaRPr sz="1100" b="0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3" name="Google Shape;453;p27"/>
          <p:cNvGrpSpPr/>
          <p:nvPr/>
        </p:nvGrpSpPr>
        <p:grpSpPr>
          <a:xfrm>
            <a:off x="3486150" y="1809750"/>
            <a:ext cx="2476500" cy="3238500"/>
            <a:chOff x="0" y="0"/>
            <a:chExt cx="2476500" cy="3238500"/>
          </a:xfrm>
        </p:grpSpPr>
        <p:sp>
          <p:nvSpPr>
            <p:cNvPr id="454" name="Google Shape;454;p27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F5F3FF"/>
            </a:solidFill>
            <a:ln w="14300" cap="flat" cmpd="sng">
              <a:solidFill>
                <a:srgbClr val="DDD6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7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7"/>
            <p:cNvSpPr txBox="1"/>
            <p:nvPr/>
          </p:nvSpPr>
          <p:spPr>
            <a:xfrm>
              <a:off x="285750" y="285750"/>
              <a:ext cx="1905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27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EXECUTION</a:t>
              </a:r>
              <a:endParaRPr sz="900" b="1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Sandboxing</a:t>
              </a:r>
              <a:endParaRPr sz="18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D28D9"/>
                  </a:solidFill>
                  <a:latin typeface="Inter"/>
                  <a:ea typeface="Inter"/>
                  <a:cs typeface="Inter"/>
                  <a:sym typeface="Inter"/>
                </a:rPr>
                <a:t>Executing agent-generated code in isolated environments.</a:t>
              </a:r>
              <a:endParaRPr sz="1100" b="0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7" name="Google Shape;457;p27"/>
          <p:cNvGrpSpPr/>
          <p:nvPr/>
        </p:nvGrpSpPr>
        <p:grpSpPr>
          <a:xfrm>
            <a:off x="6210300" y="1809750"/>
            <a:ext cx="2476500" cy="3238500"/>
            <a:chOff x="0" y="0"/>
            <a:chExt cx="2476500" cy="3238500"/>
          </a:xfrm>
        </p:grpSpPr>
        <p:sp>
          <p:nvSpPr>
            <p:cNvPr id="458" name="Google Shape;458;p27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ECFDF5"/>
            </a:solidFill>
            <a:ln w="14300" cap="flat" cmpd="sng">
              <a:solidFill>
                <a:srgbClr val="D1FA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7"/>
            <p:cNvSpPr txBox="1"/>
            <p:nvPr/>
          </p:nvSpPr>
          <p:spPr>
            <a:xfrm>
              <a:off x="285750" y="285750"/>
              <a:ext cx="1905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 sz="27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DATA SAFETY</a:t>
              </a:r>
              <a:endParaRPr sz="90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Privacy</a:t>
              </a:r>
              <a:endParaRPr sz="18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Redacting sensitive company data before sending to external APIs.</a:t>
              </a:r>
              <a:endParaRPr sz="1100" b="0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1" name="Google Shape;461;p27"/>
          <p:cNvGrpSpPr/>
          <p:nvPr/>
        </p:nvGrpSpPr>
        <p:grpSpPr>
          <a:xfrm>
            <a:off x="8934450" y="1809750"/>
            <a:ext cx="2476500" cy="3238500"/>
            <a:chOff x="0" y="0"/>
            <a:chExt cx="2476500" cy="3238500"/>
          </a:xfrm>
        </p:grpSpPr>
        <p:sp>
          <p:nvSpPr>
            <p:cNvPr id="462" name="Google Shape;462;p27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EFF6FF"/>
            </a:solidFill>
            <a:ln w="14300" cap="flat" cmpd="sng">
              <a:solidFill>
                <a:srgbClr val="DBEA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7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7"/>
            <p:cNvSpPr txBox="1"/>
            <p:nvPr/>
          </p:nvSpPr>
          <p:spPr>
            <a:xfrm>
              <a:off x="285750" y="285750"/>
              <a:ext cx="1905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timer</a:t>
              </a:r>
              <a:endParaRPr sz="27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CONTROL</a:t>
              </a:r>
              <a:endParaRPr sz="900" b="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Timeouts</a:t>
              </a:r>
              <a:endParaRPr sz="18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Preventing infinite loops if an agent gets stuck in a reasoning cycle.</a:t>
              </a:r>
              <a:endParaRPr sz="1100" b="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1" name="Google Shape;471;p28"/>
          <p:cNvGrpSpPr/>
          <p:nvPr/>
        </p:nvGrpSpPr>
        <p:grpSpPr>
          <a:xfrm>
            <a:off x="571500" y="1809750"/>
            <a:ext cx="2476500" cy="3238500"/>
            <a:chOff x="0" y="0"/>
            <a:chExt cx="2476500" cy="3238500"/>
          </a:xfrm>
        </p:grpSpPr>
        <p:sp>
          <p:nvSpPr>
            <p:cNvPr id="472" name="Google Shape;472;p28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ECFDF5"/>
            </a:solidFill>
            <a:ln w="14300" cap="flat" cmpd="sng">
              <a:solidFill>
                <a:srgbClr val="D1FA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8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8"/>
            <p:cNvSpPr txBox="1"/>
            <p:nvPr/>
          </p:nvSpPr>
          <p:spPr>
            <a:xfrm>
              <a:off x="285750" y="285750"/>
              <a:ext cx="1905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science</a:t>
              </a:r>
              <a:endParaRPr sz="2700" b="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HEALTHCARE</a:t>
              </a:r>
              <a:endParaRPr sz="90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Pharma</a:t>
              </a:r>
              <a:endParaRPr sz="18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Summarizing clinical trial results and identifying drug patterns.</a:t>
              </a:r>
              <a:endParaRPr sz="1100" b="0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5" name="Google Shape;475;p28"/>
          <p:cNvGrpSpPr/>
          <p:nvPr/>
        </p:nvGrpSpPr>
        <p:grpSpPr>
          <a:xfrm>
            <a:off x="3429000" y="1809750"/>
            <a:ext cx="2476500" cy="3238500"/>
            <a:chOff x="0" y="0"/>
            <a:chExt cx="2476500" cy="3238500"/>
          </a:xfrm>
        </p:grpSpPr>
        <p:sp>
          <p:nvSpPr>
            <p:cNvPr id="476" name="Google Shape;476;p28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F5F3FF"/>
            </a:solidFill>
            <a:ln w="14300" cap="flat" cmpd="sng">
              <a:solidFill>
                <a:srgbClr val="DDD6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8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8"/>
            <p:cNvSpPr txBox="1"/>
            <p:nvPr/>
          </p:nvSpPr>
          <p:spPr>
            <a:xfrm>
              <a:off x="285750" y="285750"/>
              <a:ext cx="1905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2700" b="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REGULATORY</a:t>
              </a:r>
              <a:endParaRPr sz="900" b="1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Legal</a:t>
              </a:r>
              <a:endParaRPr sz="18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D28D9"/>
                  </a:solidFill>
                  <a:latin typeface="Inter"/>
                  <a:ea typeface="Inter"/>
                  <a:cs typeface="Inter"/>
                  <a:sym typeface="Inter"/>
                </a:rPr>
                <a:t>Scanning case law for specific precedents and summarizing rulings.</a:t>
              </a:r>
              <a:endParaRPr sz="1100" b="0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9" name="Google Shape;479;p28"/>
          <p:cNvGrpSpPr/>
          <p:nvPr/>
        </p:nvGrpSpPr>
        <p:grpSpPr>
          <a:xfrm>
            <a:off x="6286500" y="1809750"/>
            <a:ext cx="2476500" cy="3238500"/>
            <a:chOff x="0" y="0"/>
            <a:chExt cx="2476500" cy="3238500"/>
          </a:xfrm>
        </p:grpSpPr>
        <p:sp>
          <p:nvSpPr>
            <p:cNvPr id="480" name="Google Shape;480;p28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FFF7ED"/>
            </a:solidFill>
            <a:ln w="14300" cap="flat" cmpd="sng">
              <a:solidFill>
                <a:srgbClr val="FFED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8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8"/>
            <p:cNvSpPr txBox="1"/>
            <p:nvPr/>
          </p:nvSpPr>
          <p:spPr>
            <a:xfrm>
              <a:off x="285750" y="285750"/>
              <a:ext cx="1905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>
                  <a:solidFill>
                    <a:srgbClr val="F9731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700" b="0">
                <a:solidFill>
                  <a:srgbClr val="F9731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MARKETS</a:t>
              </a:r>
              <a:endParaRPr sz="900" b="1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Finance</a:t>
              </a:r>
              <a:endParaRPr sz="18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A3412"/>
                  </a:solidFill>
                  <a:latin typeface="Inter"/>
                  <a:ea typeface="Inter"/>
                  <a:cs typeface="Inter"/>
                  <a:sym typeface="Inter"/>
                </a:rPr>
                <a:t>Analyzing quarterly earnings calls and sentiment across competitors.</a:t>
              </a:r>
              <a:endParaRPr sz="1100" b="0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3" name="Google Shape;483;p28"/>
          <p:cNvGrpSpPr/>
          <p:nvPr/>
        </p:nvGrpSpPr>
        <p:grpSpPr>
          <a:xfrm>
            <a:off x="9144000" y="1809750"/>
            <a:ext cx="2476500" cy="3238500"/>
            <a:chOff x="0" y="0"/>
            <a:chExt cx="2476500" cy="3238500"/>
          </a:xfrm>
        </p:grpSpPr>
        <p:sp>
          <p:nvSpPr>
            <p:cNvPr id="484" name="Google Shape;484;p28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EFF6FF"/>
            </a:solidFill>
            <a:ln w="14300" cap="flat" cmpd="sng">
              <a:solidFill>
                <a:srgbClr val="DBEA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8"/>
            <p:cNvSpPr/>
            <p:nvPr/>
          </p:nvSpPr>
          <p:spPr>
            <a:xfrm>
              <a:off x="0" y="381000"/>
              <a:ext cx="76200" cy="24765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8"/>
            <p:cNvSpPr txBox="1"/>
            <p:nvPr/>
          </p:nvSpPr>
          <p:spPr>
            <a:xfrm>
              <a:off x="285750" y="285750"/>
              <a:ext cx="1905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2700" b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ACADEMIA</a:t>
              </a:r>
              <a:endParaRPr sz="900" b="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Education</a:t>
              </a:r>
              <a:endParaRPr sz="18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Curating learning materials from diverse open-source repositories.</a:t>
              </a:r>
              <a:endParaRPr sz="1100" b="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87" name="Google Shape;487;p2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8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Research Agents scale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human expertise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across any domain with structured data.</a:t>
            </a:r>
            <a:endParaRPr/>
          </a:p>
        </p:txBody>
      </p:sp>
      <p:sp>
        <p:nvSpPr>
          <p:cNvPr id="489" name="Google Shape;489;p28"/>
          <p:cNvSpPr txBox="1"/>
          <p:nvPr/>
        </p:nvSpPr>
        <p:spPr>
          <a:xfrm>
            <a:off x="8953500" y="266700"/>
            <a:ext cx="28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16</a:t>
            </a:r>
            <a:endParaRPr/>
          </a:p>
        </p:txBody>
      </p:sp>
      <p:sp>
        <p:nvSpPr>
          <p:cNvPr id="490" name="Google Shape;490;p28"/>
          <p:cNvSpPr txBox="1"/>
          <p:nvPr/>
        </p:nvSpPr>
        <p:spPr>
          <a:xfrm>
            <a:off x="762000" y="11049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Cross-Industry Applications</a:t>
            </a:r>
            <a:endParaRPr/>
          </a:p>
        </p:txBody>
      </p:sp>
      <p:sp>
        <p:nvSpPr>
          <p:cNvPr id="491" name="Google Shape;491;p28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904875" y="-904875"/>
            <a:ext cx="2190900" cy="21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9"/>
          <p:cNvSpPr txBox="1"/>
          <p:nvPr/>
        </p:nvSpPr>
        <p:spPr>
          <a:xfrm>
            <a:off x="381000" y="6450377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Actionability is the primary metric of success for Agentic systems.</a:t>
            </a:r>
            <a:endParaRPr dirty="0"/>
          </a:p>
        </p:txBody>
      </p:sp>
      <p:grpSp>
        <p:nvGrpSpPr>
          <p:cNvPr id="500" name="Google Shape;500;p29"/>
          <p:cNvGrpSpPr/>
          <p:nvPr/>
        </p:nvGrpSpPr>
        <p:grpSpPr>
          <a:xfrm>
            <a:off x="5448300" y="285750"/>
            <a:ext cx="1295400" cy="342900"/>
            <a:chOff x="0" y="0"/>
            <a:chExt cx="1295400" cy="342900"/>
          </a:xfrm>
        </p:grpSpPr>
        <p:sp>
          <p:nvSpPr>
            <p:cNvPr id="501" name="Google Shape;501;p29"/>
            <p:cNvSpPr/>
            <p:nvPr/>
          </p:nvSpPr>
          <p:spPr>
            <a:xfrm>
              <a:off x="0" y="0"/>
              <a:ext cx="1295400" cy="3429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9"/>
            <p:cNvSpPr txBox="1"/>
            <p:nvPr/>
          </p:nvSpPr>
          <p:spPr>
            <a:xfrm>
              <a:off x="0" y="0"/>
              <a:ext cx="1295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🤖 Agentic AI</a:t>
              </a:r>
              <a:endParaRPr sz="11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503" name="Google Shape;503;p29"/>
          <p:cNvSpPr txBox="1"/>
          <p:nvPr/>
        </p:nvSpPr>
        <p:spPr>
          <a:xfrm>
            <a:off x="5857875" y="1047750"/>
            <a:ext cx="47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>
                <a:solidFill>
                  <a:srgbClr val="10B981"/>
                </a:solidFill>
                <a:latin typeface="DM Sans Black"/>
                <a:ea typeface="DM Sans Black"/>
                <a:cs typeface="DM Sans Black"/>
                <a:sym typeface="DM Sans Black"/>
              </a:rPr>
              <a:t>“</a:t>
            </a:r>
            <a:endParaRPr sz="4500" b="0">
              <a:solidFill>
                <a:srgbClr val="10B98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504" name="Google Shape;504;p29"/>
          <p:cNvSpPr txBox="1"/>
          <p:nvPr/>
        </p:nvSpPr>
        <p:spPr>
          <a:xfrm>
            <a:off x="1333500" y="1905000"/>
            <a:ext cx="9525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"The transition from </a:t>
            </a:r>
            <a:r>
              <a:rPr lang="en-US" sz="3200" b="1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Chatbots</a:t>
            </a:r>
            <a:r>
              <a:rPr lang="en-US" sz="32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to </a:t>
            </a:r>
            <a:r>
              <a:rPr lang="en-US" sz="3200" b="0">
                <a:solidFill>
                  <a:srgbClr val="10B98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Agents</a:t>
            </a:r>
            <a:r>
              <a:rPr lang="en-US" sz="32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is equivalent to the transition from </a:t>
            </a:r>
            <a:r>
              <a:rPr lang="en-US" sz="3200" b="1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talking about work</a:t>
            </a:r>
            <a:r>
              <a:rPr lang="en-US" sz="32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to </a:t>
            </a:r>
            <a:r>
              <a:rPr lang="en-US" sz="3200" b="0">
                <a:solidFill>
                  <a:srgbClr val="10B98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actually doing it</a:t>
            </a:r>
            <a:r>
              <a:rPr lang="en-US" sz="32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."</a:t>
            </a:r>
            <a:endParaRPr sz="3200" b="1">
              <a:solidFill>
                <a:srgbClr val="0F172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5" name="Google Shape;505;p29"/>
          <p:cNvSpPr txBox="1"/>
          <p:nvPr/>
        </p:nvSpPr>
        <p:spPr>
          <a:xfrm>
            <a:off x="2286000" y="46672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— Industry Visionary</a:t>
            </a:r>
            <a:endParaRPr sz="1600" b="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0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is the gold standard for agents that interact with the real world.</a:t>
            </a:r>
            <a:endParaRPr/>
          </a:p>
        </p:txBody>
      </p:sp>
      <p:sp>
        <p:nvSpPr>
          <p:cNvPr id="514" name="Google Shape;514;p30"/>
          <p:cNvSpPr txBox="1"/>
          <p:nvPr/>
        </p:nvSpPr>
        <p:spPr>
          <a:xfrm>
            <a:off x="8953500" y="2667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18</a:t>
            </a:r>
            <a:endParaRPr/>
          </a:p>
        </p:txBody>
      </p:sp>
      <p:sp>
        <p:nvSpPr>
          <p:cNvPr id="515" name="Google Shape;515;p30"/>
          <p:cNvSpPr txBox="1"/>
          <p:nvPr/>
        </p:nvSpPr>
        <p:spPr>
          <a:xfrm>
            <a:off x="762000" y="11049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Agent Reasoning Patterns</a:t>
            </a:r>
            <a:endParaRPr/>
          </a:p>
        </p:txBody>
      </p:sp>
      <p:graphicFrame>
        <p:nvGraphicFramePr>
          <p:cNvPr id="516" name="Google Shape;516;p30"/>
          <p:cNvGraphicFramePr/>
          <p:nvPr/>
        </p:nvGraphicFramePr>
        <p:xfrm>
          <a:off x="762000" y="2076450"/>
          <a:ext cx="10668000" cy="2419375"/>
        </p:xfrm>
        <a:graphic>
          <a:graphicData uri="http://schemas.openxmlformats.org/drawingml/2006/table">
            <a:tbl>
              <a:tblPr firstRow="1" bandRow="1">
                <a:noFill/>
                <a:tableStyleId>{1B08FFA9-47A5-40E2-AF77-5C7549AC359D}</a:tableStyleId>
              </a:tblPr>
              <a:tblGrid>
                <a:gridCol w="249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Pattern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it works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Best For...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Zero-Shot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Direct completion in one go.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Simple tasks, no tools.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Chain of Thought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Step-by-step internal reasoning.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Complex logic / math.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Iterative Reasoning + Acting.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 search, API usage.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Self-Reflection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Agent critiques its own output.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Code generation / Quality work.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7" name="Google Shape;517;p30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0"/>
          <p:cNvSpPr/>
          <p:nvPr/>
        </p:nvSpPr>
        <p:spPr>
          <a:xfrm>
            <a:off x="762000" y="3024187"/>
            <a:ext cx="24940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0"/>
          <p:cNvSpPr/>
          <p:nvPr/>
        </p:nvSpPr>
        <p:spPr>
          <a:xfrm>
            <a:off x="3256061" y="3024187"/>
            <a:ext cx="40868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0"/>
          <p:cNvSpPr/>
          <p:nvPr/>
        </p:nvSpPr>
        <p:spPr>
          <a:xfrm>
            <a:off x="7342882" y="3024187"/>
            <a:ext cx="40871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0"/>
          <p:cNvSpPr/>
          <p:nvPr/>
        </p:nvSpPr>
        <p:spPr>
          <a:xfrm>
            <a:off x="762000" y="3509962"/>
            <a:ext cx="24940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0"/>
          <p:cNvSpPr/>
          <p:nvPr/>
        </p:nvSpPr>
        <p:spPr>
          <a:xfrm>
            <a:off x="3256061" y="3509962"/>
            <a:ext cx="40868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0"/>
          <p:cNvSpPr/>
          <p:nvPr/>
        </p:nvSpPr>
        <p:spPr>
          <a:xfrm>
            <a:off x="7342882" y="3509962"/>
            <a:ext cx="40871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0"/>
          <p:cNvSpPr/>
          <p:nvPr/>
        </p:nvSpPr>
        <p:spPr>
          <a:xfrm>
            <a:off x="762000" y="3995737"/>
            <a:ext cx="24940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0"/>
          <p:cNvSpPr/>
          <p:nvPr/>
        </p:nvSpPr>
        <p:spPr>
          <a:xfrm>
            <a:off x="3256061" y="3995737"/>
            <a:ext cx="40868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0"/>
          <p:cNvSpPr/>
          <p:nvPr/>
        </p:nvSpPr>
        <p:spPr>
          <a:xfrm>
            <a:off x="7342882" y="3995737"/>
            <a:ext cx="40871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0"/>
          <p:cNvSpPr/>
          <p:nvPr/>
        </p:nvSpPr>
        <p:spPr>
          <a:xfrm>
            <a:off x="762000" y="4481512"/>
            <a:ext cx="24940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0"/>
          <p:cNvSpPr/>
          <p:nvPr/>
        </p:nvSpPr>
        <p:spPr>
          <a:xfrm>
            <a:off x="3256061" y="4481512"/>
            <a:ext cx="40868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0"/>
          <p:cNvSpPr/>
          <p:nvPr/>
        </p:nvSpPr>
        <p:spPr>
          <a:xfrm>
            <a:off x="7342882" y="4481512"/>
            <a:ext cx="40871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1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Orchestration is the key skill for future AI developers.</a:t>
            </a:r>
            <a:endParaRPr/>
          </a:p>
        </p:txBody>
      </p:sp>
      <p:sp>
        <p:nvSpPr>
          <p:cNvPr id="538" name="Google Shape;538;p31"/>
          <p:cNvSpPr txBox="1"/>
          <p:nvPr/>
        </p:nvSpPr>
        <p:spPr>
          <a:xfrm>
            <a:off x="2475547" y="2266950"/>
            <a:ext cx="724090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The Future is Collaborative</a:t>
            </a:r>
            <a:endParaRPr/>
          </a:p>
        </p:txBody>
      </p:sp>
      <p:sp>
        <p:nvSpPr>
          <p:cNvPr id="539" name="Google Shape;539;p31"/>
          <p:cNvSpPr txBox="1"/>
          <p:nvPr/>
        </p:nvSpPr>
        <p:spPr>
          <a:xfrm>
            <a:off x="2286000" y="3105150"/>
            <a:ext cx="7620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As models become smaller and faster, </a:t>
            </a: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Multi-Agent Systems (MAS)</a:t>
            </a:r>
            <a:r>
              <a:rPr lang="en-US" sz="21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will allow teams of specialized AI workers to solve enterprise problems at massive scale.</a:t>
            </a:r>
            <a:endParaRPr/>
          </a:p>
        </p:txBody>
      </p:sp>
      <p:sp>
        <p:nvSpPr>
          <p:cNvPr id="540" name="Google Shape;540;p31"/>
          <p:cNvSpPr/>
          <p:nvPr/>
        </p:nvSpPr>
        <p:spPr>
          <a:xfrm>
            <a:off x="5715000" y="4457700"/>
            <a:ext cx="762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8300" y="190500"/>
            <a:ext cx="1295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4137"/>
            <a:ext cx="1390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2"/>
          <p:cNvSpPr txBox="1"/>
          <p:nvPr/>
        </p:nvSpPr>
        <p:spPr>
          <a:xfrm>
            <a:off x="381000" y="6465367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industry is rapidly shifting from 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Prompting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to 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Architecting Agents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549" name="Google Shape;549;p32"/>
          <p:cNvSpPr txBox="1"/>
          <p:nvPr/>
        </p:nvSpPr>
        <p:spPr>
          <a:xfrm>
            <a:off x="8953500" y="266700"/>
            <a:ext cx="28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20</a:t>
            </a:r>
            <a:endParaRPr/>
          </a:p>
        </p:txBody>
      </p:sp>
      <p:sp>
        <p:nvSpPr>
          <p:cNvPr id="550" name="Google Shape;550;p32"/>
          <p:cNvSpPr txBox="1"/>
          <p:nvPr/>
        </p:nvSpPr>
        <p:spPr>
          <a:xfrm>
            <a:off x="762000" y="11049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Framework Adoption Trends</a:t>
            </a:r>
            <a:endParaRPr/>
          </a:p>
        </p:txBody>
      </p:sp>
      <p:sp>
        <p:nvSpPr>
          <p:cNvPr id="551" name="Google Shape;551;p32"/>
          <p:cNvSpPr/>
          <p:nvPr/>
        </p:nvSpPr>
        <p:spPr>
          <a:xfrm>
            <a:off x="381000" y="266700"/>
            <a:ext cx="381000" cy="190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2"/>
          <p:cNvSpPr/>
          <p:nvPr/>
        </p:nvSpPr>
        <p:spPr>
          <a:xfrm>
            <a:off x="6134100" y="1943100"/>
            <a:ext cx="5334000" cy="3810000"/>
          </a:xfrm>
          <a:prstGeom prst="roundRect">
            <a:avLst>
              <a:gd name="adj" fmla="val 4000"/>
            </a:avLst>
          </a:prstGeom>
          <a:solidFill>
            <a:srgbClr val="0F172A">
              <a:alpha val="3999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2"/>
          <p:cNvSpPr/>
          <p:nvPr/>
        </p:nvSpPr>
        <p:spPr>
          <a:xfrm>
            <a:off x="6096000" y="1905000"/>
            <a:ext cx="5334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3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32"/>
          <p:cNvSpPr txBox="1"/>
          <p:nvPr/>
        </p:nvSpPr>
        <p:spPr>
          <a:xfrm>
            <a:off x="6381750" y="2143125"/>
            <a:ext cx="4762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Production Adoption Curve</a:t>
            </a:r>
            <a:endParaRPr sz="1600" b="1">
              <a:solidFill>
                <a:srgbClr val="0F172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Standardized deployment of specialized agent frameworks (2022 - 2024)</a:t>
            </a:r>
            <a:endParaRPr sz="1100" b="0">
              <a:solidFill>
                <a:srgbClr val="64748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55" name="Google Shape;555;p32" descr="image.png"/>
          <p:cNvPicPr preferRelativeResize="0"/>
          <p:nvPr/>
        </p:nvPicPr>
        <p:blipFill rotWithShape="1">
          <a:blip r:embed="rId5">
            <a:alphaModFix/>
          </a:blip>
          <a:srcRect t="80" b="70"/>
          <a:stretch/>
        </p:blipFill>
        <p:spPr>
          <a:xfrm>
            <a:off x="6238875" y="3083992"/>
            <a:ext cx="5048400" cy="2169308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2"/>
          <p:cNvSpPr txBox="1"/>
          <p:nvPr/>
        </p:nvSpPr>
        <p:spPr>
          <a:xfrm>
            <a:off x="762000" y="1905000"/>
            <a:ext cx="4953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The Shift to Agentic Ecosystems</a:t>
            </a:r>
            <a:endParaRPr sz="1800" b="1">
              <a:solidFill>
                <a:srgbClr val="0F172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Organizations are moving past simple prompting into production-grade architectures powered by specialized frameworks.</a:t>
            </a:r>
            <a:endParaRPr sz="11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hub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LangChain Orchestration</a:t>
            </a:r>
            <a:endParaRPr sz="1300" b="1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standard library for chaining LLM cognitive steps with memory and APIs.</a:t>
            </a:r>
            <a:endParaRPr sz="1100" b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groups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CrewAI Collaborative Teams</a:t>
            </a:r>
            <a:endParaRPr sz="1300" b="1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Enables multi-agent role-playing, goals, and collaborative execution.</a:t>
            </a:r>
            <a:endParaRPr sz="1100" b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sync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AutoGPT Autonomy</a:t>
            </a:r>
            <a:endParaRPr sz="1300" b="1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Pioneering self-directed loops that continuously refine tasks until goals are met.</a:t>
            </a:r>
            <a:endParaRPr sz="1100" b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</TotalTime>
  <Words>1706</Words>
  <Application>Microsoft Office PowerPoint</Application>
  <PresentationFormat>Widescreen</PresentationFormat>
  <Paragraphs>292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Calibri</vt:lpstr>
      <vt:lpstr>Material Icons</vt:lpstr>
      <vt:lpstr>Inter</vt:lpstr>
      <vt:lpstr>DM Sans Black</vt:lpstr>
      <vt:lpstr>DM Sans</vt:lpstr>
      <vt:lpstr>Inter SemiBold</vt:lpstr>
      <vt:lpstr>Courier New</vt:lpstr>
      <vt:lpstr>Inter Medium</vt:lpstr>
      <vt:lpstr>DM Sans ExtraBold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Usha Nandhini</cp:lastModifiedBy>
  <cp:revision>4</cp:revision>
  <dcterms:modified xsi:type="dcterms:W3CDTF">2026-06-28T08:06:38Z</dcterms:modified>
</cp:coreProperties>
</file>