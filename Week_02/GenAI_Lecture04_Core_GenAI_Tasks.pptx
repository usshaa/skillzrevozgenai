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4" r:id="rId23"/>
    <p:sldId id="285" r:id="rId24"/>
    <p:sldId id="286" r:id="rId25"/>
    <p:sldId id="287" r:id="rId26"/>
    <p:sldId id="288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08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57200" y="166420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GenAI Tasks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Generation · Classification · Summarisation · Q&amp;A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EC1580B8-9E37-E584-5563-6429EE9F8581}"/>
              </a:ext>
            </a:extLst>
          </p:cNvPr>
          <p:cNvSpPr/>
          <p:nvPr/>
        </p:nvSpPr>
        <p:spPr>
          <a:xfrm>
            <a:off x="0" y="2441767"/>
            <a:ext cx="9144000" cy="36576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Recap — Lecture 03 &amp; Bridge to Lecture 04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108686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 AI → Core Task Patterns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125145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We Covered in Lecture 03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1598926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 VLMs: patch-to-embedding pipeline across 6 modalities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Document intelligence: 6-stage ingest-to-answer pipeline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Table serialisation: Markdown, CSV, JSON strategies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Finance, healthcare &amp; legal multimodal applications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 Case Studies: invoice extraction &amp; financial report Q&amp;A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63440" y="1251454"/>
            <a:ext cx="4114800" cy="2633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3440" y="1251454"/>
            <a:ext cx="4114800" cy="310896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63440" y="125145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Today's Focus — The 4 Core Task Types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54880" y="1635502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0" y="165379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📝  Text Generation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54880" y="2147566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46320" y="216585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🏷️  Classification &amp; Labelling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2659630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0" y="267791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📄  Summarisation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54880" y="3171694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46320" y="318998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❓  Q&amp;A Systems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Generation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LLMs produce fluent, context-aware text — and how to control 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6CBB042D-8539-52EB-D7F5-B2608B4A5450}"/>
              </a:ext>
            </a:extLst>
          </p:cNvPr>
          <p:cNvSpPr/>
          <p:nvPr/>
        </p:nvSpPr>
        <p:spPr>
          <a:xfrm>
            <a:off x="0" y="1927683"/>
            <a:ext cx="9144000" cy="36576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-27432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-2743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Text Generation?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878677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Auto-regressive token prediction — one token at a time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1043269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Core Mechanism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1390741"/>
            <a:ext cx="256032" cy="34747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" y="1390741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" y="1409029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Encoding 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Tokenise input; build embedding + positional vectors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1857085"/>
            <a:ext cx="256032" cy="34747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" y="1857085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1792" y="1875373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 Pass 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token attends to all prior tokens; weights key context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2323429"/>
            <a:ext cx="256032" cy="34747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0040" y="2323429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1792" y="2341717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Logit Projection 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hidden state → vocabulary-size probability vector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2789773"/>
            <a:ext cx="256032" cy="34747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40" y="2789773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1792" y="2808061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Sampling 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 next token via temperature / top-P / top-K strategy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3256117"/>
            <a:ext cx="256032" cy="34747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0040" y="3256117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1792" y="3274405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Append &amp; Repeat 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token appended; process repeats until EOS token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0" y="1043269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Business Use Cases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0" y="1390741"/>
            <a:ext cx="420624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663440" y="1409029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✉️  Email &amp; message drafting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0" y="1857085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663440" y="1875373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📰  Blog, article &amp; report writing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2000" y="2323429"/>
            <a:ext cx="420624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663440" y="2341717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📢  Marketing copy &amp; ad creative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00" y="2789773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663440" y="2808061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💬  Chatbot &amp; virtual assistant responses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572000" y="3256117"/>
            <a:ext cx="420624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663440" y="3274405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📋  Job descriptions &amp; HR templates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Controlling Text Generation Output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96990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design, decoding parameters, and format constraints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1180218"/>
            <a:ext cx="1554480" cy="3200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118021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920240" y="1180218"/>
            <a:ext cx="1783080" cy="3200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920240" y="118021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794760" y="1180218"/>
            <a:ext cx="2423160" cy="3200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94760" y="118021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Value 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63640" y="1180218"/>
            <a:ext cx="2423160" cy="3200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63640" y="118021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Value 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1536834"/>
            <a:ext cx="1554480" cy="438912"/>
          </a:xfrm>
          <a:prstGeom prst="rect">
            <a:avLst/>
          </a:prstGeom>
          <a:solidFill>
            <a:srgbClr val="2196D3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154597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920240" y="1536834"/>
            <a:ext cx="178308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965960" y="154597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 – 2.0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94760" y="1536834"/>
            <a:ext cx="242316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840480" y="154597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Deterministic, factual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63640" y="1536834"/>
            <a:ext cx="242316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09360" y="154597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Creative, diverse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0040" y="2048898"/>
            <a:ext cx="155448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65760" y="205804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Top-P (Nucleus)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920240" y="204889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965960" y="205804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 – 1.0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794760" y="2048898"/>
            <a:ext cx="2423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840480" y="205804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Narrow vocab, precise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263640" y="2048898"/>
            <a:ext cx="2423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09360" y="205804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Wide vocab, expressive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0040" y="2560962"/>
            <a:ext cx="1554480" cy="438912"/>
          </a:xfrm>
          <a:prstGeom prst="rect">
            <a:avLst/>
          </a:prstGeom>
          <a:solidFill>
            <a:srgbClr val="E84A17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65760" y="257010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920240" y="2560962"/>
            <a:ext cx="178308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965960" y="257010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– 100+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794760" y="2560962"/>
            <a:ext cx="242316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840480" y="257010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Greedy, predictable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263640" y="2560962"/>
            <a:ext cx="242316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309360" y="257010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 selection pool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20040" y="3073026"/>
            <a:ext cx="1554480" cy="438912"/>
          </a:xfrm>
          <a:prstGeom prst="rect">
            <a:avLst/>
          </a:prstGeom>
          <a:solidFill>
            <a:srgbClr val="1A7A4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65760" y="308217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Tokens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920240" y="307302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965960" y="308217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– model limit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794760" y="3073026"/>
            <a:ext cx="2423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840480" y="308217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 snippets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263640" y="3073026"/>
            <a:ext cx="2423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309360" y="308217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Long-form documents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20040" y="360337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  Best Practice: Start with Temperature 0.2–0.4 for factual tasks; 0.7–0.9 for creative tasks. Always set a max_tokens ceiling.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Generation — Prompt Patterns That Work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98053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Zero-shot, one-shot, and constrained output prompts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1190850"/>
            <a:ext cx="914400" cy="80467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119085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Zero-Shot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80160" y="1190850"/>
            <a:ext cx="502920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71600" y="1245714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Write a 3-sentence executive summary of this earnings report. Tone: formal. Format: plain prose.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0" y="1190850"/>
            <a:ext cx="237744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92240" y="124571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🔍  Clear task + format directive → consistent output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2196690"/>
            <a:ext cx="91440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0040" y="219669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One-Shot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280160" y="2196690"/>
            <a:ext cx="502920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71600" y="2251554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Example: Input: "Sales grew 12%." → Output: "Revenue increased double digits, indicating strong market demand."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Now rewrite: "Costs rose 8%."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0" y="2196690"/>
            <a:ext cx="237744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92240" y="225155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🔍  Single example steers style and level of abstraction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" y="3202530"/>
            <a:ext cx="914400" cy="80467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0040" y="320253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280160" y="3202530"/>
            <a:ext cx="502920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371600" y="3257394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Write a product launch tweet.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Constraints: ≤ 280 chars | Professional tone | End with a CTA | No hashtags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0" y="3202530"/>
            <a:ext cx="237744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92240" y="325739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🔍  Hard constraints reduce post-processing and retries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Generation — Failure Modes &amp; Mitigations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938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goes wrong and how to fix it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1148320"/>
            <a:ext cx="50292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11483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🌀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68680" y="1148320"/>
            <a:ext cx="1188720" cy="56692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" y="114832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103120" y="1148320"/>
            <a:ext cx="329184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194560" y="1184896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predicts plausible-sounding tokens without factual grounding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40680" y="1148320"/>
            <a:ext cx="338328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532120" y="118489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 in retrieved context (RAG); add 'Only use provided text' in system prompt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1861552"/>
            <a:ext cx="50292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0040" y="186155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📜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68680" y="1861552"/>
            <a:ext cx="1188720" cy="56692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8680" y="186155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Verbosity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103120" y="1861552"/>
            <a:ext cx="329184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194560" y="1898128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length constraint, model pads output to 'seem complete'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40680" y="1861552"/>
            <a:ext cx="338328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532120" y="189812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explicit length target: 'In exactly 2 sentences' or 'Under 80 words'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0040" y="2574784"/>
            <a:ext cx="50292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0040" y="257478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🎭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68680" y="2574784"/>
            <a:ext cx="1188720" cy="56692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68680" y="257478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Tone Drift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103120" y="2574784"/>
            <a:ext cx="329184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194560" y="2611360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averages training distribution; no persona anchor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440680" y="2574784"/>
            <a:ext cx="338328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532120" y="261136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Specify persona in system prompt: 'You are a concise, formal business analyst'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0040" y="3288016"/>
            <a:ext cx="50292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20040" y="328801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🔁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68680" y="3288016"/>
            <a:ext cx="1188720" cy="56692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68680" y="328801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Repetition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103120" y="3288016"/>
            <a:ext cx="329184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2194560" y="332459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repetition penalty needed; default settings often too low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440680" y="3288016"/>
            <a:ext cx="338328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532120" y="332459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repetition_penalty / frequency_penalty to 1.1–1.3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Format Control in Text Generation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1140025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JSON, Markdown, bullet lists — instructing structure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1304617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Format Matters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1624657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Downstream parsing: JSON output feeds directly into APIs without regex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Downstream rendering: Markdown renders in dashboards, wikis, reports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Consistency: same structure every call enables bulk processing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signal: if model cannot structure it, content may be uncertain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0" y="1304617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— Structured JSON Output Prompt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0" y="1624657"/>
            <a:ext cx="4206240" cy="2331720"/>
          </a:xfrm>
          <a:prstGeom prst="rect">
            <a:avLst/>
          </a:prstGeom>
          <a:solidFill>
            <a:srgbClr val="0F172A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63440" y="1688665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Prompt: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"Extract key info. Reply ONLY in JSON: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"company": "",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"revenue": "",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"growth_pct": "",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"key_risk": ""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Do not add explanation."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→ Output is machine-readable immediately.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7683"/>
            <a:ext cx="9144000" cy="36576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&amp; Labelling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LLMs as zero-shot and few-shot classifiers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with LLMs — Fundamentals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991169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LLMs assign labels without task-specific training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1155761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vs LLM Classification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1503233"/>
            <a:ext cx="2194560" cy="365760"/>
          </a:xfrm>
          <a:prstGeom prst="rect">
            <a:avLst/>
          </a:prstGeom>
          <a:solidFill>
            <a:srgbClr val="1A2B4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93192" y="1521521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14600" y="1503233"/>
            <a:ext cx="3017520" cy="365760"/>
          </a:xfrm>
          <a:prstGeom prst="rect">
            <a:avLst/>
          </a:prstGeom>
          <a:solidFill>
            <a:srgbClr val="1A2B4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87752" y="1521521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ML Classifier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532120" y="1503233"/>
            <a:ext cx="3017520" cy="365760"/>
          </a:xfrm>
          <a:prstGeom prst="rect">
            <a:avLst/>
          </a:prstGeom>
          <a:solidFill>
            <a:srgbClr val="1A2B4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05272" y="1521521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Zero-Shot Classifier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1905569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93192" y="1923857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required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514600" y="1905569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587752" y="1923857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labelled dataset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532120" y="1905569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05272" y="1923857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None — labels in the prompt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2307905"/>
            <a:ext cx="219456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93192" y="2326193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 flexibility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514600" y="2307905"/>
            <a:ext cx="301752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587752" y="2326193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at training time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532120" y="2307905"/>
            <a:ext cx="301752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605272" y="2326193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labels any time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0040" y="2710241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93192" y="2728529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514600" y="2710241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587752" y="2728529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(ms)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532120" y="2710241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605272" y="2728529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(100ms–2s)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20040" y="3112577"/>
            <a:ext cx="219456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93192" y="3130865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(in-domain)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514600" y="3112577"/>
            <a:ext cx="301752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587752" y="3130865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high (fine-tuned)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532120" y="3112577"/>
            <a:ext cx="301752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605272" y="3130865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Good; few-shot improves it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20040" y="3514913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93192" y="3533201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Multi-label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2514600" y="3514913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587752" y="3533201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 training overhead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532120" y="3514913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605272" y="3533201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with role prompting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320040" y="3917249"/>
            <a:ext cx="219456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393192" y="3935537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514600" y="3917249"/>
            <a:ext cx="301752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587752" y="3935537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(black-box)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532120" y="3917249"/>
            <a:ext cx="301752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605272" y="3935537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 model to justify label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— Prompt Patterns &amp; Best Practices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991169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Sentiment, intent, topic, and multi-label classification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1201481"/>
            <a:ext cx="1188720" cy="7680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1201481"/>
            <a:ext cx="1188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(Zero-Shot)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554480" y="1201481"/>
            <a:ext cx="7223760" cy="768096"/>
          </a:xfrm>
          <a:prstGeom prst="rect">
            <a:avLst/>
          </a:prstGeom>
          <a:solidFill>
            <a:srgbClr val="0F172A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91640" y="1265489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Classify the sentiment of the following text.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Labels: Positive | Negative | Neutral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Text: "Delivery was fast but the packaging was damaged."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Reply with ONLY the label.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2170745"/>
            <a:ext cx="1188720" cy="768096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" y="2170745"/>
            <a:ext cx="1188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Intent (Few-Shot)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554480" y="2170745"/>
            <a:ext cx="7223760" cy="768096"/>
          </a:xfrm>
          <a:prstGeom prst="rect">
            <a:avLst/>
          </a:prstGeom>
          <a:solidFill>
            <a:srgbClr val="0F172A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691640" y="2234753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Text: "Cancel my subscription" → Intent: Cancellation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Text: "How do I reset my password?" → Intent: Account Support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Text: "I want to upgrade my plan" → Intent: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3140009"/>
            <a:ext cx="1188720" cy="768096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0040" y="3140009"/>
            <a:ext cx="1188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Multi-Label Topic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554480" y="3140009"/>
            <a:ext cx="7223760" cy="768096"/>
          </a:xfrm>
          <a:prstGeom prst="rect">
            <a:avLst/>
          </a:prstGeom>
          <a:solidFill>
            <a:srgbClr val="0F172A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91640" y="3204017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Assign ALL relevant topics from: [Finance, HR, Legal, Operations, Marketing]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Text: "The board approved the new hiring budget and compliance framework."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Reply in JSON: {"topics": [...]}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0040" y="4081841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  Always enumerate labels explicitly. Avoid open-ended 'classify freely' — it makes aggregation impossible.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Evaluating LLM Classification Quality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89728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Metrics, confusion patterns, and calibration strategies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1254644"/>
            <a:ext cx="1965960" cy="38404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125464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1666124"/>
            <a:ext cx="19659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0040" y="168441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Correct / Total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2159900"/>
            <a:ext cx="196596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1480" y="2214764"/>
            <a:ext cx="1783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Balanced classes; quick sanity check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423160" y="1254644"/>
            <a:ext cx="19659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423160" y="125464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423160" y="1666124"/>
            <a:ext cx="19659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423160" y="168441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TP / (TP + FP)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423160" y="2159900"/>
            <a:ext cx="196596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514600" y="2214764"/>
            <a:ext cx="1783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of false positive is high (e.g. spam filter)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26280" y="1254644"/>
            <a:ext cx="1965960" cy="384048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26280" y="125464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26280" y="1666124"/>
            <a:ext cx="19659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26280" y="168441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TP / (TP + FN)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26280" y="2159900"/>
            <a:ext cx="196596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617720" y="2214764"/>
            <a:ext cx="1783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a real case is costly (e.g. fraud, churn)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629400" y="1254644"/>
            <a:ext cx="196596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629400" y="125464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 Score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629400" y="1666124"/>
            <a:ext cx="19659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629400" y="168441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 × P × R / (P + R)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629400" y="2159900"/>
            <a:ext cx="196596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720840" y="2214764"/>
            <a:ext cx="1783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Imbalanced classes; balanced P/R tradeoff needed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20040" y="3449204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Improvement strategies: add labelled examples (few-shot), use confidence scoring, add 'Explain your label' to audit borderline cases.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85153"/>
            <a:ext cx="9144000" cy="36576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/>
              <a:t>Summarisation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/>
              <a:t>Extractive, abstractive, and hybrid approaches with LLMs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Summarisation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1140025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Extractive, Abstractive, and Hybrid — when to use each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1350337"/>
            <a:ext cx="2697480" cy="34747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1350337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Extractive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1725241"/>
            <a:ext cx="2697480" cy="248716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1780105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Selects verbatim sentences from the source. No paraphrase.
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Faithful — no hallucination risk
✅ Fast; works well with classical NLP
⚠️ Choppy, no flow
</a:t>
            </a: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for: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Legal/compliance docs where exact wording matters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154680" y="1350337"/>
            <a:ext cx="2697480" cy="34747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154680" y="1350337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Abstractive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154680" y="1725241"/>
            <a:ext cx="2697480" cy="248716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46120" y="1780105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rewrites the content in new words, merging ideas.
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Fluent, human-readable prose
✅ Can synthesise multiple sources
⚠️ Hallucination risk
</a:t>
            </a: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for: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briefs, news digests, customer reports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89320" y="1350337"/>
            <a:ext cx="269748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989320" y="1350337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89320" y="1725241"/>
            <a:ext cx="2697480" cy="248716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80760" y="1780105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key passages first; then LLM paraphrases/compresses.
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Controlled: grounded in real text
✅ Readable output with low hallucination
⚠️ Two-step pipeline; slightly higher latency
</a:t>
            </a: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for: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RAG pipelines, long document Q&amp;A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Summarisation — Prompt Techniques &amp; Length Control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1033699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Chain-of-density, audience framing, and map-reduce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1244011"/>
            <a:ext cx="1234440" cy="768096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1244011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Audience-Framed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600200" y="1244011"/>
            <a:ext cx="5029200" cy="768096"/>
          </a:xfrm>
          <a:prstGeom prst="rect">
            <a:avLst/>
          </a:prstGeom>
          <a:solidFill>
            <a:srgbClr val="0F172A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91640" y="1308019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Summarise the following report for a non-technical executive.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Focus on: business impact, risks, and key decisions needed.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Max length: 5 bullet points.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675120" y="1244011"/>
            <a:ext cx="2148840" cy="7680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66560" y="1317163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 Audience framing shifts vocabulary and depth automatically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2204131"/>
            <a:ext cx="1234440" cy="7680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0040" y="2204131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Chain-of-Density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600200" y="2204131"/>
            <a:ext cx="5029200" cy="768096"/>
          </a:xfrm>
          <a:prstGeom prst="rect">
            <a:avLst/>
          </a:prstGeom>
          <a:solidFill>
            <a:srgbClr val="0F172A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691640" y="2268139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Step 1: Write a 50-word summary of the text.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Step 2: Rewrite it adding 3 more key details, staying under 80 words.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Step 3: Final pass — ensure no detail contradicts the source.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675120" y="2204131"/>
            <a:ext cx="2148840" cy="7680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66560" y="2277283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 Iterative densification reduces hallucination vs one-shot compression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" y="3164251"/>
            <a:ext cx="1234440" cy="768096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0040" y="3164251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Map-Reduce (Long Docs)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600200" y="3164251"/>
            <a:ext cx="5029200" cy="768096"/>
          </a:xfrm>
          <a:prstGeom prst="rect">
            <a:avLst/>
          </a:prstGeom>
          <a:solidFill>
            <a:srgbClr val="0F172A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691640" y="3228259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[Chunk 1] → "Summarise in 3 sentences." → summary_1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[Chunk 2] → "Summarise in 3 sentences." → summary_2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...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[Final] → "Synthesise summaries into a 200-word executive brief."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675120" y="3164251"/>
            <a:ext cx="2148840" cy="76809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66560" y="3237403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 Essential when document exceeds context window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Evaluating Summarisation Quality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108686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ROUGE, BLEU, and human-aligned evaluation criteria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125145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Metrics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1580638"/>
            <a:ext cx="1371600" cy="46800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" y="158063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ROUGE-1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737360" y="1580638"/>
            <a:ext cx="2468880" cy="46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828800" y="1598926"/>
            <a:ext cx="234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Unigram overlap between generated and reference summary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2083558"/>
            <a:ext cx="1371600" cy="46800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0040" y="208355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ROUGE-2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737360" y="2083558"/>
            <a:ext cx="2468880" cy="46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828800" y="2101846"/>
            <a:ext cx="234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Bigram overlap - measures fluency and phrase retention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2586478"/>
            <a:ext cx="1371600" cy="46800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0040" y="258647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ROUGE-L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737360" y="2586478"/>
            <a:ext cx="2468880" cy="46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828800" y="2604766"/>
            <a:ext cx="234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 - captures sentence structure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3089398"/>
            <a:ext cx="1371600" cy="46800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0040" y="308939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BERTScore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737360" y="3089398"/>
            <a:ext cx="2468880" cy="46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828800" y="3107686"/>
            <a:ext cx="234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 using embeddings - beyond n-gram matching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0" y="125145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Human-Aligned Criteria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0" y="1580638"/>
            <a:ext cx="42062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663440" y="159892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Faithfulness: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claims not in the source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2000" y="2083558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663440" y="210184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Coverage: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points represented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72000" y="2586478"/>
            <a:ext cx="42062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663440" y="260476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Conciseness: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padding or repetition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572000" y="3089398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663440" y="310768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Coherence: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 flow, clear transitions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20040" y="367461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Automated metrics correlate loosely with human judgement. Use BERTScore + at least one human criterion for production.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70213"/>
            <a:ext cx="9144000" cy="36576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 Systems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Closed-book, open-book, and retrieval-augmented question answering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 System Taxonomy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858999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approaches — and when each is appropriate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1166397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4320" y="1166397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🧠  Closed-Book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1541301"/>
            <a:ext cx="2743200" cy="248716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1605309"/>
            <a:ext cx="25603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answers from parametric memory alone — no external context.
</a:t>
            </a: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knowledge, FAQs, reasoning tasks not requiring current data
</a:t>
            </a: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risk when facts change after training cutoff
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Q: What is compound interest?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A: Compound interest is interest calculated on principal AND accumulated interest…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154680" y="1166397"/>
            <a:ext cx="2743200" cy="34747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154680" y="1166397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📖  Open-Book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154680" y="1541301"/>
            <a:ext cx="2743200" cy="248716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46120" y="1605309"/>
            <a:ext cx="25603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Relevant documents are pasted into the context window alongside the question.
</a:t>
            </a: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policy docs, product manuals, small, well-bounded corpora
</a:t>
            </a: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window limit (~100k–200k tokens); cost scales with doc size
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Context: [Policy section 3.2 pasted]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Q: What is the refund window?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A: Based on section 3.2, the refund window is 30 days…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35040" y="1166397"/>
            <a:ext cx="2743200" cy="34747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35040" y="1166397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🔍  RAG (Retrieval-Augmented)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35040" y="1541301"/>
            <a:ext cx="2743200" cy="248716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26480" y="1605309"/>
            <a:ext cx="25603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retrieves top-K relevant chunks from vector DB; only those fed to LLM.
</a:t>
            </a: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enterprise knowledge bases, dynamic content, cost-sensitive deployments
</a:t>
            </a: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Risk: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quality determines answer quality; chunk size tuning required
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Query → embed → retrieve top-3 chunks → LLM answers with citations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 — Prompt Design Patterns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991169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Grounded answering, citation, and refusal patterns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1247201"/>
            <a:ext cx="1325880" cy="90000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1247200"/>
            <a:ext cx="1325880" cy="899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Grounded Answer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691640" y="1247201"/>
            <a:ext cx="7132320" cy="90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83080" y="1311208"/>
            <a:ext cx="6949440" cy="708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System: Answer ONLY from the provided context.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If the answer is not in the context, say "Not found in provided documents."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Context: {retrieved_chunks}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Question: {user_question}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2207321"/>
            <a:ext cx="1325880" cy="900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" y="2207320"/>
            <a:ext cx="1325880" cy="899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 + Citation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691640" y="2207321"/>
            <a:ext cx="7132320" cy="90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83080" y="2271328"/>
            <a:ext cx="6949440" cy="737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Answer the question and cite your source.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Format: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Answer: [your answer]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Source: [quote the exact passage that supports it]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3167441"/>
            <a:ext cx="1325880" cy="90000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0040" y="3167441"/>
            <a:ext cx="132588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Multi-Hop Reasoning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691640" y="3167441"/>
            <a:ext cx="7132320" cy="90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783080" y="3231449"/>
            <a:ext cx="6949440" cy="75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To answer the question, think step by step: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1. Identify all relevant facts from the context.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2. Reason through the chain of implications.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3. State your final answer with evidence.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0040" y="4100129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  Grounded prompting does NOT guarantee hallucination-free output — always add post-generation fact-check for high-stakes Q&amp;A.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 Evaluation Framework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906109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Measuring answer quality: correctness, grounding, and robustness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1116421"/>
            <a:ext cx="411480" cy="43891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1116421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7240" y="1116421"/>
            <a:ext cx="1417320" cy="43891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1116421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Correctness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240280" y="1116421"/>
            <a:ext cx="310896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331720" y="1134709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answer factually right?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394960" y="1116421"/>
            <a:ext cx="3429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0" y="1134709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against ground truth set; LLM-as-judge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1674205"/>
            <a:ext cx="411480" cy="43891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0040" y="1674205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📎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77240" y="1674205"/>
            <a:ext cx="1417320" cy="43891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7240" y="1674205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240280" y="1674205"/>
            <a:ext cx="310896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331720" y="1692493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every claim traceable to the source?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394960" y="1674205"/>
            <a:ext cx="3429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0" y="1692493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Citation match; faithful retrieval check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0040" y="2231989"/>
            <a:ext cx="41148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0040" y="2231989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🔵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77240" y="2231989"/>
            <a:ext cx="141732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77240" y="2231989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Completeness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240280" y="2231989"/>
            <a:ext cx="310896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331720" y="2250277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all aspects of the question addressed?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394960" y="2231989"/>
            <a:ext cx="3429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86400" y="2250277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 against answer rubric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0040" y="2789773"/>
            <a:ext cx="411480" cy="43891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20040" y="2789773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✂️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77240" y="2789773"/>
            <a:ext cx="1417320" cy="43891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77240" y="2789773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Conciseness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240280" y="2789773"/>
            <a:ext cx="310896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2331720" y="2808061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answer padded with irrelevant text?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394960" y="2789773"/>
            <a:ext cx="3429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486400" y="2808061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count / length ratio vs ground truth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20040" y="3347557"/>
            <a:ext cx="41148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20040" y="3347557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🛡️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77240" y="3347557"/>
            <a:ext cx="14173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77240" y="3347557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Robustness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240280" y="3347557"/>
            <a:ext cx="310896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331720" y="3365845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rephraseing the question change the answer?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394960" y="3347557"/>
            <a:ext cx="3429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486400" y="3365845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Paraphrase attack; consistency scoring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Study: AI-Powered Resume Screening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1023069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Applying Classification &amp; Summarisation in a real pipeline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1205949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1516845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global technology company receives 5,000+ resumes per job posting. HR wants to shortlist the top 50 candidates within 2 hours of the posting closing. Manual review takes 3 full-time recruiters 2 days.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102061"/>
            <a:ext cx="1554480" cy="47548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0040" y="2102061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 Parse &amp; Clean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2604981"/>
            <a:ext cx="155448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3192" y="2650701"/>
            <a:ext cx="1408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PDF/DOCX → plain text; remove formatting artifacts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874520" y="2284941"/>
            <a:ext cx="137160" cy="109728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011680" y="2102061"/>
            <a:ext cx="1554480" cy="47548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011680" y="2102061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  Summarise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011680" y="2604981"/>
            <a:ext cx="155448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084832" y="2650701"/>
            <a:ext cx="1408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→ 5-bullet candidate profile (skills, experience, education)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566160" y="2284941"/>
            <a:ext cx="137160" cy="109728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03320" y="2102061"/>
            <a:ext cx="1554480" cy="47548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703320" y="2102061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  Classify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703320" y="2604981"/>
            <a:ext cx="155448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776472" y="2650701"/>
            <a:ext cx="1408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Label: Strong Fit / Possible Fit / Not Suitable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257800" y="2284941"/>
            <a:ext cx="137160" cy="109728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394960" y="2102061"/>
            <a:ext cx="1554480" cy="47548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394960" y="2102061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  Score &amp; Rank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394960" y="2604981"/>
            <a:ext cx="155448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468112" y="2650701"/>
            <a:ext cx="1408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Weighted score: skills 40% + exp 35% + education 25%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949440" y="2284941"/>
            <a:ext cx="137160" cy="109728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086600" y="2102061"/>
            <a:ext cx="1554480" cy="47548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086600" y="2102061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 Human Review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086600" y="2604981"/>
            <a:ext cx="155448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159752" y="2650701"/>
            <a:ext cx="1408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Recruiter reviews top-50 with AI-generated summary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20040" y="3610821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 Shortlist generated in 18 minutes. Recruiter time saved: 85%. Quality maintained: 91% of AI shortlist validated by human reviewers.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 Lab — Activities 1, 2 &amp; 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1033699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Generation + Classification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1244011"/>
            <a:ext cx="8503920" cy="310896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1244011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1: Text Generation — 3 Tone Variations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1582339"/>
            <a:ext cx="274320" cy="28800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0040" y="1582339"/>
            <a:ext cx="27432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1591483"/>
            <a:ext cx="81381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Paste this into ChatGPT/Claude: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"Write a product launch email for 'InsightBot', an AI analytics assistant. Tone: [formal / friendly / urgent]. Keep under 120 words."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1911523"/>
            <a:ext cx="274320" cy="28800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0040" y="1911523"/>
            <a:ext cx="27432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1920667"/>
            <a:ext cx="81381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the 3 outputs: How does tone shift word choice, sentence length, and CTA phrasing?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2240707"/>
            <a:ext cx="274320" cy="28800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0040" y="2240707"/>
            <a:ext cx="27432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2249851"/>
            <a:ext cx="81381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constraint: Include exactly one statistic. Do not use the word revolutionary.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040" y="2661331"/>
            <a:ext cx="850392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11480" y="2661331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2 &amp; 3: Classification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2999659"/>
            <a:ext cx="2743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0040" y="299965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" y="3008803"/>
            <a:ext cx="81381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2 (Zero-shot): Paste 10 support tickets. Prompt: "Classify each as Positive/Negative/Neutral. Reply in a numbered list with ONLY the label."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0040" y="3328843"/>
            <a:ext cx="2743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0040" y="332884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" y="3337987"/>
            <a:ext cx="81381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3 (Few-shot): Add 3 examples before the test cases. Does accuracy improve? How many examples did it take to reach consistent output?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0040" y="3658027"/>
            <a:ext cx="2743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20040" y="36580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0080" y="3667171"/>
            <a:ext cx="81381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Reflection: Which task type — single-label or multi-label — required more prompt engineering?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 Lab — Activities 4 &amp; 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895473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Summarisation + Q&amp;A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1081331"/>
            <a:ext cx="8503920" cy="31089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1081331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4: Map-Reduce Summarisation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1398393"/>
            <a:ext cx="274320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0040" y="1398393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1407537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any 4-page article (news, blog, or report). Split it into 4 roughly equal sections.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1691001"/>
            <a:ext cx="274320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0040" y="1691001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1700145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each section: "Summarise this section in exactly 3 bullet points. Preserve all numbers, dates, and named entities."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1983609"/>
            <a:ext cx="274320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0040" y="1983609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1992753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reduce prompt: "You are given 4 section summaries. Write a single 150-word executive brief in prose. Start with the most important finding."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040" y="2276217"/>
            <a:ext cx="274320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0040" y="2276217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2285361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Compare: How does the map-reduce summary differ from a single 'summarise the entire article' call?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" y="2562659"/>
            <a:ext cx="850392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11480" y="2562659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5: Grounded Q&amp;A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0040" y="2879721"/>
            <a:ext cx="2743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0040" y="2879721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" y="2888865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Paste a 2-page policy document (company policy, terms of service, or sample provided by trainer).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0040" y="3172329"/>
            <a:ext cx="2743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20040" y="3172329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0080" y="3181473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prompt: "You are a compliance assistant. Answer ONLY from the provided context. If the answer is not present, reply: 'Not found in this document.'"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20040" y="3464937"/>
            <a:ext cx="2743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20040" y="3464937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0080" y="3474081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 5 questions: 3 answerable from the doc, 2 not in the doc. Observe refusal behaviour.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20040" y="3757545"/>
            <a:ext cx="2743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20040" y="3757545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0080" y="3766689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Challenge: Can you get the model to hallucinate an answer by being persistent? What does this reveal about Q&amp;A reliability?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 — Choosing the Right GenAI Task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874211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guide for practitioners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1084523"/>
            <a:ext cx="187452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1084523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Need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94560" y="1084523"/>
            <a:ext cx="128016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40280" y="1084523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Type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520440" y="1084523"/>
            <a:ext cx="301752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66160" y="1084523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Prompt Element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0" y="1084523"/>
            <a:ext cx="219456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29400" y="1084523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Risk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4320" y="1441139"/>
            <a:ext cx="1874520" cy="6035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0040" y="1459427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new content from a brief or outline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194560" y="1441139"/>
            <a:ext cx="1280160" cy="6035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240280" y="1459427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Generation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520440" y="1441139"/>
            <a:ext cx="3017520" cy="6035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566160" y="1459427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 + length + tone constraints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83680" y="1441139"/>
            <a:ext cx="2194560" cy="6035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629400" y="1459427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Verbosity, hallucination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2081219"/>
            <a:ext cx="1874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0040" y="2099507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 a label from a fixed list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194560" y="2081219"/>
            <a:ext cx="1280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240280" y="2099507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520440" y="2081219"/>
            <a:ext cx="3017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566160" y="2099507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Enumerate all labels explicitly; 'Reply with ONLY the label'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583680" y="2081219"/>
            <a:ext cx="2194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629400" y="2099507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 leakage, ambiguous cases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74320" y="2721299"/>
            <a:ext cx="1874520" cy="6035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20040" y="2739587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Compress a long document into key points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194560" y="2721299"/>
            <a:ext cx="1280160" cy="6035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240280" y="2739587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Summarisation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520440" y="2721299"/>
            <a:ext cx="3017520" cy="6035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566160" y="2739587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Audience framing + faithfulness instruction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583680" y="2721299"/>
            <a:ext cx="2194560" cy="6035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629400" y="2739587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loss, hallucination in abstractive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74320" y="3361379"/>
            <a:ext cx="1874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20040" y="3379667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 a specific question with evidence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2194560" y="3361379"/>
            <a:ext cx="12801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240280" y="3379667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520440" y="3361379"/>
            <a:ext cx="3017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566160" y="3379667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Grounding instruction + refusal for out-of-context Qs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583680" y="3361379"/>
            <a:ext cx="2194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629400" y="3379667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Over-confidence, citation fabrication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Type × Evaluation Dimension Matrix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83168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quality is measured differently per task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1041994"/>
            <a:ext cx="182880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10896" y="104199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Dimension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48840" y="1041994"/>
            <a:ext cx="155448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85416" y="104199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Generation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749040" y="1041994"/>
            <a:ext cx="155448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85616" y="104199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349240" y="1041994"/>
            <a:ext cx="155448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85816" y="104199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Summarisation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949440" y="1041994"/>
            <a:ext cx="182880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86016" y="104199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4320" y="1398610"/>
            <a:ext cx="182880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40" y="141689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Metric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148840" y="1398610"/>
            <a:ext cx="155448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194560" y="141689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BLEU / human score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749040" y="1398610"/>
            <a:ext cx="155448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794760" y="141689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/ F1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349240" y="1398610"/>
            <a:ext cx="155448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94960" y="141689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ROUGE-L / faithfulness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949440" y="1398610"/>
            <a:ext cx="182880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95160" y="141689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Correctness / grounding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74320" y="1928962"/>
            <a:ext cx="1828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20040" y="194725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Risk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148840" y="1928962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194560" y="194725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749040" y="1928962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794760" y="194725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(label-constrained)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349240" y="1928962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394960" y="194725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Medium–High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949440" y="1928962"/>
            <a:ext cx="1828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995160" y="194725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(open-book)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74320" y="2459314"/>
            <a:ext cx="182880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20040" y="247760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Sensitivity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148840" y="2459314"/>
            <a:ext cx="155448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194560" y="247760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749040" y="2459314"/>
            <a:ext cx="155448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794760" y="247760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349240" y="2459314"/>
            <a:ext cx="155448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394960" y="247760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949440" y="2459314"/>
            <a:ext cx="182880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995160" y="247760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274320" y="2989666"/>
            <a:ext cx="1828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320040" y="300795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Few-Shot Impact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2148840" y="2989666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194560" y="300795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(style transfer)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3749040" y="2989666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3794760" y="300795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(label calibration)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349240" y="2989666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394960" y="300795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949440" y="2989666"/>
            <a:ext cx="1828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6995160" y="300795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Medium–High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274320" y="3520018"/>
            <a:ext cx="182880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320040" y="353830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Complexity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2148840" y="3520018"/>
            <a:ext cx="155448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194560" y="353830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Low–Medium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3749040" y="3520018"/>
            <a:ext cx="155448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3794760" y="353830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5349240" y="3520018"/>
            <a:ext cx="155448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5394960" y="353830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 (map-reduce)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6949440" y="3520018"/>
            <a:ext cx="182880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6995160" y="353830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(RAG pipeline)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7040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things to remember from today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932688"/>
            <a:ext cx="502920" cy="50292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86968" y="969264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Model, 4 Distinct Patterns 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generation, classification, summarisation, and Q&amp;A all run on the same LLM — but require fundamentally different prompt architectures and evaluation strategies.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1554480"/>
            <a:ext cx="502920" cy="50292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00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6968" y="1591056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Design Determines Quality 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 constraints, label enumeration, audience framing, and grounding instructions are the primary levers. Parameters (temperature, top-P) are secondary.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2176272"/>
            <a:ext cx="502920" cy="50292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004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6968" y="2212848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Task-Specific Failure Modes 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 → verbosity/hallucination; Classification → label leakage; Summarisation → faithfulness loss; Q&amp;A → over-confident wrong answers. Know your task's weak point.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2798064"/>
            <a:ext cx="502920" cy="50292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0040" y="2798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86968" y="283464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Must Match the Task 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BLEU/ROUGE for summarisation; F1 for classification; grounding + correctness for Q&amp;A; human scoring for generation. No single metric fits all tasks.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" y="3419856"/>
            <a:ext cx="502920" cy="50292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0040" y="3419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86968" y="3456432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 at Scale Requires RAG  </a:t>
            </a: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Closed-book fails on private data; open-book fails on large corpora. Retrieval-Augmented Generation (Lecture 07) is the production path for enterprise knowledge Q&amp;A.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2875</Words>
  <Application>Microsoft Office PowerPoint</Application>
  <PresentationFormat>On-screen Show (16:9)</PresentationFormat>
  <Paragraphs>410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04 — Core GenAI Tasks</dc:title>
  <dc:subject>PptxGenJS Presentation</dc:subject>
  <dc:creator>SkillzRevo</dc:creator>
  <cp:lastModifiedBy>Usha Nandhini</cp:lastModifiedBy>
  <cp:revision>25</cp:revision>
  <dcterms:created xsi:type="dcterms:W3CDTF">2026-05-13T08:02:38Z</dcterms:created>
  <dcterms:modified xsi:type="dcterms:W3CDTF">2026-06-07T11:02:13Z</dcterms:modified>
</cp:coreProperties>
</file>