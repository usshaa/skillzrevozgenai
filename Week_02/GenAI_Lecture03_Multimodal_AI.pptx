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4" r:id="rId25"/>
    <p:sldId id="285" r:id="rId26"/>
    <p:sldId id="286" r:id="rId27"/>
    <p:sldId id="287" r:id="rId28"/>
    <p:sldId id="288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438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457200" y="137160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2743200"/>
            <a:ext cx="54864" cy="82296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03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 |  Image  |  Tables  |  Documents  |  Industry Applications  | 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Recap: From Text-Only to Multimodal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87821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Extending what we learned about tokens and embeddings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20040" y="1125565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 we learned about text tokens and embeddings applies — multimodal AI extends the same principles to other data types.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564477"/>
            <a:ext cx="329184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11480" y="1619341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(word/subword chunks)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57600" y="1729069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069080" y="1564477"/>
            <a:ext cx="475488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160520" y="1619341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patches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(16×16 pixel grids → token equivalents)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" y="2204557"/>
            <a:ext cx="329184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11480" y="2259421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embeddings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(1,536-dim semantic vectors)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657600" y="2369149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069080" y="2204557"/>
            <a:ext cx="475488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160520" y="2259421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patch embeddings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(same vector space — cross-modal attention)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0040" y="2844637"/>
            <a:ext cx="329184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11480" y="2899501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window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(max tokens in one call)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657600" y="3009229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069080" y="2844637"/>
            <a:ext cx="475488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160520" y="2899501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 context window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(text + image tokens compete for the same budget)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20040" y="3484717"/>
            <a:ext cx="329184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11480" y="3539581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inference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(predict next text token)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657600" y="3649309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069080" y="3484717"/>
            <a:ext cx="475488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160520" y="3539581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inference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(predict next token given text + image + table context)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Multimodal AI?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systems that understand and generate across multiple types of input and output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2816352"/>
            <a:ext cx="82296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" y="294436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"Unimodal AI reads one language. Multimodal AI reads the world — text, images, audio, tables, and documents all at once."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Multimodal AI?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34659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that processes and generates across more than one data type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072403"/>
            <a:ext cx="8503920" cy="36576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07240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  Multimodal AI can accept inputs and/or produce outputs across multiple modalities — text, images, audio, video, structured data, and documents — within a single model.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547891"/>
            <a:ext cx="274320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0040" y="1547891"/>
            <a:ext cx="27432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11480" y="1639331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📝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14400" y="1657619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14400" y="1950227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14400" y="1950227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+ Out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11480" y="2224547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language: prompts, answers, summaries, code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00400" y="1547891"/>
            <a:ext cx="274320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0" y="1547891"/>
            <a:ext cx="27432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291840" y="1639331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🖼️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794760" y="1657619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794760" y="1950227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794760" y="1950227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+ Out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291840" y="2224547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Photos, screenshots, charts, diagrams, generated visuals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080760" y="1547891"/>
            <a:ext cx="274320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080760" y="1547891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172200" y="1639331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🎵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675120" y="1657619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675120" y="1950227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675120" y="1950227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+ Out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172200" y="2224547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Speech-to-text, text-to-speech, audio classification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20040" y="2846339"/>
            <a:ext cx="274320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20040" y="2846339"/>
            <a:ext cx="2743200" cy="5486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11480" y="2937779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🎬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14400" y="295606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914400" y="3248675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914400" y="3248675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(preview)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411480" y="3522995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Frame-by-frame understanding, video Q&amp;A (Gemini 1.5)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3200400" y="2846339"/>
            <a:ext cx="274320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3200400" y="2846339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3291840" y="2937779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3794760" y="295606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3794760" y="3248675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3794760" y="3248675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3291840" y="3522995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Tables, spreadsheets, databases via CSV/JSON input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6080760" y="2846339"/>
            <a:ext cx="274320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6080760" y="2846339"/>
            <a:ext cx="27432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172200" y="2937779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📄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6675120" y="295606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Documents &amp; PDFs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6675120" y="3248675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6675120" y="3248675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6172200" y="3522995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Multi-page documents with text, tables, images mixed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Frontier Multimodal Models (2024)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9845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leading models and what modalities they support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72776"/>
            <a:ext cx="85039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172776"/>
            <a:ext cx="54864" cy="73152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5488" y="122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GPT-4o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5488" y="1520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8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423160" y="130079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423160" y="13007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502152" y="130079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502152" y="13007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581144" y="130079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81144" y="13007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660136" y="130079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660136" y="13007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(limited)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423160" y="1575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Context: 128K 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983480" y="157511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⭐  Real-time voice + vision, fastest multimodal API response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20040" y="1977448"/>
            <a:ext cx="85039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1977448"/>
            <a:ext cx="54864" cy="73152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75488" y="2032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Claude 3.5 Sonnet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75488" y="2324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8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Anthropic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2423160" y="210546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423160" y="2105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502152" y="210546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502152" y="2105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581144" y="210546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581144" y="2105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PDFs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5660136" y="210546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5660136" y="2105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2423160" y="23797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Context: 200K 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983480" y="2416360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⭐  Best-in-class document understanding, longest reliable context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320040" y="2782120"/>
            <a:ext cx="85039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20040" y="2782120"/>
            <a:ext cx="54864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475488" y="2836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Gemini 1.5 Pro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75488" y="3129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8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DeepMind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2423160" y="291013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2423160" y="2910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3502152" y="291013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3502152" y="2910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4581144" y="291013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4581144" y="2910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5660136" y="291013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5660136" y="2910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6739128" y="291013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6739128" y="2910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2423160" y="31844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Context: 1M 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4983480" y="3193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⭐  1-hour video understanding, 1M token context, native audio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320040" y="3586792"/>
            <a:ext cx="85039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320040" y="3586792"/>
            <a:ext cx="54864" cy="7315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475488" y="3641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LLaVA / LLaMA-Vision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475488" y="3934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8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 (Open Source)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2423160" y="3714808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2423160" y="371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3502152" y="3714808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3502152" y="371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2423160" y="39891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Context: 4K–128K tokens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4983480" y="3696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⭐  Self-hostable, no data privacy concerns, customisable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Unified Embedding Space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1015411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different modalities share the same mathematical representation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253155"/>
            <a:ext cx="8503920" cy="347472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253155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Multimodal models map all input types into the SAME high-dimensional vector space — so a photo of a dog and the words 'a dog' end up nearby in that space.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65760" y="1701211"/>
            <a:ext cx="201168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2196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5760" y="1701211"/>
            <a:ext cx="201168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43000" y="1765219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📝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38912" y="211439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Input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38912" y="238871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 cat sitting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 mat"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143000" y="2734483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520440" y="1701211"/>
            <a:ext cx="201168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4A1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520440" y="1701211"/>
            <a:ext cx="201168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297680" y="1765219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🖼️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593592" y="211439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Input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593592" y="238871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[Photo of cat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mat]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297680" y="2734483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675120" y="1701211"/>
            <a:ext cx="201168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675120" y="1701211"/>
            <a:ext cx="20116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452360" y="1765219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🎵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748272" y="211439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 Input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748272" y="238871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[Recording: 'a cat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sitting on a mat']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452360" y="2734483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65760" y="3072811"/>
            <a:ext cx="841248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02920" y="311853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  SHARED EMBEDDING SPACE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337560" y="3118531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three inputs above produce vectors that cluster near each other because they share the same semantic meaning — 'cat on mat'.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1005840" y="3484291"/>
            <a:ext cx="146304" cy="146304"/>
          </a:xfrm>
          <a:prstGeom prst="ellipse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1371600" y="3575731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1188720" y="3685459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1828800" y="3530011"/>
            <a:ext cx="146304" cy="146304"/>
          </a:xfrm>
          <a:prstGeom prst="ellipse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2194560" y="3648883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2468880" y="3530011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← clustered vectors (cat on mat concept)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20040" y="4367646"/>
            <a:ext cx="8503920" cy="27432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457200" y="436764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shared space is what allows GPT-4o to answer questions about an image using text — it 'reads' both in the same language.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Language Models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images become token sequences the LLM can reason about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2816352"/>
            <a:ext cx="82296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" y="294436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 Vision Language Model does not 'see' an image the way humans do — it converts the image into a grid of numbered patches, embeds each patch, and attends to them alongside text tokens."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Vision Language Models (VLMs) Work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62251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patch-to-embedding pipeline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218283"/>
            <a:ext cx="27432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218283"/>
            <a:ext cx="2743200" cy="54864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11480" y="1328011"/>
            <a:ext cx="347472" cy="347472"/>
          </a:xfrm>
          <a:prstGeom prst="ellipse">
            <a:avLst/>
          </a:prstGeom>
          <a:solidFill>
            <a:srgbClr val="5B7F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11480" y="132801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50392" y="1328011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F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🖼️  Image Received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11480" y="1748635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image (e.g. 512×512 pixels) is received as input by the vision encoder component of the model.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0" y="1218283"/>
            <a:ext cx="27432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0" y="1218283"/>
            <a:ext cx="27432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291840" y="1328011"/>
            <a:ext cx="347472" cy="347472"/>
          </a:xfrm>
          <a:prstGeom prst="ellipse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291840" y="132801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730752" y="1328011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✂️  Patch Division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291840" y="1748635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image is divided into a grid of fixed-size patches (e.g. 16×16 pixels each). A 512×512 image → 1,024 patches.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080760" y="1218283"/>
            <a:ext cx="27432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080760" y="1218283"/>
            <a:ext cx="27432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172200" y="1328011"/>
            <a:ext cx="347472" cy="347472"/>
          </a:xfrm>
          <a:prstGeom prst="ellipse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172200" y="132801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611112" y="1328011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🔢  Patch Embedding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172200" y="1748635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patch is flattened (256 pixel values) and passed through a linear projection layer → becomes a vector (same dimensionality as text embeddings).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20040" y="2699611"/>
            <a:ext cx="27432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20040" y="2699611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11480" y="2809339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11480" y="280933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50392" y="2809339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📍  Positional Encoding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11480" y="3229963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 IDs are added to each patch embedding so the model knows spatial layout — top-left patch ≠ bottom-right patch.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200400" y="2699611"/>
            <a:ext cx="27432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200400" y="2699611"/>
            <a:ext cx="2743200" cy="5486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291840" y="2809339"/>
            <a:ext cx="347472" cy="347472"/>
          </a:xfrm>
          <a:prstGeom prst="ellipse">
            <a:avLst/>
          </a:prstGeom>
          <a:solidFill>
            <a:srgbClr val="1A2B4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3291840" y="280933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3730752" y="2809339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🔗  Concatenate with 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291840" y="3229963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patch embeddings are concatenated with text token embeddings → a single mixed sequence fed to the Transformer.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080760" y="2699611"/>
            <a:ext cx="27432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080760" y="2699611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172200" y="2809339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172200" y="280933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6611112" y="2809339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⚙️  Cross-Modal Attention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172200" y="3229963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now runs across BOTH text tokens AND image patches. The model learns which patches are relevant to which text tokens.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Vision Language Models Can Do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72883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Capabilities unlocked by cross-modal attention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228915"/>
            <a:ext cx="2743200" cy="172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228915"/>
            <a:ext cx="27432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11480" y="1320355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🏷️  Image Captioning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11480" y="1704403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natural language descriptions of image content — objects, scenes, relationships, and context automatically identified.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11480" y="2380634"/>
            <a:ext cx="256032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48056" y="2389778"/>
            <a:ext cx="2487168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 Accessibility tools, media cataloguing, content management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0" y="1228915"/>
            <a:ext cx="2743200" cy="172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0" y="1228915"/>
            <a:ext cx="27432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291840" y="1320355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❓  Visual Question Answering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291840" y="1704403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 free-form questions about image content. 'How many people are in this photo?' 'What brand is shown on the packaging?'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91840" y="2380634"/>
            <a:ext cx="256032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328416" y="2389778"/>
            <a:ext cx="2487168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 E-commerce search, medical image Q&amp;A, quality control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080760" y="1228915"/>
            <a:ext cx="2743200" cy="172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080760" y="1228915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172200" y="1320355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 Chart &amp; Graph Reading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172200" y="1704403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data from bar charts, pie charts, line graphs. Describe trends, identify peaks, compare values across series.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172200" y="2380634"/>
            <a:ext cx="256032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208776" y="2389778"/>
            <a:ext cx="2487168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 Financial report analysis, business intelligence, data extraction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20040" y="3082387"/>
            <a:ext cx="2743200" cy="172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20040" y="3082387"/>
            <a:ext cx="2743200" cy="5486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11480" y="3173827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📄  Document Layout Understanding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11480" y="3557875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where titles, tables, paragraphs, and images are on a page — not just extract text but understand structure.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11480" y="4234106"/>
            <a:ext cx="256032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48056" y="4243250"/>
            <a:ext cx="2487168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 Invoice processing, form extraction, legal document review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200400" y="3082387"/>
            <a:ext cx="2743200" cy="172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200400" y="3082387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3291840" y="3173827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🔤  OCR &amp; Text in Images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3291840" y="3557875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and understand text embedded in images — signs, product labels, screenshots, handwritten notes.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3291840" y="4234106"/>
            <a:ext cx="256032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328416" y="4243250"/>
            <a:ext cx="2487168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 Receipt scanning, label reading, screenshot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080760" y="3082387"/>
            <a:ext cx="2743200" cy="172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080760" y="3082387"/>
            <a:ext cx="27432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172200" y="3173827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  Image Comparison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172200" y="3557875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two images and describe what changed — useful for before/after analysis, quality control, version diffing.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6172200" y="4234106"/>
            <a:ext cx="256032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208776" y="4243250"/>
            <a:ext cx="2487168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 Manufacturing QC, design iteration, medical imaging follow-up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AI: Current Limitations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55923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multimodal models still struggle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11955"/>
            <a:ext cx="41605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111955"/>
            <a:ext cx="41605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29768" y="1203395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 Spatial Reasoning Errors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29768" y="1550867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often struggle to correctly count objects, understand left/right relationships, or measure distances within images. Accuracy degrades with crowded scenes.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29768" y="2081219"/>
            <a:ext cx="3931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84632" y="2099507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eg:  Counting 12 apples in a bowl — models often give 10 or 14.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63440" y="1111955"/>
            <a:ext cx="41605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663440" y="1111955"/>
            <a:ext cx="416052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73168" y="1203395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 Fine-Grained Text in Images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773168" y="1550867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OCR is generally good, very small text, stylised fonts, or text at sharp angles can be misread — especially in low-resolution inputs.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73168" y="2081219"/>
            <a:ext cx="3931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828032" y="2099507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eg:  Handwritten prescription amounts — critical errors possible.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2620715"/>
            <a:ext cx="41605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0040" y="2620715"/>
            <a:ext cx="4160520" cy="5486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29768" y="2712155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 Hallucinating Image Content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29768" y="3059627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sometimes 'see' objects that are not present, especially when the prompt implies they should be there. Confirmation bias from text context affects vision output.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29768" y="3589979"/>
            <a:ext cx="3931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84632" y="3608267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eg:  "Is there a fire exit sign in this photo?" — model says yes even when absent.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663440" y="2620715"/>
            <a:ext cx="41605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663440" y="2620715"/>
            <a:ext cx="416052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773168" y="2712155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 High Token Cost for Images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773168" y="3059627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single high-resolution image can consume 1,000–4,000 tokens depending on resolution and detail level — expensive at scale.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773168" y="3589979"/>
            <a:ext cx="3931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828032" y="3608267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eg:  Processing 10,000 product images daily = significant API cost to budget.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 &amp;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Understanding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LLMs reason about rows, columns, and spreadsheets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2816352"/>
            <a:ext cx="82296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294436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"Tables are language in disguise — once converted to text, LLMs can reason about cell values, relationships, and aggregations surprisingly well."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LLMs Understand Tabular Data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72881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Converting structure into the token space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210625"/>
            <a:ext cx="850392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210625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do not natively 'see' tables — tables must be serialised into text formats the model can tokenise and reason about.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631249"/>
            <a:ext cx="2743200" cy="2743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0040" y="1631249"/>
            <a:ext cx="27432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11480" y="1722689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Markdown Table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11480" y="2051873"/>
            <a:ext cx="2560320" cy="74980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48056" y="2070161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C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Product  | Q1 Sales | Q2 Sales |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0C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|----------|----------|----------|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0C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Widget A | $24,000  | $31,500  |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0C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Widget B | $18,200  | $22,800  |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11480" y="2874833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 Human-readable, preserves alignment, most LLMs trained heavily on Markdown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11480" y="3533201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 Token-expensive for wide tables. Column misalignment on very wide datasets.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00400" y="1631249"/>
            <a:ext cx="2743200" cy="2743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0" y="1631249"/>
            <a:ext cx="27432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291840" y="1722689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91840" y="2051873"/>
            <a:ext cx="2560320" cy="74980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328416" y="2070161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C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Product,Q1 Sales,Q2 Sales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0C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Widget A,$24000,$31500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0C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Widget B,$18200,$22800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291840" y="2874833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 Compact — fewer tokens. Easy to generate from spreadsheet exports.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291840" y="3533201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 Harder to read. Model may struggle with ambiguous delimiters in content.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080760" y="1631249"/>
            <a:ext cx="2743200" cy="2743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080760" y="1631249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172200" y="1722689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 / Structured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172200" y="2051873"/>
            <a:ext cx="2560320" cy="74980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208776" y="2070161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C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[{"Product":"Widget A","Q1":24000,"Q2":31500},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A0C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{"Product":"Widget B","Q1":18200,"Q2":22800}]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172200" y="2874833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 Unambiguous structure. Ideal when table will be processed programmatically after.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172200" y="3533201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 Most token-expensive. Verbose for large datasets.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LLMs Can Do With Tables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87821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Reasoning, extraction, and analysis capabilities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43853"/>
            <a:ext cx="2743200" cy="32918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93192" y="1143853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 Tasks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527901"/>
            <a:ext cx="274320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0040" y="1527901"/>
            <a:ext cx="45720" cy="64008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48056" y="1582765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 Extraction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48056" y="1838797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"What was Widget A Q2 revenue?" → $31,500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" y="2222845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" y="2222845"/>
            <a:ext cx="45720" cy="64008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48056" y="2277709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 / Column Filtering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48056" y="2533741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"Show all products with Q1 sales &gt; $20K"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" y="2917789"/>
            <a:ext cx="274320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0040" y="2917789"/>
            <a:ext cx="45720" cy="64008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48056" y="2972653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Cross-Reference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48056" y="3228685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"Which product had the highest growth rate?"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20040" y="3612733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3612733"/>
            <a:ext cx="45720" cy="64008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48056" y="3667597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 Inference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48056" y="3923629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"What does each column represent in this table?"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200400" y="1143853"/>
            <a:ext cx="2743200" cy="32918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273552" y="1143853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 Reasoning Tasks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00400" y="1527901"/>
            <a:ext cx="274320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200400" y="1527901"/>
            <a:ext cx="45720" cy="64008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328416" y="1582765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Identification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328416" y="1838797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"Which category is declining over the 4 quarters?"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200400" y="2222845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200400" y="2222845"/>
            <a:ext cx="45720" cy="64008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3328416" y="2277709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3328416" y="2533741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"Flag any values that look unusual compared to peers"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3200400" y="2917789"/>
            <a:ext cx="274320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200400" y="2917789"/>
            <a:ext cx="45720" cy="64008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3328416" y="2972653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3328416" y="3228685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"Compute total revenue and QoQ growth for each product"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3200400" y="3612733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3200400" y="3612733"/>
            <a:ext cx="45720" cy="64008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3328416" y="3667597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Summary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3328416" y="3923629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"Write a 3-sentence summary of this sales table"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6080760" y="1143853"/>
            <a:ext cx="274320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6153912" y="1143853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 Tasks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6080760" y="1527901"/>
            <a:ext cx="274320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6080760" y="1527901"/>
            <a:ext cx="4572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6208776" y="1582765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to JSON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6208776" y="1838797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 sales table to structured JSON for API ingestion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6080760" y="2222845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6080760" y="2222845"/>
            <a:ext cx="4572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6208776" y="2277709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to Chart Description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6208776" y="2533741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"Describe what a bar chart of this data would show"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080760" y="2917789"/>
            <a:ext cx="274320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6080760" y="2917789"/>
            <a:ext cx="4572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6208776" y="2972653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to Report Prose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6208776" y="3228685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"Write an executive summary from these quarterly figures"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6080760" y="3612733"/>
            <a:ext cx="2743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6080760" y="3612733"/>
            <a:ext cx="4572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6208776" y="3667597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Normalisation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6208776" y="3923629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"Restructure this denormalised table into first normal form"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Intelligence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OCR, layout understanding, and multi-page PDF reasoning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2816352"/>
            <a:ext cx="82296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" y="294436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real value of multimodal AI for enterprise is not chatting with images — it is replacing manual document processing workflows that cost billions of hours annually."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Document Intelligence Pipeline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55923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AI processes a complex multi-page document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11955"/>
            <a:ext cx="8503920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47472" y="1185107"/>
            <a:ext cx="292608" cy="292608"/>
          </a:xfrm>
          <a:prstGeom prst="ellipse">
            <a:avLst/>
          </a:prstGeom>
          <a:solidFill>
            <a:srgbClr val="5B7F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47472" y="118510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31520" y="1185107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F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📥  Document Ingestion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127248" y="1185107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PDF, Word, image, or scanned file is received. Format detection determines the processing path needed.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0040" y="1614875"/>
            <a:ext cx="85039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47472" y="1688027"/>
            <a:ext cx="292608" cy="292608"/>
          </a:xfrm>
          <a:prstGeom prst="ellipse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47472" y="168802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31520" y="1688027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  OCR (if needed)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127248" y="1688027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Scanned images or PDFs without embedded text → Optical Character Recognition extracts text layer. Modern AI-OCR handles handwriting.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" y="2117795"/>
            <a:ext cx="8503920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47472" y="2190947"/>
            <a:ext cx="292608" cy="292608"/>
          </a:xfrm>
          <a:prstGeom prst="ellipse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47472" y="219094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31520" y="2190947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📐  Layout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127248" y="2190947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structure is identified: headers, paragraphs, tables, figures, footers, columns. Bounding boxes assigned to each element.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2620715"/>
            <a:ext cx="85039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47472" y="2693867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47472" y="269386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31520" y="2693867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✂️  Content Extraction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127248" y="2693867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Text, table cells, figure captions extracted in reading order. Tables serialised to Markdown or JSON. Images captured as patches.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0040" y="3123635"/>
            <a:ext cx="8503920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47472" y="3196787"/>
            <a:ext cx="292608" cy="292608"/>
          </a:xfrm>
          <a:prstGeom prst="ellipse">
            <a:avLst/>
          </a:prstGeom>
          <a:solidFill>
            <a:srgbClr val="1A2B4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47472" y="319678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31520" y="3196787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🧩  Chunking &amp; Embedding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3127248" y="3196787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document split into overlapping chunks. Each chunk embedded into vector space for semantic search and retrieval.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20040" y="3626555"/>
            <a:ext cx="85039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47472" y="3699707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347472" y="369970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731520" y="3699707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🧠  LLM Reasoning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127248" y="3699707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Relevant chunks retrieved and injected into LLM context. Model answers questions, extracts fields, or generates summaries.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320040" y="4101833"/>
            <a:ext cx="8503920" cy="448056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57200" y="4101833"/>
            <a:ext cx="8229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in this pipeline: Azure Document Intelligence, AWS Textract, Google Document AI, LlamaParse, Unstructured.io — all combine OCR + layout + LLM.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Intelligence Use Cases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30351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High-value applications across industries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86383"/>
            <a:ext cx="27432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186383"/>
            <a:ext cx="27432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11480" y="1277823"/>
            <a:ext cx="640080" cy="360000"/>
          </a:xfrm>
          <a:prstGeom prst="roundRect">
            <a:avLst>
              <a:gd name="adj" fmla="val 16667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11480" y="1277823"/>
            <a:ext cx="6400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24712" y="1277823"/>
            <a:ext cx="1847088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💰  Invoice Processing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11480" y="1625295"/>
            <a:ext cx="2560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vendor name, invoice number, line items, totals, due date from any invoice format automatically. Validate against purchase orders.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0" y="1186383"/>
            <a:ext cx="27432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0" y="1186383"/>
            <a:ext cx="2743200" cy="5486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291840" y="1277823"/>
            <a:ext cx="640080" cy="360000"/>
          </a:xfrm>
          <a:prstGeom prst="roundRect">
            <a:avLst>
              <a:gd name="adj" fmla="val 16667"/>
            </a:avLst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291840" y="1277823"/>
            <a:ext cx="6400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005072" y="1277823"/>
            <a:ext cx="1847088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⚖️  Contract Review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291840" y="1625295"/>
            <a:ext cx="2560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key clauses, obligations, deadlines, party names. Flag unusual terms. Compare clauses against standard templates.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080760" y="1186383"/>
            <a:ext cx="27432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080760" y="1186383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172200" y="1277823"/>
            <a:ext cx="640080" cy="36000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172200" y="1277823"/>
            <a:ext cx="6400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885432" y="1277823"/>
            <a:ext cx="1847088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🏥  Medical Record Summarisation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172200" y="1625295"/>
            <a:ext cx="2560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Summarise patient history, extract diagnoses, medications, allergies from unstructured clinical notes and discharge summaries.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20040" y="2667711"/>
            <a:ext cx="27432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20040" y="2667711"/>
            <a:ext cx="27432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11480" y="2759151"/>
            <a:ext cx="640080" cy="360000"/>
          </a:xfrm>
          <a:prstGeom prst="roundRect">
            <a:avLst>
              <a:gd name="adj" fmla="val 16667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11480" y="2759151"/>
            <a:ext cx="6400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124712" y="2759151"/>
            <a:ext cx="1847088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🛡️  Claims Processing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11480" y="3106623"/>
            <a:ext cx="2560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incident details, damage descriptions, and supporting evidence from claim forms, photos, and police reports.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200400" y="2667711"/>
            <a:ext cx="27432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200400" y="2667711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291840" y="2759151"/>
            <a:ext cx="640080" cy="36000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3291840" y="2759151"/>
            <a:ext cx="6400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005072" y="2759151"/>
            <a:ext cx="1847088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📦  Customs &amp; Shipping Docs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291840" y="3106623"/>
            <a:ext cx="2560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shipment details, commodity codes, values, and country of origin from bills of lading and customs declarations.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080760" y="2667711"/>
            <a:ext cx="274320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080760" y="2667711"/>
            <a:ext cx="27432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172200" y="2759151"/>
            <a:ext cx="640080" cy="360000"/>
          </a:xfrm>
          <a:prstGeom prst="roundRect">
            <a:avLst>
              <a:gd name="adj" fmla="val 16667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172200" y="2759151"/>
            <a:ext cx="6400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&amp; Compliance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6885432" y="2759151"/>
            <a:ext cx="1847088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👥  Resume &amp; Certificate Parsing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172200" y="3106623"/>
            <a:ext cx="2560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skills, experience, qualifications from CVs and professional certificates for structured database ingestion.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Applications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Multimodal AI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deployments combining text, vision, and document understanding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2971800"/>
            <a:ext cx="82296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 in Finance &amp; Banking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30351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Transforming document-heavy financial workflows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86383"/>
            <a:ext cx="8503920" cy="69494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186383"/>
            <a:ext cx="54864" cy="69494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5488" y="1241247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 Report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5488" y="1533855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200-page PDF annual report → LLM extracts revenue figures, risk factors, management commentary, and generates a structured summary in seconds.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583680" y="1369263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583680" y="1369263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Analyst time: days → minutes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" y="1936191"/>
            <a:ext cx="8503920" cy="69494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" y="1936191"/>
            <a:ext cx="54864" cy="69494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5488" y="1991055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Invoice &amp; Receipt Processing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75488" y="2283663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model reads invoice images (any format/template) → extracts vendor, amount, line items, tax → posts to accounting system via API.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583680" y="2119071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583680" y="2119071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AP processing: 80% cost reduction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2685999"/>
            <a:ext cx="8503920" cy="69494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0040" y="2685999"/>
            <a:ext cx="54864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75488" y="2740863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 Statement Categorisation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75488" y="3033471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bank statement PDF → model extracts all transactions, categorises spending, flags anomalies, generates financial summary report.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583680" y="2868879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583680" y="2868879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Bookkeeping: hours → seconds per statement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20040" y="3435807"/>
            <a:ext cx="8503920" cy="69494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20040" y="3435807"/>
            <a:ext cx="54864" cy="69494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75488" y="3490671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 &amp; Dashboard Reading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75488" y="3783279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 of a trading dashboard or BI report → model reads all charts, tables, and KPIs, answers natural language questions about the data.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6583680" y="3618687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583680" y="3618687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Report comprehension: immediate cross-modal Q&amp;A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 in Healthcare &amp; Legal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6858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High-stakes document and image understanding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923544"/>
            <a:ext cx="41605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11480" y="92354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307592"/>
            <a:ext cx="4160520" cy="72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0040" y="1307592"/>
            <a:ext cx="45720" cy="720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48056" y="1310780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Radiology Report Generation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48056" y="1618488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reads medical image (X-ray, MRI scan) → generates structured radiology report with findings, impression, and recommendations for physician review.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" y="2193927"/>
            <a:ext cx="416052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" y="2193927"/>
            <a:ext cx="45720" cy="720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48056" y="2197115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Pathology Slide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48056" y="2504823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Whole-slide microscopy images → AI identifies cell types, abnormalities, grading. Reduces pathologist review time for routine cases.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" y="3080260"/>
            <a:ext cx="4160520" cy="72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0040" y="3080260"/>
            <a:ext cx="45720" cy="720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48056" y="3083448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Clinical Note Extraction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48056" y="339115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unstructured clinical notes (PDFs or scans) → extract ICD codes, medications, allergies, lab values into structured EHR format.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20040" y="3977223"/>
            <a:ext cx="416052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3977223"/>
            <a:ext cx="45720" cy="720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48056" y="3980411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Patient Discharge Summary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48056" y="4288119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 visit notes, test results, and imaging reports → automatically generate comprehensive discharge summary for patient and GP.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617720" y="923544"/>
            <a:ext cx="416052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709160" y="92354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 &amp; Compliance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617720" y="1307592"/>
            <a:ext cx="4160520" cy="72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617720" y="1307592"/>
            <a:ext cx="45720" cy="7200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745736" y="1310780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Contract Intelligence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745736" y="1618488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contract PDF → extract all defined terms, obligations, payment schedules, termination clauses, and liability caps into a structured summary.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617720" y="2193927"/>
            <a:ext cx="416052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4617720" y="2193927"/>
            <a:ext cx="45720" cy="7200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745736" y="2197115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Due Diligence Automation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745736" y="2504823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hundreds of vendor or acquisition documents → flag risks, inconsistencies, missing clauses, and regulatory compliance gaps.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617720" y="3080260"/>
            <a:ext cx="4160520" cy="72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617720" y="3080260"/>
            <a:ext cx="45720" cy="7200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4745736" y="3083448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Regulatory Filing Review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745736" y="339115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company filings against regulatory requirements → identify non-compliant sections, suggest remediation text.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4617720" y="3977223"/>
            <a:ext cx="416052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4617720" y="3977223"/>
            <a:ext cx="45720" cy="7200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4745736" y="3980411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Evidence Document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4745736" y="4288119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exhibits, depositions, and discovery documents → cross-reference facts, identify contradictions, build timeline of events.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 &amp; Financial Report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multimodal AI reads, extracts, and reasons about financial documents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2971800"/>
            <a:ext cx="82296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8640" y="30906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 A mid-sized company processes 5,000+ invoices per month across 300+ supplier templates. Manual processing costs $18 per invoice. Can GenAI reduce this?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-1489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-1489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Study: Invoice Understanding System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2253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multimodal AI invoice processing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059215"/>
            <a:ext cx="8503920" cy="447209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059215"/>
            <a:ext cx="8229600" cy="44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 5,000 invoices/month × 300+ supplier formats × $18 manual cost = $90,000/month. Processing time: 2–3 days per invoice batch.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0040" y="15795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Fields to Extract from Any Invoice Format: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0040" y="1927048"/>
            <a:ext cx="274320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93192" y="1991056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12648" y="19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Vendor Name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0" y="1927048"/>
            <a:ext cx="274320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73552" y="1991056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493008" y="19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Vendor Address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080760" y="1927048"/>
            <a:ext cx="274320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153912" y="1991056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373368" y="19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Vendor Tax ID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2237944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93192" y="2301952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12648" y="22836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Invoice Number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0" y="2237944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273552" y="2301952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493008" y="22836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Invoice Date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080760" y="2237944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153912" y="2301952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373368" y="22836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Date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20040" y="2548840"/>
            <a:ext cx="274320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93192" y="2612848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12648" y="2594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 Number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200400" y="2548840"/>
            <a:ext cx="274320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273552" y="2612848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3493008" y="2594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080760" y="2548840"/>
            <a:ext cx="274320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6153912" y="2612848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373368" y="2594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Terms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320040" y="2859736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393192" y="2923744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12648" y="29054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Item Descriptions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3200400" y="2859736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3273552" y="2923744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3493008" y="29054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Prices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6080760" y="2859736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6153912" y="2923744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6373368" y="29054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320040" y="3170632"/>
            <a:ext cx="274320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393192" y="3234640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612648" y="3216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Subtotal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3200400" y="3170632"/>
            <a:ext cx="274320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3273552" y="3234640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3493008" y="3216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 Amount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6080760" y="3170632"/>
            <a:ext cx="274320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153912" y="3234640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6373368" y="3216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Amount Due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320040" y="3499816"/>
            <a:ext cx="8503920" cy="32918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457200" y="34998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with GPT-4o / Claude 3.5: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2560320" y="35181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95–98% field extraction accuracy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4160520" y="35181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$1.20 per invoice (vs $18 manual)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5760720" y="35181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Processing time: &lt;5 seconds per invoice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7360920" y="35181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Works on any format - PDF, image, scan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320040" y="4121608"/>
            <a:ext cx="8503920" cy="402336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457200" y="41216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Challenge: Exceptions still need human review. Accuracy drops on handwritten, very low-res, or non-standard layouts. Confidence scoring helps route edge cases.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Study: Financial Report Understanding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781495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LLM-powered analysis of multi-page financial documents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060704"/>
            <a:ext cx="8503920" cy="394046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060704"/>
            <a:ext cx="8229600" cy="394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Scenario: An analyst team must review 50+ quarterly earnings reports within 24 hours of release. Each report: 40–120 pages of text, tables, and charts.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527902"/>
            <a:ext cx="8503920" cy="72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0040" y="1527902"/>
            <a:ext cx="54864" cy="72000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75488" y="15098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&amp; Earnings Extraction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75488" y="183879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"Extract total revenue, gross profit, operating income, net income, and EPS for this quarter and the prior year quarter from this annual report."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462272" y="1601054"/>
            <a:ext cx="42793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35424" y="1637630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Structured JSON output in &lt;5 seconds. 97% accuracy vs manual analyst extraction.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20040" y="2324499"/>
            <a:ext cx="850392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0040" y="2324499"/>
            <a:ext cx="54864" cy="72000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75488" y="2306421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Factor Summarisation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75488" y="2635395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"Identify the top 5 business risks mentioned in the Risk Factors section. Rate each as High / Medium / Low based on management language."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462272" y="2397651"/>
            <a:ext cx="42793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535424" y="2434227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Risk summary with severity ratings — replaces 2–3 hours of analyst reading time.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20040" y="3131725"/>
            <a:ext cx="8503920" cy="72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3131725"/>
            <a:ext cx="54864" cy="720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75488" y="3113647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 Trend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75488" y="3442621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"Upload the revenue growth chart from page 12. Describe the trend over 8 quarters and identify any inflection points."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462272" y="3204877"/>
            <a:ext cx="42793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535424" y="3241453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Visual trend analysis from chart image — no manual data re-entry needed.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0040" y="3928316"/>
            <a:ext cx="850392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20040" y="3928316"/>
            <a:ext cx="54864" cy="720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75488" y="391023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 Tone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75488" y="42392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"Analyse the CEO letter and MD&amp;A section. Is management sentiment about next quarter more optimistic or cautious vs the previous quarter?"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462272" y="4001468"/>
            <a:ext cx="42793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535424" y="4038044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Sentiment comparison with supporting quotes — qualitative signal extraction at scale.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457200" y="78148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 in Your Context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513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what you have learned to these scenarios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2034216"/>
            <a:ext cx="82296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2180520"/>
            <a:ext cx="8229600" cy="5212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48640" y="2244528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8640" y="224452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05840" y="223538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company receives 1,000 supplier contracts in PDF per year. Using what you now know about document intelligence, design a 4-step AI pipeline to extract, validate, and store key contract terms.</a:t>
            </a:r>
          </a:p>
        </p:txBody>
      </p:sp>
      <p:sp>
        <p:nvSpPr>
          <p:cNvPr id="15" name="Shape 12"/>
          <p:cNvSpPr/>
          <p:nvPr/>
        </p:nvSpPr>
        <p:spPr>
          <a:xfrm>
            <a:off x="457200" y="2756592"/>
            <a:ext cx="8229600" cy="5212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48640" y="2820600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48640" y="28206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05840" y="281145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healthcare provider wants to use GPT-4o to read radiology images and generate preliminary reports. What are the 3 most important safety and governance considerations before deployment?</a:t>
            </a:r>
          </a:p>
        </p:txBody>
      </p:sp>
      <p:sp>
        <p:nvSpPr>
          <p:cNvPr id="19" name="Shape 16"/>
          <p:cNvSpPr/>
          <p:nvPr/>
        </p:nvSpPr>
        <p:spPr>
          <a:xfrm>
            <a:off x="457200" y="3332664"/>
            <a:ext cx="8229600" cy="5212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48640" y="3396672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48640" y="339667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05840" y="338752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given a 150-page annual report and need to brief the CEO in 30 minutes. Describe exactly how you would use a multimodal LLM to do this — which prompts, which sections, which output format?</a:t>
            </a:r>
          </a:p>
        </p:txBody>
      </p:sp>
      <p:sp>
        <p:nvSpPr>
          <p:cNvPr id="23" name="Shape 20"/>
          <p:cNvSpPr/>
          <p:nvPr/>
        </p:nvSpPr>
        <p:spPr>
          <a:xfrm>
            <a:off x="457200" y="3908736"/>
            <a:ext cx="8229600" cy="52120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48640" y="3972744"/>
            <a:ext cx="347472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48640" y="397274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005840" y="39636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retail client wants to use vision AI to read product images and auto-generate SEO descriptions. What input quality requirements and output validation checks would you put in place?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Lab: Invoice Extraction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6671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guide for the hands-on exercise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904852"/>
            <a:ext cx="850392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9048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🔗  Tool: claude.ai or chatgpt.com  |  Sample invoices: fakeinvoicegenerator.com  or  Google: 'sample invoice PDF download'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307188"/>
            <a:ext cx="8503920" cy="81758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84048" y="1416916"/>
            <a:ext cx="713232" cy="408794"/>
          </a:xfrm>
          <a:prstGeom prst="roundRect">
            <a:avLst>
              <a:gd name="adj" fmla="val 15385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84048" y="1416916"/>
            <a:ext cx="713232" cy="408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207008" y="1352908"/>
            <a:ext cx="5074920" cy="66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and download a sample invoice PDF (any format — Word, handwritten, printed)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382512" y="1398628"/>
            <a:ext cx="2359152" cy="56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Try 2 very different invoice styles to see how the model adapts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" y="1921620"/>
            <a:ext cx="8503920" cy="8175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84048" y="2031348"/>
            <a:ext cx="713232" cy="40879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84048" y="2031348"/>
            <a:ext cx="713232" cy="408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207008" y="1967340"/>
            <a:ext cx="5074920" cy="66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to Claude.ai and use this prompt: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"Extract all key information from this invoice as a JSON object with fields: vendor_name, vendor_address, invoice_number, invoice_date, due_date, line_items (array), subtotal, tax, total"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382512" y="2013060"/>
            <a:ext cx="2359152" cy="56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Copy the exact JSON structure — observe what the model fills 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2683198"/>
            <a:ext cx="8503920" cy="81758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84048" y="2792926"/>
            <a:ext cx="713232" cy="408794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84048" y="2792926"/>
            <a:ext cx="713232" cy="408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207008" y="2728918"/>
            <a:ext cx="5074920" cy="66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 up with: "Are there any fields you could not extract with confidence? Flag them with a 'confidence': 'low' property"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382512" y="2774638"/>
            <a:ext cx="2359152" cy="56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This tests the model's self-awareness about uncertainty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20040" y="3287122"/>
            <a:ext cx="8503920" cy="8175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84048" y="3396850"/>
            <a:ext cx="713232" cy="408794"/>
          </a:xfrm>
          <a:prstGeom prst="roundRect">
            <a:avLst>
              <a:gd name="adj" fmla="val 15385"/>
            </a:avLst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84048" y="3396850"/>
            <a:ext cx="713232" cy="408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207008" y="3332842"/>
            <a:ext cx="5074920" cy="66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try: "Validate this invoice — is the total correct? Do the line item amounts add up to the subtotal? Is tax calculated correctly?"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382512" y="3378562"/>
            <a:ext cx="2359152" cy="56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Tests arithmetic and cross-field reasoning — note any errors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20040" y="3933087"/>
            <a:ext cx="8503920" cy="81758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84048" y="4042815"/>
            <a:ext cx="713232" cy="408794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384048" y="4042815"/>
            <a:ext cx="713232" cy="408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207008" y="3978807"/>
            <a:ext cx="5074920" cy="66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a second very different invoice format and use the same initial prompt. Compare the accuracy and structure of both outputs.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382512" y="4024527"/>
            <a:ext cx="2359152" cy="56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Key question: does the model generalise across templates?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Lab: PDF Document Q&amp;A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7498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document understanding depth and accuracy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009365"/>
            <a:ext cx="8503920" cy="48791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009365"/>
            <a:ext cx="8229600" cy="48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🔗  Tools: claude.ai (200K context) or chatgpt.com  |  Try: company annual report, research paper, product manual, or textbook chapter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570431"/>
            <a:ext cx="8503920" cy="64922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84048" y="1661871"/>
            <a:ext cx="1600200" cy="360000"/>
          </a:xfrm>
          <a:prstGeom prst="roundRect">
            <a:avLst>
              <a:gd name="adj" fmla="val 15385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84048" y="1661871"/>
            <a:ext cx="16002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 A — Fact Extraction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084832" y="1625295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"In this document, what is [specific numeric figure]? On which page does it appear?"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084832" y="1917903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👁  Observe: Can the model accurately retrieve specific numbers? Note any 'hallucinated' page numbers.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" y="2274519"/>
            <a:ext cx="850392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84048" y="2365959"/>
            <a:ext cx="1600200" cy="360000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84048" y="2365959"/>
            <a:ext cx="16002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 B — Section Summary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084832" y="2329383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"Summarise Section 3 of this document in 5 bullet points. Only use information from that section."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084832" y="2621991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👁  Observe: Does the model stay within the section or pull from elsewhere? Check for scope creep.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2978607"/>
            <a:ext cx="8503920" cy="64922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84048" y="3070047"/>
            <a:ext cx="1600200" cy="36000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84048" y="3070047"/>
            <a:ext cx="16002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 C — Comparison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084832" y="3033471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"How does the 2023 figure compare to 2022 for [metric]? What percentage change does this represent?"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2084832" y="3326079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👁  Observe: Cross-year comparison — does it compute the maths correctly?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20040" y="3682695"/>
            <a:ext cx="8503920" cy="649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84048" y="3774135"/>
            <a:ext cx="1600200" cy="360000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84048" y="3774135"/>
            <a:ext cx="16002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 D — Stress Test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2084832" y="3737559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"What was discussed in the footnote on page [random high number]?"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084832" y="4030167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👁  Observe: Does the model admit it can't find the footnote, or does it hallucinate a plausible-sounding answer?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AI: Best Practices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09087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guidelines for production multimodal applications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65119"/>
            <a:ext cx="4160520" cy="18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165119"/>
            <a:ext cx="416052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29768" y="1256559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🖼️  Image Quality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29768" y="1640607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Always send images at the minimum resolution needed — higher resolution = more tokens = higher cost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29768" y="2021253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Pre-process to remove blur, correct rotation, and enhance contrast before sending to the model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29768" y="2369999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For text-heavy images, consider dedicated OCR first, then pass extracted text to the LLM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63440" y="1165119"/>
            <a:ext cx="4160520" cy="18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663440" y="1165119"/>
            <a:ext cx="416052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73168" y="1256559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📄  Document Handling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773168" y="1640607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Split large PDFs into chapters or sections — don't rely on the model to find needles in haystacks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773168" y="2021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 page-aware chunking with overlap (e.g. 10% overlap) to preserve context at chunk boundaries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773168" y="23593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Always extract and pass table of contents as context — helps model navigate document structure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3003490"/>
            <a:ext cx="4160520" cy="18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0040" y="3003490"/>
            <a:ext cx="4160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29768" y="309493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 Table Serialisation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29768" y="347897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 Markdown for readability-critical tasks, CSV for cost-sensitive high-volume pipelines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29768" y="3870257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Always include column headers — never send a headerless table to an LLM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29768" y="425090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For large tables (&gt;50 rows), use RAG to retrieve only relevant rows before injecting into context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663440" y="3003490"/>
            <a:ext cx="4160520" cy="18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663440" y="3003490"/>
            <a:ext cx="4160520" cy="5486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773168" y="309493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 Validation &amp; QA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773168" y="347897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 structured output schemas (JSON mode) for extraction tasks — catch hallucinated fields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773168" y="3859625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Cross-validate numeric extractions: ask the model to verify its own arithmetic as a follow-up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773168" y="4240273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Always maintain a human review queue for low-confidence extractions — never fully automate high-stakes decisions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Multimodal Approach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76393" y="1036679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matrix for common document/image tasks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0673" y="1292711"/>
            <a:ext cx="1965960" cy="338328"/>
          </a:xfrm>
          <a:prstGeom prst="rect">
            <a:avLst/>
          </a:prstGeom>
          <a:solidFill>
            <a:srgbClr val="1A2B4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85537" y="1338431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388073" y="1292711"/>
            <a:ext cx="1783080" cy="338328"/>
          </a:xfrm>
          <a:prstGeom prst="rect">
            <a:avLst/>
          </a:prstGeom>
          <a:solidFill>
            <a:srgbClr val="1A2B4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442937" y="1338431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Input Format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262593" y="1292711"/>
            <a:ext cx="1783080" cy="338328"/>
          </a:xfrm>
          <a:prstGeom prst="rect">
            <a:avLst/>
          </a:prstGeom>
          <a:solidFill>
            <a:srgbClr val="1A2B4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317457" y="1338431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Model Type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37113" y="1292711"/>
            <a:ext cx="2743200" cy="338328"/>
          </a:xfrm>
          <a:prstGeom prst="rect">
            <a:avLst/>
          </a:prstGeom>
          <a:solidFill>
            <a:srgbClr val="1A2B4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191977" y="1338431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Consideration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30673" y="1667615"/>
            <a:ext cx="1965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85537" y="1713335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Invoice field extraction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388073" y="1667615"/>
            <a:ext cx="1783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442937" y="1713335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PDF or image upload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262593" y="1667615"/>
            <a:ext cx="1783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317457" y="1713335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GPT-4o / Claude 3.5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137113" y="1667615"/>
            <a:ext cx="2743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191977" y="1713335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 mode output, confidence scoring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30673" y="2042519"/>
            <a:ext cx="1965960" cy="3383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85537" y="2088239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 trend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2388073" y="2042519"/>
            <a:ext cx="1783080" cy="3383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442937" y="2088239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(screenshot)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262593" y="2042519"/>
            <a:ext cx="1783080" cy="3383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317457" y="2088239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GPT-4o / Gemini 1.5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6137113" y="2042519"/>
            <a:ext cx="2743200" cy="3383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191977" y="2088239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numbers manually for financial decisions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30673" y="2417423"/>
            <a:ext cx="1965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85537" y="2463143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200+ page PDF Q&amp;A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2388073" y="2417423"/>
            <a:ext cx="1783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2442937" y="2463143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PDF with page markers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262593" y="2417423"/>
            <a:ext cx="1783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4317457" y="2463143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Claude 3.5 Sonnet (200K)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137113" y="2417423"/>
            <a:ext cx="2743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191977" y="2463143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RAG for &gt;200 pages or high accuracy needs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330673" y="2792327"/>
            <a:ext cx="1965960" cy="3383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385537" y="2838047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Spreadsheet analysis (50+ rows)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2388073" y="2792327"/>
            <a:ext cx="1783080" cy="3383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2442937" y="2838047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Markdown / CSV 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4262593" y="2792327"/>
            <a:ext cx="1783080" cy="3383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4317457" y="2838047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frontier LLM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6137113" y="2792327"/>
            <a:ext cx="2743200" cy="3383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191977" y="2838047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 large tables; aggregate answers in code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330673" y="3167231"/>
            <a:ext cx="1965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385537" y="3212951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form digitisation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2388073" y="3167231"/>
            <a:ext cx="1783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2442937" y="3212951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High-res image scan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4262593" y="3167231"/>
            <a:ext cx="1783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4317457" y="3212951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GPT-4o / Google Vision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137113" y="3167231"/>
            <a:ext cx="2743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6191977" y="3212951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 with dedicated OCR for best accuracy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330673" y="3542135"/>
            <a:ext cx="1965960" cy="3383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385537" y="3587855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 clause extraction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2388073" y="3542135"/>
            <a:ext cx="1783080" cy="3383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2442937" y="3587855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PDF (not scanned)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4262593" y="3542135"/>
            <a:ext cx="1783080" cy="3383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4317457" y="3587855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Claude 3.5 / GPT-4o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6137113" y="3542135"/>
            <a:ext cx="2743200" cy="3383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6191977" y="3587855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output as JSON; validate against schema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330673" y="3917039"/>
            <a:ext cx="1965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385537" y="3962759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 → description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2388073" y="3917039"/>
            <a:ext cx="1783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2442937" y="3962759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JPEG/PNG image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68"/>
          <p:cNvSpPr/>
          <p:nvPr/>
        </p:nvSpPr>
        <p:spPr>
          <a:xfrm>
            <a:off x="4262593" y="3917039"/>
            <a:ext cx="1783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4317457" y="3962759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GPT-4o / LLaVA (open)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70"/>
          <p:cNvSpPr/>
          <p:nvPr/>
        </p:nvSpPr>
        <p:spPr>
          <a:xfrm>
            <a:off x="6137113" y="3917039"/>
            <a:ext cx="27432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6191977" y="3962759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process; review samples for quality control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3465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foundations to carry into multimodal application building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072402"/>
            <a:ext cx="850392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072402"/>
            <a:ext cx="530352" cy="56692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0040" y="1072402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60120" y="1097102"/>
            <a:ext cx="37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 maps all inputs to the same space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60120" y="136501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Text, images, and documents are converted to vectors in a shared embedding space — enabling cross-modal reasoning within a single model call.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0040" y="1694194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" y="1694194"/>
            <a:ext cx="530352" cy="56692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20040" y="1694194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60120" y="1718894"/>
            <a:ext cx="37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 become patches — not pixels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60120" y="198680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VLMs divide images into 16×16 pixel patches, embed each as a vector, and concatenate them with text tokens. Self-attention then reasons across all of them together.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" y="2315986"/>
            <a:ext cx="850392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0040" y="2315986"/>
            <a:ext cx="530352" cy="56692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20040" y="2315986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60120" y="2340686"/>
            <a:ext cx="37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need serialisation — not magic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60120" y="260859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cannot see spreadsheets natively. Text serialisation format (Markdown, CSV, JSON) is an engineering decision that affects accuracy, cost, and model comprehension.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2937778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20040" y="2937778"/>
            <a:ext cx="5303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20040" y="2937778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960120" y="2962478"/>
            <a:ext cx="37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intelligence unlocks massive enterprise value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960120" y="323038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Invoice processing, contract review, medical record extraction — all are now feasible with multimodal AI. The ROI case is strong; the governance requirements are equally strong.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0040" y="3559570"/>
            <a:ext cx="850392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20040" y="3559570"/>
            <a:ext cx="530352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20040" y="355957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960120" y="3584270"/>
            <a:ext cx="37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are real — validation is essential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960120" y="385217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reasoning errors, hallucinated content, 'lost in the middle' for long docs, and high image token costs all require mitigation strategies in production systems.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4054</Words>
  <Application>Microsoft Office PowerPoint</Application>
  <PresentationFormat>On-screen Show (16:9)</PresentationFormat>
  <Paragraphs>489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03 – Multimodal AI Systems</dc:title>
  <dc:subject>PptxGenJS Presentation</dc:subject>
  <dc:creator>PptxGenJS</dc:creator>
  <cp:lastModifiedBy>Usha Nandhini</cp:lastModifiedBy>
  <cp:revision>23</cp:revision>
  <dcterms:created xsi:type="dcterms:W3CDTF">2026-05-12T08:50:23Z</dcterms:created>
  <dcterms:modified xsi:type="dcterms:W3CDTF">2026-06-04T16:48:09Z</dcterms:modified>
</cp:coreProperties>
</file>