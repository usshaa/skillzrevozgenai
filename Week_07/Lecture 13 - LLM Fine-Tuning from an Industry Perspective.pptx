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2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  <p:sldId id="268" r:id="rId13"/>
    <p:sldId id="270" r:id="rId14"/>
    <p:sldId id="271" r:id="rId15"/>
    <p:sldId id="272" r:id="rId16"/>
    <p:sldId id="273" r:id="rId17"/>
    <p:sldId id="274" r:id="rId18"/>
    <p:sldId id="275" r:id="rId19"/>
    <p:sldId id="277" r:id="rId20"/>
    <p:sldId id="278" r:id="rId21"/>
    <p:sldId id="279" r:id="rId22"/>
    <p:sldId id="280" r:id="rId23"/>
    <p:sldId id="281" r:id="rId24"/>
    <p:sldId id="282" r:id="rId25"/>
    <p:sldId id="283" r:id="rId26"/>
    <p:sldId id="284" r:id="rId27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D27C938-929C-4AEE-B1C6-888D7F95FA72}">
  <a:tblStyle styleId="{9D27C938-929C-4AEE-B1C6-888D7F95FA72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954" y="10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0" name="Google Shape;17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4" name="Google Shape;18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4" name="Google Shape;21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4" name="Google Shape;24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4" name="Google Shape;304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5" name="Google Shape;325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0" name="Google Shape;340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4" name="Google Shape;354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2" name="Google Shape;412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2" name="Google Shape;432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3" name="Google Shape;483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2" name="Google Shape;512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0" name="Google Shape;540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Google Shape;554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5" name="Google Shape;555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" name="Google Shape;581;p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2" name="Google Shape;582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Google Shape;599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0" name="Google Shape;600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9" name="Google Shape;639;p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0" name="Google Shape;640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6" name="Google Shape;666;p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7" name="Google Shape;667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5" name="Google Shape;685;p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6" name="Google Shape;686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2" name="Google Shape;712;p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3" name="Google Shape;713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2" name="Google Shape;742;p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3" name="Google Shape;743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" name="Google Shape;768;p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9" name="Google Shape;769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9" name="Google Shape;789;p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0" name="Google Shape;790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7" name="Google Shape;817;p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8" name="Google Shape;818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13" Type="http://schemas.openxmlformats.org/officeDocument/2006/relationships/image" Target="../media/image20.png"/><Relationship Id="rId3" Type="http://schemas.openxmlformats.org/officeDocument/2006/relationships/image" Target="../media/image12.png"/><Relationship Id="rId7" Type="http://schemas.openxmlformats.org/officeDocument/2006/relationships/image" Target="../media/image14.png"/><Relationship Id="rId12" Type="http://schemas.openxmlformats.org/officeDocument/2006/relationships/image" Target="../media/image1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11" Type="http://schemas.openxmlformats.org/officeDocument/2006/relationships/image" Target="../media/image18.png"/><Relationship Id="rId5" Type="http://schemas.openxmlformats.org/officeDocument/2006/relationships/image" Target="../media/image11.png"/><Relationship Id="rId10" Type="http://schemas.openxmlformats.org/officeDocument/2006/relationships/image" Target="../media/image17.png"/><Relationship Id="rId4" Type="http://schemas.openxmlformats.org/officeDocument/2006/relationships/image" Target="../media/image3.png"/><Relationship Id="rId9" Type="http://schemas.openxmlformats.org/officeDocument/2006/relationships/image" Target="../media/image16.png"/><Relationship Id="rId14" Type="http://schemas.openxmlformats.org/officeDocument/2006/relationships/image" Target="../media/image2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10.png"/><Relationship Id="rId7" Type="http://schemas.openxmlformats.org/officeDocument/2006/relationships/image" Target="../media/image26.png"/><Relationship Id="rId12" Type="http://schemas.openxmlformats.org/officeDocument/2006/relationships/image" Target="../media/image3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11" Type="http://schemas.openxmlformats.org/officeDocument/2006/relationships/image" Target="../media/image30.png"/><Relationship Id="rId5" Type="http://schemas.openxmlformats.org/officeDocument/2006/relationships/image" Target="../media/image24.png"/><Relationship Id="rId10" Type="http://schemas.openxmlformats.org/officeDocument/2006/relationships/image" Target="../media/image29.png"/><Relationship Id="rId4" Type="http://schemas.openxmlformats.org/officeDocument/2006/relationships/image" Target="../media/image11.png"/><Relationship Id="rId9" Type="http://schemas.openxmlformats.org/officeDocument/2006/relationships/image" Target="../media/image2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3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2.png"/><Relationship Id="rId5" Type="http://schemas.openxmlformats.org/officeDocument/2006/relationships/image" Target="../media/image11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3" Type="http://schemas.openxmlformats.org/officeDocument/2006/relationships/image" Target="../media/image10.png"/><Relationship Id="rId7" Type="http://schemas.openxmlformats.org/officeDocument/2006/relationships/image" Target="../media/image3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11.png"/><Relationship Id="rId9" Type="http://schemas.openxmlformats.org/officeDocument/2006/relationships/image" Target="../media/image4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3" Type="http://schemas.openxmlformats.org/officeDocument/2006/relationships/image" Target="../media/image12.png"/><Relationship Id="rId7" Type="http://schemas.openxmlformats.org/officeDocument/2006/relationships/image" Target="../media/image4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6.png"/><Relationship Id="rId5" Type="http://schemas.openxmlformats.org/officeDocument/2006/relationships/image" Target="../media/image11.png"/><Relationship Id="rId10" Type="http://schemas.openxmlformats.org/officeDocument/2006/relationships/image" Target="../media/image40.png"/><Relationship Id="rId4" Type="http://schemas.openxmlformats.org/officeDocument/2006/relationships/image" Target="../media/image3.png"/><Relationship Id="rId9" Type="http://schemas.openxmlformats.org/officeDocument/2006/relationships/image" Target="../media/image44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3" Type="http://schemas.openxmlformats.org/officeDocument/2006/relationships/image" Target="../media/image10.png"/><Relationship Id="rId7" Type="http://schemas.openxmlformats.org/officeDocument/2006/relationships/image" Target="../media/image3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11.png"/><Relationship Id="rId9" Type="http://schemas.openxmlformats.org/officeDocument/2006/relationships/image" Target="../media/image4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5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png"/><Relationship Id="rId3" Type="http://schemas.openxmlformats.org/officeDocument/2006/relationships/image" Target="../media/image12.png"/><Relationship Id="rId7" Type="http://schemas.openxmlformats.org/officeDocument/2006/relationships/image" Target="../media/image4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6.png"/><Relationship Id="rId5" Type="http://schemas.openxmlformats.org/officeDocument/2006/relationships/image" Target="../media/image11.png"/><Relationship Id="rId10" Type="http://schemas.openxmlformats.org/officeDocument/2006/relationships/image" Target="../media/image50.png"/><Relationship Id="rId4" Type="http://schemas.openxmlformats.org/officeDocument/2006/relationships/image" Target="../media/image3.png"/><Relationship Id="rId9" Type="http://schemas.openxmlformats.org/officeDocument/2006/relationships/image" Target="../media/image49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.png"/><Relationship Id="rId3" Type="http://schemas.openxmlformats.org/officeDocument/2006/relationships/image" Target="../media/image51.png"/><Relationship Id="rId7" Type="http://schemas.openxmlformats.org/officeDocument/2006/relationships/image" Target="../media/image54.png"/><Relationship Id="rId12" Type="http://schemas.openxmlformats.org/officeDocument/2006/relationships/image" Target="../media/image5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3.png"/><Relationship Id="rId11" Type="http://schemas.openxmlformats.org/officeDocument/2006/relationships/image" Target="../media/image58.png"/><Relationship Id="rId5" Type="http://schemas.openxmlformats.org/officeDocument/2006/relationships/image" Target="../media/image52.png"/><Relationship Id="rId10" Type="http://schemas.openxmlformats.org/officeDocument/2006/relationships/image" Target="../media/image57.png"/><Relationship Id="rId4" Type="http://schemas.openxmlformats.org/officeDocument/2006/relationships/image" Target="../media/image11.png"/><Relationship Id="rId9" Type="http://schemas.openxmlformats.org/officeDocument/2006/relationships/image" Target="../media/image56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6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2.png"/><Relationship Id="rId5" Type="http://schemas.openxmlformats.org/officeDocument/2006/relationships/image" Target="../media/image11.png"/><Relationship Id="rId4" Type="http://schemas.openxmlformats.org/officeDocument/2006/relationships/image" Target="../media/image60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5.png"/><Relationship Id="rId3" Type="http://schemas.openxmlformats.org/officeDocument/2006/relationships/image" Target="../media/image51.png"/><Relationship Id="rId7" Type="http://schemas.openxmlformats.org/officeDocument/2006/relationships/image" Target="../media/image6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3.png"/><Relationship Id="rId5" Type="http://schemas.openxmlformats.org/officeDocument/2006/relationships/image" Target="../media/image62.png"/><Relationship Id="rId4" Type="http://schemas.openxmlformats.org/officeDocument/2006/relationships/image" Target="../media/image11.png"/><Relationship Id="rId9" Type="http://schemas.openxmlformats.org/officeDocument/2006/relationships/image" Target="../media/image66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13" Type="http://schemas.openxmlformats.org/officeDocument/2006/relationships/image" Target="../media/image73.png"/><Relationship Id="rId3" Type="http://schemas.openxmlformats.org/officeDocument/2006/relationships/image" Target="../media/image1.png"/><Relationship Id="rId7" Type="http://schemas.openxmlformats.org/officeDocument/2006/relationships/image" Target="../media/image68.png"/><Relationship Id="rId12" Type="http://schemas.openxmlformats.org/officeDocument/2006/relationships/image" Target="../media/image7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7.png"/><Relationship Id="rId11" Type="http://schemas.openxmlformats.org/officeDocument/2006/relationships/image" Target="../media/image71.png"/><Relationship Id="rId5" Type="http://schemas.openxmlformats.org/officeDocument/2006/relationships/image" Target="../media/image11.png"/><Relationship Id="rId10" Type="http://schemas.openxmlformats.org/officeDocument/2006/relationships/image" Target="../media/image70.png"/><Relationship Id="rId4" Type="http://schemas.openxmlformats.org/officeDocument/2006/relationships/image" Target="../media/image51.png"/><Relationship Id="rId9" Type="http://schemas.openxmlformats.org/officeDocument/2006/relationships/image" Target="../media/image69.png"/><Relationship Id="rId14" Type="http://schemas.openxmlformats.org/officeDocument/2006/relationships/image" Target="../media/image74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75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1.png"/><Relationship Id="rId5" Type="http://schemas.openxmlformats.org/officeDocument/2006/relationships/image" Target="../media/image11.png"/><Relationship Id="rId4" Type="http://schemas.openxmlformats.org/officeDocument/2006/relationships/image" Target="../media/image60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51.png"/><Relationship Id="rId7" Type="http://schemas.openxmlformats.org/officeDocument/2006/relationships/image" Target="../media/image26.png"/><Relationship Id="rId12" Type="http://schemas.openxmlformats.org/officeDocument/2006/relationships/image" Target="../media/image79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11" Type="http://schemas.openxmlformats.org/officeDocument/2006/relationships/image" Target="../media/image78.png"/><Relationship Id="rId5" Type="http://schemas.openxmlformats.org/officeDocument/2006/relationships/image" Target="../media/image24.png"/><Relationship Id="rId10" Type="http://schemas.openxmlformats.org/officeDocument/2006/relationships/image" Target="../media/image77.png"/><Relationship Id="rId4" Type="http://schemas.openxmlformats.org/officeDocument/2006/relationships/image" Target="../media/image11.png"/><Relationship Id="rId9" Type="http://schemas.openxmlformats.org/officeDocument/2006/relationships/image" Target="../media/image76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4.png"/><Relationship Id="rId3" Type="http://schemas.openxmlformats.org/officeDocument/2006/relationships/image" Target="../media/image1.png"/><Relationship Id="rId7" Type="http://schemas.openxmlformats.org/officeDocument/2006/relationships/image" Target="../media/image63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2.png"/><Relationship Id="rId5" Type="http://schemas.openxmlformats.org/officeDocument/2006/relationships/image" Target="../media/image11.png"/><Relationship Id="rId10" Type="http://schemas.openxmlformats.org/officeDocument/2006/relationships/image" Target="../media/image66.png"/><Relationship Id="rId4" Type="http://schemas.openxmlformats.org/officeDocument/2006/relationships/image" Target="../media/image51.png"/><Relationship Id="rId9" Type="http://schemas.openxmlformats.org/officeDocument/2006/relationships/image" Target="../media/image6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762000" y="-762000"/>
            <a:ext cx="2857500" cy="2857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001250" y="4667250"/>
            <a:ext cx="3333750" cy="3333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1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396805" y="214312"/>
            <a:ext cx="1398240" cy="333375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3"/>
          <p:cNvSpPr txBox="1"/>
          <p:nvPr/>
        </p:nvSpPr>
        <p:spPr>
          <a:xfrm>
            <a:off x="6795045" y="295275"/>
            <a:ext cx="5016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Slide 01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0" y="857250"/>
            <a:ext cx="121920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What is LLM Fine-Tuning?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0" y="1428750"/>
            <a:ext cx="12192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Adapting Foundation Models to Specific Domains</a:t>
            </a:r>
            <a:endParaRPr/>
          </a:p>
        </p:txBody>
      </p:sp>
      <p:sp>
        <p:nvSpPr>
          <p:cNvPr id="90" name="Google Shape;90;p13"/>
          <p:cNvSpPr/>
          <p:nvPr/>
        </p:nvSpPr>
        <p:spPr>
          <a:xfrm>
            <a:off x="5810250" y="1790700"/>
            <a:ext cx="571500" cy="38100"/>
          </a:xfrm>
          <a:prstGeom prst="rect">
            <a:avLst/>
          </a:prstGeom>
          <a:solidFill>
            <a:srgbClr val="16653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3"/>
          <p:cNvSpPr/>
          <p:nvPr/>
        </p:nvSpPr>
        <p:spPr>
          <a:xfrm>
            <a:off x="381000" y="304800"/>
            <a:ext cx="285900" cy="152400"/>
          </a:xfrm>
          <a:prstGeom prst="roundRect">
            <a:avLst>
              <a:gd name="adj" fmla="val 50000"/>
            </a:avLst>
          </a:prstGeom>
          <a:noFill/>
          <a:ln w="19050" cap="flat" cmpd="sng">
            <a:solidFill>
              <a:srgbClr val="0F172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3"/>
          <p:cNvSpPr txBox="1"/>
          <p:nvPr/>
        </p:nvSpPr>
        <p:spPr>
          <a:xfrm>
            <a:off x="809625" y="7086600"/>
            <a:ext cx="476250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The output is a uniquely customized model file.</a:t>
            </a:r>
            <a:endParaRPr/>
          </a:p>
        </p:txBody>
      </p:sp>
      <p:pic>
        <p:nvPicPr>
          <p:cNvPr id="93" name="Google Shape;93;p13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1639550" y="1533525"/>
            <a:ext cx="152400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3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1606212" y="2676525"/>
            <a:ext cx="219075" cy="1714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5" name="Google Shape;95;p13"/>
          <p:cNvGrpSpPr/>
          <p:nvPr/>
        </p:nvGrpSpPr>
        <p:grpSpPr>
          <a:xfrm>
            <a:off x="571500" y="1905000"/>
            <a:ext cx="5238900" cy="2047800"/>
            <a:chOff x="571500" y="1905000"/>
            <a:chExt cx="5238900" cy="2047800"/>
          </a:xfrm>
        </p:grpSpPr>
        <p:sp>
          <p:nvSpPr>
            <p:cNvPr id="96" name="Google Shape;96;p13"/>
            <p:cNvSpPr/>
            <p:nvPr/>
          </p:nvSpPr>
          <p:spPr>
            <a:xfrm>
              <a:off x="571500" y="1905000"/>
              <a:ext cx="5238900" cy="2047800"/>
            </a:xfrm>
            <a:prstGeom prst="roundRect">
              <a:avLst>
                <a:gd name="adj" fmla="val 5581"/>
              </a:avLst>
            </a:prstGeom>
            <a:solidFill>
              <a:srgbClr val="F8FAFC"/>
            </a:solidFill>
            <a:ln w="14300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" name="Google Shape;97;p13"/>
            <p:cNvSpPr/>
            <p:nvPr/>
          </p:nvSpPr>
          <p:spPr>
            <a:xfrm>
              <a:off x="762000" y="2095500"/>
              <a:ext cx="904800" cy="247800"/>
            </a:xfrm>
            <a:prstGeom prst="roundRect">
              <a:avLst>
                <a:gd name="adj" fmla="val 50000"/>
              </a:avLst>
            </a:prstGeom>
            <a:solidFill>
              <a:srgbClr val="1E293B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" name="Google Shape;98;p13"/>
            <p:cNvSpPr txBox="1"/>
            <p:nvPr/>
          </p:nvSpPr>
          <p:spPr>
            <a:xfrm>
              <a:off x="762000" y="2095500"/>
              <a:ext cx="904800" cy="247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DEFINITION</a:t>
              </a:r>
              <a:endParaRPr sz="8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" name="Google Shape;99;p13"/>
            <p:cNvSpPr txBox="1"/>
            <p:nvPr/>
          </p:nvSpPr>
          <p:spPr>
            <a:xfrm>
              <a:off x="762000" y="2457450"/>
              <a:ext cx="4857900" cy="809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50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rPr>
                <a:t>Fine-tuning is the process of adjusting the internal </a:t>
              </a:r>
              <a:r>
                <a:rPr lang="en-US" sz="1150" b="1">
                  <a:solidFill>
                    <a:srgbClr val="2563EB"/>
                  </a:solidFill>
                  <a:latin typeface="Arial"/>
                  <a:ea typeface="Arial"/>
                  <a:cs typeface="Arial"/>
                  <a:sym typeface="Arial"/>
                </a:rPr>
                <a:t>weights</a:t>
              </a:r>
              <a:r>
                <a:rPr lang="en-US" sz="1150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rPr>
                <a:t> of a pre-trained </a:t>
              </a:r>
              <a:r>
                <a:rPr lang="en-US" sz="1150" b="1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rPr>
                <a:t>Large Language Model (LLM)</a:t>
              </a:r>
              <a:r>
                <a:rPr lang="en-US" sz="1150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rPr>
                <a:t> using task-specific data to permanently improve its performance on specialized tasks or formats.</a:t>
              </a:r>
              <a:endParaRPr sz="115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00" name="Google Shape;100;p13"/>
            <p:cNvGrpSpPr/>
            <p:nvPr/>
          </p:nvGrpSpPr>
          <p:grpSpPr>
            <a:xfrm>
              <a:off x="762000" y="3390900"/>
              <a:ext cx="2619300" cy="266700"/>
              <a:chOff x="0" y="0"/>
              <a:chExt cx="2619300" cy="266700"/>
            </a:xfrm>
          </p:grpSpPr>
          <p:sp>
            <p:nvSpPr>
              <p:cNvPr id="101" name="Google Shape;101;p13"/>
              <p:cNvSpPr/>
              <p:nvPr/>
            </p:nvSpPr>
            <p:spPr>
              <a:xfrm>
                <a:off x="0" y="0"/>
                <a:ext cx="714300" cy="266700"/>
              </a:xfrm>
              <a:prstGeom prst="roundRect">
                <a:avLst>
                  <a:gd name="adj" fmla="val 21428"/>
                </a:avLst>
              </a:prstGeom>
              <a:solidFill>
                <a:srgbClr val="EFF6FF"/>
              </a:solidFill>
              <a:ln w="9525" cap="flat" cmpd="sng">
                <a:solidFill>
                  <a:srgbClr val="BFDBFE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" name="Google Shape;102;p13"/>
              <p:cNvSpPr txBox="1"/>
              <p:nvPr/>
            </p:nvSpPr>
            <p:spPr>
              <a:xfrm>
                <a:off x="0" y="0"/>
                <a:ext cx="714300" cy="266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900" b="1">
                    <a:solidFill>
                      <a:srgbClr val="1D4ED8"/>
                    </a:solidFill>
                    <a:latin typeface="Arial"/>
                    <a:ea typeface="Arial"/>
                    <a:cs typeface="Arial"/>
                    <a:sym typeface="Arial"/>
                  </a:rPr>
                  <a:t>Weights</a:t>
                </a:r>
                <a:endParaRPr sz="900" b="1">
                  <a:solidFill>
                    <a:srgbClr val="1D4ED8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3" name="Google Shape;103;p13"/>
              <p:cNvSpPr/>
              <p:nvPr/>
            </p:nvSpPr>
            <p:spPr>
              <a:xfrm>
                <a:off x="809625" y="0"/>
                <a:ext cx="809700" cy="266700"/>
              </a:xfrm>
              <a:prstGeom prst="roundRect">
                <a:avLst>
                  <a:gd name="adj" fmla="val 21428"/>
                </a:avLst>
              </a:prstGeom>
              <a:solidFill>
                <a:srgbClr val="EFF6FF"/>
              </a:solidFill>
              <a:ln w="9525" cap="flat" cmpd="sng">
                <a:solidFill>
                  <a:srgbClr val="BFDBFE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" name="Google Shape;104;p13"/>
              <p:cNvSpPr txBox="1"/>
              <p:nvPr/>
            </p:nvSpPr>
            <p:spPr>
              <a:xfrm>
                <a:off x="809625" y="0"/>
                <a:ext cx="809700" cy="266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900" b="1">
                    <a:solidFill>
                      <a:srgbClr val="1D4ED8"/>
                    </a:solidFill>
                    <a:latin typeface="Arial"/>
                    <a:ea typeface="Arial"/>
                    <a:cs typeface="Arial"/>
                    <a:sym typeface="Arial"/>
                  </a:rPr>
                  <a:t>Behavior</a:t>
                </a:r>
                <a:endParaRPr sz="900" b="1">
                  <a:solidFill>
                    <a:srgbClr val="1D4ED8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5" name="Google Shape;105;p13"/>
              <p:cNvSpPr/>
              <p:nvPr/>
            </p:nvSpPr>
            <p:spPr>
              <a:xfrm>
                <a:off x="1714500" y="0"/>
                <a:ext cx="904800" cy="266700"/>
              </a:xfrm>
              <a:prstGeom prst="roundRect">
                <a:avLst>
                  <a:gd name="adj" fmla="val 21428"/>
                </a:avLst>
              </a:prstGeom>
              <a:solidFill>
                <a:srgbClr val="EFF6FF"/>
              </a:solidFill>
              <a:ln w="9525" cap="flat" cmpd="sng">
                <a:solidFill>
                  <a:srgbClr val="BFDBFE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" name="Google Shape;106;p13"/>
              <p:cNvSpPr txBox="1"/>
              <p:nvPr/>
            </p:nvSpPr>
            <p:spPr>
              <a:xfrm>
                <a:off x="1714500" y="0"/>
                <a:ext cx="904800" cy="266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900" b="1">
                    <a:solidFill>
                      <a:srgbClr val="1D4ED8"/>
                    </a:solidFill>
                    <a:latin typeface="Arial"/>
                    <a:ea typeface="Arial"/>
                    <a:cs typeface="Arial"/>
                    <a:sym typeface="Arial"/>
                  </a:rPr>
                  <a:t>Adaptation</a:t>
                </a:r>
                <a:endParaRPr sz="900" b="1">
                  <a:solidFill>
                    <a:srgbClr val="1D4ED8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pic>
        <p:nvPicPr>
          <p:cNvPr id="107" name="Google Shape;107;p13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1606212" y="3819525"/>
            <a:ext cx="219075" cy="1714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8" name="Google Shape;108;p13"/>
          <p:cNvGrpSpPr/>
          <p:nvPr/>
        </p:nvGrpSpPr>
        <p:grpSpPr>
          <a:xfrm>
            <a:off x="6000750" y="1905000"/>
            <a:ext cx="5238900" cy="2047800"/>
            <a:chOff x="6000750" y="1905000"/>
            <a:chExt cx="5238900" cy="2047800"/>
          </a:xfrm>
        </p:grpSpPr>
        <p:sp>
          <p:nvSpPr>
            <p:cNvPr id="109" name="Google Shape;109;p13"/>
            <p:cNvSpPr/>
            <p:nvPr/>
          </p:nvSpPr>
          <p:spPr>
            <a:xfrm>
              <a:off x="6000750" y="1905000"/>
              <a:ext cx="5238900" cy="2047800"/>
            </a:xfrm>
            <a:prstGeom prst="roundRect">
              <a:avLst>
                <a:gd name="adj" fmla="val 5581"/>
              </a:avLst>
            </a:prstGeom>
            <a:solidFill>
              <a:srgbClr val="F0FDF4"/>
            </a:solidFill>
            <a:ln w="14300" cap="flat" cmpd="sng">
              <a:solidFill>
                <a:srgbClr val="DCFCE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" name="Google Shape;110;p13"/>
            <p:cNvSpPr/>
            <p:nvPr/>
          </p:nvSpPr>
          <p:spPr>
            <a:xfrm>
              <a:off x="6191250" y="2095500"/>
              <a:ext cx="1381200" cy="247800"/>
            </a:xfrm>
            <a:prstGeom prst="roundRect">
              <a:avLst>
                <a:gd name="adj" fmla="val 50000"/>
              </a:avLst>
            </a:prstGeom>
            <a:solidFill>
              <a:srgbClr val="166534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Google Shape;111;p13"/>
            <p:cNvSpPr txBox="1"/>
            <p:nvPr/>
          </p:nvSpPr>
          <p:spPr>
            <a:xfrm>
              <a:off x="6191250" y="2095500"/>
              <a:ext cx="1381200" cy="247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REAL-LIFE ANALOGY</a:t>
              </a:r>
              <a:endParaRPr sz="8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" name="Google Shape;112;p13"/>
            <p:cNvSpPr txBox="1"/>
            <p:nvPr/>
          </p:nvSpPr>
          <p:spPr>
            <a:xfrm>
              <a:off x="10668000" y="2019300"/>
              <a:ext cx="381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200"/>
                <a:t>🩺</a:t>
              </a:r>
              <a:endParaRPr sz="2200"/>
            </a:p>
          </p:txBody>
        </p:sp>
        <p:sp>
          <p:nvSpPr>
            <p:cNvPr id="113" name="Google Shape;113;p13"/>
            <p:cNvSpPr txBox="1"/>
            <p:nvPr/>
          </p:nvSpPr>
          <p:spPr>
            <a:xfrm>
              <a:off x="6191250" y="2457450"/>
              <a:ext cx="4857900" cy="666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rgbClr val="14532D"/>
                  </a:solidFill>
                  <a:latin typeface="Arial"/>
                  <a:ea typeface="Arial"/>
                  <a:cs typeface="Arial"/>
                  <a:sym typeface="Arial"/>
                </a:rPr>
                <a:t>Think of a medical resident. Pre-training is general medical school. Fine-tuning is their specialized </a:t>
              </a:r>
              <a:r>
                <a:rPr lang="en-US" sz="1100" b="1">
                  <a:solidFill>
                    <a:srgbClr val="15803D"/>
                  </a:solidFill>
                  <a:latin typeface="Arial"/>
                  <a:ea typeface="Arial"/>
                  <a:cs typeface="Arial"/>
                  <a:sym typeface="Arial"/>
                </a:rPr>
                <a:t>residency</a:t>
              </a:r>
              <a:r>
                <a:rPr lang="en-US" sz="1100">
                  <a:solidFill>
                    <a:srgbClr val="14532D"/>
                  </a:solidFill>
                  <a:latin typeface="Arial"/>
                  <a:ea typeface="Arial"/>
                  <a:cs typeface="Arial"/>
                  <a:sym typeface="Arial"/>
                </a:rPr>
                <a:t> in cardiology or neurology to master a specific domain.</a:t>
              </a:r>
              <a:endParaRPr sz="1100">
                <a:solidFill>
                  <a:srgbClr val="14532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14" name="Google Shape;114;p13"/>
            <p:cNvGrpSpPr/>
            <p:nvPr/>
          </p:nvGrpSpPr>
          <p:grpSpPr>
            <a:xfrm>
              <a:off x="6191250" y="3238500"/>
              <a:ext cx="4857900" cy="495300"/>
              <a:chOff x="0" y="0"/>
              <a:chExt cx="4857900" cy="495300"/>
            </a:xfrm>
          </p:grpSpPr>
          <p:sp>
            <p:nvSpPr>
              <p:cNvPr id="115" name="Google Shape;115;p13"/>
              <p:cNvSpPr/>
              <p:nvPr/>
            </p:nvSpPr>
            <p:spPr>
              <a:xfrm>
                <a:off x="0" y="0"/>
                <a:ext cx="4857900" cy="495300"/>
              </a:xfrm>
              <a:prstGeom prst="roundRect">
                <a:avLst>
                  <a:gd name="adj" fmla="val 15384"/>
                </a:avLst>
              </a:prstGeom>
              <a:solidFill>
                <a:srgbClr val="FFFFFF"/>
              </a:solidFill>
              <a:ln w="9525" cap="flat" cmpd="sng">
                <a:solidFill>
                  <a:srgbClr val="BBF7D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" name="Google Shape;116;p13"/>
              <p:cNvSpPr/>
              <p:nvPr/>
            </p:nvSpPr>
            <p:spPr>
              <a:xfrm>
                <a:off x="0" y="0"/>
                <a:ext cx="38100" cy="495300"/>
              </a:xfrm>
              <a:prstGeom prst="roundRect">
                <a:avLst>
                  <a:gd name="adj" fmla="val 50000"/>
                </a:avLst>
              </a:prstGeom>
              <a:solidFill>
                <a:srgbClr val="16A34A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" name="Google Shape;117;p13"/>
              <p:cNvSpPr txBox="1"/>
              <p:nvPr/>
            </p:nvSpPr>
            <p:spPr>
              <a:xfrm>
                <a:off x="142875" y="0"/>
                <a:ext cx="4572000" cy="495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000" b="1">
                    <a:solidFill>
                      <a:srgbClr val="16A34A"/>
                    </a:solidFill>
                    <a:latin typeface="Arial"/>
                    <a:ea typeface="Arial"/>
                    <a:cs typeface="Arial"/>
                    <a:sym typeface="Arial"/>
                  </a:rPr>
                  <a:t>Mapping:</a:t>
                </a:r>
                <a:r>
                  <a:rPr lang="en-US" sz="1000">
                    <a:solidFill>
                      <a:srgbClr val="14532D"/>
                    </a:solidFill>
                    <a:latin typeface="Arial"/>
                    <a:ea typeface="Arial"/>
                    <a:cs typeface="Arial"/>
                    <a:sym typeface="Arial"/>
                  </a:rPr>
                  <a:t> Fine-tuning gives the model </a:t>
                </a:r>
                <a:r>
                  <a:rPr lang="en-US" sz="1000" b="1">
                    <a:solidFill>
                      <a:srgbClr val="14532D"/>
                    </a:solidFill>
                    <a:latin typeface="Arial"/>
                    <a:ea typeface="Arial"/>
                    <a:cs typeface="Arial"/>
                    <a:sym typeface="Arial"/>
                  </a:rPr>
                  <a:t>specialized reflexes</a:t>
                </a:r>
                <a:r>
                  <a:rPr lang="en-US" sz="1000">
                    <a:solidFill>
                      <a:srgbClr val="14532D"/>
                    </a:solidFill>
                    <a:latin typeface="Arial"/>
                    <a:ea typeface="Arial"/>
                    <a:cs typeface="Arial"/>
                    <a:sym typeface="Arial"/>
                  </a:rPr>
                  <a:t> without forgetting its foundational knowledge.</a:t>
                </a:r>
                <a:endParaRPr sz="1000">
                  <a:solidFill>
                    <a:srgbClr val="14532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pic>
        <p:nvPicPr>
          <p:cNvPr id="118" name="Google Shape;118;p13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1620500" y="4962525"/>
            <a:ext cx="190500" cy="1714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9" name="Google Shape;119;p13"/>
          <p:cNvGrpSpPr/>
          <p:nvPr/>
        </p:nvGrpSpPr>
        <p:grpSpPr>
          <a:xfrm>
            <a:off x="571500" y="4143375"/>
            <a:ext cx="5238900" cy="1952700"/>
            <a:chOff x="571500" y="4143375"/>
            <a:chExt cx="5238900" cy="1952700"/>
          </a:xfrm>
        </p:grpSpPr>
        <p:sp>
          <p:nvSpPr>
            <p:cNvPr id="120" name="Google Shape;120;p13"/>
            <p:cNvSpPr/>
            <p:nvPr/>
          </p:nvSpPr>
          <p:spPr>
            <a:xfrm>
              <a:off x="571500" y="4143375"/>
              <a:ext cx="5238900" cy="1952700"/>
            </a:xfrm>
            <a:prstGeom prst="roundRect">
              <a:avLst>
                <a:gd name="adj" fmla="val 5853"/>
              </a:avLst>
            </a:prstGeom>
            <a:solidFill>
              <a:srgbClr val="F8FAFC"/>
            </a:solidFill>
            <a:ln w="14300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Google Shape;121;p13"/>
            <p:cNvSpPr/>
            <p:nvPr/>
          </p:nvSpPr>
          <p:spPr>
            <a:xfrm>
              <a:off x="762000" y="4333875"/>
              <a:ext cx="1285800" cy="247800"/>
            </a:xfrm>
            <a:prstGeom prst="roundRect">
              <a:avLst>
                <a:gd name="adj" fmla="val 50000"/>
              </a:avLst>
            </a:prstGeom>
            <a:solidFill>
              <a:srgbClr val="0F172A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" name="Google Shape;122;p13"/>
            <p:cNvSpPr txBox="1"/>
            <p:nvPr/>
          </p:nvSpPr>
          <p:spPr>
            <a:xfrm>
              <a:off x="762000" y="4333875"/>
              <a:ext cx="1285800" cy="247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TRAINING PIPELINE</a:t>
              </a:r>
              <a:endParaRPr sz="8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23" name="Google Shape;123;p13"/>
            <p:cNvGrpSpPr/>
            <p:nvPr/>
          </p:nvGrpSpPr>
          <p:grpSpPr>
            <a:xfrm>
              <a:off x="762000" y="4905375"/>
              <a:ext cx="4629300" cy="400200"/>
              <a:chOff x="0" y="0"/>
              <a:chExt cx="4629300" cy="400200"/>
            </a:xfrm>
          </p:grpSpPr>
          <p:grpSp>
            <p:nvGrpSpPr>
              <p:cNvPr id="124" name="Google Shape;124;p13"/>
              <p:cNvGrpSpPr/>
              <p:nvPr/>
            </p:nvGrpSpPr>
            <p:grpSpPr>
              <a:xfrm>
                <a:off x="0" y="0"/>
                <a:ext cx="571500" cy="400200"/>
                <a:chOff x="0" y="0"/>
                <a:chExt cx="571500" cy="400200"/>
              </a:xfrm>
            </p:grpSpPr>
            <p:sp>
              <p:nvSpPr>
                <p:cNvPr id="125" name="Google Shape;125;p13"/>
                <p:cNvSpPr/>
                <p:nvPr/>
              </p:nvSpPr>
              <p:spPr>
                <a:xfrm>
                  <a:off x="0" y="0"/>
                  <a:ext cx="571500" cy="400200"/>
                </a:xfrm>
                <a:prstGeom prst="roundRect">
                  <a:avLst>
                    <a:gd name="adj" fmla="val 19047"/>
                  </a:avLst>
                </a:prstGeom>
                <a:solidFill>
                  <a:srgbClr val="FEF08A"/>
                </a:solidFill>
                <a:ln w="9525" cap="flat" cmpd="sng">
                  <a:solidFill>
                    <a:srgbClr val="EAB308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6" name="Google Shape;126;p13"/>
                <p:cNvSpPr txBox="1"/>
                <p:nvPr/>
              </p:nvSpPr>
              <p:spPr>
                <a:xfrm>
                  <a:off x="0" y="0"/>
                  <a:ext cx="571500" cy="4002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950" b="1">
                      <a:solidFill>
                        <a:srgbClr val="854D0E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Input</a:t>
                  </a:r>
                  <a:endParaRPr sz="950" b="1">
                    <a:solidFill>
                      <a:srgbClr val="854D0E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127" name="Google Shape;127;p13"/>
              <p:cNvSpPr txBox="1"/>
              <p:nvPr/>
            </p:nvSpPr>
            <p:spPr>
              <a:xfrm>
                <a:off x="590550" y="0"/>
                <a:ext cx="190500" cy="400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400">
                    <a:solidFill>
                      <a:srgbClr val="94A3B8"/>
                    </a:solidFill>
                    <a:latin typeface="Arial"/>
                    <a:ea typeface="Arial"/>
                    <a:cs typeface="Arial"/>
                    <a:sym typeface="Arial"/>
                  </a:rPr>
                  <a:t>→</a:t>
                </a:r>
                <a:endParaRPr sz="1400">
                  <a:solidFill>
                    <a:srgbClr val="94A3B8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128" name="Google Shape;128;p13"/>
              <p:cNvGrpSpPr/>
              <p:nvPr/>
            </p:nvGrpSpPr>
            <p:grpSpPr>
              <a:xfrm>
                <a:off x="800100" y="0"/>
                <a:ext cx="809700" cy="400200"/>
                <a:chOff x="0" y="0"/>
                <a:chExt cx="809700" cy="400200"/>
              </a:xfrm>
            </p:grpSpPr>
            <p:sp>
              <p:nvSpPr>
                <p:cNvPr id="129" name="Google Shape;129;p13"/>
                <p:cNvSpPr/>
                <p:nvPr/>
              </p:nvSpPr>
              <p:spPr>
                <a:xfrm>
                  <a:off x="0" y="0"/>
                  <a:ext cx="809700" cy="400200"/>
                </a:xfrm>
                <a:prstGeom prst="roundRect">
                  <a:avLst>
                    <a:gd name="adj" fmla="val 19047"/>
                  </a:avLst>
                </a:prstGeom>
                <a:solidFill>
                  <a:srgbClr val="EFF6FF"/>
                </a:solidFill>
                <a:ln w="9525" cap="flat" cmpd="sng">
                  <a:solidFill>
                    <a:srgbClr val="3B82F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0" name="Google Shape;130;p13"/>
                <p:cNvSpPr txBox="1"/>
                <p:nvPr/>
              </p:nvSpPr>
              <p:spPr>
                <a:xfrm>
                  <a:off x="0" y="0"/>
                  <a:ext cx="809700" cy="4002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950" b="1">
                      <a:solidFill>
                        <a:srgbClr val="1D4ED8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Base Model</a:t>
                  </a:r>
                  <a:endParaRPr sz="950" b="1">
                    <a:solidFill>
                      <a:srgbClr val="1D4ED8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131" name="Google Shape;131;p13"/>
              <p:cNvSpPr txBox="1"/>
              <p:nvPr/>
            </p:nvSpPr>
            <p:spPr>
              <a:xfrm>
                <a:off x="1628775" y="0"/>
                <a:ext cx="190500" cy="400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400">
                    <a:solidFill>
                      <a:srgbClr val="94A3B8"/>
                    </a:solidFill>
                    <a:latin typeface="Arial"/>
                    <a:ea typeface="Arial"/>
                    <a:cs typeface="Arial"/>
                    <a:sym typeface="Arial"/>
                  </a:rPr>
                  <a:t>→</a:t>
                </a:r>
                <a:endParaRPr sz="1400">
                  <a:solidFill>
                    <a:srgbClr val="94A3B8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132" name="Google Shape;132;p13"/>
              <p:cNvGrpSpPr/>
              <p:nvPr/>
            </p:nvGrpSpPr>
            <p:grpSpPr>
              <a:xfrm>
                <a:off x="1838325" y="0"/>
                <a:ext cx="762000" cy="400200"/>
                <a:chOff x="0" y="0"/>
                <a:chExt cx="762000" cy="400200"/>
              </a:xfrm>
            </p:grpSpPr>
            <p:sp>
              <p:nvSpPr>
                <p:cNvPr id="133" name="Google Shape;133;p13"/>
                <p:cNvSpPr/>
                <p:nvPr/>
              </p:nvSpPr>
              <p:spPr>
                <a:xfrm>
                  <a:off x="0" y="0"/>
                  <a:ext cx="762000" cy="400200"/>
                </a:xfrm>
                <a:prstGeom prst="roundRect">
                  <a:avLst>
                    <a:gd name="adj" fmla="val 19047"/>
                  </a:avLst>
                </a:prstGeom>
                <a:solidFill>
                  <a:srgbClr val="EFF6FF"/>
                </a:solidFill>
                <a:ln w="9525" cap="flat" cmpd="sng">
                  <a:solidFill>
                    <a:srgbClr val="3B82F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4" name="Google Shape;134;p13"/>
                <p:cNvSpPr txBox="1"/>
                <p:nvPr/>
              </p:nvSpPr>
              <p:spPr>
                <a:xfrm>
                  <a:off x="0" y="0"/>
                  <a:ext cx="762000" cy="4002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950" b="1">
                      <a:solidFill>
                        <a:srgbClr val="1D4ED8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Prep Data</a:t>
                  </a:r>
                  <a:endParaRPr sz="950" b="1">
                    <a:solidFill>
                      <a:srgbClr val="1D4ED8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135" name="Google Shape;135;p13"/>
              <p:cNvSpPr txBox="1"/>
              <p:nvPr/>
            </p:nvSpPr>
            <p:spPr>
              <a:xfrm>
                <a:off x="2619375" y="0"/>
                <a:ext cx="190500" cy="400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400">
                    <a:solidFill>
                      <a:srgbClr val="94A3B8"/>
                    </a:solidFill>
                    <a:latin typeface="Arial"/>
                    <a:ea typeface="Arial"/>
                    <a:cs typeface="Arial"/>
                    <a:sym typeface="Arial"/>
                  </a:rPr>
                  <a:t>→</a:t>
                </a:r>
                <a:endParaRPr sz="1400">
                  <a:solidFill>
                    <a:srgbClr val="94A3B8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136" name="Google Shape;136;p13"/>
              <p:cNvGrpSpPr/>
              <p:nvPr/>
            </p:nvGrpSpPr>
            <p:grpSpPr>
              <a:xfrm>
                <a:off x="2828925" y="0"/>
                <a:ext cx="904800" cy="400200"/>
                <a:chOff x="0" y="0"/>
                <a:chExt cx="904800" cy="400200"/>
              </a:xfrm>
            </p:grpSpPr>
            <p:sp>
              <p:nvSpPr>
                <p:cNvPr id="137" name="Google Shape;137;p13"/>
                <p:cNvSpPr/>
                <p:nvPr/>
              </p:nvSpPr>
              <p:spPr>
                <a:xfrm>
                  <a:off x="0" y="0"/>
                  <a:ext cx="904800" cy="400200"/>
                </a:xfrm>
                <a:prstGeom prst="roundRect">
                  <a:avLst>
                    <a:gd name="adj" fmla="val 19047"/>
                  </a:avLst>
                </a:prstGeom>
                <a:solidFill>
                  <a:srgbClr val="EFF6FF"/>
                </a:solidFill>
                <a:ln w="9525" cap="flat" cmpd="sng">
                  <a:solidFill>
                    <a:srgbClr val="3B82F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8" name="Google Shape;138;p13"/>
                <p:cNvSpPr txBox="1"/>
                <p:nvPr/>
              </p:nvSpPr>
              <p:spPr>
                <a:xfrm>
                  <a:off x="0" y="0"/>
                  <a:ext cx="904800" cy="4002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950" b="1">
                      <a:solidFill>
                        <a:srgbClr val="1D4ED8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Train Weights</a:t>
                  </a:r>
                  <a:endParaRPr sz="950" b="1">
                    <a:solidFill>
                      <a:srgbClr val="1D4ED8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139" name="Google Shape;139;p13"/>
              <p:cNvSpPr txBox="1"/>
              <p:nvPr/>
            </p:nvSpPr>
            <p:spPr>
              <a:xfrm>
                <a:off x="3752850" y="0"/>
                <a:ext cx="190500" cy="400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400">
                    <a:solidFill>
                      <a:srgbClr val="94A3B8"/>
                    </a:solidFill>
                    <a:latin typeface="Arial"/>
                    <a:ea typeface="Arial"/>
                    <a:cs typeface="Arial"/>
                    <a:sym typeface="Arial"/>
                  </a:rPr>
                  <a:t>→</a:t>
                </a:r>
                <a:endParaRPr sz="1400">
                  <a:solidFill>
                    <a:srgbClr val="94A3B8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140" name="Google Shape;140;p13"/>
              <p:cNvGrpSpPr/>
              <p:nvPr/>
            </p:nvGrpSpPr>
            <p:grpSpPr>
              <a:xfrm>
                <a:off x="3962400" y="0"/>
                <a:ext cx="666900" cy="400200"/>
                <a:chOff x="0" y="0"/>
                <a:chExt cx="666900" cy="400200"/>
              </a:xfrm>
            </p:grpSpPr>
            <p:sp>
              <p:nvSpPr>
                <p:cNvPr id="141" name="Google Shape;141;p13"/>
                <p:cNvSpPr/>
                <p:nvPr/>
              </p:nvSpPr>
              <p:spPr>
                <a:xfrm>
                  <a:off x="0" y="0"/>
                  <a:ext cx="666900" cy="400200"/>
                </a:xfrm>
                <a:prstGeom prst="roundRect">
                  <a:avLst>
                    <a:gd name="adj" fmla="val 19047"/>
                  </a:avLst>
                </a:prstGeom>
                <a:solidFill>
                  <a:srgbClr val="DCFCE7"/>
                </a:solidFill>
                <a:ln w="9525" cap="flat" cmpd="sng">
                  <a:solidFill>
                    <a:srgbClr val="16A34A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2" name="Google Shape;142;p13"/>
                <p:cNvSpPr txBox="1"/>
                <p:nvPr/>
              </p:nvSpPr>
              <p:spPr>
                <a:xfrm>
                  <a:off x="0" y="0"/>
                  <a:ext cx="666900" cy="4002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950" b="1">
                      <a:solidFill>
                        <a:srgbClr val="15803D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Output</a:t>
                  </a:r>
                  <a:endParaRPr sz="950" b="1">
                    <a:solidFill>
                      <a:srgbClr val="15803D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sp>
          <p:nvSpPr>
            <p:cNvPr id="143" name="Google Shape;143;p13"/>
            <p:cNvSpPr txBox="1"/>
            <p:nvPr/>
          </p:nvSpPr>
          <p:spPr>
            <a:xfrm>
              <a:off x="762000" y="5524500"/>
              <a:ext cx="44769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rgbClr val="64748B"/>
                  </a:solidFill>
                  <a:latin typeface="Arial"/>
                  <a:ea typeface="Arial"/>
                  <a:cs typeface="Arial"/>
                  <a:sym typeface="Arial"/>
                </a:rPr>
                <a:t>The training pipeline creates a uniquely customized and optimized model file containing the updated parameters.</a:t>
              </a:r>
              <a:endParaRPr sz="10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44" name="Google Shape;144;p13"/>
          <p:cNvGrpSpPr/>
          <p:nvPr/>
        </p:nvGrpSpPr>
        <p:grpSpPr>
          <a:xfrm>
            <a:off x="6000750" y="4143375"/>
            <a:ext cx="5238900" cy="1952700"/>
            <a:chOff x="6000750" y="4143375"/>
            <a:chExt cx="5238900" cy="1952700"/>
          </a:xfrm>
        </p:grpSpPr>
        <p:sp>
          <p:nvSpPr>
            <p:cNvPr id="145" name="Google Shape;145;p13"/>
            <p:cNvSpPr/>
            <p:nvPr/>
          </p:nvSpPr>
          <p:spPr>
            <a:xfrm>
              <a:off x="6000750" y="4143375"/>
              <a:ext cx="5238900" cy="1952700"/>
            </a:xfrm>
            <a:prstGeom prst="roundRect">
              <a:avLst>
                <a:gd name="adj" fmla="val 5853"/>
              </a:avLst>
            </a:prstGeom>
            <a:solidFill>
              <a:srgbClr val="0F172A"/>
            </a:solidFill>
            <a:ln w="14300" cap="flat" cmpd="sng">
              <a:solidFill>
                <a:srgbClr val="1E293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" name="Google Shape;146;p13"/>
            <p:cNvSpPr/>
            <p:nvPr/>
          </p:nvSpPr>
          <p:spPr>
            <a:xfrm>
              <a:off x="6191250" y="4333875"/>
              <a:ext cx="1095300" cy="247800"/>
            </a:xfrm>
            <a:prstGeom prst="roundRect">
              <a:avLst>
                <a:gd name="adj" fmla="val 50000"/>
              </a:avLst>
            </a:prstGeom>
            <a:solidFill>
              <a:srgbClr val="334155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" name="Google Shape;147;p13"/>
            <p:cNvSpPr txBox="1"/>
            <p:nvPr/>
          </p:nvSpPr>
          <p:spPr>
            <a:xfrm>
              <a:off x="6191250" y="4333875"/>
              <a:ext cx="1095300" cy="247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94A3B8"/>
                  </a:solidFill>
                  <a:latin typeface="Arial"/>
                  <a:ea typeface="Arial"/>
                  <a:cs typeface="Arial"/>
                  <a:sym typeface="Arial"/>
                </a:rPr>
                <a:t>CODE EXAMPLE</a:t>
              </a:r>
              <a:endParaRPr sz="800" b="1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48" name="Google Shape;148;p13"/>
            <p:cNvGrpSpPr/>
            <p:nvPr/>
          </p:nvGrpSpPr>
          <p:grpSpPr>
            <a:xfrm>
              <a:off x="6191250" y="4743450"/>
              <a:ext cx="2333700" cy="1143000"/>
              <a:chOff x="0" y="0"/>
              <a:chExt cx="2333700" cy="1143000"/>
            </a:xfrm>
          </p:grpSpPr>
          <p:sp>
            <p:nvSpPr>
              <p:cNvPr id="149" name="Google Shape;149;p13"/>
              <p:cNvSpPr txBox="1"/>
              <p:nvPr/>
            </p:nvSpPr>
            <p:spPr>
              <a:xfrm>
                <a:off x="0" y="0"/>
                <a:ext cx="2333700" cy="142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850" b="1">
                    <a:solidFill>
                      <a:srgbClr val="94A3B8"/>
                    </a:solidFill>
                    <a:latin typeface="Arial"/>
                    <a:ea typeface="Arial"/>
                    <a:cs typeface="Arial"/>
                    <a:sym typeface="Arial"/>
                  </a:rPr>
                  <a:t>PEFT INITIALIZATION</a:t>
                </a:r>
                <a:endParaRPr sz="850" b="1">
                  <a:solidFill>
                    <a:srgbClr val="94A3B8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0" name="Google Shape;150;p13"/>
              <p:cNvSpPr/>
              <p:nvPr/>
            </p:nvSpPr>
            <p:spPr>
              <a:xfrm>
                <a:off x="0" y="190500"/>
                <a:ext cx="2333700" cy="952500"/>
              </a:xfrm>
              <a:prstGeom prst="roundRect">
                <a:avLst>
                  <a:gd name="adj" fmla="val 6000"/>
                </a:avLst>
              </a:prstGeom>
              <a:solidFill>
                <a:srgbClr val="1E293B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" name="Google Shape;151;p13"/>
              <p:cNvSpPr/>
              <p:nvPr/>
            </p:nvSpPr>
            <p:spPr>
              <a:xfrm>
                <a:off x="66675" y="276225"/>
                <a:ext cx="57300" cy="57300"/>
              </a:xfrm>
              <a:prstGeom prst="ellipse">
                <a:avLst/>
              </a:prstGeom>
              <a:solidFill>
                <a:srgbClr val="EF4444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" name="Google Shape;152;p13"/>
              <p:cNvSpPr/>
              <p:nvPr/>
            </p:nvSpPr>
            <p:spPr>
              <a:xfrm>
                <a:off x="142875" y="276225"/>
                <a:ext cx="57300" cy="57300"/>
              </a:xfrm>
              <a:prstGeom prst="ellipse">
                <a:avLst/>
              </a:prstGeom>
              <a:solidFill>
                <a:srgbClr val="F59E0B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" name="Google Shape;153;p13"/>
              <p:cNvSpPr/>
              <p:nvPr/>
            </p:nvSpPr>
            <p:spPr>
              <a:xfrm>
                <a:off x="219075" y="276225"/>
                <a:ext cx="57300" cy="57300"/>
              </a:xfrm>
              <a:prstGeom prst="ellipse">
                <a:avLst/>
              </a:prstGeom>
              <a:solidFill>
                <a:srgbClr val="10B981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" name="Google Shape;154;p13"/>
              <p:cNvSpPr txBox="1"/>
              <p:nvPr/>
            </p:nvSpPr>
            <p:spPr>
              <a:xfrm>
                <a:off x="95250" y="419100"/>
                <a:ext cx="2143200" cy="666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800">
                    <a:solidFill>
                      <a:srgbClr val="F472B6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peft_config</a:t>
                </a:r>
                <a:r>
                  <a:rPr lang="en-US" sz="800">
                    <a:solidFill>
                      <a:srgbClr val="38BDF8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 = LoraConfig(</a:t>
                </a:r>
                <a:br>
                  <a:rPr lang="en-US" sz="800">
                    <a:solidFill>
                      <a:srgbClr val="38BDF8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</a:br>
                <a:r>
                  <a:rPr lang="en-US" sz="800">
                    <a:solidFill>
                      <a:srgbClr val="38BDF8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  r=16, lora_alpha=32,</a:t>
                </a:r>
                <a:br>
                  <a:rPr lang="en-US" sz="800">
                    <a:solidFill>
                      <a:srgbClr val="38BDF8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</a:br>
                <a:r>
                  <a:rPr lang="en-US" sz="800">
                    <a:solidFill>
                      <a:srgbClr val="38BDF8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  target_modules=["q_proj"]</a:t>
                </a:r>
                <a:br>
                  <a:rPr lang="en-US" sz="800">
                    <a:solidFill>
                      <a:srgbClr val="38BDF8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</a:br>
                <a:r>
                  <a:rPr lang="en-US" sz="800">
                    <a:solidFill>
                      <a:srgbClr val="38BDF8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)</a:t>
                </a:r>
                <a:br>
                  <a:rPr lang="en-US" sz="800">
                    <a:solidFill>
                      <a:srgbClr val="38BDF8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</a:br>
                <a:r>
                  <a:rPr lang="en-US" sz="800">
                    <a:solidFill>
                      <a:srgbClr val="F472B6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model</a:t>
                </a:r>
                <a:r>
                  <a:rPr lang="en-US" sz="800">
                    <a:solidFill>
                      <a:srgbClr val="38BDF8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 = get_peft_model(model)</a:t>
                </a:r>
                <a:endParaRPr sz="800">
                  <a:solidFill>
                    <a:srgbClr val="38BDF8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</p:grpSp>
        <p:grpSp>
          <p:nvGrpSpPr>
            <p:cNvPr id="155" name="Google Shape;155;p13"/>
            <p:cNvGrpSpPr/>
            <p:nvPr/>
          </p:nvGrpSpPr>
          <p:grpSpPr>
            <a:xfrm>
              <a:off x="8715375" y="4743450"/>
              <a:ext cx="2333700" cy="1143000"/>
              <a:chOff x="0" y="0"/>
              <a:chExt cx="2333700" cy="1143000"/>
            </a:xfrm>
          </p:grpSpPr>
          <p:sp>
            <p:nvSpPr>
              <p:cNvPr id="156" name="Google Shape;156;p13"/>
              <p:cNvSpPr txBox="1"/>
              <p:nvPr/>
            </p:nvSpPr>
            <p:spPr>
              <a:xfrm>
                <a:off x="0" y="0"/>
                <a:ext cx="2333700" cy="142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850" b="1">
                    <a:solidFill>
                      <a:srgbClr val="94A3B8"/>
                    </a:solidFill>
                    <a:latin typeface="Arial"/>
                    <a:ea typeface="Arial"/>
                    <a:cs typeface="Arial"/>
                    <a:sym typeface="Arial"/>
                  </a:rPr>
                  <a:t>MODEL EXECUTION</a:t>
                </a:r>
                <a:endParaRPr sz="850" b="1">
                  <a:solidFill>
                    <a:srgbClr val="94A3B8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7" name="Google Shape;157;p13"/>
              <p:cNvSpPr/>
              <p:nvPr/>
            </p:nvSpPr>
            <p:spPr>
              <a:xfrm>
                <a:off x="0" y="190500"/>
                <a:ext cx="2333700" cy="952500"/>
              </a:xfrm>
              <a:prstGeom prst="roundRect">
                <a:avLst>
                  <a:gd name="adj" fmla="val 6000"/>
                </a:avLst>
              </a:prstGeom>
              <a:solidFill>
                <a:srgbClr val="1E293B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" name="Google Shape;158;p13"/>
              <p:cNvSpPr/>
              <p:nvPr/>
            </p:nvSpPr>
            <p:spPr>
              <a:xfrm>
                <a:off x="66675" y="276225"/>
                <a:ext cx="57300" cy="57300"/>
              </a:xfrm>
              <a:prstGeom prst="ellipse">
                <a:avLst/>
              </a:prstGeom>
              <a:solidFill>
                <a:srgbClr val="EF4444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" name="Google Shape;159;p13"/>
              <p:cNvSpPr/>
              <p:nvPr/>
            </p:nvSpPr>
            <p:spPr>
              <a:xfrm>
                <a:off x="142875" y="276225"/>
                <a:ext cx="57300" cy="57300"/>
              </a:xfrm>
              <a:prstGeom prst="ellipse">
                <a:avLst/>
              </a:prstGeom>
              <a:solidFill>
                <a:srgbClr val="F59E0B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" name="Google Shape;160;p13"/>
              <p:cNvSpPr/>
              <p:nvPr/>
            </p:nvSpPr>
            <p:spPr>
              <a:xfrm>
                <a:off x="219075" y="276225"/>
                <a:ext cx="57300" cy="57300"/>
              </a:xfrm>
              <a:prstGeom prst="ellipse">
                <a:avLst/>
              </a:prstGeom>
              <a:solidFill>
                <a:srgbClr val="10B981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" name="Google Shape;161;p13"/>
              <p:cNvSpPr txBox="1"/>
              <p:nvPr/>
            </p:nvSpPr>
            <p:spPr>
              <a:xfrm>
                <a:off x="95250" y="419100"/>
                <a:ext cx="2143200" cy="666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680">
                    <a:solidFill>
                      <a:srgbClr val="F472B6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trainer</a:t>
                </a:r>
                <a:r>
                  <a:rPr lang="en-US" sz="680">
                    <a:solidFill>
                      <a:srgbClr val="38BDF8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 = Trainer(</a:t>
                </a:r>
                <a:br>
                  <a:rPr lang="en-US" sz="680">
                    <a:solidFill>
                      <a:srgbClr val="38BDF8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</a:br>
                <a:r>
                  <a:rPr lang="en-US" sz="680">
                    <a:solidFill>
                      <a:srgbClr val="38BDF8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  model=model,</a:t>
                </a:r>
                <a:br>
                  <a:rPr lang="en-US" sz="680">
                    <a:solidFill>
                      <a:srgbClr val="38BDF8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</a:br>
                <a:r>
                  <a:rPr lang="en-US" sz="680">
                    <a:solidFill>
                      <a:srgbClr val="38BDF8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  train_dataset=dataset,</a:t>
                </a:r>
                <a:br>
                  <a:rPr lang="en-US" sz="680">
                    <a:solidFill>
                      <a:srgbClr val="38BDF8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</a:br>
                <a:r>
                  <a:rPr lang="en-US" sz="680">
                    <a:solidFill>
                      <a:srgbClr val="38BDF8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  args=TrainingArguments(...)</a:t>
                </a:r>
                <a:br>
                  <a:rPr lang="en-US" sz="680">
                    <a:solidFill>
                      <a:srgbClr val="38BDF8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</a:br>
                <a:r>
                  <a:rPr lang="en-US" sz="680">
                    <a:solidFill>
                      <a:srgbClr val="38BDF8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)</a:t>
                </a:r>
                <a:br>
                  <a:rPr lang="en-US" sz="680">
                    <a:solidFill>
                      <a:srgbClr val="38BDF8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</a:br>
                <a:r>
                  <a:rPr lang="en-US" sz="680">
                    <a:solidFill>
                      <a:srgbClr val="38BDF8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trainer.train()</a:t>
                </a:r>
                <a:endParaRPr sz="680">
                  <a:solidFill>
                    <a:srgbClr val="38BDF8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</p:grpSp>
      </p:grpSp>
      <p:pic>
        <p:nvPicPr>
          <p:cNvPr id="162" name="Google Shape;162;p13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11525250" y="1428750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p13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11525250" y="2571750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164;p13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11525250" y="3714750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13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11525250" y="4857750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13"/>
          <p:cNvSpPr/>
          <p:nvPr/>
        </p:nvSpPr>
        <p:spPr>
          <a:xfrm>
            <a:off x="0" y="6286500"/>
            <a:ext cx="12192000" cy="5715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3"/>
          <p:cNvSpPr txBox="1"/>
          <p:nvPr/>
        </p:nvSpPr>
        <p:spPr>
          <a:xfrm>
            <a:off x="381000" y="6286500"/>
            <a:ext cx="11430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Fine-tuning changes the model's actual behavior and tone, rather than just giving it temporary prompt context.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2" name="Google Shape;172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762000" y="-762000"/>
            <a:ext cx="2857500" cy="2857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396805" y="214312"/>
            <a:ext cx="1398240" cy="333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81000" y="6438900"/>
            <a:ext cx="1373981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14"/>
          <p:cNvSpPr txBox="1"/>
          <p:nvPr/>
        </p:nvSpPr>
        <p:spPr>
          <a:xfrm>
            <a:off x="6795045" y="295275"/>
            <a:ext cx="5015954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Slide 02</a:t>
            </a:r>
            <a:endParaRPr/>
          </a:p>
        </p:txBody>
      </p:sp>
      <p:sp>
        <p:nvSpPr>
          <p:cNvPr id="176" name="Google Shape;176;p14"/>
          <p:cNvSpPr/>
          <p:nvPr/>
        </p:nvSpPr>
        <p:spPr>
          <a:xfrm>
            <a:off x="381000" y="304800"/>
            <a:ext cx="285750" cy="152400"/>
          </a:xfrm>
          <a:prstGeom prst="roundRect">
            <a:avLst>
              <a:gd name="adj" fmla="val 50000"/>
            </a:avLst>
          </a:prstGeom>
          <a:noFill/>
          <a:ln w="19050" cap="flat" cmpd="sng">
            <a:solidFill>
              <a:srgbClr val="0F172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4"/>
          <p:cNvSpPr txBox="1"/>
          <p:nvPr/>
        </p:nvSpPr>
        <p:spPr>
          <a:xfrm>
            <a:off x="1668415" y="2819400"/>
            <a:ext cx="8855169" cy="704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u="none" strike="noStrike" cap="non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The Customization Spectrum</a:t>
            </a:r>
            <a:endParaRPr/>
          </a:p>
        </p:txBody>
      </p:sp>
      <p:sp>
        <p:nvSpPr>
          <p:cNvPr id="178" name="Google Shape;178;p14"/>
          <p:cNvSpPr/>
          <p:nvPr/>
        </p:nvSpPr>
        <p:spPr>
          <a:xfrm>
            <a:off x="5524500" y="3714750"/>
            <a:ext cx="1143000" cy="57150"/>
          </a:xfrm>
          <a:prstGeom prst="roundRect">
            <a:avLst>
              <a:gd name="adj" fmla="val 50000"/>
            </a:avLst>
          </a:prstGeom>
          <a:solidFill>
            <a:srgbClr val="16653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4"/>
          <p:cNvSpPr txBox="1"/>
          <p:nvPr/>
        </p:nvSpPr>
        <p:spPr>
          <a:xfrm>
            <a:off x="3344614" y="3962400"/>
            <a:ext cx="5502622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Navigating the trade-offs between effort and capability.</a:t>
            </a:r>
            <a:endParaRPr/>
          </a:p>
        </p:txBody>
      </p:sp>
      <p:sp>
        <p:nvSpPr>
          <p:cNvPr id="180" name="Google Shape;180;p14"/>
          <p:cNvSpPr/>
          <p:nvPr/>
        </p:nvSpPr>
        <p:spPr>
          <a:xfrm>
            <a:off x="0" y="6286500"/>
            <a:ext cx="12192000" cy="5715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4"/>
          <p:cNvSpPr txBox="1"/>
          <p:nvPr/>
        </p:nvSpPr>
        <p:spPr>
          <a:xfrm>
            <a:off x="381000" y="6286500"/>
            <a:ext cx="114300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There are multiple ways to customize an AI; fine-tuning is only one piece of the puzzle.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6" name="Google Shape;186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001250" y="4667250"/>
            <a:ext cx="3333750" cy="3333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396805" y="214312"/>
            <a:ext cx="1398240" cy="333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81000" y="6438900"/>
            <a:ext cx="1373981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3498651"/>
            <a:ext cx="2547937" cy="2041921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1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3405187" y="3498651"/>
            <a:ext cx="2547937" cy="2041921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15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238875" y="3498651"/>
            <a:ext cx="2547937" cy="2041921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15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9072562" y="3498651"/>
            <a:ext cx="2547937" cy="2041921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15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3520231" y="2193726"/>
            <a:ext cx="5151387" cy="828675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15"/>
          <p:cNvSpPr txBox="1"/>
          <p:nvPr/>
        </p:nvSpPr>
        <p:spPr>
          <a:xfrm>
            <a:off x="6795045" y="295275"/>
            <a:ext cx="5015954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Slide 03</a:t>
            </a:r>
            <a:endParaRPr/>
          </a:p>
        </p:txBody>
      </p:sp>
      <p:sp>
        <p:nvSpPr>
          <p:cNvPr id="195" name="Google Shape;195;p15"/>
          <p:cNvSpPr txBox="1"/>
          <p:nvPr/>
        </p:nvSpPr>
        <p:spPr>
          <a:xfrm>
            <a:off x="571500" y="952500"/>
            <a:ext cx="1160145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The AI Customization Ecosystem</a:t>
            </a:r>
            <a:endParaRPr/>
          </a:p>
        </p:txBody>
      </p:sp>
      <p:sp>
        <p:nvSpPr>
          <p:cNvPr id="196" name="Google Shape;196;p15"/>
          <p:cNvSpPr/>
          <p:nvPr/>
        </p:nvSpPr>
        <p:spPr>
          <a:xfrm>
            <a:off x="381000" y="304800"/>
            <a:ext cx="285750" cy="152400"/>
          </a:xfrm>
          <a:prstGeom prst="roundRect">
            <a:avLst>
              <a:gd name="adj" fmla="val 50000"/>
            </a:avLst>
          </a:prstGeom>
          <a:noFill/>
          <a:ln w="19050" cap="flat" cmpd="sng">
            <a:solidFill>
              <a:srgbClr val="0F172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15"/>
          <p:cNvSpPr/>
          <p:nvPr/>
        </p:nvSpPr>
        <p:spPr>
          <a:xfrm>
            <a:off x="1676400" y="4510087"/>
            <a:ext cx="88392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8" name="Google Shape;198;p15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1674018" y="3755826"/>
            <a:ext cx="342900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15"/>
          <p:cNvSpPr txBox="1"/>
          <p:nvPr/>
        </p:nvSpPr>
        <p:spPr>
          <a:xfrm>
            <a:off x="985208" y="4241601"/>
            <a:ext cx="1720371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Prompt Engineering</a:t>
            </a:r>
            <a:endParaRPr/>
          </a:p>
        </p:txBody>
      </p:sp>
      <p:sp>
        <p:nvSpPr>
          <p:cNvPr id="200" name="Google Shape;200;p15"/>
          <p:cNvSpPr txBox="1"/>
          <p:nvPr/>
        </p:nvSpPr>
        <p:spPr>
          <a:xfrm>
            <a:off x="828675" y="4536876"/>
            <a:ext cx="2033587" cy="5598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Fastest and cheapest. Modifies behavior via temporary text context without changing weights.</a:t>
            </a:r>
            <a:endParaRPr/>
          </a:p>
        </p:txBody>
      </p:sp>
      <p:pic>
        <p:nvPicPr>
          <p:cNvPr id="201" name="Google Shape;201;p15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4526756" y="3755826"/>
            <a:ext cx="304800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15"/>
          <p:cNvSpPr txBox="1"/>
          <p:nvPr/>
        </p:nvSpPr>
        <p:spPr>
          <a:xfrm>
            <a:off x="4479131" y="4241601"/>
            <a:ext cx="40005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RAG</a:t>
            </a:r>
            <a:endParaRPr/>
          </a:p>
        </p:txBody>
      </p:sp>
      <p:sp>
        <p:nvSpPr>
          <p:cNvPr id="203" name="Google Shape;203;p15"/>
          <p:cNvSpPr txBox="1"/>
          <p:nvPr/>
        </p:nvSpPr>
        <p:spPr>
          <a:xfrm>
            <a:off x="3662362" y="4536876"/>
            <a:ext cx="2033587" cy="5598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Retrieval-Augmented Generation. Injects external, live knowledge to reduce hallucinations.</a:t>
            </a:r>
            <a:endParaRPr/>
          </a:p>
        </p:txBody>
      </p:sp>
      <p:pic>
        <p:nvPicPr>
          <p:cNvPr id="204" name="Google Shape;204;p15" descr="image.png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7341393" y="3755826"/>
            <a:ext cx="342900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15"/>
          <p:cNvSpPr txBox="1"/>
          <p:nvPr/>
        </p:nvSpPr>
        <p:spPr>
          <a:xfrm>
            <a:off x="7004502" y="4241601"/>
            <a:ext cx="1016533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Fine-Tuning</a:t>
            </a:r>
            <a:endParaRPr/>
          </a:p>
        </p:txBody>
      </p:sp>
      <p:sp>
        <p:nvSpPr>
          <p:cNvPr id="206" name="Google Shape;206;p15"/>
          <p:cNvSpPr txBox="1"/>
          <p:nvPr/>
        </p:nvSpPr>
        <p:spPr>
          <a:xfrm>
            <a:off x="6496050" y="4536876"/>
            <a:ext cx="2033587" cy="7465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Updates internal weights to change fundamental behavior, tone, and deep domain knowledge.</a:t>
            </a:r>
            <a:endParaRPr/>
          </a:p>
        </p:txBody>
      </p:sp>
      <p:pic>
        <p:nvPicPr>
          <p:cNvPr id="207" name="Google Shape;207;p15" descr="image.png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10175081" y="3755826"/>
            <a:ext cx="342900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15"/>
          <p:cNvSpPr txBox="1"/>
          <p:nvPr/>
        </p:nvSpPr>
        <p:spPr>
          <a:xfrm>
            <a:off x="9821309" y="4241601"/>
            <a:ext cx="1050443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Pre-Training</a:t>
            </a:r>
            <a:endParaRPr/>
          </a:p>
        </p:txBody>
      </p:sp>
      <p:sp>
        <p:nvSpPr>
          <p:cNvPr id="209" name="Google Shape;209;p15"/>
          <p:cNvSpPr txBox="1"/>
          <p:nvPr/>
        </p:nvSpPr>
        <p:spPr>
          <a:xfrm>
            <a:off x="9329737" y="4536876"/>
            <a:ext cx="2033587" cy="5598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Creating a model from scratch. Costs millions of dollars and requires massive datasets.</a:t>
            </a:r>
            <a:endParaRPr/>
          </a:p>
        </p:txBody>
      </p:sp>
      <p:sp>
        <p:nvSpPr>
          <p:cNvPr id="210" name="Google Shape;210;p15"/>
          <p:cNvSpPr/>
          <p:nvPr/>
        </p:nvSpPr>
        <p:spPr>
          <a:xfrm>
            <a:off x="0" y="6286500"/>
            <a:ext cx="12192000" cy="5715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15"/>
          <p:cNvSpPr txBox="1"/>
          <p:nvPr/>
        </p:nvSpPr>
        <p:spPr>
          <a:xfrm>
            <a:off x="381000" y="6286500"/>
            <a:ext cx="114300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Start with prompting. Move to RAG for facts. Move to Fine-Tuning for behavior.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6" name="Google Shape;216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396805" y="214312"/>
            <a:ext cx="1398240" cy="333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7" name="Google Shape;217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81000" y="6438900"/>
            <a:ext cx="1373981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16"/>
          <p:cNvSpPr txBox="1"/>
          <p:nvPr/>
        </p:nvSpPr>
        <p:spPr>
          <a:xfrm>
            <a:off x="6795045" y="295275"/>
            <a:ext cx="5015954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Slide 04</a:t>
            </a:r>
            <a:endParaRPr/>
          </a:p>
        </p:txBody>
      </p:sp>
      <p:sp>
        <p:nvSpPr>
          <p:cNvPr id="219" name="Google Shape;219;p16"/>
          <p:cNvSpPr txBox="1"/>
          <p:nvPr/>
        </p:nvSpPr>
        <p:spPr>
          <a:xfrm>
            <a:off x="571500" y="1514475"/>
            <a:ext cx="1160145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Prompting vs. RAG vs. Fine-Tuning</a:t>
            </a:r>
            <a:endParaRPr/>
          </a:p>
        </p:txBody>
      </p:sp>
      <p:sp>
        <p:nvSpPr>
          <p:cNvPr id="220" name="Google Shape;220;p16"/>
          <p:cNvSpPr txBox="1"/>
          <p:nvPr/>
        </p:nvSpPr>
        <p:spPr>
          <a:xfrm>
            <a:off x="571500" y="2200275"/>
            <a:ext cx="11049000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Comparing the three primary enterprise approaches.</a:t>
            </a:r>
            <a:endParaRPr/>
          </a:p>
        </p:txBody>
      </p:sp>
      <p:sp>
        <p:nvSpPr>
          <p:cNvPr id="221" name="Google Shape;221;p16"/>
          <p:cNvSpPr/>
          <p:nvPr/>
        </p:nvSpPr>
        <p:spPr>
          <a:xfrm>
            <a:off x="571500" y="2705100"/>
            <a:ext cx="11049000" cy="2828925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22" name="Google Shape;222;p16"/>
          <p:cNvGraphicFramePr/>
          <p:nvPr/>
        </p:nvGraphicFramePr>
        <p:xfrm>
          <a:off x="571500" y="2705100"/>
          <a:ext cx="11049000" cy="2828875"/>
        </p:xfrm>
        <a:graphic>
          <a:graphicData uri="http://schemas.openxmlformats.org/drawingml/2006/table">
            <a:tbl>
              <a:tblPr firstRow="1" bandRow="1">
                <a:noFill/>
                <a:tableStyleId>{9D27C938-929C-4AEE-B1C6-888D7F95FA72}</a:tableStyleId>
              </a:tblPr>
              <a:tblGrid>
                <a:gridCol w="257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822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76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417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657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Feature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Prompt Engineering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RAG (Retrieval)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Fine-Tuning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57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33415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Memory Type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33415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Short-Term (Context Window)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33415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Long-Term (Vector Database)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33415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Internal (Neural Weights)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57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33415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Implementation Cost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33415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Very Low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33415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Medium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33415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High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57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33415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Changes Model Weights?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33415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No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33415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No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33415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Yes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57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33415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Best Used For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33415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Simple Instructions &amp; Formatting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33415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Live Facts &amp; Corporate Docs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33415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Brand Tone &amp; Complex Tasks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23" name="Google Shape;223;p16"/>
          <p:cNvSpPr/>
          <p:nvPr/>
        </p:nvSpPr>
        <p:spPr>
          <a:xfrm>
            <a:off x="381000" y="304800"/>
            <a:ext cx="285750" cy="152400"/>
          </a:xfrm>
          <a:prstGeom prst="roundRect">
            <a:avLst>
              <a:gd name="adj" fmla="val 50000"/>
            </a:avLst>
          </a:prstGeom>
          <a:noFill/>
          <a:ln w="19050" cap="flat" cmpd="sng">
            <a:solidFill>
              <a:srgbClr val="0F172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16"/>
          <p:cNvSpPr/>
          <p:nvPr/>
        </p:nvSpPr>
        <p:spPr>
          <a:xfrm>
            <a:off x="571500" y="3833812"/>
            <a:ext cx="257740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16"/>
          <p:cNvSpPr/>
          <p:nvPr/>
        </p:nvSpPr>
        <p:spPr>
          <a:xfrm>
            <a:off x="3148905" y="3833812"/>
            <a:ext cx="298221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16"/>
          <p:cNvSpPr/>
          <p:nvPr/>
        </p:nvSpPr>
        <p:spPr>
          <a:xfrm>
            <a:off x="6131123" y="3833812"/>
            <a:ext cx="274766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16"/>
          <p:cNvSpPr/>
          <p:nvPr/>
        </p:nvSpPr>
        <p:spPr>
          <a:xfrm>
            <a:off x="8878788" y="3833812"/>
            <a:ext cx="274171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16"/>
          <p:cNvSpPr/>
          <p:nvPr/>
        </p:nvSpPr>
        <p:spPr>
          <a:xfrm>
            <a:off x="571500" y="4395787"/>
            <a:ext cx="257740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16"/>
          <p:cNvSpPr/>
          <p:nvPr/>
        </p:nvSpPr>
        <p:spPr>
          <a:xfrm>
            <a:off x="3148905" y="4395787"/>
            <a:ext cx="298221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16"/>
          <p:cNvSpPr/>
          <p:nvPr/>
        </p:nvSpPr>
        <p:spPr>
          <a:xfrm>
            <a:off x="6131123" y="4395787"/>
            <a:ext cx="274766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16"/>
          <p:cNvSpPr/>
          <p:nvPr/>
        </p:nvSpPr>
        <p:spPr>
          <a:xfrm>
            <a:off x="8878788" y="4395787"/>
            <a:ext cx="274171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16"/>
          <p:cNvSpPr/>
          <p:nvPr/>
        </p:nvSpPr>
        <p:spPr>
          <a:xfrm>
            <a:off x="571500" y="4957762"/>
            <a:ext cx="257740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16"/>
          <p:cNvSpPr/>
          <p:nvPr/>
        </p:nvSpPr>
        <p:spPr>
          <a:xfrm>
            <a:off x="3148905" y="4957762"/>
            <a:ext cx="298221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16"/>
          <p:cNvSpPr/>
          <p:nvPr/>
        </p:nvSpPr>
        <p:spPr>
          <a:xfrm>
            <a:off x="6131123" y="4957762"/>
            <a:ext cx="274766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16"/>
          <p:cNvSpPr/>
          <p:nvPr/>
        </p:nvSpPr>
        <p:spPr>
          <a:xfrm>
            <a:off x="8878788" y="4957762"/>
            <a:ext cx="274171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16"/>
          <p:cNvSpPr/>
          <p:nvPr/>
        </p:nvSpPr>
        <p:spPr>
          <a:xfrm>
            <a:off x="571500" y="5519737"/>
            <a:ext cx="257740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16"/>
          <p:cNvSpPr/>
          <p:nvPr/>
        </p:nvSpPr>
        <p:spPr>
          <a:xfrm>
            <a:off x="3148905" y="5519737"/>
            <a:ext cx="298221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16"/>
          <p:cNvSpPr/>
          <p:nvPr/>
        </p:nvSpPr>
        <p:spPr>
          <a:xfrm>
            <a:off x="6131123" y="5519737"/>
            <a:ext cx="274766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16"/>
          <p:cNvSpPr/>
          <p:nvPr/>
        </p:nvSpPr>
        <p:spPr>
          <a:xfrm>
            <a:off x="8878788" y="5519737"/>
            <a:ext cx="274171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16"/>
          <p:cNvSpPr/>
          <p:nvPr/>
        </p:nvSpPr>
        <p:spPr>
          <a:xfrm>
            <a:off x="0" y="6286500"/>
            <a:ext cx="12192000" cy="5715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16"/>
          <p:cNvSpPr txBox="1"/>
          <p:nvPr/>
        </p:nvSpPr>
        <p:spPr>
          <a:xfrm>
            <a:off x="381000" y="6286500"/>
            <a:ext cx="114300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Fine-tuning is for teaching a model a new skill, not for teaching it new facts.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6" name="Google Shape;246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762000" y="-762000"/>
            <a:ext cx="2857500" cy="2857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7" name="Google Shape;247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396805" y="214312"/>
            <a:ext cx="1398240" cy="333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8" name="Google Shape;248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81000" y="6438900"/>
            <a:ext cx="1373981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9" name="Google Shape;249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1638300"/>
            <a:ext cx="5286375" cy="4457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0" name="Google Shape;250;p17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334125" y="1638300"/>
            <a:ext cx="5286375" cy="4457700"/>
          </a:xfrm>
          <a:prstGeom prst="rect">
            <a:avLst/>
          </a:prstGeom>
          <a:noFill/>
          <a:ln>
            <a:noFill/>
          </a:ln>
        </p:spPr>
      </p:pic>
      <p:sp>
        <p:nvSpPr>
          <p:cNvPr id="251" name="Google Shape;251;p17"/>
          <p:cNvSpPr txBox="1"/>
          <p:nvPr/>
        </p:nvSpPr>
        <p:spPr>
          <a:xfrm>
            <a:off x="6795045" y="295275"/>
            <a:ext cx="5015954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Slide 05</a:t>
            </a:r>
            <a:endParaRPr/>
          </a:p>
        </p:txBody>
      </p:sp>
      <p:sp>
        <p:nvSpPr>
          <p:cNvPr id="252" name="Google Shape;252;p17"/>
          <p:cNvSpPr txBox="1"/>
          <p:nvPr/>
        </p:nvSpPr>
        <p:spPr>
          <a:xfrm>
            <a:off x="571500" y="952500"/>
            <a:ext cx="1160145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When to use RAG vs Fine-Tuning</a:t>
            </a:r>
            <a:endParaRPr/>
          </a:p>
        </p:txBody>
      </p:sp>
      <p:sp>
        <p:nvSpPr>
          <p:cNvPr id="253" name="Google Shape;253;p17"/>
          <p:cNvSpPr/>
          <p:nvPr/>
        </p:nvSpPr>
        <p:spPr>
          <a:xfrm>
            <a:off x="381000" y="304800"/>
            <a:ext cx="285750" cy="152400"/>
          </a:xfrm>
          <a:prstGeom prst="roundRect">
            <a:avLst>
              <a:gd name="adj" fmla="val 50000"/>
            </a:avLst>
          </a:prstGeom>
          <a:noFill/>
          <a:ln w="19050" cap="flat" cmpd="sng">
            <a:solidFill>
              <a:srgbClr val="0F172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17"/>
          <p:cNvSpPr txBox="1"/>
          <p:nvPr/>
        </p:nvSpPr>
        <p:spPr>
          <a:xfrm>
            <a:off x="952500" y="2614612"/>
            <a:ext cx="2800350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Choose RAG When...</a:t>
            </a:r>
            <a:endParaRPr/>
          </a:p>
        </p:txBody>
      </p:sp>
      <p:sp>
        <p:nvSpPr>
          <p:cNvPr id="255" name="Google Shape;255;p17"/>
          <p:cNvSpPr/>
          <p:nvPr/>
        </p:nvSpPr>
        <p:spPr>
          <a:xfrm>
            <a:off x="952500" y="2995612"/>
            <a:ext cx="2667000" cy="28575"/>
          </a:xfrm>
          <a:prstGeom prst="rect">
            <a:avLst/>
          </a:prstGeom>
          <a:solidFill>
            <a:srgbClr val="16653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17"/>
          <p:cNvSpPr txBox="1"/>
          <p:nvPr/>
        </p:nvSpPr>
        <p:spPr>
          <a:xfrm>
            <a:off x="6715125" y="2509837"/>
            <a:ext cx="3759376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Choose Fine-Tuning When...</a:t>
            </a:r>
            <a:endParaRPr/>
          </a:p>
        </p:txBody>
      </p:sp>
      <p:sp>
        <p:nvSpPr>
          <p:cNvPr id="257" name="Google Shape;257;p17"/>
          <p:cNvSpPr/>
          <p:nvPr/>
        </p:nvSpPr>
        <p:spPr>
          <a:xfrm>
            <a:off x="6715125" y="2890837"/>
            <a:ext cx="3580358" cy="28575"/>
          </a:xfrm>
          <a:prstGeom prst="rect">
            <a:avLst/>
          </a:prstGeom>
          <a:solidFill>
            <a:srgbClr val="16653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17"/>
          <p:cNvSpPr txBox="1"/>
          <p:nvPr/>
        </p:nvSpPr>
        <p:spPr>
          <a:xfrm>
            <a:off x="1076325" y="3214687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/>
          </a:p>
        </p:txBody>
      </p:sp>
      <p:sp>
        <p:nvSpPr>
          <p:cNvPr id="259" name="Google Shape;259;p17"/>
          <p:cNvSpPr txBox="1"/>
          <p:nvPr/>
        </p:nvSpPr>
        <p:spPr>
          <a:xfrm>
            <a:off x="1143000" y="3214687"/>
            <a:ext cx="433387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Data changes frequently (e.g., live pricing or inventory).</a:t>
            </a:r>
            <a:endParaRPr/>
          </a:p>
        </p:txBody>
      </p:sp>
      <p:sp>
        <p:nvSpPr>
          <p:cNvPr id="260" name="Google Shape;260;p17"/>
          <p:cNvSpPr txBox="1"/>
          <p:nvPr/>
        </p:nvSpPr>
        <p:spPr>
          <a:xfrm>
            <a:off x="1076325" y="3919537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/>
          </a:p>
        </p:txBody>
      </p:sp>
      <p:sp>
        <p:nvSpPr>
          <p:cNvPr id="261" name="Google Shape;261;p17"/>
          <p:cNvSpPr txBox="1"/>
          <p:nvPr/>
        </p:nvSpPr>
        <p:spPr>
          <a:xfrm>
            <a:off x="1143000" y="3919537"/>
            <a:ext cx="43338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You need exact source citations for compliance.</a:t>
            </a:r>
            <a:endParaRPr/>
          </a:p>
        </p:txBody>
      </p:sp>
      <p:sp>
        <p:nvSpPr>
          <p:cNvPr id="262" name="Google Shape;262;p17"/>
          <p:cNvSpPr txBox="1"/>
          <p:nvPr/>
        </p:nvSpPr>
        <p:spPr>
          <a:xfrm>
            <a:off x="1076325" y="4319587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/>
          </a:p>
        </p:txBody>
      </p:sp>
      <p:sp>
        <p:nvSpPr>
          <p:cNvPr id="263" name="Google Shape;263;p17"/>
          <p:cNvSpPr txBox="1"/>
          <p:nvPr/>
        </p:nvSpPr>
        <p:spPr>
          <a:xfrm>
            <a:off x="1143000" y="4319587"/>
            <a:ext cx="43338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Hallucinations must be strictly minimized.</a:t>
            </a:r>
            <a:endParaRPr/>
          </a:p>
        </p:txBody>
      </p:sp>
      <p:sp>
        <p:nvSpPr>
          <p:cNvPr id="264" name="Google Shape;264;p17"/>
          <p:cNvSpPr txBox="1"/>
          <p:nvPr/>
        </p:nvSpPr>
        <p:spPr>
          <a:xfrm>
            <a:off x="1076325" y="4719637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/>
          </a:p>
        </p:txBody>
      </p:sp>
      <p:sp>
        <p:nvSpPr>
          <p:cNvPr id="265" name="Google Shape;265;p17"/>
          <p:cNvSpPr txBox="1"/>
          <p:nvPr/>
        </p:nvSpPr>
        <p:spPr>
          <a:xfrm>
            <a:off x="1143000" y="4719637"/>
            <a:ext cx="43338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You cannot afford to retrain a model weekly.</a:t>
            </a:r>
            <a:endParaRPr/>
          </a:p>
        </p:txBody>
      </p:sp>
      <p:sp>
        <p:nvSpPr>
          <p:cNvPr id="266" name="Google Shape;266;p17"/>
          <p:cNvSpPr txBox="1"/>
          <p:nvPr/>
        </p:nvSpPr>
        <p:spPr>
          <a:xfrm>
            <a:off x="6838950" y="3109912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/>
          </a:p>
        </p:txBody>
      </p:sp>
      <p:sp>
        <p:nvSpPr>
          <p:cNvPr id="267" name="Google Shape;267;p17"/>
          <p:cNvSpPr txBox="1"/>
          <p:nvPr/>
        </p:nvSpPr>
        <p:spPr>
          <a:xfrm>
            <a:off x="6905625" y="3109912"/>
            <a:ext cx="433387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You need a highly specific tone or output format (like strict JSON).</a:t>
            </a:r>
            <a:endParaRPr/>
          </a:p>
        </p:txBody>
      </p:sp>
      <p:sp>
        <p:nvSpPr>
          <p:cNvPr id="268" name="Google Shape;268;p17"/>
          <p:cNvSpPr txBox="1"/>
          <p:nvPr/>
        </p:nvSpPr>
        <p:spPr>
          <a:xfrm>
            <a:off x="6838950" y="3814762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/>
          </a:p>
        </p:txBody>
      </p:sp>
      <p:sp>
        <p:nvSpPr>
          <p:cNvPr id="269" name="Google Shape;269;p17"/>
          <p:cNvSpPr txBox="1"/>
          <p:nvPr/>
        </p:nvSpPr>
        <p:spPr>
          <a:xfrm>
            <a:off x="6905625" y="3814762"/>
            <a:ext cx="433387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RAG context window is too small or API calls are too expensive.</a:t>
            </a:r>
            <a:endParaRPr/>
          </a:p>
        </p:txBody>
      </p:sp>
      <p:sp>
        <p:nvSpPr>
          <p:cNvPr id="270" name="Google Shape;270;p17"/>
          <p:cNvSpPr txBox="1"/>
          <p:nvPr/>
        </p:nvSpPr>
        <p:spPr>
          <a:xfrm>
            <a:off x="6838950" y="4519612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/>
          </a:p>
        </p:txBody>
      </p:sp>
      <p:sp>
        <p:nvSpPr>
          <p:cNvPr id="271" name="Google Shape;271;p17"/>
          <p:cNvSpPr txBox="1"/>
          <p:nvPr/>
        </p:nvSpPr>
        <p:spPr>
          <a:xfrm>
            <a:off x="6905625" y="4519612"/>
            <a:ext cx="433387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Teaching the model a complex new "skill" (e.g., drafting legal clauses).</a:t>
            </a:r>
            <a:endParaRPr/>
          </a:p>
        </p:txBody>
      </p:sp>
      <p:sp>
        <p:nvSpPr>
          <p:cNvPr id="272" name="Google Shape;272;p17"/>
          <p:cNvSpPr/>
          <p:nvPr/>
        </p:nvSpPr>
        <p:spPr>
          <a:xfrm>
            <a:off x="0" y="6286500"/>
            <a:ext cx="12192000" cy="5715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17"/>
          <p:cNvSpPr txBox="1"/>
          <p:nvPr/>
        </p:nvSpPr>
        <p:spPr>
          <a:xfrm>
            <a:off x="381000" y="6286500"/>
            <a:ext cx="114300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The most advanced enterprise systems use Fine-Tuning AND RAG simultaneously.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8" name="Google Shape;278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396805" y="214312"/>
            <a:ext cx="1398240" cy="333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9" name="Google Shape;279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81000" y="6438900"/>
            <a:ext cx="1373981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0" name="Google Shape;280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2881312"/>
            <a:ext cx="2583656" cy="2476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1" name="Google Shape;281;p1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393281" y="2881312"/>
            <a:ext cx="2583656" cy="2476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2" name="Google Shape;282;p18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215062" y="2881312"/>
            <a:ext cx="2583656" cy="2476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3" name="Google Shape;283;p18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9036843" y="2881312"/>
            <a:ext cx="2583656" cy="2476500"/>
          </a:xfrm>
          <a:prstGeom prst="rect">
            <a:avLst/>
          </a:prstGeom>
          <a:noFill/>
          <a:ln>
            <a:noFill/>
          </a:ln>
        </p:spPr>
      </p:pic>
      <p:sp>
        <p:nvSpPr>
          <p:cNvPr id="284" name="Google Shape;284;p18"/>
          <p:cNvSpPr txBox="1"/>
          <p:nvPr/>
        </p:nvSpPr>
        <p:spPr>
          <a:xfrm>
            <a:off x="6795045" y="295275"/>
            <a:ext cx="5015954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Slide 06</a:t>
            </a:r>
            <a:endParaRPr/>
          </a:p>
        </p:txBody>
      </p:sp>
      <p:sp>
        <p:nvSpPr>
          <p:cNvPr id="285" name="Google Shape;285;p18"/>
          <p:cNvSpPr txBox="1"/>
          <p:nvPr/>
        </p:nvSpPr>
        <p:spPr>
          <a:xfrm>
            <a:off x="571500" y="1690687"/>
            <a:ext cx="1160145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Primary Fine-Tuning Use Cases</a:t>
            </a:r>
            <a:endParaRPr/>
          </a:p>
        </p:txBody>
      </p:sp>
      <p:sp>
        <p:nvSpPr>
          <p:cNvPr id="286" name="Google Shape;286;p18"/>
          <p:cNvSpPr txBox="1"/>
          <p:nvPr/>
        </p:nvSpPr>
        <p:spPr>
          <a:xfrm>
            <a:off x="571500" y="2376487"/>
            <a:ext cx="11049000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Where weight updates provide the highest ROI.</a:t>
            </a:r>
            <a:endParaRPr/>
          </a:p>
        </p:txBody>
      </p:sp>
      <p:sp>
        <p:nvSpPr>
          <p:cNvPr id="287" name="Google Shape;287;p18"/>
          <p:cNvSpPr/>
          <p:nvPr/>
        </p:nvSpPr>
        <p:spPr>
          <a:xfrm>
            <a:off x="381000" y="304800"/>
            <a:ext cx="285750" cy="152400"/>
          </a:xfrm>
          <a:prstGeom prst="roundRect">
            <a:avLst>
              <a:gd name="adj" fmla="val 50000"/>
            </a:avLst>
          </a:prstGeom>
          <a:noFill/>
          <a:ln w="19050" cap="flat" cmpd="sng">
            <a:solidFill>
              <a:srgbClr val="0F172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8" name="Google Shape;288;p18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563290" y="3176587"/>
            <a:ext cx="600075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89" name="Google Shape;289;p18"/>
          <p:cNvSpPr txBox="1"/>
          <p:nvPr/>
        </p:nvSpPr>
        <p:spPr>
          <a:xfrm>
            <a:off x="1165115" y="3843337"/>
            <a:ext cx="1396424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Tone Matching</a:t>
            </a:r>
            <a:endParaRPr/>
          </a:p>
        </p:txBody>
      </p:sp>
      <p:sp>
        <p:nvSpPr>
          <p:cNvPr id="290" name="Google Shape;290;p18"/>
          <p:cNvSpPr txBox="1"/>
          <p:nvPr/>
        </p:nvSpPr>
        <p:spPr>
          <a:xfrm>
            <a:off x="771525" y="4205287"/>
            <a:ext cx="2183606" cy="642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Ingesting past emails to make a customer support bot sound exactly like your brand voice.</a:t>
            </a:r>
            <a:endParaRPr/>
          </a:p>
        </p:txBody>
      </p:sp>
      <p:pic>
        <p:nvPicPr>
          <p:cNvPr id="291" name="Google Shape;291;p18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4385071" y="3176587"/>
            <a:ext cx="600075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92" name="Google Shape;292;p18"/>
          <p:cNvSpPr txBox="1"/>
          <p:nvPr/>
        </p:nvSpPr>
        <p:spPr>
          <a:xfrm>
            <a:off x="3805155" y="3843337"/>
            <a:ext cx="1759907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Format Adherence</a:t>
            </a:r>
            <a:endParaRPr/>
          </a:p>
        </p:txBody>
      </p:sp>
      <p:sp>
        <p:nvSpPr>
          <p:cNvPr id="293" name="Google Shape;293;p18"/>
          <p:cNvSpPr txBox="1"/>
          <p:nvPr/>
        </p:nvSpPr>
        <p:spPr>
          <a:xfrm>
            <a:off x="3593306" y="4205287"/>
            <a:ext cx="2183606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Training a model to strictly output complex SQL queries or JSON structures without conversational filler.</a:t>
            </a:r>
            <a:endParaRPr/>
          </a:p>
        </p:txBody>
      </p:sp>
      <p:pic>
        <p:nvPicPr>
          <p:cNvPr id="294" name="Google Shape;294;p18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7297340" y="3176587"/>
            <a:ext cx="41910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95" name="Google Shape;295;p18"/>
          <p:cNvSpPr txBox="1"/>
          <p:nvPr/>
        </p:nvSpPr>
        <p:spPr>
          <a:xfrm>
            <a:off x="6778834" y="3843337"/>
            <a:ext cx="1455963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Domain Jargon</a:t>
            </a:r>
            <a:endParaRPr/>
          </a:p>
        </p:txBody>
      </p:sp>
      <p:sp>
        <p:nvSpPr>
          <p:cNvPr id="296" name="Google Shape;296;p18"/>
          <p:cNvSpPr txBox="1"/>
          <p:nvPr/>
        </p:nvSpPr>
        <p:spPr>
          <a:xfrm>
            <a:off x="6415087" y="4205287"/>
            <a:ext cx="2183606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Teaching a model to understand dense Medical, Legal, or complex Engineering terminology inherently.</a:t>
            </a:r>
            <a:endParaRPr/>
          </a:p>
        </p:txBody>
      </p:sp>
      <p:pic>
        <p:nvPicPr>
          <p:cNvPr id="297" name="Google Shape;297;p18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10119121" y="3176587"/>
            <a:ext cx="41910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98" name="Google Shape;298;p18"/>
          <p:cNvSpPr txBox="1"/>
          <p:nvPr/>
        </p:nvSpPr>
        <p:spPr>
          <a:xfrm>
            <a:off x="9856116" y="3843337"/>
            <a:ext cx="944961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Efficiency</a:t>
            </a:r>
            <a:endParaRPr/>
          </a:p>
        </p:txBody>
      </p:sp>
      <p:sp>
        <p:nvSpPr>
          <p:cNvPr id="299" name="Google Shape;299;p18"/>
          <p:cNvSpPr txBox="1"/>
          <p:nvPr/>
        </p:nvSpPr>
        <p:spPr>
          <a:xfrm>
            <a:off x="9236868" y="4205287"/>
            <a:ext cx="2183606" cy="642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Distilling a massive model's capability into a smaller, cheaper model to run locally at the edge.</a:t>
            </a:r>
            <a:endParaRPr/>
          </a:p>
        </p:txBody>
      </p:sp>
      <p:sp>
        <p:nvSpPr>
          <p:cNvPr id="300" name="Google Shape;300;p18"/>
          <p:cNvSpPr/>
          <p:nvPr/>
        </p:nvSpPr>
        <p:spPr>
          <a:xfrm>
            <a:off x="0" y="6286500"/>
            <a:ext cx="12192000" cy="5715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18"/>
          <p:cNvSpPr txBox="1"/>
          <p:nvPr/>
        </p:nvSpPr>
        <p:spPr>
          <a:xfrm>
            <a:off x="381000" y="6286500"/>
            <a:ext cx="114300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Fine-tuning excels at conditioning the "shape" and "style" of the output, rather than the informational content.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6" name="Google Shape;306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001250" y="4667250"/>
            <a:ext cx="3333750" cy="3333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7" name="Google Shape;307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396805" y="214312"/>
            <a:ext cx="1398240" cy="333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8" name="Google Shape;308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81000" y="6438900"/>
            <a:ext cx="1373981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9" name="Google Shape;309;p1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286500" y="1638300"/>
            <a:ext cx="5334000" cy="5334000"/>
          </a:xfrm>
          <a:prstGeom prst="rect">
            <a:avLst/>
          </a:prstGeom>
          <a:noFill/>
          <a:ln>
            <a:noFill/>
          </a:ln>
        </p:spPr>
      </p:pic>
      <p:sp>
        <p:nvSpPr>
          <p:cNvPr id="310" name="Google Shape;310;p19"/>
          <p:cNvSpPr txBox="1"/>
          <p:nvPr/>
        </p:nvSpPr>
        <p:spPr>
          <a:xfrm>
            <a:off x="6795045" y="295275"/>
            <a:ext cx="5015954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Slide 07</a:t>
            </a:r>
            <a:endParaRPr/>
          </a:p>
        </p:txBody>
      </p:sp>
      <p:sp>
        <p:nvSpPr>
          <p:cNvPr id="311" name="Google Shape;311;p19"/>
          <p:cNvSpPr txBox="1"/>
          <p:nvPr/>
        </p:nvSpPr>
        <p:spPr>
          <a:xfrm>
            <a:off x="571500" y="952500"/>
            <a:ext cx="1160145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What is Full Fine-Tuning?</a:t>
            </a:r>
            <a:endParaRPr/>
          </a:p>
        </p:txBody>
      </p:sp>
      <p:sp>
        <p:nvSpPr>
          <p:cNvPr id="312" name="Google Shape;312;p19"/>
          <p:cNvSpPr/>
          <p:nvPr/>
        </p:nvSpPr>
        <p:spPr>
          <a:xfrm>
            <a:off x="381000" y="304800"/>
            <a:ext cx="285750" cy="152400"/>
          </a:xfrm>
          <a:prstGeom prst="roundRect">
            <a:avLst>
              <a:gd name="adj" fmla="val 50000"/>
            </a:avLst>
          </a:prstGeom>
          <a:noFill/>
          <a:ln w="19050" cap="flat" cmpd="sng">
            <a:solidFill>
              <a:srgbClr val="0F172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19"/>
          <p:cNvSpPr txBox="1"/>
          <p:nvPr/>
        </p:nvSpPr>
        <p:spPr>
          <a:xfrm>
            <a:off x="571500" y="2928937"/>
            <a:ext cx="53340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Full Fine-Tuning (FFT)</a:t>
            </a:r>
            <a:r>
              <a:rPr lang="en-US" sz="1500" b="0" i="0" u="none" strike="noStrike" cap="non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recalculates every single weight in the neural network during backpropagation.</a:t>
            </a:r>
            <a:endParaRPr/>
          </a:p>
        </p:txBody>
      </p:sp>
      <p:pic>
        <p:nvPicPr>
          <p:cNvPr id="314" name="Google Shape;314;p19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286500" y="1638300"/>
            <a:ext cx="5334000" cy="5334000"/>
          </a:xfrm>
          <a:prstGeom prst="rect">
            <a:avLst/>
          </a:prstGeom>
          <a:noFill/>
          <a:ln>
            <a:noFill/>
          </a:ln>
        </p:spPr>
      </p:pic>
      <p:sp>
        <p:nvSpPr>
          <p:cNvPr id="315" name="Google Shape;315;p19"/>
          <p:cNvSpPr txBox="1"/>
          <p:nvPr/>
        </p:nvSpPr>
        <p:spPr>
          <a:xfrm>
            <a:off x="695325" y="3729037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/>
          </a:p>
        </p:txBody>
      </p:sp>
      <p:sp>
        <p:nvSpPr>
          <p:cNvPr id="316" name="Google Shape;316;p19"/>
          <p:cNvSpPr txBox="1"/>
          <p:nvPr/>
        </p:nvSpPr>
        <p:spPr>
          <a:xfrm>
            <a:off x="762000" y="3729037"/>
            <a:ext cx="51435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If a base model has </a:t>
            </a:r>
            <a:r>
              <a:rPr lang="en-US" sz="1500" b="1" i="0" u="none" strike="noStrike" cap="non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70 Billion parameters</a:t>
            </a:r>
            <a:r>
              <a:rPr lang="en-US" sz="1500" b="0" i="0" u="none" strike="noStrike" cap="non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, FFT requires updating all 70 Billion weights.</a:t>
            </a:r>
            <a:endParaRPr/>
          </a:p>
        </p:txBody>
      </p:sp>
      <p:sp>
        <p:nvSpPr>
          <p:cNvPr id="317" name="Google Shape;317;p19"/>
          <p:cNvSpPr txBox="1"/>
          <p:nvPr/>
        </p:nvSpPr>
        <p:spPr>
          <a:xfrm>
            <a:off x="695325" y="4481512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/>
          </a:p>
        </p:txBody>
      </p:sp>
      <p:sp>
        <p:nvSpPr>
          <p:cNvPr id="318" name="Google Shape;318;p19"/>
          <p:cNvSpPr txBox="1"/>
          <p:nvPr/>
        </p:nvSpPr>
        <p:spPr>
          <a:xfrm>
            <a:off x="762000" y="4481512"/>
            <a:ext cx="51435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This demands massive clusters of GPUs to hold the model, optimizer states, and gradients in memory simultaneously.</a:t>
            </a:r>
            <a:endParaRPr/>
          </a:p>
        </p:txBody>
      </p:sp>
      <p:sp>
        <p:nvSpPr>
          <p:cNvPr id="319" name="Google Shape;319;p19"/>
          <p:cNvSpPr txBox="1"/>
          <p:nvPr/>
        </p:nvSpPr>
        <p:spPr>
          <a:xfrm>
            <a:off x="695325" y="5233987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/>
          </a:p>
        </p:txBody>
      </p:sp>
      <p:sp>
        <p:nvSpPr>
          <p:cNvPr id="320" name="Google Shape;320;p19"/>
          <p:cNvSpPr txBox="1"/>
          <p:nvPr/>
        </p:nvSpPr>
        <p:spPr>
          <a:xfrm>
            <a:off x="762000" y="5233987"/>
            <a:ext cx="51435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Produces an entirely new, massive model file.</a:t>
            </a:r>
            <a:endParaRPr/>
          </a:p>
        </p:txBody>
      </p:sp>
      <p:sp>
        <p:nvSpPr>
          <p:cNvPr id="321" name="Google Shape;321;p19"/>
          <p:cNvSpPr/>
          <p:nvPr/>
        </p:nvSpPr>
        <p:spPr>
          <a:xfrm>
            <a:off x="0" y="6286500"/>
            <a:ext cx="12192000" cy="5715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19"/>
          <p:cNvSpPr txBox="1"/>
          <p:nvPr/>
        </p:nvSpPr>
        <p:spPr>
          <a:xfrm>
            <a:off x="381000" y="6286500"/>
            <a:ext cx="114300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Full Fine-Tuning is the traditional approach, but it is notoriously resource-intensive.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7" name="Google Shape;327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444055" y="1071562"/>
            <a:ext cx="1398240" cy="333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8" name="Google Shape;328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29" name="Google Shape;329;p20"/>
          <p:cNvSpPr txBox="1"/>
          <p:nvPr/>
        </p:nvSpPr>
        <p:spPr>
          <a:xfrm>
            <a:off x="571500" y="1714500"/>
            <a:ext cx="5400675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The Problem with Full Fine-Tuning</a:t>
            </a:r>
            <a:endParaRPr/>
          </a:p>
        </p:txBody>
      </p:sp>
      <p:sp>
        <p:nvSpPr>
          <p:cNvPr id="330" name="Google Shape;330;p20"/>
          <p:cNvSpPr txBox="1"/>
          <p:nvPr/>
        </p:nvSpPr>
        <p:spPr>
          <a:xfrm>
            <a:off x="571500" y="2914650"/>
            <a:ext cx="51435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While effective, Full Fine-Tuning is </a:t>
            </a:r>
            <a:r>
              <a:rPr lang="en-US" sz="1500" b="1" i="0" u="none" strike="noStrike" cap="non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financially prohibitive</a:t>
            </a:r>
            <a:r>
              <a:rPr lang="en-US" sz="1500" b="0" i="0" u="none" strike="noStrike" cap="non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for most enterprises.</a:t>
            </a:r>
            <a:endParaRPr/>
          </a:p>
        </p:txBody>
      </p:sp>
      <p:sp>
        <p:nvSpPr>
          <p:cNvPr id="331" name="Google Shape;331;p20"/>
          <p:cNvSpPr txBox="1"/>
          <p:nvPr/>
        </p:nvSpPr>
        <p:spPr>
          <a:xfrm>
            <a:off x="695325" y="3714750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/>
          </a:p>
        </p:txBody>
      </p:sp>
      <p:sp>
        <p:nvSpPr>
          <p:cNvPr id="332" name="Google Shape;332;p20"/>
          <p:cNvSpPr txBox="1"/>
          <p:nvPr/>
        </p:nvSpPr>
        <p:spPr>
          <a:xfrm>
            <a:off x="762000" y="3714750"/>
            <a:ext cx="49530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A 7B parameter model might require 8x A100 GPUs (costing $10k+ / month).</a:t>
            </a:r>
            <a:endParaRPr/>
          </a:p>
        </p:txBody>
      </p:sp>
      <p:sp>
        <p:nvSpPr>
          <p:cNvPr id="333" name="Google Shape;333;p20"/>
          <p:cNvSpPr txBox="1"/>
          <p:nvPr/>
        </p:nvSpPr>
        <p:spPr>
          <a:xfrm>
            <a:off x="695325" y="4467225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/>
          </a:p>
        </p:txBody>
      </p:sp>
      <p:sp>
        <p:nvSpPr>
          <p:cNvPr id="334" name="Google Shape;334;p20"/>
          <p:cNvSpPr txBox="1"/>
          <p:nvPr/>
        </p:nvSpPr>
        <p:spPr>
          <a:xfrm>
            <a:off x="762000" y="4467225"/>
            <a:ext cx="4953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Training takes days or weeks of continuous compute.</a:t>
            </a:r>
            <a:endParaRPr/>
          </a:p>
        </p:txBody>
      </p:sp>
      <p:sp>
        <p:nvSpPr>
          <p:cNvPr id="335" name="Google Shape;335;p20"/>
          <p:cNvSpPr txBox="1"/>
          <p:nvPr/>
        </p:nvSpPr>
        <p:spPr>
          <a:xfrm>
            <a:off x="695325" y="4914900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/>
          </a:p>
        </p:txBody>
      </p:sp>
      <p:sp>
        <p:nvSpPr>
          <p:cNvPr id="336" name="Google Shape;336;p20"/>
          <p:cNvSpPr txBox="1"/>
          <p:nvPr/>
        </p:nvSpPr>
        <p:spPr>
          <a:xfrm>
            <a:off x="762000" y="4914900"/>
            <a:ext cx="49530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Results in a massive new model file that must be hosted independently, multiplying MLOps overhead.</a:t>
            </a:r>
            <a:endParaRPr/>
          </a:p>
        </p:txBody>
      </p:sp>
      <p:sp>
        <p:nvSpPr>
          <p:cNvPr id="337" name="Google Shape;337;p20"/>
          <p:cNvSpPr/>
          <p:nvPr/>
        </p:nvSpPr>
        <p:spPr>
          <a:xfrm>
            <a:off x="571500" y="1162050"/>
            <a:ext cx="285750" cy="152400"/>
          </a:xfrm>
          <a:prstGeom prst="roundRect">
            <a:avLst>
              <a:gd name="adj" fmla="val 50000"/>
            </a:avLst>
          </a:prstGeom>
          <a:noFill/>
          <a:ln w="19050" cap="flat" cmpd="sng">
            <a:solidFill>
              <a:srgbClr val="0F172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2" name="Google Shape;342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762000" y="-762000"/>
            <a:ext cx="2857500" cy="2857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3" name="Google Shape;343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396805" y="214312"/>
            <a:ext cx="1398240" cy="333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44" name="Google Shape;344;p2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81000" y="6438900"/>
            <a:ext cx="1373981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345" name="Google Shape;345;p21"/>
          <p:cNvSpPr txBox="1"/>
          <p:nvPr/>
        </p:nvSpPr>
        <p:spPr>
          <a:xfrm>
            <a:off x="6795045" y="295275"/>
            <a:ext cx="5015954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Slide 09</a:t>
            </a:r>
            <a:endParaRPr/>
          </a:p>
        </p:txBody>
      </p:sp>
      <p:sp>
        <p:nvSpPr>
          <p:cNvPr id="346" name="Google Shape;346;p21"/>
          <p:cNvSpPr/>
          <p:nvPr/>
        </p:nvSpPr>
        <p:spPr>
          <a:xfrm>
            <a:off x="381000" y="304800"/>
            <a:ext cx="285750" cy="152400"/>
          </a:xfrm>
          <a:prstGeom prst="roundRect">
            <a:avLst>
              <a:gd name="adj" fmla="val 50000"/>
            </a:avLst>
          </a:prstGeom>
          <a:noFill/>
          <a:ln w="19050" cap="flat" cmpd="sng">
            <a:solidFill>
              <a:srgbClr val="0F172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21"/>
          <p:cNvSpPr txBox="1"/>
          <p:nvPr/>
        </p:nvSpPr>
        <p:spPr>
          <a:xfrm>
            <a:off x="295275" y="2466975"/>
            <a:ext cx="11601450" cy="140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u="none" strike="noStrike" cap="non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Parameter-Efficient Fine-Tuning (PEFT)</a:t>
            </a:r>
            <a:endParaRPr/>
          </a:p>
        </p:txBody>
      </p:sp>
      <p:sp>
        <p:nvSpPr>
          <p:cNvPr id="348" name="Google Shape;348;p21"/>
          <p:cNvSpPr/>
          <p:nvPr/>
        </p:nvSpPr>
        <p:spPr>
          <a:xfrm>
            <a:off x="5524500" y="4067175"/>
            <a:ext cx="1143000" cy="57150"/>
          </a:xfrm>
          <a:prstGeom prst="roundRect">
            <a:avLst>
              <a:gd name="adj" fmla="val 50000"/>
            </a:avLst>
          </a:prstGeom>
          <a:solidFill>
            <a:srgbClr val="16653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21"/>
          <p:cNvSpPr txBox="1"/>
          <p:nvPr/>
        </p:nvSpPr>
        <p:spPr>
          <a:xfrm>
            <a:off x="3364259" y="4314825"/>
            <a:ext cx="546348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Democratizing model customization for the enterprise.</a:t>
            </a:r>
            <a:endParaRPr/>
          </a:p>
        </p:txBody>
      </p:sp>
      <p:sp>
        <p:nvSpPr>
          <p:cNvPr id="350" name="Google Shape;350;p21"/>
          <p:cNvSpPr/>
          <p:nvPr/>
        </p:nvSpPr>
        <p:spPr>
          <a:xfrm>
            <a:off x="0" y="6286500"/>
            <a:ext cx="12192000" cy="5715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21"/>
          <p:cNvSpPr txBox="1"/>
          <p:nvPr/>
        </p:nvSpPr>
        <p:spPr>
          <a:xfrm>
            <a:off x="381000" y="6286500"/>
            <a:ext cx="114300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PEFT revolutionized the industry by making fine-tuning possible on consumer-grade hardware.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6" name="Google Shape;356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396805" y="214312"/>
            <a:ext cx="1398240" cy="333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7" name="Google Shape;357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81000" y="6438900"/>
            <a:ext cx="1373981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8" name="Google Shape;358;p2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2700337"/>
            <a:ext cx="5381625" cy="1276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9" name="Google Shape;359;p2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38875" y="2700337"/>
            <a:ext cx="5381625" cy="1276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0" name="Google Shape;360;p2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4262437"/>
            <a:ext cx="5381625" cy="1276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1" name="Google Shape;361;p2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38875" y="4262437"/>
            <a:ext cx="5381625" cy="1276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2" name="Google Shape;362;p22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09625" y="2938462"/>
            <a:ext cx="428625" cy="428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63" name="Google Shape;363;p22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477000" y="2938462"/>
            <a:ext cx="428625" cy="428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64" name="Google Shape;364;p22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09625" y="4500562"/>
            <a:ext cx="428625" cy="428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65" name="Google Shape;365;p22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477000" y="4500562"/>
            <a:ext cx="428625" cy="428625"/>
          </a:xfrm>
          <a:prstGeom prst="rect">
            <a:avLst/>
          </a:prstGeom>
          <a:noFill/>
          <a:ln>
            <a:noFill/>
          </a:ln>
        </p:spPr>
      </p:pic>
      <p:sp>
        <p:nvSpPr>
          <p:cNvPr id="366" name="Google Shape;366;p22"/>
          <p:cNvSpPr txBox="1"/>
          <p:nvPr/>
        </p:nvSpPr>
        <p:spPr>
          <a:xfrm>
            <a:off x="6795045" y="295275"/>
            <a:ext cx="5015954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Slide 10</a:t>
            </a:r>
            <a:endParaRPr/>
          </a:p>
        </p:txBody>
      </p:sp>
      <p:sp>
        <p:nvSpPr>
          <p:cNvPr id="367" name="Google Shape;367;p22"/>
          <p:cNvSpPr txBox="1"/>
          <p:nvPr/>
        </p:nvSpPr>
        <p:spPr>
          <a:xfrm>
            <a:off x="571500" y="1509712"/>
            <a:ext cx="1160145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How PEFT Works</a:t>
            </a:r>
            <a:endParaRPr/>
          </a:p>
        </p:txBody>
      </p:sp>
      <p:sp>
        <p:nvSpPr>
          <p:cNvPr id="368" name="Google Shape;368;p22"/>
          <p:cNvSpPr txBox="1"/>
          <p:nvPr/>
        </p:nvSpPr>
        <p:spPr>
          <a:xfrm>
            <a:off x="571500" y="2195512"/>
            <a:ext cx="11049000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The ingenious logic behind Parameter-Efficient training.</a:t>
            </a:r>
            <a:endParaRPr/>
          </a:p>
        </p:txBody>
      </p:sp>
      <p:sp>
        <p:nvSpPr>
          <p:cNvPr id="369" name="Google Shape;369;p22"/>
          <p:cNvSpPr/>
          <p:nvPr/>
        </p:nvSpPr>
        <p:spPr>
          <a:xfrm>
            <a:off x="381000" y="304800"/>
            <a:ext cx="285750" cy="152400"/>
          </a:xfrm>
          <a:prstGeom prst="roundRect">
            <a:avLst>
              <a:gd name="adj" fmla="val 50000"/>
            </a:avLst>
          </a:prstGeom>
          <a:noFill/>
          <a:ln w="19050" cap="flat" cmpd="sng">
            <a:solidFill>
              <a:srgbClr val="0F172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22"/>
          <p:cNvSpPr txBox="1"/>
          <p:nvPr/>
        </p:nvSpPr>
        <p:spPr>
          <a:xfrm>
            <a:off x="1428750" y="2938462"/>
            <a:ext cx="4500562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Freeze Base Model</a:t>
            </a:r>
            <a:endParaRPr/>
          </a:p>
        </p:txBody>
      </p:sp>
      <p:sp>
        <p:nvSpPr>
          <p:cNvPr id="371" name="Google Shape;371;p22"/>
          <p:cNvSpPr txBox="1"/>
          <p:nvPr/>
        </p:nvSpPr>
        <p:spPr>
          <a:xfrm>
            <a:off x="1428750" y="3281362"/>
            <a:ext cx="42862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Lock the billions of pre-trained weights so they cannot be changed, drastically saving GPU memory.</a:t>
            </a:r>
            <a:endParaRPr/>
          </a:p>
        </p:txBody>
      </p:sp>
      <p:sp>
        <p:nvSpPr>
          <p:cNvPr id="372" name="Google Shape;372;p22"/>
          <p:cNvSpPr txBox="1"/>
          <p:nvPr/>
        </p:nvSpPr>
        <p:spPr>
          <a:xfrm>
            <a:off x="7096125" y="2938462"/>
            <a:ext cx="4500562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Inject Small Modules</a:t>
            </a:r>
            <a:endParaRPr/>
          </a:p>
        </p:txBody>
      </p:sp>
      <p:sp>
        <p:nvSpPr>
          <p:cNvPr id="373" name="Google Shape;373;p22"/>
          <p:cNvSpPr txBox="1"/>
          <p:nvPr/>
        </p:nvSpPr>
        <p:spPr>
          <a:xfrm>
            <a:off x="7096125" y="3281362"/>
            <a:ext cx="42862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Add tiny, trainable layers (adapters) into the existing neural network architecture.</a:t>
            </a:r>
            <a:endParaRPr/>
          </a:p>
        </p:txBody>
      </p:sp>
      <p:sp>
        <p:nvSpPr>
          <p:cNvPr id="374" name="Google Shape;374;p22"/>
          <p:cNvSpPr txBox="1"/>
          <p:nvPr/>
        </p:nvSpPr>
        <p:spPr>
          <a:xfrm>
            <a:off x="1428750" y="4500562"/>
            <a:ext cx="4500562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Train Only Modules</a:t>
            </a:r>
            <a:endParaRPr/>
          </a:p>
        </p:txBody>
      </p:sp>
      <p:sp>
        <p:nvSpPr>
          <p:cNvPr id="375" name="Google Shape;375;p22"/>
          <p:cNvSpPr txBox="1"/>
          <p:nvPr/>
        </p:nvSpPr>
        <p:spPr>
          <a:xfrm>
            <a:off x="1428750" y="4843462"/>
            <a:ext cx="42862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Backpropagate errors and update </a:t>
            </a:r>
            <a:r>
              <a:rPr lang="en-US" sz="1200" b="1" i="0" u="none" strike="noStrike" cap="non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only</a:t>
            </a:r>
            <a:r>
              <a:rPr lang="en-US" sz="1200" b="0" i="0" u="none" strike="noStrike" cap="non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the new, small layers, ignoring the massive frozen model.</a:t>
            </a:r>
            <a:endParaRPr/>
          </a:p>
        </p:txBody>
      </p:sp>
      <p:sp>
        <p:nvSpPr>
          <p:cNvPr id="376" name="Google Shape;376;p22"/>
          <p:cNvSpPr txBox="1"/>
          <p:nvPr/>
        </p:nvSpPr>
        <p:spPr>
          <a:xfrm>
            <a:off x="7096125" y="4500562"/>
            <a:ext cx="4500562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Merge for Inference</a:t>
            </a:r>
            <a:endParaRPr/>
          </a:p>
        </p:txBody>
      </p:sp>
      <p:sp>
        <p:nvSpPr>
          <p:cNvPr id="377" name="Google Shape;377;p22"/>
          <p:cNvSpPr txBox="1"/>
          <p:nvPr/>
        </p:nvSpPr>
        <p:spPr>
          <a:xfrm>
            <a:off x="7096125" y="4843462"/>
            <a:ext cx="42862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Combine the tiny trained weights with the base model seamlessly for fast deployment.</a:t>
            </a:r>
            <a:endParaRPr/>
          </a:p>
        </p:txBody>
      </p:sp>
      <p:sp>
        <p:nvSpPr>
          <p:cNvPr id="378" name="Google Shape;378;p22"/>
          <p:cNvSpPr/>
          <p:nvPr/>
        </p:nvSpPr>
        <p:spPr>
          <a:xfrm>
            <a:off x="0" y="6286500"/>
            <a:ext cx="12192000" cy="5715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22"/>
          <p:cNvSpPr txBox="1"/>
          <p:nvPr/>
        </p:nvSpPr>
        <p:spPr>
          <a:xfrm>
            <a:off x="381000" y="6286500"/>
            <a:ext cx="114300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PEFT achieves &gt;95% of the performance of Full Fine-Tuning at &lt;5% of the computational cost.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4" name="Google Shape;414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396805" y="214312"/>
            <a:ext cx="1398240" cy="333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15" name="Google Shape;415;p2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81000" y="6438900"/>
            <a:ext cx="1373981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16" name="Google Shape;416;p2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86500" y="1638300"/>
            <a:ext cx="5334000" cy="4457700"/>
          </a:xfrm>
          <a:prstGeom prst="rect">
            <a:avLst/>
          </a:prstGeom>
          <a:noFill/>
          <a:ln>
            <a:noFill/>
          </a:ln>
        </p:spPr>
      </p:pic>
      <p:sp>
        <p:nvSpPr>
          <p:cNvPr id="417" name="Google Shape;417;p24"/>
          <p:cNvSpPr txBox="1"/>
          <p:nvPr/>
        </p:nvSpPr>
        <p:spPr>
          <a:xfrm>
            <a:off x="6795045" y="295275"/>
            <a:ext cx="5015954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Slide 12</a:t>
            </a:r>
            <a:endParaRPr/>
          </a:p>
        </p:txBody>
      </p:sp>
      <p:sp>
        <p:nvSpPr>
          <p:cNvPr id="418" name="Google Shape;418;p24"/>
          <p:cNvSpPr txBox="1"/>
          <p:nvPr/>
        </p:nvSpPr>
        <p:spPr>
          <a:xfrm>
            <a:off x="571500" y="952500"/>
            <a:ext cx="1160145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Introduction to LoRA</a:t>
            </a:r>
            <a:endParaRPr/>
          </a:p>
        </p:txBody>
      </p:sp>
      <p:sp>
        <p:nvSpPr>
          <p:cNvPr id="419" name="Google Shape;419;p24"/>
          <p:cNvSpPr/>
          <p:nvPr/>
        </p:nvSpPr>
        <p:spPr>
          <a:xfrm>
            <a:off x="381000" y="304800"/>
            <a:ext cx="285750" cy="152400"/>
          </a:xfrm>
          <a:prstGeom prst="roundRect">
            <a:avLst>
              <a:gd name="adj" fmla="val 50000"/>
            </a:avLst>
          </a:prstGeom>
          <a:noFill/>
          <a:ln w="19050" cap="flat" cmpd="sng">
            <a:solidFill>
              <a:srgbClr val="0F172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24"/>
          <p:cNvSpPr txBox="1"/>
          <p:nvPr/>
        </p:nvSpPr>
        <p:spPr>
          <a:xfrm>
            <a:off x="571500" y="2490787"/>
            <a:ext cx="53340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LoRA (Low-Rank Adaptation)</a:t>
            </a:r>
            <a:r>
              <a:rPr lang="en-US" sz="1500" b="0" i="0" u="none" strike="noStrike" cap="non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represents weight updates using two smaller matrices rather than one massive matrix.</a:t>
            </a:r>
            <a:endParaRPr/>
          </a:p>
        </p:txBody>
      </p:sp>
      <p:pic>
        <p:nvPicPr>
          <p:cNvPr id="421" name="Google Shape;421;p2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286500" y="1638300"/>
            <a:ext cx="5334000" cy="4457700"/>
          </a:xfrm>
          <a:prstGeom prst="rect">
            <a:avLst/>
          </a:prstGeom>
          <a:noFill/>
          <a:ln>
            <a:noFill/>
          </a:ln>
        </p:spPr>
      </p:pic>
      <p:sp>
        <p:nvSpPr>
          <p:cNvPr id="422" name="Google Shape;422;p24"/>
          <p:cNvSpPr txBox="1"/>
          <p:nvPr/>
        </p:nvSpPr>
        <p:spPr>
          <a:xfrm>
            <a:off x="695325" y="3290887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/>
          </a:p>
        </p:txBody>
      </p:sp>
      <p:sp>
        <p:nvSpPr>
          <p:cNvPr id="423" name="Google Shape;423;p24"/>
          <p:cNvSpPr txBox="1"/>
          <p:nvPr/>
        </p:nvSpPr>
        <p:spPr>
          <a:xfrm>
            <a:off x="762000" y="3290887"/>
            <a:ext cx="51435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Instead of updating a massive 10,000 x 10,000 matrix, LoRA trains a 10,000 x 8 and an 8 x 10,000 matrix.</a:t>
            </a:r>
            <a:endParaRPr/>
          </a:p>
        </p:txBody>
      </p:sp>
      <p:sp>
        <p:nvSpPr>
          <p:cNvPr id="424" name="Google Shape;424;p24"/>
          <p:cNvSpPr txBox="1"/>
          <p:nvPr/>
        </p:nvSpPr>
        <p:spPr>
          <a:xfrm>
            <a:off x="695325" y="4043362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/>
          </a:p>
        </p:txBody>
      </p:sp>
      <p:sp>
        <p:nvSpPr>
          <p:cNvPr id="425" name="Google Shape;425;p24"/>
          <p:cNvSpPr txBox="1"/>
          <p:nvPr/>
        </p:nvSpPr>
        <p:spPr>
          <a:xfrm>
            <a:off x="762000" y="4043362"/>
            <a:ext cx="51435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This mathematical trick reduces the number of trainable parameters by up to </a:t>
            </a:r>
            <a:r>
              <a:rPr lang="en-US" sz="1500" b="1" i="0" u="none" strike="noStrike" cap="non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99%</a:t>
            </a:r>
            <a:r>
              <a:rPr lang="en-US" sz="1500" b="0" i="0" u="none" strike="noStrike" cap="non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</p:txBody>
      </p:sp>
      <p:sp>
        <p:nvSpPr>
          <p:cNvPr id="426" name="Google Shape;426;p24"/>
          <p:cNvSpPr txBox="1"/>
          <p:nvPr/>
        </p:nvSpPr>
        <p:spPr>
          <a:xfrm>
            <a:off x="695325" y="4795837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/>
          </a:p>
        </p:txBody>
      </p:sp>
      <p:sp>
        <p:nvSpPr>
          <p:cNvPr id="427" name="Google Shape;427;p24"/>
          <p:cNvSpPr txBox="1"/>
          <p:nvPr/>
        </p:nvSpPr>
        <p:spPr>
          <a:xfrm>
            <a:off x="762000" y="4795837"/>
            <a:ext cx="51435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The resulting "Adapter" file is tiny (often under 100MB).</a:t>
            </a:r>
            <a:endParaRPr/>
          </a:p>
        </p:txBody>
      </p:sp>
      <p:sp>
        <p:nvSpPr>
          <p:cNvPr id="428" name="Google Shape;428;p24"/>
          <p:cNvSpPr/>
          <p:nvPr/>
        </p:nvSpPr>
        <p:spPr>
          <a:xfrm>
            <a:off x="0" y="6286500"/>
            <a:ext cx="12192000" cy="5715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24"/>
          <p:cNvSpPr txBox="1"/>
          <p:nvPr/>
        </p:nvSpPr>
        <p:spPr>
          <a:xfrm>
            <a:off x="381000" y="6286500"/>
            <a:ext cx="114300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LoRA relies on linear algebra to simulate massive neural updates using a fraction of the memory.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4" name="Google Shape;434;p2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762000" y="-762000"/>
            <a:ext cx="2857500" cy="2857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5" name="Google Shape;435;p2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396805" y="214312"/>
            <a:ext cx="1398240" cy="333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36" name="Google Shape;436;p2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81000" y="6438900"/>
            <a:ext cx="1373981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7" name="Google Shape;437;p2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1638300"/>
            <a:ext cx="5286375" cy="4457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8" name="Google Shape;438;p2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334125" y="1638300"/>
            <a:ext cx="5286375" cy="4457700"/>
          </a:xfrm>
          <a:prstGeom prst="rect">
            <a:avLst/>
          </a:prstGeom>
          <a:noFill/>
          <a:ln>
            <a:noFill/>
          </a:ln>
        </p:spPr>
      </p:pic>
      <p:sp>
        <p:nvSpPr>
          <p:cNvPr id="439" name="Google Shape;439;p25"/>
          <p:cNvSpPr txBox="1"/>
          <p:nvPr/>
        </p:nvSpPr>
        <p:spPr>
          <a:xfrm>
            <a:off x="6795045" y="295275"/>
            <a:ext cx="5015954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Slide 13</a:t>
            </a:r>
            <a:endParaRPr/>
          </a:p>
        </p:txBody>
      </p:sp>
      <p:sp>
        <p:nvSpPr>
          <p:cNvPr id="440" name="Google Shape;440;p25"/>
          <p:cNvSpPr txBox="1"/>
          <p:nvPr/>
        </p:nvSpPr>
        <p:spPr>
          <a:xfrm>
            <a:off x="571500" y="952500"/>
            <a:ext cx="1160145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Full Fine-Tuning vs. LoRA</a:t>
            </a:r>
            <a:endParaRPr/>
          </a:p>
        </p:txBody>
      </p:sp>
      <p:sp>
        <p:nvSpPr>
          <p:cNvPr id="441" name="Google Shape;441;p25"/>
          <p:cNvSpPr/>
          <p:nvPr/>
        </p:nvSpPr>
        <p:spPr>
          <a:xfrm>
            <a:off x="381000" y="304800"/>
            <a:ext cx="285750" cy="152400"/>
          </a:xfrm>
          <a:prstGeom prst="roundRect">
            <a:avLst>
              <a:gd name="adj" fmla="val 50000"/>
            </a:avLst>
          </a:prstGeom>
          <a:noFill/>
          <a:ln w="19050" cap="flat" cmpd="sng">
            <a:solidFill>
              <a:srgbClr val="0F172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" name="Google Shape;442;p25"/>
          <p:cNvSpPr txBox="1"/>
          <p:nvPr/>
        </p:nvSpPr>
        <p:spPr>
          <a:xfrm>
            <a:off x="952500" y="2462212"/>
            <a:ext cx="2156832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Full Fine-Tuning</a:t>
            </a:r>
            <a:endParaRPr/>
          </a:p>
        </p:txBody>
      </p:sp>
      <p:sp>
        <p:nvSpPr>
          <p:cNvPr id="443" name="Google Shape;443;p25"/>
          <p:cNvSpPr/>
          <p:nvPr/>
        </p:nvSpPr>
        <p:spPr>
          <a:xfrm>
            <a:off x="952500" y="2843212"/>
            <a:ext cx="2054125" cy="28575"/>
          </a:xfrm>
          <a:prstGeom prst="rect">
            <a:avLst/>
          </a:prstGeom>
          <a:solidFill>
            <a:srgbClr val="16653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4" name="Google Shape;444;p25"/>
          <p:cNvSpPr txBox="1"/>
          <p:nvPr/>
        </p:nvSpPr>
        <p:spPr>
          <a:xfrm>
            <a:off x="6715125" y="2462212"/>
            <a:ext cx="1716308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LoRA (PEFT)</a:t>
            </a:r>
            <a:endParaRPr/>
          </a:p>
        </p:txBody>
      </p:sp>
      <p:sp>
        <p:nvSpPr>
          <p:cNvPr id="445" name="Google Shape;445;p25"/>
          <p:cNvSpPr/>
          <p:nvPr/>
        </p:nvSpPr>
        <p:spPr>
          <a:xfrm>
            <a:off x="6715125" y="2843212"/>
            <a:ext cx="1634579" cy="28575"/>
          </a:xfrm>
          <a:prstGeom prst="rect">
            <a:avLst/>
          </a:prstGeom>
          <a:solidFill>
            <a:srgbClr val="16653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" name="Google Shape;446;p25"/>
          <p:cNvSpPr txBox="1"/>
          <p:nvPr/>
        </p:nvSpPr>
        <p:spPr>
          <a:xfrm>
            <a:off x="1076325" y="3062287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/>
          </a:p>
        </p:txBody>
      </p:sp>
      <p:sp>
        <p:nvSpPr>
          <p:cNvPr id="447" name="Google Shape;447;p25"/>
          <p:cNvSpPr txBox="1"/>
          <p:nvPr/>
        </p:nvSpPr>
        <p:spPr>
          <a:xfrm>
            <a:off x="1143000" y="3062287"/>
            <a:ext cx="43338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Trainable Params: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100%</a:t>
            </a:r>
            <a:endParaRPr/>
          </a:p>
        </p:txBody>
      </p:sp>
      <p:sp>
        <p:nvSpPr>
          <p:cNvPr id="448" name="Google Shape;448;p25"/>
          <p:cNvSpPr txBox="1"/>
          <p:nvPr/>
        </p:nvSpPr>
        <p:spPr>
          <a:xfrm>
            <a:off x="1076325" y="3462337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/>
          </a:p>
        </p:txBody>
      </p:sp>
      <p:sp>
        <p:nvSpPr>
          <p:cNvPr id="449" name="Google Shape;449;p25"/>
          <p:cNvSpPr txBox="1"/>
          <p:nvPr/>
        </p:nvSpPr>
        <p:spPr>
          <a:xfrm>
            <a:off x="1143000" y="3462337"/>
            <a:ext cx="433387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VRAM Requirement: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Massive (Requires clustered A100s).</a:t>
            </a:r>
            <a:endParaRPr/>
          </a:p>
        </p:txBody>
      </p:sp>
      <p:sp>
        <p:nvSpPr>
          <p:cNvPr id="450" name="Google Shape;450;p25"/>
          <p:cNvSpPr txBox="1"/>
          <p:nvPr/>
        </p:nvSpPr>
        <p:spPr>
          <a:xfrm>
            <a:off x="1076325" y="4167187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/>
          </a:p>
        </p:txBody>
      </p:sp>
      <p:sp>
        <p:nvSpPr>
          <p:cNvPr id="451" name="Google Shape;451;p25"/>
          <p:cNvSpPr txBox="1"/>
          <p:nvPr/>
        </p:nvSpPr>
        <p:spPr>
          <a:xfrm>
            <a:off x="1143000" y="4167187"/>
            <a:ext cx="43338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Storage: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10GB to 100GB+ per model iteration.</a:t>
            </a:r>
            <a:endParaRPr/>
          </a:p>
        </p:txBody>
      </p:sp>
      <p:sp>
        <p:nvSpPr>
          <p:cNvPr id="452" name="Google Shape;452;p25"/>
          <p:cNvSpPr txBox="1"/>
          <p:nvPr/>
        </p:nvSpPr>
        <p:spPr>
          <a:xfrm>
            <a:off x="1076325" y="4567237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/>
          </a:p>
        </p:txBody>
      </p:sp>
      <p:sp>
        <p:nvSpPr>
          <p:cNvPr id="453" name="Google Shape;453;p25"/>
          <p:cNvSpPr txBox="1"/>
          <p:nvPr/>
        </p:nvSpPr>
        <p:spPr>
          <a:xfrm>
            <a:off x="1143000" y="4567237"/>
            <a:ext cx="433387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Deployment: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Must host the entire massive model separately for every use case.</a:t>
            </a:r>
            <a:endParaRPr/>
          </a:p>
        </p:txBody>
      </p:sp>
      <p:sp>
        <p:nvSpPr>
          <p:cNvPr id="454" name="Google Shape;454;p25"/>
          <p:cNvSpPr txBox="1"/>
          <p:nvPr/>
        </p:nvSpPr>
        <p:spPr>
          <a:xfrm>
            <a:off x="6838950" y="3062287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/>
          </a:p>
        </p:txBody>
      </p:sp>
      <p:sp>
        <p:nvSpPr>
          <p:cNvPr id="455" name="Google Shape;455;p25"/>
          <p:cNvSpPr txBox="1"/>
          <p:nvPr/>
        </p:nvSpPr>
        <p:spPr>
          <a:xfrm>
            <a:off x="6905625" y="3062287"/>
            <a:ext cx="43338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Trainable Params: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0.1% - 1%</a:t>
            </a:r>
            <a:endParaRPr/>
          </a:p>
        </p:txBody>
      </p:sp>
      <p:sp>
        <p:nvSpPr>
          <p:cNvPr id="456" name="Google Shape;456;p25"/>
          <p:cNvSpPr txBox="1"/>
          <p:nvPr/>
        </p:nvSpPr>
        <p:spPr>
          <a:xfrm>
            <a:off x="6838950" y="3462337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/>
          </a:p>
        </p:txBody>
      </p:sp>
      <p:sp>
        <p:nvSpPr>
          <p:cNvPr id="457" name="Google Shape;457;p25"/>
          <p:cNvSpPr txBox="1"/>
          <p:nvPr/>
        </p:nvSpPr>
        <p:spPr>
          <a:xfrm>
            <a:off x="6905625" y="3462337"/>
            <a:ext cx="433387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VRAM Requirement: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Low (Can run on a single consumer RTX 4090).</a:t>
            </a:r>
            <a:endParaRPr/>
          </a:p>
        </p:txBody>
      </p:sp>
      <p:sp>
        <p:nvSpPr>
          <p:cNvPr id="458" name="Google Shape;458;p25"/>
          <p:cNvSpPr txBox="1"/>
          <p:nvPr/>
        </p:nvSpPr>
        <p:spPr>
          <a:xfrm>
            <a:off x="6838950" y="4167187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/>
          </a:p>
        </p:txBody>
      </p:sp>
      <p:sp>
        <p:nvSpPr>
          <p:cNvPr id="459" name="Google Shape;459;p25"/>
          <p:cNvSpPr txBox="1"/>
          <p:nvPr/>
        </p:nvSpPr>
        <p:spPr>
          <a:xfrm>
            <a:off x="6905625" y="4167187"/>
            <a:ext cx="43338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Storage: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10MB - 100MB per adapter.</a:t>
            </a:r>
            <a:endParaRPr/>
          </a:p>
        </p:txBody>
      </p:sp>
      <p:sp>
        <p:nvSpPr>
          <p:cNvPr id="460" name="Google Shape;460;p25"/>
          <p:cNvSpPr txBox="1"/>
          <p:nvPr/>
        </p:nvSpPr>
        <p:spPr>
          <a:xfrm>
            <a:off x="6838950" y="4567237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/>
          </a:p>
        </p:txBody>
      </p:sp>
      <p:sp>
        <p:nvSpPr>
          <p:cNvPr id="461" name="Google Shape;461;p25"/>
          <p:cNvSpPr txBox="1"/>
          <p:nvPr/>
        </p:nvSpPr>
        <p:spPr>
          <a:xfrm>
            <a:off x="6905625" y="4567237"/>
            <a:ext cx="433387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Deployment: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Hot-swap tiny adapters onto a single hosted base model dynamically.</a:t>
            </a:r>
            <a:endParaRPr/>
          </a:p>
        </p:txBody>
      </p:sp>
      <p:sp>
        <p:nvSpPr>
          <p:cNvPr id="462" name="Google Shape;462;p25"/>
          <p:cNvSpPr/>
          <p:nvPr/>
        </p:nvSpPr>
        <p:spPr>
          <a:xfrm>
            <a:off x="0" y="6286500"/>
            <a:ext cx="12192000" cy="5715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3" name="Google Shape;463;p25"/>
          <p:cNvSpPr txBox="1"/>
          <p:nvPr/>
        </p:nvSpPr>
        <p:spPr>
          <a:xfrm>
            <a:off x="381000" y="6286500"/>
            <a:ext cx="114300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LoRA allows enterprises to host one base model and serve 50 different fine-tuned tasks instantly.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5" name="Google Shape;485;p2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001250" y="4667250"/>
            <a:ext cx="3333750" cy="3333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86" name="Google Shape;486;p2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396805" y="214312"/>
            <a:ext cx="1398240" cy="333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87" name="Google Shape;487;p2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81000" y="6438900"/>
            <a:ext cx="1373981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88" name="Google Shape;488;p2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2700337"/>
            <a:ext cx="5381625" cy="1276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89" name="Google Shape;489;p2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238875" y="2700337"/>
            <a:ext cx="5381625" cy="1276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90" name="Google Shape;490;p2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4262437"/>
            <a:ext cx="5381625" cy="1276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91" name="Google Shape;491;p2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238875" y="4262437"/>
            <a:ext cx="5381625" cy="1276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92" name="Google Shape;492;p27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09625" y="2938462"/>
            <a:ext cx="428625" cy="428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93" name="Google Shape;493;p27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477000" y="2938462"/>
            <a:ext cx="428625" cy="428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94" name="Google Shape;494;p27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09625" y="4500562"/>
            <a:ext cx="428625" cy="428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95" name="Google Shape;495;p27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6477000" y="4500562"/>
            <a:ext cx="428625" cy="428625"/>
          </a:xfrm>
          <a:prstGeom prst="rect">
            <a:avLst/>
          </a:prstGeom>
          <a:noFill/>
          <a:ln>
            <a:noFill/>
          </a:ln>
        </p:spPr>
      </p:pic>
      <p:sp>
        <p:nvSpPr>
          <p:cNvPr id="496" name="Google Shape;496;p27"/>
          <p:cNvSpPr txBox="1"/>
          <p:nvPr/>
        </p:nvSpPr>
        <p:spPr>
          <a:xfrm>
            <a:off x="6795045" y="295275"/>
            <a:ext cx="5015954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Slide 15</a:t>
            </a:r>
            <a:endParaRPr/>
          </a:p>
        </p:txBody>
      </p:sp>
      <p:sp>
        <p:nvSpPr>
          <p:cNvPr id="497" name="Google Shape;497;p27"/>
          <p:cNvSpPr txBox="1"/>
          <p:nvPr/>
        </p:nvSpPr>
        <p:spPr>
          <a:xfrm>
            <a:off x="571500" y="1509712"/>
            <a:ext cx="1160145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QLoRA: Quantized LoRA</a:t>
            </a:r>
            <a:endParaRPr/>
          </a:p>
        </p:txBody>
      </p:sp>
      <p:sp>
        <p:nvSpPr>
          <p:cNvPr id="498" name="Google Shape;498;p27"/>
          <p:cNvSpPr txBox="1"/>
          <p:nvPr/>
        </p:nvSpPr>
        <p:spPr>
          <a:xfrm>
            <a:off x="571500" y="2195512"/>
            <a:ext cx="11049000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Taking efficiency one step further to run on consumer hardware.</a:t>
            </a:r>
            <a:endParaRPr/>
          </a:p>
        </p:txBody>
      </p:sp>
      <p:sp>
        <p:nvSpPr>
          <p:cNvPr id="499" name="Google Shape;499;p27"/>
          <p:cNvSpPr/>
          <p:nvPr/>
        </p:nvSpPr>
        <p:spPr>
          <a:xfrm>
            <a:off x="381000" y="304800"/>
            <a:ext cx="285750" cy="152400"/>
          </a:xfrm>
          <a:prstGeom prst="roundRect">
            <a:avLst>
              <a:gd name="adj" fmla="val 50000"/>
            </a:avLst>
          </a:prstGeom>
          <a:noFill/>
          <a:ln w="19050" cap="flat" cmpd="sng">
            <a:solidFill>
              <a:srgbClr val="0F172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0" name="Google Shape;500;p27"/>
          <p:cNvSpPr txBox="1"/>
          <p:nvPr/>
        </p:nvSpPr>
        <p:spPr>
          <a:xfrm>
            <a:off x="1428750" y="2938462"/>
            <a:ext cx="4500562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Quantization</a:t>
            </a:r>
            <a:endParaRPr/>
          </a:p>
        </p:txBody>
      </p:sp>
      <p:sp>
        <p:nvSpPr>
          <p:cNvPr id="501" name="Google Shape;501;p27"/>
          <p:cNvSpPr txBox="1"/>
          <p:nvPr/>
        </p:nvSpPr>
        <p:spPr>
          <a:xfrm>
            <a:off x="1428750" y="3281362"/>
            <a:ext cx="42862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Reduces the base model precision from 16-bit to 4-bit, crushing the VRAM footprint.</a:t>
            </a:r>
            <a:endParaRPr/>
          </a:p>
        </p:txBody>
      </p:sp>
      <p:sp>
        <p:nvSpPr>
          <p:cNvPr id="502" name="Google Shape;502;p27"/>
          <p:cNvSpPr txBox="1"/>
          <p:nvPr/>
        </p:nvSpPr>
        <p:spPr>
          <a:xfrm>
            <a:off x="7096125" y="2938462"/>
            <a:ext cx="4500562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Paged Optimizers</a:t>
            </a:r>
            <a:endParaRPr/>
          </a:p>
        </p:txBody>
      </p:sp>
      <p:sp>
        <p:nvSpPr>
          <p:cNvPr id="503" name="Google Shape;503;p27"/>
          <p:cNvSpPr txBox="1"/>
          <p:nvPr/>
        </p:nvSpPr>
        <p:spPr>
          <a:xfrm>
            <a:off x="7096125" y="3281362"/>
            <a:ext cx="42862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Offloads sudden memory spikes during training to CPU RAM to prevent GPU Out-Of-Memory crashes.</a:t>
            </a:r>
            <a:endParaRPr/>
          </a:p>
        </p:txBody>
      </p:sp>
      <p:sp>
        <p:nvSpPr>
          <p:cNvPr id="504" name="Google Shape;504;p27"/>
          <p:cNvSpPr txBox="1"/>
          <p:nvPr/>
        </p:nvSpPr>
        <p:spPr>
          <a:xfrm>
            <a:off x="1428750" y="4500562"/>
            <a:ext cx="4500562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LoRA Training</a:t>
            </a:r>
            <a:endParaRPr/>
          </a:p>
        </p:txBody>
      </p:sp>
      <p:sp>
        <p:nvSpPr>
          <p:cNvPr id="505" name="Google Shape;505;p27"/>
          <p:cNvSpPr txBox="1"/>
          <p:nvPr/>
        </p:nvSpPr>
        <p:spPr>
          <a:xfrm>
            <a:off x="1428750" y="4843462"/>
            <a:ext cx="42862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Trains the small 16-bit LoRA adapters on top of the frozen 4-bit base model.</a:t>
            </a:r>
            <a:endParaRPr/>
          </a:p>
        </p:txBody>
      </p:sp>
      <p:sp>
        <p:nvSpPr>
          <p:cNvPr id="506" name="Google Shape;506;p27"/>
          <p:cNvSpPr txBox="1"/>
          <p:nvPr/>
        </p:nvSpPr>
        <p:spPr>
          <a:xfrm>
            <a:off x="7096125" y="4500562"/>
            <a:ext cx="4500562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Democratization</a:t>
            </a:r>
            <a:endParaRPr/>
          </a:p>
        </p:txBody>
      </p:sp>
      <p:sp>
        <p:nvSpPr>
          <p:cNvPr id="507" name="Google Shape;507;p27"/>
          <p:cNvSpPr txBox="1"/>
          <p:nvPr/>
        </p:nvSpPr>
        <p:spPr>
          <a:xfrm>
            <a:off x="7096125" y="4843462"/>
            <a:ext cx="42862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Allows fine-tuning a massive 65B parameter model on a single 48GB GPU.</a:t>
            </a:r>
            <a:endParaRPr/>
          </a:p>
        </p:txBody>
      </p:sp>
      <p:sp>
        <p:nvSpPr>
          <p:cNvPr id="508" name="Google Shape;508;p27"/>
          <p:cNvSpPr/>
          <p:nvPr/>
        </p:nvSpPr>
        <p:spPr>
          <a:xfrm>
            <a:off x="0" y="6286500"/>
            <a:ext cx="12192000" cy="5715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9" name="Google Shape;509;p27"/>
          <p:cNvSpPr txBox="1"/>
          <p:nvPr/>
        </p:nvSpPr>
        <p:spPr>
          <a:xfrm>
            <a:off x="381000" y="6286500"/>
            <a:ext cx="114300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QLoRA is the breakthrough that allowed researchers to fine-tune state-of-the-art models at home.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4" name="Google Shape;514;p2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396805" y="214312"/>
            <a:ext cx="1398240" cy="333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15" name="Google Shape;515;p2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81000" y="6438900"/>
            <a:ext cx="1373981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16" name="Google Shape;516;p2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2700337"/>
            <a:ext cx="5381625" cy="1276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17" name="Google Shape;517;p2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38875" y="2700337"/>
            <a:ext cx="5381625" cy="1276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18" name="Google Shape;518;p2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4262437"/>
            <a:ext cx="5381625" cy="1276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19" name="Google Shape;519;p2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38875" y="4262437"/>
            <a:ext cx="5381625" cy="1276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20" name="Google Shape;520;p2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09625" y="2938462"/>
            <a:ext cx="428625" cy="428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21" name="Google Shape;521;p28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477000" y="2938462"/>
            <a:ext cx="428625" cy="428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22" name="Google Shape;522;p28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09625" y="4500562"/>
            <a:ext cx="428625" cy="428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23" name="Google Shape;523;p28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477000" y="4500562"/>
            <a:ext cx="428625" cy="428625"/>
          </a:xfrm>
          <a:prstGeom prst="rect">
            <a:avLst/>
          </a:prstGeom>
          <a:noFill/>
          <a:ln>
            <a:noFill/>
          </a:ln>
        </p:spPr>
      </p:pic>
      <p:sp>
        <p:nvSpPr>
          <p:cNvPr id="524" name="Google Shape;524;p28"/>
          <p:cNvSpPr txBox="1"/>
          <p:nvPr/>
        </p:nvSpPr>
        <p:spPr>
          <a:xfrm>
            <a:off x="6795045" y="295275"/>
            <a:ext cx="5015954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Slide 16</a:t>
            </a:r>
            <a:endParaRPr/>
          </a:p>
        </p:txBody>
      </p:sp>
      <p:sp>
        <p:nvSpPr>
          <p:cNvPr id="525" name="Google Shape;525;p28"/>
          <p:cNvSpPr txBox="1"/>
          <p:nvPr/>
        </p:nvSpPr>
        <p:spPr>
          <a:xfrm>
            <a:off x="571500" y="1509712"/>
            <a:ext cx="1160145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The Fine-Tuning Pipeline</a:t>
            </a:r>
            <a:endParaRPr/>
          </a:p>
        </p:txBody>
      </p:sp>
      <p:sp>
        <p:nvSpPr>
          <p:cNvPr id="526" name="Google Shape;526;p28"/>
          <p:cNvSpPr txBox="1"/>
          <p:nvPr/>
        </p:nvSpPr>
        <p:spPr>
          <a:xfrm>
            <a:off x="571500" y="2195512"/>
            <a:ext cx="11049000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The end-to-end MLOps process for customizing an LLM.</a:t>
            </a:r>
            <a:endParaRPr/>
          </a:p>
        </p:txBody>
      </p:sp>
      <p:sp>
        <p:nvSpPr>
          <p:cNvPr id="527" name="Google Shape;527;p28"/>
          <p:cNvSpPr/>
          <p:nvPr/>
        </p:nvSpPr>
        <p:spPr>
          <a:xfrm>
            <a:off x="381000" y="304800"/>
            <a:ext cx="285750" cy="152400"/>
          </a:xfrm>
          <a:prstGeom prst="roundRect">
            <a:avLst>
              <a:gd name="adj" fmla="val 50000"/>
            </a:avLst>
          </a:prstGeom>
          <a:noFill/>
          <a:ln w="19050" cap="flat" cmpd="sng">
            <a:solidFill>
              <a:srgbClr val="0F172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8" name="Google Shape;528;p28"/>
          <p:cNvSpPr txBox="1"/>
          <p:nvPr/>
        </p:nvSpPr>
        <p:spPr>
          <a:xfrm>
            <a:off x="1428750" y="2938462"/>
            <a:ext cx="4500562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Data Curation</a:t>
            </a:r>
            <a:endParaRPr/>
          </a:p>
        </p:txBody>
      </p:sp>
      <p:sp>
        <p:nvSpPr>
          <p:cNvPr id="529" name="Google Shape;529;p28"/>
          <p:cNvSpPr txBox="1"/>
          <p:nvPr/>
        </p:nvSpPr>
        <p:spPr>
          <a:xfrm>
            <a:off x="1428750" y="3281362"/>
            <a:ext cx="42862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Gathering high-quality instruction-response pairs specific to your enterprise domain.</a:t>
            </a:r>
            <a:endParaRPr/>
          </a:p>
        </p:txBody>
      </p:sp>
      <p:sp>
        <p:nvSpPr>
          <p:cNvPr id="530" name="Google Shape;530;p28"/>
          <p:cNvSpPr txBox="1"/>
          <p:nvPr/>
        </p:nvSpPr>
        <p:spPr>
          <a:xfrm>
            <a:off x="7096125" y="2938462"/>
            <a:ext cx="4500562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Formatting &amp; Tokenization</a:t>
            </a:r>
            <a:endParaRPr/>
          </a:p>
        </p:txBody>
      </p:sp>
      <p:sp>
        <p:nvSpPr>
          <p:cNvPr id="531" name="Google Shape;531;p28"/>
          <p:cNvSpPr txBox="1"/>
          <p:nvPr/>
        </p:nvSpPr>
        <p:spPr>
          <a:xfrm>
            <a:off x="7096125" y="3281362"/>
            <a:ext cx="42862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Converting the raw data into strict JSONL format and processing it into model-readable tokens.</a:t>
            </a:r>
            <a:endParaRPr/>
          </a:p>
        </p:txBody>
      </p:sp>
      <p:sp>
        <p:nvSpPr>
          <p:cNvPr id="532" name="Google Shape;532;p28"/>
          <p:cNvSpPr txBox="1"/>
          <p:nvPr/>
        </p:nvSpPr>
        <p:spPr>
          <a:xfrm>
            <a:off x="1428750" y="4500562"/>
            <a:ext cx="4500562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LoRA Training Loop</a:t>
            </a:r>
            <a:endParaRPr/>
          </a:p>
        </p:txBody>
      </p:sp>
      <p:sp>
        <p:nvSpPr>
          <p:cNvPr id="533" name="Google Shape;533;p28"/>
          <p:cNvSpPr txBox="1"/>
          <p:nvPr/>
        </p:nvSpPr>
        <p:spPr>
          <a:xfrm>
            <a:off x="1428750" y="4843462"/>
            <a:ext cx="42862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Running the backpropagation loop using the HuggingFace Trainer API over several epochs.</a:t>
            </a:r>
            <a:endParaRPr/>
          </a:p>
        </p:txBody>
      </p:sp>
      <p:sp>
        <p:nvSpPr>
          <p:cNvPr id="534" name="Google Shape;534;p28"/>
          <p:cNvSpPr txBox="1"/>
          <p:nvPr/>
        </p:nvSpPr>
        <p:spPr>
          <a:xfrm>
            <a:off x="7096125" y="4500562"/>
            <a:ext cx="4500562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Evaluation &amp; Deployment</a:t>
            </a:r>
            <a:endParaRPr/>
          </a:p>
        </p:txBody>
      </p:sp>
      <p:sp>
        <p:nvSpPr>
          <p:cNvPr id="535" name="Google Shape;535;p28"/>
          <p:cNvSpPr txBox="1"/>
          <p:nvPr/>
        </p:nvSpPr>
        <p:spPr>
          <a:xfrm>
            <a:off x="7096125" y="4843462"/>
            <a:ext cx="42862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Benchmarking against holdout datasets and deploying the base model + LoRA adapter.</a:t>
            </a:r>
            <a:endParaRPr/>
          </a:p>
        </p:txBody>
      </p:sp>
      <p:sp>
        <p:nvSpPr>
          <p:cNvPr id="536" name="Google Shape;536;p28"/>
          <p:cNvSpPr/>
          <p:nvPr/>
        </p:nvSpPr>
        <p:spPr>
          <a:xfrm>
            <a:off x="0" y="6286500"/>
            <a:ext cx="12192000" cy="5715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7" name="Google Shape;537;p28"/>
          <p:cNvSpPr txBox="1"/>
          <p:nvPr/>
        </p:nvSpPr>
        <p:spPr>
          <a:xfrm>
            <a:off x="381000" y="6286500"/>
            <a:ext cx="114300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Training is actually the easiest part; 80% of the work goes into Data Curation and Evaluation.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2" name="Google Shape;542;p2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762000" y="-762000"/>
            <a:ext cx="2857500" cy="2857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43" name="Google Shape;543;p2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396805" y="214312"/>
            <a:ext cx="1398240" cy="333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44" name="Google Shape;544;p2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81000" y="6438900"/>
            <a:ext cx="1373981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545" name="Google Shape;545;p29"/>
          <p:cNvSpPr txBox="1"/>
          <p:nvPr/>
        </p:nvSpPr>
        <p:spPr>
          <a:xfrm>
            <a:off x="6795045" y="295275"/>
            <a:ext cx="5015954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Slide 17</a:t>
            </a:r>
            <a:endParaRPr/>
          </a:p>
        </p:txBody>
      </p:sp>
      <p:sp>
        <p:nvSpPr>
          <p:cNvPr id="546" name="Google Shape;546;p29"/>
          <p:cNvSpPr txBox="1"/>
          <p:nvPr/>
        </p:nvSpPr>
        <p:spPr>
          <a:xfrm>
            <a:off x="1524000" y="952500"/>
            <a:ext cx="9144000" cy="514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— Data-Centric AI Principle</a:t>
            </a:r>
            <a:endParaRPr/>
          </a:p>
        </p:txBody>
      </p:sp>
      <p:sp>
        <p:nvSpPr>
          <p:cNvPr id="547" name="Google Shape;547;p29"/>
          <p:cNvSpPr/>
          <p:nvPr/>
        </p:nvSpPr>
        <p:spPr>
          <a:xfrm>
            <a:off x="381000" y="304800"/>
            <a:ext cx="285750" cy="152400"/>
          </a:xfrm>
          <a:prstGeom prst="roundRect">
            <a:avLst>
              <a:gd name="adj" fmla="val 50000"/>
            </a:avLst>
          </a:prstGeom>
          <a:noFill/>
          <a:ln w="19050" cap="flat" cmpd="sng">
            <a:solidFill>
              <a:srgbClr val="0F172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48" name="Google Shape;548;p2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843587" y="2019300"/>
            <a:ext cx="504825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549" name="Google Shape;549;p29"/>
          <p:cNvSpPr txBox="1"/>
          <p:nvPr/>
        </p:nvSpPr>
        <p:spPr>
          <a:xfrm>
            <a:off x="1524000" y="2876550"/>
            <a:ext cx="91440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In fine-tuning, data quality is vastly more important than data quantity. 1,000 perfect examples will beat 100,000 mediocre ones.</a:t>
            </a:r>
            <a:endParaRPr/>
          </a:p>
        </p:txBody>
      </p:sp>
      <p:sp>
        <p:nvSpPr>
          <p:cNvPr id="550" name="Google Shape;550;p29"/>
          <p:cNvSpPr txBox="1"/>
          <p:nvPr/>
        </p:nvSpPr>
        <p:spPr>
          <a:xfrm>
            <a:off x="4704754" y="4762500"/>
            <a:ext cx="2782341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— Data-Centric AI Principle</a:t>
            </a:r>
            <a:endParaRPr/>
          </a:p>
        </p:txBody>
      </p:sp>
      <p:sp>
        <p:nvSpPr>
          <p:cNvPr id="551" name="Google Shape;551;p29"/>
          <p:cNvSpPr/>
          <p:nvPr/>
        </p:nvSpPr>
        <p:spPr>
          <a:xfrm>
            <a:off x="0" y="6286500"/>
            <a:ext cx="12192000" cy="5715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2" name="Google Shape;552;p29"/>
          <p:cNvSpPr txBox="1"/>
          <p:nvPr/>
        </p:nvSpPr>
        <p:spPr>
          <a:xfrm>
            <a:off x="381000" y="6286500"/>
            <a:ext cx="114300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LLMs are incredibly sensitive to dataset noise during the fine-tuning phase.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7" name="Google Shape;557;p3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396805" y="214312"/>
            <a:ext cx="1398240" cy="333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58" name="Google Shape;558;p3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81000" y="6438900"/>
            <a:ext cx="1373981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559" name="Google Shape;559;p30"/>
          <p:cNvSpPr txBox="1"/>
          <p:nvPr/>
        </p:nvSpPr>
        <p:spPr>
          <a:xfrm>
            <a:off x="6795045" y="295275"/>
            <a:ext cx="5016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Slide 18</a:t>
            </a:r>
            <a:endParaRPr/>
          </a:p>
        </p:txBody>
      </p:sp>
      <p:sp>
        <p:nvSpPr>
          <p:cNvPr id="560" name="Google Shape;560;p30"/>
          <p:cNvSpPr txBox="1"/>
          <p:nvPr/>
        </p:nvSpPr>
        <p:spPr>
          <a:xfrm>
            <a:off x="571500" y="952500"/>
            <a:ext cx="116016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Data Quality &gt; Data Quantity</a:t>
            </a:r>
            <a:endParaRPr/>
          </a:p>
        </p:txBody>
      </p:sp>
      <p:sp>
        <p:nvSpPr>
          <p:cNvPr id="561" name="Google Shape;561;p30"/>
          <p:cNvSpPr txBox="1"/>
          <p:nvPr/>
        </p:nvSpPr>
        <p:spPr>
          <a:xfrm>
            <a:off x="571500" y="1476375"/>
            <a:ext cx="110490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The "LIMA" (Less Is More for Alignment) paper revolutionized how we view dataset sizes.</a:t>
            </a:r>
            <a:endParaRPr sz="1500">
              <a:solidFill>
                <a:srgbClr val="47556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2" name="Google Shape;562;p30"/>
          <p:cNvSpPr/>
          <p:nvPr/>
        </p:nvSpPr>
        <p:spPr>
          <a:xfrm>
            <a:off x="381000" y="304800"/>
            <a:ext cx="285900" cy="152400"/>
          </a:xfrm>
          <a:prstGeom prst="roundRect">
            <a:avLst>
              <a:gd name="adj" fmla="val 50000"/>
            </a:avLst>
          </a:prstGeom>
          <a:noFill/>
          <a:ln w="19050" cap="flat" cmpd="sng">
            <a:solidFill>
              <a:srgbClr val="0F172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63" name="Google Shape;563;p30"/>
          <p:cNvGrpSpPr/>
          <p:nvPr/>
        </p:nvGrpSpPr>
        <p:grpSpPr>
          <a:xfrm>
            <a:off x="571500" y="2143125"/>
            <a:ext cx="3429000" cy="3619500"/>
            <a:chOff x="0" y="0"/>
            <a:chExt cx="3429000" cy="3619500"/>
          </a:xfrm>
        </p:grpSpPr>
        <p:sp>
          <p:nvSpPr>
            <p:cNvPr id="564" name="Google Shape;564;p30"/>
            <p:cNvSpPr/>
            <p:nvPr/>
          </p:nvSpPr>
          <p:spPr>
            <a:xfrm>
              <a:off x="0" y="0"/>
              <a:ext cx="3429000" cy="3619500"/>
            </a:xfrm>
            <a:prstGeom prst="roundRect">
              <a:avLst>
                <a:gd name="adj" fmla="val 4444"/>
              </a:avLst>
            </a:prstGeom>
            <a:solidFill>
              <a:srgbClr val="F8FAFC"/>
            </a:solidFill>
            <a:ln w="14300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5" name="Google Shape;565;p30"/>
            <p:cNvSpPr/>
            <p:nvPr/>
          </p:nvSpPr>
          <p:spPr>
            <a:xfrm>
              <a:off x="266700" y="266700"/>
              <a:ext cx="419100" cy="419100"/>
            </a:xfrm>
            <a:prstGeom prst="ellipse">
              <a:avLst/>
            </a:prstGeom>
            <a:solidFill>
              <a:srgbClr val="166534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6" name="Google Shape;566;p30"/>
            <p:cNvSpPr txBox="1"/>
            <p:nvPr/>
          </p:nvSpPr>
          <p:spPr>
            <a:xfrm>
              <a:off x="266700" y="266700"/>
              <a:ext cx="419100" cy="419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1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sz="16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7" name="Google Shape;567;p30"/>
            <p:cNvSpPr txBox="1"/>
            <p:nvPr/>
          </p:nvSpPr>
          <p:spPr>
            <a:xfrm>
              <a:off x="266700" y="904875"/>
              <a:ext cx="2895600" cy="2428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1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rPr>
                <a:t>1,000 Curated Pairs</a:t>
              </a:r>
              <a:endParaRPr sz="1800" b="1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lvl="0" indent="0" algn="l" rtl="0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en-US" sz="1250" b="0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It proved that just </a:t>
              </a:r>
              <a:r>
                <a:rPr lang="en-US" sz="1250" b="1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rPr>
                <a:t>1,000 highly curated</a:t>
              </a:r>
              <a:r>
                <a:rPr lang="en-US" sz="1250" b="0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, perfectly formatted examples can effectively fine-tune a massive LLM.</a:t>
              </a:r>
              <a:endParaRPr sz="1250" b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68" name="Google Shape;568;p30"/>
          <p:cNvGrpSpPr/>
          <p:nvPr/>
        </p:nvGrpSpPr>
        <p:grpSpPr>
          <a:xfrm>
            <a:off x="4381500" y="2143125"/>
            <a:ext cx="3429000" cy="3619500"/>
            <a:chOff x="0" y="0"/>
            <a:chExt cx="3429000" cy="3619500"/>
          </a:xfrm>
        </p:grpSpPr>
        <p:sp>
          <p:nvSpPr>
            <p:cNvPr id="569" name="Google Shape;569;p30"/>
            <p:cNvSpPr/>
            <p:nvPr/>
          </p:nvSpPr>
          <p:spPr>
            <a:xfrm>
              <a:off x="0" y="0"/>
              <a:ext cx="3429000" cy="3619500"/>
            </a:xfrm>
            <a:prstGeom prst="roundRect">
              <a:avLst>
                <a:gd name="adj" fmla="val 4444"/>
              </a:avLst>
            </a:prstGeom>
            <a:solidFill>
              <a:srgbClr val="F8FAFC"/>
            </a:solidFill>
            <a:ln w="14300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" name="Google Shape;570;p30"/>
            <p:cNvSpPr/>
            <p:nvPr/>
          </p:nvSpPr>
          <p:spPr>
            <a:xfrm>
              <a:off x="266700" y="266700"/>
              <a:ext cx="419100" cy="419100"/>
            </a:xfrm>
            <a:prstGeom prst="ellipse">
              <a:avLst/>
            </a:prstGeom>
            <a:solidFill>
              <a:srgbClr val="166534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1" name="Google Shape;571;p30"/>
            <p:cNvSpPr txBox="1"/>
            <p:nvPr/>
          </p:nvSpPr>
          <p:spPr>
            <a:xfrm>
              <a:off x="266700" y="266700"/>
              <a:ext cx="419100" cy="419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1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sz="16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2" name="Google Shape;572;p30"/>
            <p:cNvSpPr txBox="1"/>
            <p:nvPr/>
          </p:nvSpPr>
          <p:spPr>
            <a:xfrm>
              <a:off x="266700" y="904875"/>
              <a:ext cx="2895600" cy="2428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1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rPr>
                <a:t>Avoid GIGO</a:t>
              </a:r>
              <a:endParaRPr sz="1800" b="1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lvl="0" indent="0" algn="l" rtl="0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en-US" sz="1250" b="1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rPr>
                <a:t>Garbage In, Garbage Out:</a:t>
              </a:r>
              <a:r>
                <a:rPr lang="en-US" sz="1250" b="0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 Fine-tuning on messy, contradictory data permanently degrades reasoning capabilities.</a:t>
              </a:r>
              <a:endParaRPr sz="1250" b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73" name="Google Shape;573;p30"/>
          <p:cNvGrpSpPr/>
          <p:nvPr/>
        </p:nvGrpSpPr>
        <p:grpSpPr>
          <a:xfrm>
            <a:off x="8191500" y="2143125"/>
            <a:ext cx="3429000" cy="3619500"/>
            <a:chOff x="0" y="0"/>
            <a:chExt cx="3429000" cy="3619500"/>
          </a:xfrm>
        </p:grpSpPr>
        <p:sp>
          <p:nvSpPr>
            <p:cNvPr id="574" name="Google Shape;574;p30"/>
            <p:cNvSpPr/>
            <p:nvPr/>
          </p:nvSpPr>
          <p:spPr>
            <a:xfrm>
              <a:off x="0" y="0"/>
              <a:ext cx="3429000" cy="3619500"/>
            </a:xfrm>
            <a:prstGeom prst="roundRect">
              <a:avLst>
                <a:gd name="adj" fmla="val 4444"/>
              </a:avLst>
            </a:prstGeom>
            <a:solidFill>
              <a:srgbClr val="F8FAFC"/>
            </a:solidFill>
            <a:ln w="14300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" name="Google Shape;575;p30"/>
            <p:cNvSpPr/>
            <p:nvPr/>
          </p:nvSpPr>
          <p:spPr>
            <a:xfrm>
              <a:off x="266700" y="266700"/>
              <a:ext cx="419100" cy="419100"/>
            </a:xfrm>
            <a:prstGeom prst="ellipse">
              <a:avLst/>
            </a:prstGeom>
            <a:solidFill>
              <a:srgbClr val="166534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" name="Google Shape;576;p30"/>
            <p:cNvSpPr txBox="1"/>
            <p:nvPr/>
          </p:nvSpPr>
          <p:spPr>
            <a:xfrm>
              <a:off x="266700" y="266700"/>
              <a:ext cx="419100" cy="419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1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sz="16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7" name="Google Shape;577;p30"/>
            <p:cNvSpPr txBox="1"/>
            <p:nvPr/>
          </p:nvSpPr>
          <p:spPr>
            <a:xfrm>
              <a:off x="266700" y="904875"/>
              <a:ext cx="2895600" cy="2428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1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rPr>
                <a:t>Expert Curation</a:t>
              </a:r>
              <a:endParaRPr sz="1800" b="1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lvl="0" indent="0" algn="l" rtl="0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en-US" sz="1250" b="0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Dataset creation requires expensive </a:t>
              </a:r>
              <a:r>
                <a:rPr lang="en-US" sz="1250" b="1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rPr>
                <a:t>domain experts</a:t>
              </a:r>
              <a:r>
                <a:rPr lang="en-US" sz="1250" b="0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, rather than cheap, low-quality crowd-workers.</a:t>
              </a:r>
              <a:endParaRPr sz="1250" b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78" name="Google Shape;578;p30"/>
          <p:cNvSpPr/>
          <p:nvPr/>
        </p:nvSpPr>
        <p:spPr>
          <a:xfrm>
            <a:off x="0" y="6286500"/>
            <a:ext cx="12192000" cy="5715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9" name="Google Shape;579;p30"/>
          <p:cNvSpPr txBox="1"/>
          <p:nvPr/>
        </p:nvSpPr>
        <p:spPr>
          <a:xfrm>
            <a:off x="381000" y="6286500"/>
            <a:ext cx="11430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Spend your budget on paying 5 experts to write perfect data, rather than scraping thousands of average internet posts.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4" name="Google Shape;584;p3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001250" y="4667250"/>
            <a:ext cx="3333750" cy="3333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85" name="Google Shape;585;p3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396805" y="214312"/>
            <a:ext cx="1398240" cy="333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86" name="Google Shape;586;p3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81000" y="6438900"/>
            <a:ext cx="1373981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87" name="Google Shape;587;p31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3267075"/>
            <a:ext cx="5334000" cy="1895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88" name="Google Shape;588;p31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286500" y="2836664"/>
            <a:ext cx="5334000" cy="2756296"/>
          </a:xfrm>
          <a:prstGeom prst="rect">
            <a:avLst/>
          </a:prstGeom>
          <a:noFill/>
          <a:ln>
            <a:noFill/>
          </a:ln>
        </p:spPr>
      </p:pic>
      <p:pic>
        <p:nvPicPr>
          <p:cNvPr id="589" name="Google Shape;589;p31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09625" y="3133725"/>
            <a:ext cx="1965275" cy="312390"/>
          </a:xfrm>
          <a:prstGeom prst="rect">
            <a:avLst/>
          </a:prstGeom>
          <a:noFill/>
          <a:ln>
            <a:noFill/>
          </a:ln>
        </p:spPr>
      </p:pic>
      <p:pic>
        <p:nvPicPr>
          <p:cNvPr id="590" name="Google Shape;590;p31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524625" y="2703314"/>
            <a:ext cx="2518767" cy="312390"/>
          </a:xfrm>
          <a:prstGeom prst="rect">
            <a:avLst/>
          </a:prstGeom>
          <a:noFill/>
          <a:ln>
            <a:noFill/>
          </a:ln>
        </p:spPr>
      </p:pic>
      <p:pic>
        <p:nvPicPr>
          <p:cNvPr id="591" name="Google Shape;591;p31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6524625" y="4817864"/>
            <a:ext cx="4857750" cy="536971"/>
          </a:xfrm>
          <a:prstGeom prst="rect">
            <a:avLst/>
          </a:prstGeom>
          <a:noFill/>
          <a:ln>
            <a:noFill/>
          </a:ln>
        </p:spPr>
      </p:pic>
      <p:sp>
        <p:nvSpPr>
          <p:cNvPr id="592" name="Google Shape;592;p31"/>
          <p:cNvSpPr txBox="1"/>
          <p:nvPr/>
        </p:nvSpPr>
        <p:spPr>
          <a:xfrm>
            <a:off x="6795045" y="295275"/>
            <a:ext cx="5015954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Slide 19</a:t>
            </a:r>
            <a:endParaRPr/>
          </a:p>
        </p:txBody>
      </p:sp>
      <p:sp>
        <p:nvSpPr>
          <p:cNvPr id="593" name="Google Shape;593;p31"/>
          <p:cNvSpPr txBox="1"/>
          <p:nvPr/>
        </p:nvSpPr>
        <p:spPr>
          <a:xfrm>
            <a:off x="571500" y="1455539"/>
            <a:ext cx="1160145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Formatting Instruction Datasets</a:t>
            </a:r>
            <a:endParaRPr/>
          </a:p>
        </p:txBody>
      </p:sp>
      <p:sp>
        <p:nvSpPr>
          <p:cNvPr id="594" name="Google Shape;594;p31"/>
          <p:cNvSpPr txBox="1"/>
          <p:nvPr/>
        </p:nvSpPr>
        <p:spPr>
          <a:xfrm>
            <a:off x="571500" y="2141339"/>
            <a:ext cx="11049000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Models must receive data in exactly the shape they were pre-trained on.</a:t>
            </a:r>
            <a:endParaRPr/>
          </a:p>
        </p:txBody>
      </p:sp>
      <p:sp>
        <p:nvSpPr>
          <p:cNvPr id="595" name="Google Shape;595;p31"/>
          <p:cNvSpPr/>
          <p:nvPr/>
        </p:nvSpPr>
        <p:spPr>
          <a:xfrm>
            <a:off x="381000" y="304800"/>
            <a:ext cx="285750" cy="152400"/>
          </a:xfrm>
          <a:prstGeom prst="roundRect">
            <a:avLst>
              <a:gd name="adj" fmla="val 50000"/>
            </a:avLst>
          </a:prstGeom>
          <a:noFill/>
          <a:ln w="19050" cap="flat" cmpd="sng">
            <a:solidFill>
              <a:srgbClr val="0F172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6" name="Google Shape;596;p31"/>
          <p:cNvSpPr/>
          <p:nvPr/>
        </p:nvSpPr>
        <p:spPr>
          <a:xfrm>
            <a:off x="0" y="6286500"/>
            <a:ext cx="12192000" cy="5715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7" name="Google Shape;597;p31"/>
          <p:cNvSpPr txBox="1"/>
          <p:nvPr/>
        </p:nvSpPr>
        <p:spPr>
          <a:xfrm>
            <a:off x="381000" y="6286500"/>
            <a:ext cx="114300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If you format the data incorrectly, the model will learn your bad formatting instead of the task.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2" name="Google Shape;602;p3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077569" y="214312"/>
            <a:ext cx="2036861" cy="333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03" name="Google Shape;603;p3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81000" y="6438900"/>
            <a:ext cx="1373981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604" name="Google Shape;604;p32"/>
          <p:cNvSpPr txBox="1"/>
          <p:nvPr/>
        </p:nvSpPr>
        <p:spPr>
          <a:xfrm>
            <a:off x="7114430" y="295275"/>
            <a:ext cx="4696569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Slide 20</a:t>
            </a:r>
            <a:endParaRPr/>
          </a:p>
        </p:txBody>
      </p:sp>
      <p:sp>
        <p:nvSpPr>
          <p:cNvPr id="605" name="Google Shape;605;p32"/>
          <p:cNvSpPr/>
          <p:nvPr/>
        </p:nvSpPr>
        <p:spPr>
          <a:xfrm>
            <a:off x="381000" y="304800"/>
            <a:ext cx="285750" cy="152400"/>
          </a:xfrm>
          <a:prstGeom prst="roundRect">
            <a:avLst>
              <a:gd name="adj" fmla="val 50000"/>
            </a:avLst>
          </a:prstGeom>
          <a:noFill/>
          <a:ln w="19050" cap="flat" cmpd="sng">
            <a:solidFill>
              <a:srgbClr val="0F172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6" name="Google Shape;606;p32"/>
          <p:cNvSpPr txBox="1"/>
          <p:nvPr/>
        </p:nvSpPr>
        <p:spPr>
          <a:xfrm>
            <a:off x="2272084" y="2819400"/>
            <a:ext cx="7647830" cy="704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u="none" strike="noStrike" cap="non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Cost, Risk &amp; Governance</a:t>
            </a:r>
            <a:endParaRPr/>
          </a:p>
        </p:txBody>
      </p:sp>
      <p:sp>
        <p:nvSpPr>
          <p:cNvPr id="607" name="Google Shape;607;p32"/>
          <p:cNvSpPr/>
          <p:nvPr/>
        </p:nvSpPr>
        <p:spPr>
          <a:xfrm>
            <a:off x="5524500" y="3714750"/>
            <a:ext cx="1143000" cy="57150"/>
          </a:xfrm>
          <a:prstGeom prst="roundRect">
            <a:avLst>
              <a:gd name="adj" fmla="val 50000"/>
            </a:avLst>
          </a:prstGeom>
          <a:solidFill>
            <a:srgbClr val="16653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8" name="Google Shape;608;p32"/>
          <p:cNvSpPr txBox="1"/>
          <p:nvPr/>
        </p:nvSpPr>
        <p:spPr>
          <a:xfrm>
            <a:off x="2766566" y="3962400"/>
            <a:ext cx="6658719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Navigating the enterprise challenges of deploying custom models.</a:t>
            </a:r>
            <a:endParaRPr/>
          </a:p>
        </p:txBody>
      </p:sp>
      <p:sp>
        <p:nvSpPr>
          <p:cNvPr id="609" name="Google Shape;609;p32"/>
          <p:cNvSpPr/>
          <p:nvPr/>
        </p:nvSpPr>
        <p:spPr>
          <a:xfrm>
            <a:off x="0" y="6286500"/>
            <a:ext cx="12192000" cy="5715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0" name="Google Shape;610;p32"/>
          <p:cNvSpPr txBox="1"/>
          <p:nvPr/>
        </p:nvSpPr>
        <p:spPr>
          <a:xfrm>
            <a:off x="381000" y="6286500"/>
            <a:ext cx="114300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Technical feasibility is not the same as business viability; cost and risk dictate enterprise adoption.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6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2" name="Google Shape;642;p3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077569" y="214312"/>
            <a:ext cx="2036861" cy="333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43" name="Google Shape;643;p3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81000" y="6438900"/>
            <a:ext cx="1373981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44" name="Google Shape;644;p3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2628900"/>
            <a:ext cx="2583656" cy="2476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45" name="Google Shape;645;p3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393281" y="2628900"/>
            <a:ext cx="2583656" cy="2476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46" name="Google Shape;646;p3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215062" y="2628900"/>
            <a:ext cx="2583656" cy="2476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47" name="Google Shape;647;p34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9036843" y="2628900"/>
            <a:ext cx="2583656" cy="2476500"/>
          </a:xfrm>
          <a:prstGeom prst="rect">
            <a:avLst/>
          </a:prstGeom>
          <a:noFill/>
          <a:ln>
            <a:noFill/>
          </a:ln>
        </p:spPr>
      </p:pic>
      <p:sp>
        <p:nvSpPr>
          <p:cNvPr id="648" name="Google Shape;648;p34"/>
          <p:cNvSpPr txBox="1"/>
          <p:nvPr/>
        </p:nvSpPr>
        <p:spPr>
          <a:xfrm>
            <a:off x="7114430" y="295275"/>
            <a:ext cx="4696569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Slide 22</a:t>
            </a:r>
            <a:endParaRPr/>
          </a:p>
        </p:txBody>
      </p:sp>
      <p:sp>
        <p:nvSpPr>
          <p:cNvPr id="649" name="Google Shape;649;p34"/>
          <p:cNvSpPr txBox="1"/>
          <p:nvPr/>
        </p:nvSpPr>
        <p:spPr>
          <a:xfrm>
            <a:off x="571500" y="1943100"/>
            <a:ext cx="1160145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Hidden Costs of Fine-Tuning</a:t>
            </a:r>
            <a:endParaRPr/>
          </a:p>
        </p:txBody>
      </p:sp>
      <p:sp>
        <p:nvSpPr>
          <p:cNvPr id="650" name="Google Shape;650;p34"/>
          <p:cNvSpPr/>
          <p:nvPr/>
        </p:nvSpPr>
        <p:spPr>
          <a:xfrm>
            <a:off x="381000" y="304800"/>
            <a:ext cx="285750" cy="152400"/>
          </a:xfrm>
          <a:prstGeom prst="roundRect">
            <a:avLst>
              <a:gd name="adj" fmla="val 50000"/>
            </a:avLst>
          </a:prstGeom>
          <a:noFill/>
          <a:ln w="19050" cap="flat" cmpd="sng">
            <a:solidFill>
              <a:srgbClr val="0F172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51" name="Google Shape;651;p34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563290" y="2924175"/>
            <a:ext cx="600075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652" name="Google Shape;652;p34"/>
          <p:cNvSpPr txBox="1"/>
          <p:nvPr/>
        </p:nvSpPr>
        <p:spPr>
          <a:xfrm>
            <a:off x="1207468" y="3590925"/>
            <a:ext cx="1311570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Data Labeling</a:t>
            </a:r>
            <a:endParaRPr/>
          </a:p>
        </p:txBody>
      </p:sp>
      <p:sp>
        <p:nvSpPr>
          <p:cNvPr id="653" name="Google Shape;653;p34"/>
          <p:cNvSpPr txBox="1"/>
          <p:nvPr/>
        </p:nvSpPr>
        <p:spPr>
          <a:xfrm>
            <a:off x="771525" y="3952875"/>
            <a:ext cx="2183606" cy="642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Hiring expensive domain experts (lawyers, doctors) to write perfect "Gold Standard" responses.</a:t>
            </a:r>
            <a:endParaRPr/>
          </a:p>
        </p:txBody>
      </p:sp>
      <p:pic>
        <p:nvPicPr>
          <p:cNvPr id="654" name="Google Shape;654;p34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4385071" y="2924175"/>
            <a:ext cx="600075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655" name="Google Shape;655;p34"/>
          <p:cNvSpPr txBox="1"/>
          <p:nvPr/>
        </p:nvSpPr>
        <p:spPr>
          <a:xfrm>
            <a:off x="3668110" y="3590925"/>
            <a:ext cx="2033847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MLOps Infrastructure</a:t>
            </a:r>
            <a:endParaRPr/>
          </a:p>
        </p:txBody>
      </p:sp>
      <p:sp>
        <p:nvSpPr>
          <p:cNvPr id="656" name="Google Shape;656;p34"/>
          <p:cNvSpPr txBox="1"/>
          <p:nvPr/>
        </p:nvSpPr>
        <p:spPr>
          <a:xfrm>
            <a:off x="3593306" y="3952875"/>
            <a:ext cx="2183606" cy="642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Building complex pipelines for continuous integration, dataset versioning, and training.</a:t>
            </a:r>
            <a:endParaRPr/>
          </a:p>
        </p:txBody>
      </p:sp>
      <p:pic>
        <p:nvPicPr>
          <p:cNvPr id="657" name="Google Shape;657;p34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7268765" y="2924175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658" name="Google Shape;658;p34"/>
          <p:cNvSpPr txBox="1"/>
          <p:nvPr/>
        </p:nvSpPr>
        <p:spPr>
          <a:xfrm>
            <a:off x="6890094" y="3590925"/>
            <a:ext cx="1233591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GPU Hosting</a:t>
            </a:r>
            <a:endParaRPr/>
          </a:p>
        </p:txBody>
      </p:sp>
      <p:sp>
        <p:nvSpPr>
          <p:cNvPr id="659" name="Google Shape;659;p34"/>
          <p:cNvSpPr txBox="1"/>
          <p:nvPr/>
        </p:nvSpPr>
        <p:spPr>
          <a:xfrm>
            <a:off x="6415087" y="3952875"/>
            <a:ext cx="2183606" cy="642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Unlike API pay-per-token, you pay for the GPU 24/7 to keep the model loaded in VRAM.</a:t>
            </a:r>
            <a:endParaRPr/>
          </a:p>
        </p:txBody>
      </p:sp>
      <p:pic>
        <p:nvPicPr>
          <p:cNvPr id="660" name="Google Shape;660;p34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10119121" y="2924175"/>
            <a:ext cx="41910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661" name="Google Shape;661;p34"/>
          <p:cNvSpPr txBox="1"/>
          <p:nvPr/>
        </p:nvSpPr>
        <p:spPr>
          <a:xfrm>
            <a:off x="9822831" y="3590925"/>
            <a:ext cx="1011532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Evaluation</a:t>
            </a:r>
            <a:endParaRPr/>
          </a:p>
        </p:txBody>
      </p:sp>
      <p:sp>
        <p:nvSpPr>
          <p:cNvPr id="662" name="Google Shape;662;p34"/>
          <p:cNvSpPr txBox="1"/>
          <p:nvPr/>
        </p:nvSpPr>
        <p:spPr>
          <a:xfrm>
            <a:off x="9236868" y="3952875"/>
            <a:ext cx="2183606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Running expensive automated benchmarks and human A/B testing on every new model iteration.</a:t>
            </a:r>
            <a:endParaRPr/>
          </a:p>
        </p:txBody>
      </p:sp>
      <p:sp>
        <p:nvSpPr>
          <p:cNvPr id="663" name="Google Shape;663;p34"/>
          <p:cNvSpPr/>
          <p:nvPr/>
        </p:nvSpPr>
        <p:spPr>
          <a:xfrm>
            <a:off x="0" y="6286500"/>
            <a:ext cx="12192000" cy="5715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4" name="Google Shape;664;p34"/>
          <p:cNvSpPr txBox="1"/>
          <p:nvPr/>
        </p:nvSpPr>
        <p:spPr>
          <a:xfrm>
            <a:off x="381000" y="6286500"/>
            <a:ext cx="114300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The compute cost of training is often the cheapest part of the entire fine-tuning lifecycle.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9" name="Google Shape;669;p3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001250" y="4667250"/>
            <a:ext cx="3333750" cy="3333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70" name="Google Shape;670;p3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077569" y="214312"/>
            <a:ext cx="2036861" cy="333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71" name="Google Shape;671;p3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81000" y="6438900"/>
            <a:ext cx="1373981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72" name="Google Shape;672;p3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286500" y="1638300"/>
            <a:ext cx="5334000" cy="5334000"/>
          </a:xfrm>
          <a:prstGeom prst="rect">
            <a:avLst/>
          </a:prstGeom>
          <a:noFill/>
          <a:ln>
            <a:noFill/>
          </a:ln>
        </p:spPr>
      </p:pic>
      <p:sp>
        <p:nvSpPr>
          <p:cNvPr id="673" name="Google Shape;673;p35"/>
          <p:cNvSpPr txBox="1"/>
          <p:nvPr/>
        </p:nvSpPr>
        <p:spPr>
          <a:xfrm>
            <a:off x="7114430" y="295275"/>
            <a:ext cx="4696569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Slide 23</a:t>
            </a:r>
            <a:endParaRPr/>
          </a:p>
        </p:txBody>
      </p:sp>
      <p:sp>
        <p:nvSpPr>
          <p:cNvPr id="674" name="Google Shape;674;p35"/>
          <p:cNvSpPr txBox="1"/>
          <p:nvPr/>
        </p:nvSpPr>
        <p:spPr>
          <a:xfrm>
            <a:off x="571500" y="952500"/>
            <a:ext cx="1160145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Risk: Catastrophic Forgetting</a:t>
            </a:r>
            <a:endParaRPr/>
          </a:p>
        </p:txBody>
      </p:sp>
      <p:sp>
        <p:nvSpPr>
          <p:cNvPr id="675" name="Google Shape;675;p35"/>
          <p:cNvSpPr/>
          <p:nvPr/>
        </p:nvSpPr>
        <p:spPr>
          <a:xfrm>
            <a:off x="381000" y="304800"/>
            <a:ext cx="285750" cy="152400"/>
          </a:xfrm>
          <a:prstGeom prst="roundRect">
            <a:avLst>
              <a:gd name="adj" fmla="val 50000"/>
            </a:avLst>
          </a:prstGeom>
          <a:noFill/>
          <a:ln w="19050" cap="flat" cmpd="sng">
            <a:solidFill>
              <a:srgbClr val="0F172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6" name="Google Shape;676;p35"/>
          <p:cNvSpPr txBox="1"/>
          <p:nvPr/>
        </p:nvSpPr>
        <p:spPr>
          <a:xfrm>
            <a:off x="571500" y="2847975"/>
            <a:ext cx="53340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Catastrophic Forgetting</a:t>
            </a:r>
            <a:r>
              <a:rPr lang="en-US" sz="1500" b="0" i="0" u="none" strike="noStrike" cap="non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occurs when a model learns a new task but completely overwrites its previously learned knowledge.</a:t>
            </a:r>
            <a:endParaRPr/>
          </a:p>
        </p:txBody>
      </p:sp>
      <p:pic>
        <p:nvPicPr>
          <p:cNvPr id="677" name="Google Shape;677;p3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286500" y="1638300"/>
            <a:ext cx="5334000" cy="5334000"/>
          </a:xfrm>
          <a:prstGeom prst="rect">
            <a:avLst/>
          </a:prstGeom>
          <a:noFill/>
          <a:ln>
            <a:noFill/>
          </a:ln>
        </p:spPr>
      </p:pic>
      <p:sp>
        <p:nvSpPr>
          <p:cNvPr id="678" name="Google Shape;678;p35"/>
          <p:cNvSpPr txBox="1"/>
          <p:nvPr/>
        </p:nvSpPr>
        <p:spPr>
          <a:xfrm>
            <a:off x="695325" y="3952875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/>
          </a:p>
        </p:txBody>
      </p:sp>
      <p:sp>
        <p:nvSpPr>
          <p:cNvPr id="679" name="Google Shape;679;p35"/>
          <p:cNvSpPr txBox="1"/>
          <p:nvPr/>
        </p:nvSpPr>
        <p:spPr>
          <a:xfrm>
            <a:off x="762000" y="3952875"/>
            <a:ext cx="51435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If you fine-tune an LLM strictly on medical coding, it might "forget" how to write generic Python or carry on a normal conversation.</a:t>
            </a:r>
            <a:endParaRPr/>
          </a:p>
        </p:txBody>
      </p:sp>
      <p:sp>
        <p:nvSpPr>
          <p:cNvPr id="680" name="Google Shape;680;p35"/>
          <p:cNvSpPr txBox="1"/>
          <p:nvPr/>
        </p:nvSpPr>
        <p:spPr>
          <a:xfrm>
            <a:off x="695325" y="5010150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/>
          </a:p>
        </p:txBody>
      </p:sp>
      <p:sp>
        <p:nvSpPr>
          <p:cNvPr id="681" name="Google Shape;681;p35"/>
          <p:cNvSpPr txBox="1"/>
          <p:nvPr/>
        </p:nvSpPr>
        <p:spPr>
          <a:xfrm>
            <a:off x="762000" y="5010150"/>
            <a:ext cx="51435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Over-tuning makes the model highly specialized but destroys its general reasoning capabilities.</a:t>
            </a:r>
            <a:endParaRPr/>
          </a:p>
        </p:txBody>
      </p:sp>
      <p:sp>
        <p:nvSpPr>
          <p:cNvPr id="682" name="Google Shape;682;p35"/>
          <p:cNvSpPr/>
          <p:nvPr/>
        </p:nvSpPr>
        <p:spPr>
          <a:xfrm>
            <a:off x="0" y="6286500"/>
            <a:ext cx="12192000" cy="5715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3" name="Google Shape;683;p35"/>
          <p:cNvSpPr txBox="1"/>
          <p:nvPr/>
        </p:nvSpPr>
        <p:spPr>
          <a:xfrm>
            <a:off x="381000" y="6286500"/>
            <a:ext cx="114300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Specialization comes at a cost; you trade general intelligence for specific domain mastery.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6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8" name="Google Shape;688;p3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077569" y="214312"/>
            <a:ext cx="2036861" cy="333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89" name="Google Shape;689;p3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81000" y="6438900"/>
            <a:ext cx="1373981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90" name="Google Shape;690;p3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2447925"/>
            <a:ext cx="5381625" cy="1276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91" name="Google Shape;691;p3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38875" y="2447925"/>
            <a:ext cx="5381625" cy="1276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92" name="Google Shape;692;p3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4010025"/>
            <a:ext cx="5381625" cy="1276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93" name="Google Shape;693;p3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38875" y="4010025"/>
            <a:ext cx="5381625" cy="1276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94" name="Google Shape;694;p3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09625" y="2686050"/>
            <a:ext cx="428625" cy="428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95" name="Google Shape;695;p36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477000" y="2686050"/>
            <a:ext cx="428625" cy="428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96" name="Google Shape;696;p36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09625" y="4248150"/>
            <a:ext cx="428625" cy="428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97" name="Google Shape;697;p36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477000" y="4248150"/>
            <a:ext cx="428625" cy="428625"/>
          </a:xfrm>
          <a:prstGeom prst="rect">
            <a:avLst/>
          </a:prstGeom>
          <a:noFill/>
          <a:ln>
            <a:noFill/>
          </a:ln>
        </p:spPr>
      </p:pic>
      <p:sp>
        <p:nvSpPr>
          <p:cNvPr id="698" name="Google Shape;698;p36"/>
          <p:cNvSpPr txBox="1"/>
          <p:nvPr/>
        </p:nvSpPr>
        <p:spPr>
          <a:xfrm>
            <a:off x="7114430" y="295275"/>
            <a:ext cx="4696569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Slide 24</a:t>
            </a:r>
            <a:endParaRPr/>
          </a:p>
        </p:txBody>
      </p:sp>
      <p:sp>
        <p:nvSpPr>
          <p:cNvPr id="699" name="Google Shape;699;p36"/>
          <p:cNvSpPr txBox="1"/>
          <p:nvPr/>
        </p:nvSpPr>
        <p:spPr>
          <a:xfrm>
            <a:off x="571500" y="1762125"/>
            <a:ext cx="1160145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Mitigating Catastrophic Forgetting</a:t>
            </a:r>
            <a:endParaRPr/>
          </a:p>
        </p:txBody>
      </p:sp>
      <p:sp>
        <p:nvSpPr>
          <p:cNvPr id="700" name="Google Shape;700;p36"/>
          <p:cNvSpPr/>
          <p:nvPr/>
        </p:nvSpPr>
        <p:spPr>
          <a:xfrm>
            <a:off x="381000" y="304800"/>
            <a:ext cx="285750" cy="152400"/>
          </a:xfrm>
          <a:prstGeom prst="roundRect">
            <a:avLst>
              <a:gd name="adj" fmla="val 50000"/>
            </a:avLst>
          </a:prstGeom>
          <a:noFill/>
          <a:ln w="19050" cap="flat" cmpd="sng">
            <a:solidFill>
              <a:srgbClr val="0F172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1" name="Google Shape;701;p36"/>
          <p:cNvSpPr txBox="1"/>
          <p:nvPr/>
        </p:nvSpPr>
        <p:spPr>
          <a:xfrm>
            <a:off x="1428750" y="2686050"/>
            <a:ext cx="4500562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Low Learning Rates</a:t>
            </a:r>
            <a:endParaRPr/>
          </a:p>
        </p:txBody>
      </p:sp>
      <p:sp>
        <p:nvSpPr>
          <p:cNvPr id="702" name="Google Shape;702;p36"/>
          <p:cNvSpPr txBox="1"/>
          <p:nvPr/>
        </p:nvSpPr>
        <p:spPr>
          <a:xfrm>
            <a:off x="1428750" y="3028950"/>
            <a:ext cx="42862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Make tiny, slow mathematical adjustments so old foundational weights aren't drastically overwritten.</a:t>
            </a:r>
            <a:endParaRPr/>
          </a:p>
        </p:txBody>
      </p:sp>
      <p:sp>
        <p:nvSpPr>
          <p:cNvPr id="703" name="Google Shape;703;p36"/>
          <p:cNvSpPr txBox="1"/>
          <p:nvPr/>
        </p:nvSpPr>
        <p:spPr>
          <a:xfrm>
            <a:off x="7096125" y="2686050"/>
            <a:ext cx="4500562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Data Replay</a:t>
            </a:r>
            <a:endParaRPr/>
          </a:p>
        </p:txBody>
      </p:sp>
      <p:sp>
        <p:nvSpPr>
          <p:cNvPr id="704" name="Google Shape;704;p36"/>
          <p:cNvSpPr txBox="1"/>
          <p:nvPr/>
        </p:nvSpPr>
        <p:spPr>
          <a:xfrm>
            <a:off x="7096125" y="3028950"/>
            <a:ext cx="42862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Mix 10-20% of general pre-training data (like Wikipedia) alongside your custom domain dataset.</a:t>
            </a:r>
            <a:endParaRPr/>
          </a:p>
        </p:txBody>
      </p:sp>
      <p:sp>
        <p:nvSpPr>
          <p:cNvPr id="705" name="Google Shape;705;p36"/>
          <p:cNvSpPr txBox="1"/>
          <p:nvPr/>
        </p:nvSpPr>
        <p:spPr>
          <a:xfrm>
            <a:off x="1428750" y="4248150"/>
            <a:ext cx="4500562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Early Stopping</a:t>
            </a:r>
            <a:endParaRPr/>
          </a:p>
        </p:txBody>
      </p:sp>
      <p:sp>
        <p:nvSpPr>
          <p:cNvPr id="706" name="Google Shape;706;p36"/>
          <p:cNvSpPr txBox="1"/>
          <p:nvPr/>
        </p:nvSpPr>
        <p:spPr>
          <a:xfrm>
            <a:off x="1428750" y="4591050"/>
            <a:ext cx="42862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Monitor validation loss and stop training before the model overfits completely to the new dataset.</a:t>
            </a:r>
            <a:endParaRPr/>
          </a:p>
        </p:txBody>
      </p:sp>
      <p:sp>
        <p:nvSpPr>
          <p:cNvPr id="707" name="Google Shape;707;p36"/>
          <p:cNvSpPr txBox="1"/>
          <p:nvPr/>
        </p:nvSpPr>
        <p:spPr>
          <a:xfrm>
            <a:off x="7096125" y="4248150"/>
            <a:ext cx="4500562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Use LoRA</a:t>
            </a:r>
            <a:endParaRPr/>
          </a:p>
        </p:txBody>
      </p:sp>
      <p:sp>
        <p:nvSpPr>
          <p:cNvPr id="708" name="Google Shape;708;p36"/>
          <p:cNvSpPr txBox="1"/>
          <p:nvPr/>
        </p:nvSpPr>
        <p:spPr>
          <a:xfrm>
            <a:off x="7096125" y="4591050"/>
            <a:ext cx="42862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PEFT naturally protects base weights by freezing them, significantly reducing the severity of forgetting.</a:t>
            </a:r>
            <a:endParaRPr/>
          </a:p>
        </p:txBody>
      </p:sp>
      <p:sp>
        <p:nvSpPr>
          <p:cNvPr id="709" name="Google Shape;709;p36"/>
          <p:cNvSpPr/>
          <p:nvPr/>
        </p:nvSpPr>
        <p:spPr>
          <a:xfrm>
            <a:off x="0" y="6286500"/>
            <a:ext cx="12192000" cy="5715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0" name="Google Shape;710;p36"/>
          <p:cNvSpPr txBox="1"/>
          <p:nvPr/>
        </p:nvSpPr>
        <p:spPr>
          <a:xfrm>
            <a:off x="381000" y="6286500"/>
            <a:ext cx="114300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 balanced dataset and PEFT architecture are the best defenses against model degradation.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7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5" name="Google Shape;715;p3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762000" y="-762000"/>
            <a:ext cx="2857500" cy="2857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16" name="Google Shape;716;p3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077569" y="214312"/>
            <a:ext cx="2036861" cy="333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17" name="Google Shape;717;p3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81000" y="6438900"/>
            <a:ext cx="1373981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18" name="Google Shape;718;p3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3591966"/>
            <a:ext cx="2547937" cy="1855291"/>
          </a:xfrm>
          <a:prstGeom prst="rect">
            <a:avLst/>
          </a:prstGeom>
          <a:noFill/>
          <a:ln>
            <a:noFill/>
          </a:ln>
        </p:spPr>
      </p:pic>
      <p:pic>
        <p:nvPicPr>
          <p:cNvPr id="719" name="Google Shape;719;p37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3405187" y="3591966"/>
            <a:ext cx="2547937" cy="1855291"/>
          </a:xfrm>
          <a:prstGeom prst="rect">
            <a:avLst/>
          </a:prstGeom>
          <a:noFill/>
          <a:ln>
            <a:noFill/>
          </a:ln>
        </p:spPr>
      </p:pic>
      <p:pic>
        <p:nvPicPr>
          <p:cNvPr id="720" name="Google Shape;720;p37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238875" y="3591966"/>
            <a:ext cx="2547937" cy="1855291"/>
          </a:xfrm>
          <a:prstGeom prst="rect">
            <a:avLst/>
          </a:prstGeom>
          <a:noFill/>
          <a:ln>
            <a:noFill/>
          </a:ln>
        </p:spPr>
      </p:pic>
      <p:pic>
        <p:nvPicPr>
          <p:cNvPr id="721" name="Google Shape;721;p37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9072562" y="3591966"/>
            <a:ext cx="2547937" cy="1855291"/>
          </a:xfrm>
          <a:prstGeom prst="rect">
            <a:avLst/>
          </a:prstGeom>
          <a:noFill/>
          <a:ln>
            <a:noFill/>
          </a:ln>
        </p:spPr>
      </p:pic>
      <p:pic>
        <p:nvPicPr>
          <p:cNvPr id="722" name="Google Shape;722;p37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3429595" y="2287041"/>
            <a:ext cx="5332809" cy="828675"/>
          </a:xfrm>
          <a:prstGeom prst="rect">
            <a:avLst/>
          </a:prstGeom>
          <a:noFill/>
          <a:ln>
            <a:noFill/>
          </a:ln>
        </p:spPr>
      </p:pic>
      <p:sp>
        <p:nvSpPr>
          <p:cNvPr id="723" name="Google Shape;723;p37"/>
          <p:cNvSpPr txBox="1"/>
          <p:nvPr/>
        </p:nvSpPr>
        <p:spPr>
          <a:xfrm>
            <a:off x="7114430" y="295275"/>
            <a:ext cx="4696569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Slide 25</a:t>
            </a:r>
            <a:endParaRPr/>
          </a:p>
        </p:txBody>
      </p:sp>
      <p:sp>
        <p:nvSpPr>
          <p:cNvPr id="724" name="Google Shape;724;p37"/>
          <p:cNvSpPr txBox="1"/>
          <p:nvPr/>
        </p:nvSpPr>
        <p:spPr>
          <a:xfrm>
            <a:off x="571500" y="952500"/>
            <a:ext cx="1160145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Model Evaluation Framework</a:t>
            </a:r>
            <a:endParaRPr/>
          </a:p>
        </p:txBody>
      </p:sp>
      <p:sp>
        <p:nvSpPr>
          <p:cNvPr id="725" name="Google Shape;725;p37"/>
          <p:cNvSpPr/>
          <p:nvPr/>
        </p:nvSpPr>
        <p:spPr>
          <a:xfrm>
            <a:off x="381000" y="304800"/>
            <a:ext cx="285750" cy="152400"/>
          </a:xfrm>
          <a:prstGeom prst="roundRect">
            <a:avLst>
              <a:gd name="adj" fmla="val 50000"/>
            </a:avLst>
          </a:prstGeom>
          <a:noFill/>
          <a:ln w="19050" cap="flat" cmpd="sng">
            <a:solidFill>
              <a:srgbClr val="0F172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6" name="Google Shape;726;p37"/>
          <p:cNvSpPr/>
          <p:nvPr/>
        </p:nvSpPr>
        <p:spPr>
          <a:xfrm>
            <a:off x="1676400" y="4510087"/>
            <a:ext cx="88392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27" name="Google Shape;727;p37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1631156" y="3849141"/>
            <a:ext cx="428625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728" name="Google Shape;728;p37"/>
          <p:cNvSpPr txBox="1"/>
          <p:nvPr/>
        </p:nvSpPr>
        <p:spPr>
          <a:xfrm>
            <a:off x="1060214" y="4334916"/>
            <a:ext cx="1570508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Human Evaluation</a:t>
            </a:r>
            <a:endParaRPr/>
          </a:p>
        </p:txBody>
      </p:sp>
      <p:sp>
        <p:nvSpPr>
          <p:cNvPr id="729" name="Google Shape;729;p37"/>
          <p:cNvSpPr txBox="1"/>
          <p:nvPr/>
        </p:nvSpPr>
        <p:spPr>
          <a:xfrm>
            <a:off x="828675" y="4630191"/>
            <a:ext cx="2033587" cy="5598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Blind A/B testing of model outputs. Still the gold standard for tone and nuance.</a:t>
            </a:r>
            <a:endParaRPr/>
          </a:p>
        </p:txBody>
      </p:sp>
      <p:pic>
        <p:nvPicPr>
          <p:cNvPr id="730" name="Google Shape;730;p37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4464843" y="3849141"/>
            <a:ext cx="428625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731" name="Google Shape;731;p37"/>
          <p:cNvSpPr txBox="1"/>
          <p:nvPr/>
        </p:nvSpPr>
        <p:spPr>
          <a:xfrm>
            <a:off x="3688411" y="4334916"/>
            <a:ext cx="1981341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Academic Benchmarks</a:t>
            </a:r>
            <a:endParaRPr/>
          </a:p>
        </p:txBody>
      </p:sp>
      <p:sp>
        <p:nvSpPr>
          <p:cNvPr id="732" name="Google Shape;732;p37"/>
          <p:cNvSpPr txBox="1"/>
          <p:nvPr/>
        </p:nvSpPr>
        <p:spPr>
          <a:xfrm>
            <a:off x="3662362" y="4630191"/>
            <a:ext cx="2033587" cy="5598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Running MMLU or HumanEval to ensure general knowledge hasn't dropped off.</a:t>
            </a:r>
            <a:endParaRPr/>
          </a:p>
        </p:txBody>
      </p:sp>
      <p:pic>
        <p:nvPicPr>
          <p:cNvPr id="733" name="Google Shape;733;p37" descr="image.png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7341393" y="3849141"/>
            <a:ext cx="342900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734" name="Google Shape;734;p37"/>
          <p:cNvSpPr txBox="1"/>
          <p:nvPr/>
        </p:nvSpPr>
        <p:spPr>
          <a:xfrm>
            <a:off x="6554130" y="4334916"/>
            <a:ext cx="1917427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Domain-Specific Tests</a:t>
            </a:r>
            <a:endParaRPr/>
          </a:p>
        </p:txBody>
      </p:sp>
      <p:sp>
        <p:nvSpPr>
          <p:cNvPr id="735" name="Google Shape;735;p37"/>
          <p:cNvSpPr txBox="1"/>
          <p:nvPr/>
        </p:nvSpPr>
        <p:spPr>
          <a:xfrm>
            <a:off x="6496050" y="4630191"/>
            <a:ext cx="2033587" cy="5598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Custom automated unit tests for your specific use case (e.g., JSON schema validation).</a:t>
            </a:r>
            <a:endParaRPr/>
          </a:p>
        </p:txBody>
      </p:sp>
      <p:pic>
        <p:nvPicPr>
          <p:cNvPr id="736" name="Google Shape;736;p37" descr="image.png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10132218" y="3849141"/>
            <a:ext cx="428625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737" name="Google Shape;737;p37"/>
          <p:cNvSpPr txBox="1"/>
          <p:nvPr/>
        </p:nvSpPr>
        <p:spPr>
          <a:xfrm>
            <a:off x="9656292" y="4334916"/>
            <a:ext cx="1380328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LLM-as-a-Judge</a:t>
            </a:r>
            <a:endParaRPr/>
          </a:p>
        </p:txBody>
      </p:sp>
      <p:sp>
        <p:nvSpPr>
          <p:cNvPr id="738" name="Google Shape;738;p37"/>
          <p:cNvSpPr txBox="1"/>
          <p:nvPr/>
        </p:nvSpPr>
        <p:spPr>
          <a:xfrm>
            <a:off x="9329737" y="4630191"/>
            <a:ext cx="2033587" cy="5598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Using a massive model (like GPT-4) to systematically grade the fine-tuned model's responses.</a:t>
            </a:r>
            <a:endParaRPr/>
          </a:p>
        </p:txBody>
      </p:sp>
      <p:sp>
        <p:nvSpPr>
          <p:cNvPr id="739" name="Google Shape;739;p37"/>
          <p:cNvSpPr/>
          <p:nvPr/>
        </p:nvSpPr>
        <p:spPr>
          <a:xfrm>
            <a:off x="0" y="6286500"/>
            <a:ext cx="12192000" cy="5715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0" name="Google Shape;740;p37"/>
          <p:cNvSpPr txBox="1"/>
          <p:nvPr/>
        </p:nvSpPr>
        <p:spPr>
          <a:xfrm>
            <a:off x="381000" y="6286500"/>
            <a:ext cx="114300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You cannot manage what you cannot measure; rigorous evaluation pipelines are mandatory.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7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5" name="Google Shape;745;p3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077569" y="214312"/>
            <a:ext cx="2036861" cy="333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46" name="Google Shape;746;p3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81000" y="6438900"/>
            <a:ext cx="1373981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747" name="Google Shape;747;p38"/>
          <p:cNvSpPr txBox="1"/>
          <p:nvPr/>
        </p:nvSpPr>
        <p:spPr>
          <a:xfrm>
            <a:off x="7114430" y="295275"/>
            <a:ext cx="46965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Slide 26</a:t>
            </a:r>
            <a:endParaRPr/>
          </a:p>
        </p:txBody>
      </p:sp>
      <p:sp>
        <p:nvSpPr>
          <p:cNvPr id="748" name="Google Shape;748;p38"/>
          <p:cNvSpPr txBox="1"/>
          <p:nvPr/>
        </p:nvSpPr>
        <p:spPr>
          <a:xfrm>
            <a:off x="571500" y="1166812"/>
            <a:ext cx="116016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Performance vs Domain Complexity</a:t>
            </a:r>
            <a:endParaRPr/>
          </a:p>
        </p:txBody>
      </p:sp>
      <p:sp>
        <p:nvSpPr>
          <p:cNvPr id="749" name="Google Shape;749;p38"/>
          <p:cNvSpPr txBox="1"/>
          <p:nvPr/>
        </p:nvSpPr>
        <p:spPr>
          <a:xfrm>
            <a:off x="571500" y="1852612"/>
            <a:ext cx="110490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Visualizing the impact of customization strategies.</a:t>
            </a:r>
            <a:endParaRPr/>
          </a:p>
        </p:txBody>
      </p:sp>
      <p:sp>
        <p:nvSpPr>
          <p:cNvPr id="750" name="Google Shape;750;p38"/>
          <p:cNvSpPr/>
          <p:nvPr/>
        </p:nvSpPr>
        <p:spPr>
          <a:xfrm>
            <a:off x="381000" y="304800"/>
            <a:ext cx="285900" cy="152400"/>
          </a:xfrm>
          <a:prstGeom prst="roundRect">
            <a:avLst>
              <a:gd name="adj" fmla="val 50000"/>
            </a:avLst>
          </a:prstGeom>
          <a:noFill/>
          <a:ln w="19050" cap="flat" cmpd="sng">
            <a:solidFill>
              <a:srgbClr val="0F172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1" name="Google Shape;751;p38"/>
          <p:cNvSpPr/>
          <p:nvPr/>
        </p:nvSpPr>
        <p:spPr>
          <a:xfrm>
            <a:off x="0" y="6286500"/>
            <a:ext cx="12192000" cy="5715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2" name="Google Shape;752;p38"/>
          <p:cNvSpPr txBox="1"/>
          <p:nvPr/>
        </p:nvSpPr>
        <p:spPr>
          <a:xfrm>
            <a:off x="381000" y="6286500"/>
            <a:ext cx="11430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The highest enterprise performance is achieved by combining Fine-Tuning (for behavior) and RAG (for facts).</a:t>
            </a:r>
            <a:endParaRPr/>
          </a:p>
        </p:txBody>
      </p:sp>
      <p:grpSp>
        <p:nvGrpSpPr>
          <p:cNvPr id="753" name="Google Shape;753;p38"/>
          <p:cNvGrpSpPr/>
          <p:nvPr/>
        </p:nvGrpSpPr>
        <p:grpSpPr>
          <a:xfrm>
            <a:off x="571500" y="2286000"/>
            <a:ext cx="11049000" cy="3238500"/>
            <a:chOff x="571500" y="2286000"/>
            <a:chExt cx="11049000" cy="3238500"/>
          </a:xfrm>
        </p:grpSpPr>
        <p:sp>
          <p:nvSpPr>
            <p:cNvPr id="754" name="Google Shape;754;p38"/>
            <p:cNvSpPr/>
            <p:nvPr/>
          </p:nvSpPr>
          <p:spPr>
            <a:xfrm>
              <a:off x="571500" y="2286000"/>
              <a:ext cx="2476500" cy="3238500"/>
            </a:xfrm>
            <a:prstGeom prst="roundRect">
              <a:avLst>
                <a:gd name="adj" fmla="val 6153"/>
              </a:avLst>
            </a:prstGeom>
            <a:solidFill>
              <a:srgbClr val="F8FAFC"/>
            </a:solidFill>
            <a:ln w="14300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5" name="Google Shape;755;p38"/>
            <p:cNvSpPr/>
            <p:nvPr/>
          </p:nvSpPr>
          <p:spPr>
            <a:xfrm>
              <a:off x="3429000" y="2286000"/>
              <a:ext cx="2476500" cy="3238500"/>
            </a:xfrm>
            <a:prstGeom prst="roundRect">
              <a:avLst>
                <a:gd name="adj" fmla="val 6153"/>
              </a:avLst>
            </a:prstGeom>
            <a:solidFill>
              <a:srgbClr val="F8FAFC"/>
            </a:solidFill>
            <a:ln w="14300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6" name="Google Shape;756;p38"/>
            <p:cNvSpPr/>
            <p:nvPr/>
          </p:nvSpPr>
          <p:spPr>
            <a:xfrm>
              <a:off x="6286500" y="2286000"/>
              <a:ext cx="2476500" cy="3238500"/>
            </a:xfrm>
            <a:prstGeom prst="roundRect">
              <a:avLst>
                <a:gd name="adj" fmla="val 6153"/>
              </a:avLst>
            </a:prstGeom>
            <a:solidFill>
              <a:srgbClr val="F8FAFC"/>
            </a:solidFill>
            <a:ln w="14300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7" name="Google Shape;757;p38"/>
            <p:cNvSpPr/>
            <p:nvPr/>
          </p:nvSpPr>
          <p:spPr>
            <a:xfrm>
              <a:off x="9144000" y="2286000"/>
              <a:ext cx="2476500" cy="3238500"/>
            </a:xfrm>
            <a:prstGeom prst="roundRect">
              <a:avLst>
                <a:gd name="adj" fmla="val 6153"/>
              </a:avLst>
            </a:prstGeom>
            <a:solidFill>
              <a:srgbClr val="ECFDF5"/>
            </a:solidFill>
            <a:ln w="14300" cap="flat" cmpd="sng">
              <a:solidFill>
                <a:srgbClr val="A7F3D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8" name="Google Shape;758;p38"/>
            <p:cNvSpPr/>
            <p:nvPr/>
          </p:nvSpPr>
          <p:spPr>
            <a:xfrm>
              <a:off x="1428750" y="2571750"/>
              <a:ext cx="762000" cy="342900"/>
            </a:xfrm>
            <a:prstGeom prst="roundRect">
              <a:avLst>
                <a:gd name="adj" fmla="val 50000"/>
              </a:avLst>
            </a:prstGeom>
            <a:solidFill>
              <a:srgbClr val="64748B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9" name="Google Shape;759;p38"/>
            <p:cNvSpPr/>
            <p:nvPr/>
          </p:nvSpPr>
          <p:spPr>
            <a:xfrm>
              <a:off x="4286250" y="2571750"/>
              <a:ext cx="762000" cy="342900"/>
            </a:xfrm>
            <a:prstGeom prst="roundRect">
              <a:avLst>
                <a:gd name="adj" fmla="val 50000"/>
              </a:avLst>
            </a:prstGeom>
            <a:solidFill>
              <a:srgbClr val="3B82F6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0" name="Google Shape;760;p38"/>
            <p:cNvSpPr/>
            <p:nvPr/>
          </p:nvSpPr>
          <p:spPr>
            <a:xfrm>
              <a:off x="7143750" y="2571750"/>
              <a:ext cx="762000" cy="342900"/>
            </a:xfrm>
            <a:prstGeom prst="roundRect">
              <a:avLst>
                <a:gd name="adj" fmla="val 50000"/>
              </a:avLst>
            </a:prstGeom>
            <a:solidFill>
              <a:srgbClr val="0F172A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1" name="Google Shape;761;p38"/>
            <p:cNvSpPr/>
            <p:nvPr/>
          </p:nvSpPr>
          <p:spPr>
            <a:xfrm>
              <a:off x="10001250" y="2571750"/>
              <a:ext cx="762000" cy="342900"/>
            </a:xfrm>
            <a:prstGeom prst="roundRect">
              <a:avLst>
                <a:gd name="adj" fmla="val 50000"/>
              </a:avLst>
            </a:prstGeom>
            <a:solidFill>
              <a:srgbClr val="059669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62" name="Google Shape;762;p38"/>
          <p:cNvGrpSpPr/>
          <p:nvPr/>
        </p:nvGrpSpPr>
        <p:grpSpPr>
          <a:xfrm>
            <a:off x="571500" y="2286000"/>
            <a:ext cx="11049000" cy="3238500"/>
            <a:chOff x="571500" y="2286000"/>
            <a:chExt cx="11049000" cy="3238500"/>
          </a:xfrm>
        </p:grpSpPr>
        <p:sp>
          <p:nvSpPr>
            <p:cNvPr id="763" name="Google Shape;763;p38"/>
            <p:cNvSpPr txBox="1"/>
            <p:nvPr/>
          </p:nvSpPr>
          <p:spPr>
            <a:xfrm>
              <a:off x="571500" y="2286000"/>
              <a:ext cx="2476500" cy="3238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90500" tIns="285750" rIns="190500" bIns="285750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b="1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30%</a:t>
              </a:r>
              <a:endParaRPr sz="14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lvl="0" indent="0" algn="ctr" rtl="0">
                <a:spcBef>
                  <a:spcPts val="3750"/>
                </a:spcBef>
                <a:spcAft>
                  <a:spcPts val="0"/>
                </a:spcAft>
                <a:buNone/>
              </a:pPr>
              <a:r>
                <a:rPr lang="en-US" sz="1800" b="1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rPr>
                <a:t>Base Model</a:t>
              </a:r>
              <a:endParaRPr sz="1800" b="1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lvl="0" indent="0" algn="ctr" rtl="0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lang="en-US" sz="1100" b="0">
                  <a:solidFill>
                    <a:srgbClr val="64748B"/>
                  </a:solidFill>
                  <a:latin typeface="Arial"/>
                  <a:ea typeface="Arial"/>
                  <a:cs typeface="Arial"/>
                  <a:sym typeface="Arial"/>
                </a:rPr>
                <a:t>Out-of-the-box performance using pre-trained general knowledge.</a:t>
              </a:r>
              <a:endParaRPr sz="1100" b="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4" name="Google Shape;764;p38"/>
            <p:cNvSpPr txBox="1"/>
            <p:nvPr/>
          </p:nvSpPr>
          <p:spPr>
            <a:xfrm>
              <a:off x="3429000" y="2286000"/>
              <a:ext cx="2476500" cy="3238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90500" tIns="285750" rIns="190500" bIns="285750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b="1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50%</a:t>
              </a:r>
              <a:endParaRPr sz="14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lvl="0" indent="0" algn="ctr" rtl="0">
                <a:spcBef>
                  <a:spcPts val="3750"/>
                </a:spcBef>
                <a:spcAft>
                  <a:spcPts val="0"/>
                </a:spcAft>
                <a:buNone/>
              </a:pPr>
              <a:r>
                <a:rPr lang="en-US" sz="1800" b="1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rPr>
                <a:t>Prompting</a:t>
              </a:r>
              <a:endParaRPr sz="1800" b="1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lvl="0" indent="0" algn="ctr" rtl="0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lang="en-US" sz="1100" b="0">
                  <a:solidFill>
                    <a:srgbClr val="64748B"/>
                  </a:solidFill>
                  <a:latin typeface="Arial"/>
                  <a:ea typeface="Arial"/>
                  <a:cs typeface="Arial"/>
                  <a:sym typeface="Arial"/>
                </a:rPr>
                <a:t>In-context learning and reasoning guided by system instructions.</a:t>
              </a:r>
              <a:endParaRPr sz="1100" b="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5" name="Google Shape;765;p38"/>
            <p:cNvSpPr txBox="1"/>
            <p:nvPr/>
          </p:nvSpPr>
          <p:spPr>
            <a:xfrm>
              <a:off x="6286500" y="2286000"/>
              <a:ext cx="2476500" cy="3238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90500" tIns="285750" rIns="190500" bIns="285750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b="1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75%</a:t>
              </a:r>
              <a:endParaRPr sz="14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lvl="0" indent="0" algn="ctr" rtl="0">
                <a:spcBef>
                  <a:spcPts val="3750"/>
                </a:spcBef>
                <a:spcAft>
                  <a:spcPts val="0"/>
                </a:spcAft>
                <a:buNone/>
              </a:pPr>
              <a:r>
                <a:rPr lang="en-US" sz="1800" b="1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rPr>
                <a:t>RAG</a:t>
              </a:r>
              <a:endParaRPr sz="1800" b="1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lvl="0" indent="0" algn="ctr" rtl="0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lang="en-US" sz="1100" b="0">
                  <a:solidFill>
                    <a:srgbClr val="64748B"/>
                  </a:solidFill>
                  <a:latin typeface="Arial"/>
                  <a:ea typeface="Arial"/>
                  <a:cs typeface="Arial"/>
                  <a:sym typeface="Arial"/>
                </a:rPr>
                <a:t>Factual grounding via external vector database integration.</a:t>
              </a:r>
              <a:endParaRPr sz="1100" b="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6" name="Google Shape;766;p38"/>
            <p:cNvSpPr txBox="1"/>
            <p:nvPr/>
          </p:nvSpPr>
          <p:spPr>
            <a:xfrm>
              <a:off x="9144000" y="2286000"/>
              <a:ext cx="2476500" cy="3238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90500" tIns="285750" rIns="190500" bIns="285750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b="1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95%</a:t>
              </a:r>
              <a:endParaRPr sz="14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lvl="0" indent="0" algn="ctr" rtl="0">
                <a:spcBef>
                  <a:spcPts val="3750"/>
                </a:spcBef>
                <a:spcAft>
                  <a:spcPts val="0"/>
                </a:spcAft>
                <a:buNone/>
              </a:pPr>
              <a:r>
                <a:rPr lang="en-US" sz="1800" b="1">
                  <a:solidFill>
                    <a:srgbClr val="047857"/>
                  </a:solidFill>
                  <a:latin typeface="Arial"/>
                  <a:ea typeface="Arial"/>
                  <a:cs typeface="Arial"/>
                  <a:sym typeface="Arial"/>
                </a:rPr>
                <a:t>Fine-Tuned + RAG</a:t>
              </a:r>
              <a:endParaRPr sz="1800" b="1">
                <a:solidFill>
                  <a:srgbClr val="047857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lvl="0" indent="0" algn="ctr" rtl="0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lang="en-US" sz="1100" b="0">
                  <a:solidFill>
                    <a:srgbClr val="065F46"/>
                  </a:solidFill>
                  <a:latin typeface="Arial"/>
                  <a:ea typeface="Arial"/>
                  <a:cs typeface="Arial"/>
                  <a:sym typeface="Arial"/>
                </a:rPr>
                <a:t>Domain-adapted behavior combined with real-time enterprise facts.</a:t>
              </a:r>
              <a:endParaRPr sz="1100" b="0">
                <a:solidFill>
                  <a:srgbClr val="065F46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7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1" name="Google Shape;771;p3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001250" y="4667250"/>
            <a:ext cx="3333750" cy="3333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72" name="Google Shape;772;p3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077569" y="214312"/>
            <a:ext cx="2036861" cy="333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73" name="Google Shape;773;p3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81000" y="6438900"/>
            <a:ext cx="1373981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74" name="Google Shape;774;p3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286500" y="1638300"/>
            <a:ext cx="5334000" cy="4457700"/>
          </a:xfrm>
          <a:prstGeom prst="rect">
            <a:avLst/>
          </a:prstGeom>
          <a:noFill/>
          <a:ln>
            <a:noFill/>
          </a:ln>
        </p:spPr>
      </p:pic>
      <p:sp>
        <p:nvSpPr>
          <p:cNvPr id="775" name="Google Shape;775;p39"/>
          <p:cNvSpPr txBox="1"/>
          <p:nvPr/>
        </p:nvSpPr>
        <p:spPr>
          <a:xfrm>
            <a:off x="7114430" y="295275"/>
            <a:ext cx="4696569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Slide 27</a:t>
            </a:r>
            <a:endParaRPr/>
          </a:p>
        </p:txBody>
      </p:sp>
      <p:sp>
        <p:nvSpPr>
          <p:cNvPr id="776" name="Google Shape;776;p39"/>
          <p:cNvSpPr txBox="1"/>
          <p:nvPr/>
        </p:nvSpPr>
        <p:spPr>
          <a:xfrm>
            <a:off x="571500" y="952500"/>
            <a:ext cx="1160145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Model Lineage &amp; MLOps</a:t>
            </a:r>
            <a:endParaRPr/>
          </a:p>
        </p:txBody>
      </p:sp>
      <p:sp>
        <p:nvSpPr>
          <p:cNvPr id="777" name="Google Shape;777;p39"/>
          <p:cNvSpPr/>
          <p:nvPr/>
        </p:nvSpPr>
        <p:spPr>
          <a:xfrm>
            <a:off x="381000" y="304800"/>
            <a:ext cx="285750" cy="152400"/>
          </a:xfrm>
          <a:prstGeom prst="roundRect">
            <a:avLst>
              <a:gd name="adj" fmla="val 50000"/>
            </a:avLst>
          </a:prstGeom>
          <a:noFill/>
          <a:ln w="19050" cap="flat" cmpd="sng">
            <a:solidFill>
              <a:srgbClr val="0F172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8" name="Google Shape;778;p39"/>
          <p:cNvSpPr txBox="1"/>
          <p:nvPr/>
        </p:nvSpPr>
        <p:spPr>
          <a:xfrm>
            <a:off x="571500" y="2338387"/>
            <a:ext cx="53340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Fine-tuned models must be versioned and tracked just like software code.</a:t>
            </a:r>
            <a:endParaRPr/>
          </a:p>
        </p:txBody>
      </p:sp>
      <p:pic>
        <p:nvPicPr>
          <p:cNvPr id="779" name="Google Shape;779;p39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286500" y="1638300"/>
            <a:ext cx="5334000" cy="4457700"/>
          </a:xfrm>
          <a:prstGeom prst="rect">
            <a:avLst/>
          </a:prstGeom>
          <a:noFill/>
          <a:ln>
            <a:noFill/>
          </a:ln>
        </p:spPr>
      </p:pic>
      <p:sp>
        <p:nvSpPr>
          <p:cNvPr id="780" name="Google Shape;780;p39"/>
          <p:cNvSpPr txBox="1"/>
          <p:nvPr/>
        </p:nvSpPr>
        <p:spPr>
          <a:xfrm>
            <a:off x="695325" y="3138487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/>
          </a:p>
        </p:txBody>
      </p:sp>
      <p:sp>
        <p:nvSpPr>
          <p:cNvPr id="781" name="Google Shape;781;p39"/>
          <p:cNvSpPr txBox="1"/>
          <p:nvPr/>
        </p:nvSpPr>
        <p:spPr>
          <a:xfrm>
            <a:off x="762000" y="3138487"/>
            <a:ext cx="51435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Traceability: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Tracking which dataset version produced which LoRA adapter is critical for reproducibility.</a:t>
            </a:r>
            <a:endParaRPr/>
          </a:p>
        </p:txBody>
      </p:sp>
      <p:sp>
        <p:nvSpPr>
          <p:cNvPr id="782" name="Google Shape;782;p39"/>
          <p:cNvSpPr txBox="1"/>
          <p:nvPr/>
        </p:nvSpPr>
        <p:spPr>
          <a:xfrm>
            <a:off x="695325" y="3890962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/>
          </a:p>
        </p:txBody>
      </p:sp>
      <p:sp>
        <p:nvSpPr>
          <p:cNvPr id="783" name="Google Shape;783;p39"/>
          <p:cNvSpPr txBox="1"/>
          <p:nvPr/>
        </p:nvSpPr>
        <p:spPr>
          <a:xfrm>
            <a:off x="762000" y="3890962"/>
            <a:ext cx="51435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Rollbacks: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If a new model behaves erratically, you must be able to instantly swap to the previous adapter version.</a:t>
            </a:r>
            <a:endParaRPr/>
          </a:p>
        </p:txBody>
      </p:sp>
      <p:sp>
        <p:nvSpPr>
          <p:cNvPr id="784" name="Google Shape;784;p39"/>
          <p:cNvSpPr txBox="1"/>
          <p:nvPr/>
        </p:nvSpPr>
        <p:spPr>
          <a:xfrm>
            <a:off x="695325" y="4643437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/>
          </a:p>
        </p:txBody>
      </p:sp>
      <p:sp>
        <p:nvSpPr>
          <p:cNvPr id="785" name="Google Shape;785;p39"/>
          <p:cNvSpPr txBox="1"/>
          <p:nvPr/>
        </p:nvSpPr>
        <p:spPr>
          <a:xfrm>
            <a:off x="762000" y="4643437"/>
            <a:ext cx="51435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Tools like MLflow, Weights &amp; Biases, and HuggingFace Hub are mandatory for managing this lineage.</a:t>
            </a:r>
            <a:endParaRPr/>
          </a:p>
        </p:txBody>
      </p:sp>
      <p:sp>
        <p:nvSpPr>
          <p:cNvPr id="786" name="Google Shape;786;p39"/>
          <p:cNvSpPr/>
          <p:nvPr/>
        </p:nvSpPr>
        <p:spPr>
          <a:xfrm>
            <a:off x="0" y="6286500"/>
            <a:ext cx="12192000" cy="5715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7" name="Google Shape;787;p39"/>
          <p:cNvSpPr txBox="1"/>
          <p:nvPr/>
        </p:nvSpPr>
        <p:spPr>
          <a:xfrm>
            <a:off x="381000" y="6286500"/>
            <a:ext cx="114300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Without strict MLOps, a fine-tuned model becomes an untraceable, unmaintainable black box.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7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2" name="Google Shape;792;p4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077569" y="214312"/>
            <a:ext cx="2036861" cy="333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93" name="Google Shape;793;p4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81000" y="6438900"/>
            <a:ext cx="1373981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4" name="Google Shape;794;p4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2881312"/>
            <a:ext cx="2583656" cy="2476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5" name="Google Shape;795;p40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393281" y="2881312"/>
            <a:ext cx="2583656" cy="2476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6" name="Google Shape;796;p40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215062" y="2881312"/>
            <a:ext cx="2583656" cy="2476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7" name="Google Shape;797;p40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9036843" y="2881312"/>
            <a:ext cx="2583656" cy="2476500"/>
          </a:xfrm>
          <a:prstGeom prst="rect">
            <a:avLst/>
          </a:prstGeom>
          <a:noFill/>
          <a:ln>
            <a:noFill/>
          </a:ln>
        </p:spPr>
      </p:pic>
      <p:sp>
        <p:nvSpPr>
          <p:cNvPr id="798" name="Google Shape;798;p40"/>
          <p:cNvSpPr txBox="1"/>
          <p:nvPr/>
        </p:nvSpPr>
        <p:spPr>
          <a:xfrm>
            <a:off x="7114430" y="295275"/>
            <a:ext cx="4696569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Slide 28</a:t>
            </a:r>
            <a:endParaRPr/>
          </a:p>
        </p:txBody>
      </p:sp>
      <p:sp>
        <p:nvSpPr>
          <p:cNvPr id="799" name="Google Shape;799;p40"/>
          <p:cNvSpPr txBox="1"/>
          <p:nvPr/>
        </p:nvSpPr>
        <p:spPr>
          <a:xfrm>
            <a:off x="571500" y="1690687"/>
            <a:ext cx="1160145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Governance &amp; Compliance</a:t>
            </a:r>
            <a:endParaRPr/>
          </a:p>
        </p:txBody>
      </p:sp>
      <p:sp>
        <p:nvSpPr>
          <p:cNvPr id="800" name="Google Shape;800;p40"/>
          <p:cNvSpPr txBox="1"/>
          <p:nvPr/>
        </p:nvSpPr>
        <p:spPr>
          <a:xfrm>
            <a:off x="571500" y="2376487"/>
            <a:ext cx="11049000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Protecting the enterprise from fine-tuning liabilities.</a:t>
            </a:r>
            <a:endParaRPr/>
          </a:p>
        </p:txBody>
      </p:sp>
      <p:sp>
        <p:nvSpPr>
          <p:cNvPr id="801" name="Google Shape;801;p40"/>
          <p:cNvSpPr/>
          <p:nvPr/>
        </p:nvSpPr>
        <p:spPr>
          <a:xfrm>
            <a:off x="381000" y="304800"/>
            <a:ext cx="285750" cy="152400"/>
          </a:xfrm>
          <a:prstGeom prst="roundRect">
            <a:avLst>
              <a:gd name="adj" fmla="val 50000"/>
            </a:avLst>
          </a:prstGeom>
          <a:noFill/>
          <a:ln w="19050" cap="flat" cmpd="sng">
            <a:solidFill>
              <a:srgbClr val="0F172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02" name="Google Shape;802;p40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682353" y="3176587"/>
            <a:ext cx="3619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803" name="Google Shape;803;p40"/>
          <p:cNvSpPr txBox="1"/>
          <p:nvPr/>
        </p:nvSpPr>
        <p:spPr>
          <a:xfrm>
            <a:off x="1051667" y="3843337"/>
            <a:ext cx="1623171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Data Provenance</a:t>
            </a:r>
            <a:endParaRPr/>
          </a:p>
        </p:txBody>
      </p:sp>
      <p:sp>
        <p:nvSpPr>
          <p:cNvPr id="804" name="Google Shape;804;p40"/>
          <p:cNvSpPr txBox="1"/>
          <p:nvPr/>
        </p:nvSpPr>
        <p:spPr>
          <a:xfrm>
            <a:off x="771525" y="4205287"/>
            <a:ext cx="2183606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Ensuring no copyrighted material or PII (Personally Identifiable Information) enters the training set.</a:t>
            </a:r>
            <a:endParaRPr/>
          </a:p>
        </p:txBody>
      </p:sp>
      <p:pic>
        <p:nvPicPr>
          <p:cNvPr id="805" name="Google Shape;805;p40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4385071" y="3176587"/>
            <a:ext cx="600075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806" name="Google Shape;806;p40"/>
          <p:cNvSpPr txBox="1"/>
          <p:nvPr/>
        </p:nvSpPr>
        <p:spPr>
          <a:xfrm>
            <a:off x="3816254" y="3843337"/>
            <a:ext cx="1737560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Bias Amplification</a:t>
            </a:r>
            <a:endParaRPr/>
          </a:p>
        </p:txBody>
      </p:sp>
      <p:sp>
        <p:nvSpPr>
          <p:cNvPr id="807" name="Google Shape;807;p40"/>
          <p:cNvSpPr txBox="1"/>
          <p:nvPr/>
        </p:nvSpPr>
        <p:spPr>
          <a:xfrm>
            <a:off x="3593306" y="4205287"/>
            <a:ext cx="2183606" cy="642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Fine-tuning can accidentally amplify toxic traits or biases if the custom dataset is skewed.</a:t>
            </a:r>
            <a:endParaRPr/>
          </a:p>
        </p:txBody>
      </p:sp>
      <p:pic>
        <p:nvPicPr>
          <p:cNvPr id="808" name="Google Shape;808;p40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7297340" y="3176587"/>
            <a:ext cx="41910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809" name="Google Shape;809;p40"/>
          <p:cNvSpPr txBox="1"/>
          <p:nvPr/>
        </p:nvSpPr>
        <p:spPr>
          <a:xfrm>
            <a:off x="6886344" y="3843337"/>
            <a:ext cx="1241092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Red Teaming</a:t>
            </a:r>
            <a:endParaRPr/>
          </a:p>
        </p:txBody>
      </p:sp>
      <p:sp>
        <p:nvSpPr>
          <p:cNvPr id="810" name="Google Shape;810;p40"/>
          <p:cNvSpPr txBox="1"/>
          <p:nvPr/>
        </p:nvSpPr>
        <p:spPr>
          <a:xfrm>
            <a:off x="6415087" y="4205287"/>
            <a:ext cx="2183606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Aggressively testing the fine-tuned model for security jailbreaks and prompt injections before launch.</a:t>
            </a:r>
            <a:endParaRPr/>
          </a:p>
        </p:txBody>
      </p:sp>
      <p:pic>
        <p:nvPicPr>
          <p:cNvPr id="811" name="Google Shape;811;p40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10090546" y="3176587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812" name="Google Shape;812;p40"/>
          <p:cNvSpPr txBox="1"/>
          <p:nvPr/>
        </p:nvSpPr>
        <p:spPr>
          <a:xfrm>
            <a:off x="9554360" y="3843337"/>
            <a:ext cx="1548474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Legal Alignment</a:t>
            </a:r>
            <a:endParaRPr/>
          </a:p>
        </p:txBody>
      </p:sp>
      <p:sp>
        <p:nvSpPr>
          <p:cNvPr id="813" name="Google Shape;813;p40"/>
          <p:cNvSpPr txBox="1"/>
          <p:nvPr/>
        </p:nvSpPr>
        <p:spPr>
          <a:xfrm>
            <a:off x="9236868" y="4205287"/>
            <a:ext cx="2183606" cy="642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Confirming output adheres to industry regulations (e.g., HIPAA in healthcare, FINRA in finance).</a:t>
            </a:r>
            <a:endParaRPr/>
          </a:p>
        </p:txBody>
      </p:sp>
      <p:sp>
        <p:nvSpPr>
          <p:cNvPr id="814" name="Google Shape;814;p40"/>
          <p:cNvSpPr/>
          <p:nvPr/>
        </p:nvSpPr>
        <p:spPr>
          <a:xfrm>
            <a:off x="0" y="6286500"/>
            <a:ext cx="12192000" cy="5715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5" name="Google Shape;815;p40"/>
          <p:cNvSpPr txBox="1"/>
          <p:nvPr/>
        </p:nvSpPr>
        <p:spPr>
          <a:xfrm>
            <a:off x="381000" y="6286500"/>
            <a:ext cx="114300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When you fine-tune a model, you take legal ownership of its generated outputs.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8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0" name="Google Shape;820;p4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762000" y="-762000"/>
            <a:ext cx="2857500" cy="2857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21" name="Google Shape;821;p4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077569" y="214312"/>
            <a:ext cx="2036861" cy="333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22" name="Google Shape;822;p4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81000" y="6438900"/>
            <a:ext cx="1373981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23" name="Google Shape;823;p41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2447925"/>
            <a:ext cx="5381625" cy="1276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24" name="Google Shape;824;p41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238875" y="2447925"/>
            <a:ext cx="5381625" cy="1276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25" name="Google Shape;825;p41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4010025"/>
            <a:ext cx="5381625" cy="1276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26" name="Google Shape;826;p41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238875" y="4010025"/>
            <a:ext cx="5381625" cy="1276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27" name="Google Shape;827;p41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09625" y="2686050"/>
            <a:ext cx="428625" cy="428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28" name="Google Shape;828;p41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477000" y="2686050"/>
            <a:ext cx="428625" cy="428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29" name="Google Shape;829;p41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09625" y="4248150"/>
            <a:ext cx="428625" cy="428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30" name="Google Shape;830;p41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6477000" y="4248150"/>
            <a:ext cx="428625" cy="428625"/>
          </a:xfrm>
          <a:prstGeom prst="rect">
            <a:avLst/>
          </a:prstGeom>
          <a:noFill/>
          <a:ln>
            <a:noFill/>
          </a:ln>
        </p:spPr>
      </p:pic>
      <p:sp>
        <p:nvSpPr>
          <p:cNvPr id="831" name="Google Shape;831;p41"/>
          <p:cNvSpPr txBox="1"/>
          <p:nvPr/>
        </p:nvSpPr>
        <p:spPr>
          <a:xfrm>
            <a:off x="7114430" y="295275"/>
            <a:ext cx="4696569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Slide 29</a:t>
            </a:r>
            <a:endParaRPr/>
          </a:p>
        </p:txBody>
      </p:sp>
      <p:sp>
        <p:nvSpPr>
          <p:cNvPr id="832" name="Google Shape;832;p41"/>
          <p:cNvSpPr txBox="1"/>
          <p:nvPr/>
        </p:nvSpPr>
        <p:spPr>
          <a:xfrm>
            <a:off x="571500" y="1762125"/>
            <a:ext cx="1160145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Enterprise AI Maturation Journey</a:t>
            </a:r>
            <a:endParaRPr/>
          </a:p>
        </p:txBody>
      </p:sp>
      <p:sp>
        <p:nvSpPr>
          <p:cNvPr id="833" name="Google Shape;833;p41"/>
          <p:cNvSpPr/>
          <p:nvPr/>
        </p:nvSpPr>
        <p:spPr>
          <a:xfrm>
            <a:off x="381000" y="304800"/>
            <a:ext cx="285750" cy="152400"/>
          </a:xfrm>
          <a:prstGeom prst="roundRect">
            <a:avLst>
              <a:gd name="adj" fmla="val 50000"/>
            </a:avLst>
          </a:prstGeom>
          <a:noFill/>
          <a:ln w="19050" cap="flat" cmpd="sng">
            <a:solidFill>
              <a:srgbClr val="0F172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4" name="Google Shape;834;p41"/>
          <p:cNvSpPr txBox="1"/>
          <p:nvPr/>
        </p:nvSpPr>
        <p:spPr>
          <a:xfrm>
            <a:off x="1428750" y="2686050"/>
            <a:ext cx="4500562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Prompt Engineering</a:t>
            </a:r>
            <a:endParaRPr/>
          </a:p>
        </p:txBody>
      </p:sp>
      <p:sp>
        <p:nvSpPr>
          <p:cNvPr id="835" name="Google Shape;835;p41"/>
          <p:cNvSpPr txBox="1"/>
          <p:nvPr/>
        </p:nvSpPr>
        <p:spPr>
          <a:xfrm>
            <a:off x="1428750" y="3028950"/>
            <a:ext cx="42862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Testing feasibility rapidly using generic foundation models via closed APIs (Low commitment).</a:t>
            </a:r>
            <a:endParaRPr/>
          </a:p>
        </p:txBody>
      </p:sp>
      <p:sp>
        <p:nvSpPr>
          <p:cNvPr id="836" name="Google Shape;836;p41"/>
          <p:cNvSpPr txBox="1"/>
          <p:nvPr/>
        </p:nvSpPr>
        <p:spPr>
          <a:xfrm>
            <a:off x="7096125" y="2686050"/>
            <a:ext cx="4500562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RAG Integration</a:t>
            </a:r>
            <a:endParaRPr/>
          </a:p>
        </p:txBody>
      </p:sp>
      <p:sp>
        <p:nvSpPr>
          <p:cNvPr id="837" name="Google Shape;837;p41"/>
          <p:cNvSpPr txBox="1"/>
          <p:nvPr/>
        </p:nvSpPr>
        <p:spPr>
          <a:xfrm>
            <a:off x="7096125" y="3028950"/>
            <a:ext cx="42862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Grounding the model in corporate knowledge and private databases to eliminate hallucination.</a:t>
            </a:r>
            <a:endParaRPr/>
          </a:p>
        </p:txBody>
      </p:sp>
      <p:sp>
        <p:nvSpPr>
          <p:cNvPr id="838" name="Google Shape;838;p41"/>
          <p:cNvSpPr txBox="1"/>
          <p:nvPr/>
        </p:nvSpPr>
        <p:spPr>
          <a:xfrm>
            <a:off x="1428750" y="4248150"/>
            <a:ext cx="4500562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PEFT / LoRA</a:t>
            </a:r>
            <a:endParaRPr/>
          </a:p>
        </p:txBody>
      </p:sp>
      <p:sp>
        <p:nvSpPr>
          <p:cNvPr id="839" name="Google Shape;839;p41"/>
          <p:cNvSpPr txBox="1"/>
          <p:nvPr/>
        </p:nvSpPr>
        <p:spPr>
          <a:xfrm>
            <a:off x="1428750" y="4591050"/>
            <a:ext cx="42862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Customizing open-source models' behavior and tone to perfectly match brand standards.</a:t>
            </a:r>
            <a:endParaRPr/>
          </a:p>
        </p:txBody>
      </p:sp>
      <p:sp>
        <p:nvSpPr>
          <p:cNvPr id="840" name="Google Shape;840;p41"/>
          <p:cNvSpPr txBox="1"/>
          <p:nvPr/>
        </p:nvSpPr>
        <p:spPr>
          <a:xfrm>
            <a:off x="7096125" y="4248150"/>
            <a:ext cx="4500562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Small Language Models (SLMs)</a:t>
            </a:r>
            <a:endParaRPr/>
          </a:p>
        </p:txBody>
      </p:sp>
      <p:sp>
        <p:nvSpPr>
          <p:cNvPr id="841" name="Google Shape;841;p41"/>
          <p:cNvSpPr txBox="1"/>
          <p:nvPr/>
        </p:nvSpPr>
        <p:spPr>
          <a:xfrm>
            <a:off x="7096125" y="4591050"/>
            <a:ext cx="42862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Deploying highly specialized, cheap, fine-tuned tiny models at the edge for maximum efficiency.</a:t>
            </a:r>
            <a:endParaRPr/>
          </a:p>
        </p:txBody>
      </p:sp>
      <p:sp>
        <p:nvSpPr>
          <p:cNvPr id="842" name="Google Shape;842;p41"/>
          <p:cNvSpPr/>
          <p:nvPr/>
        </p:nvSpPr>
        <p:spPr>
          <a:xfrm>
            <a:off x="0" y="6286500"/>
            <a:ext cx="12192000" cy="5715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3" name="Google Shape;843;p41"/>
          <p:cNvSpPr txBox="1"/>
          <p:nvPr/>
        </p:nvSpPr>
        <p:spPr>
          <a:xfrm>
            <a:off x="381000" y="6286500"/>
            <a:ext cx="114300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Do not skip steps. Attempting to fine-tune before mastering prompting usually leads to failure.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2272</Words>
  <Application>Microsoft Office PowerPoint</Application>
  <PresentationFormat>Widescreen</PresentationFormat>
  <Paragraphs>305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0" baseType="lpstr"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Usha Nandhini</cp:lastModifiedBy>
  <cp:revision>1</cp:revision>
  <dcterms:modified xsi:type="dcterms:W3CDTF">2026-07-11T15:14:50Z</dcterms:modified>
</cp:coreProperties>
</file>